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a3512dd-4cc5-1a94-a71f-4e5d4eddf0cd}">
          <p14:sldIdLst>
            <p14:sldId id="256"/>
            <p14:sldId id="257"/>
          </p14:sldIdLst>
        </p14:section>
        <p14:section name="报告介绍" id="{1d80e418-b125-9717-dc20-5e158668e441}">
          <p14:sldIdLst>
            <p14:sldId id="258"/>
            <p14:sldId id="259"/>
            <p14:sldId id="260"/>
            <p14:sldId id="261"/>
          </p14:sldIdLst>
        </p14:section>
        <p14:section name="方法评价" id="{0eca6383-ac37-7a35-06d9-b80fdacee6dd}">
          <p14:sldIdLst>
            <p14:sldId id="262"/>
            <p14:sldId id="263"/>
            <p14:sldId id="264"/>
            <p14:sldId id="265"/>
            <p14:sldId id="266"/>
          </p14:sldIdLst>
        </p14:section>
        <p14:section name="结论" id="{030ef278-5807-bcf8-62f4-79804d5a40d4}">
          <p14:sldIdLst>
            <p14:sldId id="267"/>
          </p14:sldIdLst>
        </p14:section>
        <p14:section name="附录（备问）" id="{3a627172-b1e4-41a4-f55f-a555b8ffed76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秒】各位老师、同学好。我汇报的是尼尔森旗下 Gracenote 公司 2026 年 4 月的报告《AI 时代的电视搜索与内容发现》。报告称，13 至 14 岁受访者中 54% 每天使用 AI。这个比例来自哪一类样本，是本次评析要看的第一点。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秒】先说结论。这份报告反映了 AI 用户的变化，有参考价值，但样本只包括 AI 用户，结论不适合推到美国的整体人群。下面分五个部分讲。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秒】研究背景是，流媒体平台增多，节目分散，用户找节目的成本上升，AI 聊天机器人成了新的找节目方式。报告考察三个问题：AI 使用频率、找节目的难度与退订意向，以及对 AI 回答的信任。需要说明，Gracenote 的主要业务就是节目数据。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秒】研究方法方面，数据主要来自两项线上问卷。第一项在 2026 年 1 至 2 月进行，对象是 4003 名 13 至 79 岁的美国 AI 聊天机器人用户。第二项在 2025 年夏天进行，覆盖六国，每国 500 名流媒体用户。两项调查，报告都没有说明抽样方法。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秒】报告的第一项结论是，13 至 14 岁的 AI 用户中 54% 每天使用，75% 的受访者会核对 AI 的回答。报告解释说，AI 的回答直接，还可以追问，所以使用增加；但它可能出错，用户仍需核对。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秒】第二项结论与找节目有关。用户平均要花 14 分钟找节目，18 至 34 岁的受访者中 54% 表示可能因此退订，AI 只能正确回答约三分之二的播出平台。报告据此提出，AI 需要接入可靠的行业数据。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秒】报告的推论共四个环节：年轻人依赖 AI，对 AI 信任不足，找节目困难导致退订，因此 AI 应接入行业数据。下面从调查对象、范围、时间和研究方法四个方面逐项检查。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秒】先看调查对象。4003 名受访者都是 AI 聊天机器人用户，样本不包括不用 AI 的人。所以 54% 和 75% 只代表 AI 用户，不能当作美国人整体的情况，而报告正文有几处用了“美国人”的表述。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秒】再看调查范围。报告说平均找节目要 14 分钟，这是六国的简单平均，法国的 26 分钟拉高了均值，美国自己是 12 分钟。但这个数字被放在了美国的收视图表里，读者容易当成美国的数据，从而高估。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秒】第三是调查时间与比较基准。报告拿皮尤 2025 年秋天的 30%，对比自己 2026 年初的 54%，认为使用频率在加速。但皮尤的分母是全体青少年，同为 13 至 14 岁只有 24%，而本报告只统计 AI 用户。分母统一为使用者后，差距约 10 个百分点，不足以支持“加速”。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秒】第四是研究方法。“找节目困难导致退订”用到了退订意向、退订率、市场预测和 AI 测试四类数据，性质不同，也没有追踪同一批人。这样的数据只能说明两者有关联，不能证明因果。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秒】综合来看，前两个环节在 AI 用户范围内基本成立，后两个环节证据不足。报告公开了样本量、调查时间和年龄范围，这是可取之处。最后留一个问题供讨论：要检验找节目困难与退订的因果关系，应怎样设计调查？谢谢大家。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备问用，不计入汇报时间。被问及数据来源与方法披露时使用。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7" name="封面数字"/>
          <p:cNvSpPr txBox="1"/>
          <p:nvPr/>
        </p:nvSpPr>
        <p:spPr>
          <a:xfrm>
            <a:off x="731520" y="43434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800" dirty="0"/>
          </a:p>
        </p:txBody>
      </p:sp>
      <p:sp>
        <p:nvSpPr>
          <p:cNvPr id="8" name="封面问题"/>
          <p:cNvSpPr txBox="1"/>
          <p:nvPr/>
        </p:nvSpPr>
        <p:spPr>
          <a:xfrm>
            <a:off x="265176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13–14 岁受访者每日使用 AI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该比例来自哪类样本？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报告结论的适用范围小于其表述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5486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框架名1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分隔线"/>
          <p:cNvSpPr/>
          <p:nvPr/>
        </p:nvSpPr>
        <p:spPr>
          <a:xfrm>
            <a:off x="548640" y="246888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54864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框架名2"/>
          <p:cNvSpPr txBox="1"/>
          <p:nvPr/>
        </p:nvSpPr>
        <p:spPr>
          <a:xfrm>
            <a:off x="1371600" y="2468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29184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548640" y="3291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框架名3"/>
          <p:cNvSpPr txBox="1"/>
          <p:nvPr/>
        </p:nvSpPr>
        <p:spPr>
          <a:xfrm>
            <a:off x="1371600" y="3291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研究结论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11480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54864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框架名4"/>
          <p:cNvSpPr txBox="1"/>
          <p:nvPr/>
        </p:nvSpPr>
        <p:spPr>
          <a:xfrm>
            <a:off x="1371600" y="41148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思考与评价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493776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54864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8" name="框架名5"/>
          <p:cNvSpPr txBox="1"/>
          <p:nvPr/>
        </p:nvSpPr>
        <p:spPr>
          <a:xfrm>
            <a:off x="137160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总体判断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7607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结论卡"/>
          <p:cNvSpPr/>
          <p:nvPr/>
        </p:nvSpPr>
        <p:spPr>
          <a:xfrm>
            <a:off x="6583680" y="1645920"/>
            <a:ext cx="5029200" cy="4114800"/>
          </a:xfrm>
          <a:prstGeom prst="roundRect">
            <a:avLst>
              <a:gd name="adj" fmla="val 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结论"/>
          <p:cNvSpPr txBox="1"/>
          <p:nvPr/>
        </p:nvSpPr>
        <p:spPr>
          <a:xfrm>
            <a:off x="6949440" y="182880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结论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报告反映了 AI 用户的变化，具有参考价值；但样本仅限 AI 用户，结论不宜推及美国整体人群。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研究问题：AI 如何改变节目检索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54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背景：流媒体平台增多，节目分散，检索成本上升；AI 聊天机器人成为新的检索工具。</a:t>
            </a:r>
            <a:endParaRPr lang="en-US" sz="1800" dirty="0"/>
          </a:p>
        </p:txBody>
      </p:sp>
      <p:sp>
        <p:nvSpPr>
          <p:cNvPr id="5" name="分隔线"/>
          <p:cNvSpPr/>
          <p:nvPr/>
        </p:nvSpPr>
        <p:spPr>
          <a:xfrm>
            <a:off x="548640" y="251460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6" name="问题编号1"/>
          <p:cNvSpPr txBox="1"/>
          <p:nvPr/>
        </p:nvSpPr>
        <p:spPr>
          <a:xfrm>
            <a:off x="548640" y="25146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7" name="问题名1"/>
          <p:cNvSpPr txBox="1"/>
          <p:nvPr/>
        </p:nvSpPr>
        <p:spPr>
          <a:xfrm>
            <a:off x="1508760" y="25146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使用频率</a:t>
            </a:r>
            <a:endParaRPr lang="en-US" sz="2100" dirty="0"/>
          </a:p>
        </p:txBody>
      </p:sp>
      <p:sp>
        <p:nvSpPr>
          <p:cNvPr id="8" name="问题内容1"/>
          <p:cNvSpPr txBox="1"/>
          <p:nvPr/>
        </p:nvSpPr>
        <p:spPr>
          <a:xfrm>
            <a:off x="3611880" y="25146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各年龄层 AI 使用频率</a:t>
            </a:r>
            <a:endParaRPr lang="en-US" sz="1800" dirty="0"/>
          </a:p>
        </p:txBody>
      </p:sp>
      <p:sp>
        <p:nvSpPr>
          <p:cNvPr id="9" name="分隔线"/>
          <p:cNvSpPr/>
          <p:nvPr/>
        </p:nvSpPr>
        <p:spPr>
          <a:xfrm>
            <a:off x="548640" y="329184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0" name="问题编号2"/>
          <p:cNvSpPr txBox="1"/>
          <p:nvPr/>
        </p:nvSpPr>
        <p:spPr>
          <a:xfrm>
            <a:off x="548640" y="329184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11" name="问题名2"/>
          <p:cNvSpPr txBox="1"/>
          <p:nvPr/>
        </p:nvSpPr>
        <p:spPr>
          <a:xfrm>
            <a:off x="150876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检索难度</a:t>
            </a:r>
            <a:endParaRPr lang="en-US" sz="2100" dirty="0"/>
          </a:p>
        </p:txBody>
      </p:sp>
      <p:sp>
        <p:nvSpPr>
          <p:cNvPr id="12" name="问题内容2"/>
          <p:cNvSpPr txBox="1"/>
          <p:nvPr/>
        </p:nvSpPr>
        <p:spPr>
          <a:xfrm>
            <a:off x="3611880" y="32918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检索耗时与退订意向</a:t>
            </a:r>
            <a:endParaRPr lang="en-US" sz="1800" dirty="0"/>
          </a:p>
        </p:txBody>
      </p:sp>
      <p:sp>
        <p:nvSpPr>
          <p:cNvPr id="13" name="分隔线"/>
          <p:cNvSpPr/>
          <p:nvPr/>
        </p:nvSpPr>
        <p:spPr>
          <a:xfrm>
            <a:off x="548640" y="406908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问题编号3"/>
          <p:cNvSpPr txBox="1"/>
          <p:nvPr/>
        </p:nvSpPr>
        <p:spPr>
          <a:xfrm>
            <a:off x="548640" y="406908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15" name="问题名3"/>
          <p:cNvSpPr txBox="1"/>
          <p:nvPr/>
        </p:nvSpPr>
        <p:spPr>
          <a:xfrm>
            <a:off x="1508760" y="40690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信任程度</a:t>
            </a:r>
            <a:endParaRPr lang="en-US" sz="2100" dirty="0"/>
          </a:p>
        </p:txBody>
      </p:sp>
      <p:sp>
        <p:nvSpPr>
          <p:cNvPr id="16" name="问题内容3"/>
          <p:cNvSpPr txBox="1"/>
          <p:nvPr/>
        </p:nvSpPr>
        <p:spPr>
          <a:xfrm>
            <a:off x="3611880" y="40690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回答的核查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548640" y="48463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研究机构"/>
          <p:cNvSpPr txBox="1"/>
          <p:nvPr/>
        </p:nvSpPr>
        <p:spPr>
          <a:xfrm>
            <a:off x="548640" y="49834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研究机构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Gracenote，尼尔森旗下节目数据公司。报告建议接入的行业数据，即其主营业务。</a:t>
            </a:r>
            <a:endParaRPr lang="en-US" sz="1700" dirty="0"/>
          </a:p>
        </p:txBody>
      </p:sp>
      <p:sp>
        <p:nvSpPr>
          <p:cNvPr id="19" name="报告封面阴影"/>
          <p:cNvSpPr/>
          <p:nvPr/>
        </p:nvSpPr>
        <p:spPr>
          <a:xfrm>
            <a:off x="7635240" y="251460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20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514600"/>
            <a:ext cx="3977640" cy="2414016"/>
          </a:xfrm>
          <a:prstGeom prst="rect">
            <a:avLst/>
          </a:prstGeom>
        </p:spPr>
      </p:pic>
      <p:sp>
        <p:nvSpPr>
          <p:cNvPr id="21" name="封面图注"/>
          <p:cNvSpPr txBox="1"/>
          <p:nvPr/>
        </p:nvSpPr>
        <p:spPr>
          <a:xfrm>
            <a:off x="7635240" y="50749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 · Gracenote，2026 年 4 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9" grpId="0" animBg="1"/>
      <p:bldP spid="21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抽样方式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报告另引用 11 个外部来源，其方法披露情况见附录一。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结论一：AI 使用普遍，信任有限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回答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结论二：检索困难与退订风险</a:t>
            </a:r>
            <a:endParaRPr lang="en-US" sz="3000" dirty="0"/>
          </a:p>
        </p:txBody>
      </p:sp>
      <p:sp>
        <p:nvSpPr>
          <p:cNvPr id="4" name="步骤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名1"/>
          <p:cNvSpPr txBox="1"/>
          <p:nvPr/>
        </p:nvSpPr>
        <p:spPr>
          <a:xfrm>
            <a:off x="82296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6" name="步骤数字1"/>
          <p:cNvSpPr txBox="1"/>
          <p:nvPr/>
        </p:nvSpPr>
        <p:spPr>
          <a:xfrm>
            <a:off x="82296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7" name="步骤说明1"/>
          <p:cNvSpPr txBox="1"/>
          <p:nvPr/>
        </p:nvSpPr>
        <p:spPr>
          <a:xfrm>
            <a:off x="82296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8" name="链箭头1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步骤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步骤名2"/>
          <p:cNvSpPr txBox="1"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1" name="步骤数字2"/>
          <p:cNvSpPr txBox="1"/>
          <p:nvPr/>
        </p:nvSpPr>
        <p:spPr>
          <a:xfrm>
            <a:off x="365760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2" name="步骤说明2"/>
          <p:cNvSpPr txBox="1"/>
          <p:nvPr/>
        </p:nvSpPr>
        <p:spPr>
          <a:xfrm>
            <a:off x="365760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3" name="链箭头2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步骤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49224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49224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链箭头3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步骤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步骤名4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接入行业数据</a:t>
            </a:r>
            <a:endParaRPr lang="en-US" sz="2000" dirty="0"/>
          </a:p>
        </p:txBody>
      </p:sp>
      <p:sp>
        <p:nvSpPr>
          <p:cNvPr id="21" name="步骤数字4"/>
          <p:cNvSpPr txBox="1"/>
          <p:nvPr/>
        </p:nvSpPr>
        <p:spPr>
          <a:xfrm>
            <a:off x="932688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2" name="步骤说明4"/>
          <p:cNvSpPr txBox="1"/>
          <p:nvPr/>
        </p:nvSpPr>
        <p:spPr>
          <a:xfrm>
            <a:off x="932688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8" grpId="0" animBg="1"/>
      <p:bldP spid="14" grpId="0" animBg="1"/>
      <p:bldP spid="15" grpId="0" animBg="1"/>
      <p:bldP spid="16" grpId="0" animBg="1"/>
      <p:bldP spid="17" grpId="0" animBg="1"/>
      <p:bldP spid="13" grpId="0" animBg="1"/>
      <p:bldP spid="19" grpId="0" animBg="1"/>
      <p:bldP spid="20" grpId="0" animBg="1"/>
      <p:bldP spid="21" grpId="0" animBg="1"/>
      <p:bldP spid="22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评价：逐项检验四个推论环节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① 依赖 AI</a:t>
            </a:r>
            <a:endParaRPr lang="en-US" sz="1900" dirty="0"/>
          </a:p>
        </p:txBody>
      </p:sp>
      <p:sp>
        <p:nvSpPr>
          <p:cNvPr id="6" name="环节箭头1"/>
          <p:cNvSpPr txBox="1"/>
          <p:nvPr/>
        </p:nvSpPr>
        <p:spPr>
          <a:xfrm>
            <a:off x="310896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检验标签1"/>
          <p:cNvSpPr txBox="1"/>
          <p:nvPr/>
        </p:nvSpPr>
        <p:spPr>
          <a:xfrm>
            <a:off x="54864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8" name="分隔线"/>
          <p:cNvSpPr/>
          <p:nvPr/>
        </p:nvSpPr>
        <p:spPr>
          <a:xfrm>
            <a:off x="54864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54864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环节2"/>
          <p:cNvSpPr/>
          <p:nvPr/>
        </p:nvSpPr>
        <p:spPr>
          <a:xfrm>
            <a:off x="338328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环节文字2"/>
          <p:cNvSpPr txBox="1"/>
          <p:nvPr/>
        </p:nvSpPr>
        <p:spPr>
          <a:xfrm>
            <a:off x="338328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② 信任不足</a:t>
            </a:r>
            <a:endParaRPr lang="en-US" sz="1900" dirty="0"/>
          </a:p>
        </p:txBody>
      </p:sp>
      <p:sp>
        <p:nvSpPr>
          <p:cNvPr id="13" name="环节箭头2"/>
          <p:cNvSpPr txBox="1"/>
          <p:nvPr/>
        </p:nvSpPr>
        <p:spPr>
          <a:xfrm>
            <a:off x="594360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检验标签2"/>
          <p:cNvSpPr txBox="1"/>
          <p:nvPr/>
        </p:nvSpPr>
        <p:spPr>
          <a:xfrm>
            <a:off x="338328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15" name="分隔线"/>
          <p:cNvSpPr/>
          <p:nvPr/>
        </p:nvSpPr>
        <p:spPr>
          <a:xfrm>
            <a:off x="338328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检验文字2"/>
          <p:cNvSpPr txBox="1"/>
          <p:nvPr/>
        </p:nvSpPr>
        <p:spPr>
          <a:xfrm>
            <a:off x="338328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7" name="分隔线"/>
          <p:cNvSpPr/>
          <p:nvPr/>
        </p:nvSpPr>
        <p:spPr>
          <a:xfrm>
            <a:off x="338328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环节3"/>
          <p:cNvSpPr/>
          <p:nvPr/>
        </p:nvSpPr>
        <p:spPr>
          <a:xfrm>
            <a:off x="621792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环节文字3"/>
          <p:cNvSpPr txBox="1"/>
          <p:nvPr/>
        </p:nvSpPr>
        <p:spPr>
          <a:xfrm>
            <a:off x="621792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③ 难找导致退订</a:t>
            </a:r>
            <a:endParaRPr lang="en-US" sz="1900" dirty="0"/>
          </a:p>
        </p:txBody>
      </p:sp>
      <p:sp>
        <p:nvSpPr>
          <p:cNvPr id="20" name="环节箭头3"/>
          <p:cNvSpPr txBox="1"/>
          <p:nvPr/>
        </p:nvSpPr>
        <p:spPr>
          <a:xfrm>
            <a:off x="877824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检验标签3"/>
          <p:cNvSpPr txBox="1"/>
          <p:nvPr/>
        </p:nvSpPr>
        <p:spPr>
          <a:xfrm>
            <a:off x="621792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2" name="分隔线"/>
          <p:cNvSpPr/>
          <p:nvPr/>
        </p:nvSpPr>
        <p:spPr>
          <a:xfrm>
            <a:off x="621792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检验文字3"/>
          <p:cNvSpPr txBox="1"/>
          <p:nvPr/>
        </p:nvSpPr>
        <p:spPr>
          <a:xfrm>
            <a:off x="621792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调查范围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4" name="分隔线"/>
          <p:cNvSpPr/>
          <p:nvPr/>
        </p:nvSpPr>
        <p:spPr>
          <a:xfrm>
            <a:off x="621792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环节4"/>
          <p:cNvSpPr/>
          <p:nvPr/>
        </p:nvSpPr>
        <p:spPr>
          <a:xfrm>
            <a:off x="905256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环节文字4"/>
          <p:cNvSpPr txBox="1"/>
          <p:nvPr/>
        </p:nvSpPr>
        <p:spPr>
          <a:xfrm>
            <a:off x="905256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④ 接入行业数据</a:t>
            </a:r>
            <a:endParaRPr lang="en-US" sz="1900" dirty="0"/>
          </a:p>
        </p:txBody>
      </p:sp>
      <p:sp>
        <p:nvSpPr>
          <p:cNvPr id="27" name="检验标签4"/>
          <p:cNvSpPr txBox="1"/>
          <p:nvPr/>
        </p:nvSpPr>
        <p:spPr>
          <a:xfrm>
            <a:off x="905256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8" name="分隔线"/>
          <p:cNvSpPr/>
          <p:nvPr/>
        </p:nvSpPr>
        <p:spPr>
          <a:xfrm>
            <a:off x="905256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9" name="检验文字4"/>
          <p:cNvSpPr txBox="1"/>
          <p:nvPr/>
        </p:nvSpPr>
        <p:spPr>
          <a:xfrm>
            <a:off x="905256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30" name="分隔线"/>
          <p:cNvSpPr/>
          <p:nvPr/>
        </p:nvSpPr>
        <p:spPr>
          <a:xfrm>
            <a:off x="905256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1" name="评价说明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调查对象、范围、时间与方法的差异均会影响结果，以下逐项检验。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2" grpId="0" animBg="1"/>
      <p:bldP spid="6" grpId="0" animBg="1"/>
      <p:bldP spid="14" grpId="0" animBg="1"/>
      <p:bldP spid="16" grpId="0" animBg="1"/>
      <p:bldP spid="18" grpId="0" animBg="1"/>
      <p:bldP spid="19" grpId="0" animBg="1"/>
      <p:bldP spid="13" grpId="0" animBg="1"/>
      <p:bldP spid="21" grpId="0" animBg="1"/>
      <p:bldP spid="23" grpId="0" animBg="1"/>
      <p:bldP spid="25" grpId="0" animBg="1"/>
      <p:bldP spid="26" grpId="0" animBg="1"/>
      <p:bldP spid="20" grpId="0" animBg="1"/>
      <p:bldP spid="27" grpId="0" animBg="1"/>
      <p:bldP spid="29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不能推及全体美国人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6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389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6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3891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统一分母后差距约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“加速”不成立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8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8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800" dirty="0"/>
          </a:p>
        </p:txBody>
      </p:sp>
      <p:sp>
        <p:nvSpPr>
          <p:cNvPr id="16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8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1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且无追踪设计</a:t>
            </a:r>
            <a:endParaRPr lang="en-US" sz="1800" dirty="0"/>
          </a:p>
        </p:txBody>
      </p:sp>
      <p:sp>
        <p:nvSpPr>
          <p:cNvPr id="22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4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仅能说明相关，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不能证明因果</a:t>
            </a:r>
            <a:endParaRPr lang="en-US" sz="1800" dirty="0"/>
          </a:p>
        </p:txBody>
      </p:sp>
      <p:sp>
        <p:nvSpPr>
          <p:cNvPr id="25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6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3" grpId="0" animBg="1"/>
      <p:bldP spid="5" grpId="0" animBg="1"/>
      <p:bldP spid="8" grpId="0" animBg="1"/>
      <p:bldP spid="11" grpId="0" animBg="1"/>
      <p:bldP spid="14" grpId="0" animBg="1"/>
      <p:bldP spid="6" grpId="0" animBg="1"/>
      <p:bldP spid="9" grpId="0" animBg="1"/>
      <p:bldP spid="12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总体判断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结论适用于 AI 用户，不宜外推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7830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783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806440" y="200253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806440" y="200253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51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517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806440" y="287121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806440" y="287121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5204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5204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806440" y="373989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806440" y="373989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38912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731520" y="4389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18" name="判断标签4"/>
          <p:cNvSpPr/>
          <p:nvPr/>
        </p:nvSpPr>
        <p:spPr>
          <a:xfrm>
            <a:off x="5806440" y="460857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判断标签文字4"/>
          <p:cNvSpPr txBox="1"/>
          <p:nvPr/>
        </p:nvSpPr>
        <p:spPr>
          <a:xfrm>
            <a:off x="5806440" y="460857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结论分隔线"/>
          <p:cNvSpPr/>
          <p:nvPr/>
        </p:nvSpPr>
        <p:spPr>
          <a:xfrm>
            <a:off x="731520" y="52578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21" name="可取之处"/>
          <p:cNvSpPr txBox="1"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报告公开了样本量、调查时间与年龄范围，数据可复核。</a:t>
            </a:r>
            <a:endParaRPr lang="en-US" sz="1600" dirty="0"/>
          </a:p>
        </p:txBody>
      </p:sp>
      <p:sp>
        <p:nvSpPr>
          <p:cNvPr id="22" name="讨论卡"/>
          <p:cNvSpPr/>
          <p:nvPr/>
        </p:nvSpPr>
        <p:spPr>
          <a:xfrm>
            <a:off x="7955280" y="1783080"/>
            <a:ext cx="3520440" cy="3474720"/>
          </a:xfrm>
          <a:prstGeom prst="roundRect">
            <a:avLst>
              <a:gd name="adj" fmla="val 131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讨论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如何设计调查，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检验检索困难与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退订的因果关系？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附录一：数据来源的方法披露</a:t>
            </a:r>
            <a:endParaRPr lang="en-US" sz="3000" dirty="0"/>
          </a:p>
        </p:txBody>
      </p:sp>
      <p:sp>
        <p:nvSpPr>
          <p:cNvPr id="4" name="来源卡1"/>
          <p:cNvSpPr/>
          <p:nvPr/>
        </p:nvSpPr>
        <p:spPr>
          <a:xfrm>
            <a:off x="54864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来源状态1"/>
          <p:cNvSpPr txBox="1"/>
          <p:nvPr/>
        </p:nvSpPr>
        <p:spPr>
          <a:xfrm>
            <a:off x="73152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2026 AI 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美国 AI 用户 4,003 人</a:t>
            </a:r>
            <a:endParaRPr lang="en-US" sz="1500" dirty="0"/>
          </a:p>
        </p:txBody>
      </p:sp>
      <p:sp>
        <p:nvSpPr>
          <p:cNvPr id="7" name="来源卡2"/>
          <p:cNvSpPr/>
          <p:nvPr/>
        </p:nvSpPr>
        <p:spPr>
          <a:xfrm>
            <a:off x="336042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来源状态2"/>
          <p:cNvSpPr txBox="1"/>
          <p:nvPr/>
        </p:nvSpPr>
        <p:spPr>
          <a:xfrm>
            <a:off x="35433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9" name="来源说明2"/>
          <p:cNvSpPr txBox="1"/>
          <p:nvPr/>
        </p:nvSpPr>
        <p:spPr>
          <a:xfrm>
            <a:off x="354330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2025 流媒体调查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六国各 500 人</a:t>
            </a:r>
            <a:endParaRPr lang="en-US" sz="1500" dirty="0"/>
          </a:p>
        </p:txBody>
      </p:sp>
      <p:sp>
        <p:nvSpPr>
          <p:cNvPr id="10" name="来源卡3"/>
          <p:cNvSpPr/>
          <p:nvPr/>
        </p:nvSpPr>
        <p:spPr>
          <a:xfrm>
            <a:off x="617220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来源状态3"/>
          <p:cNvSpPr txBox="1"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2" name="来源说明3"/>
          <p:cNvSpPr txBox="1"/>
          <p:nvPr/>
        </p:nvSpPr>
        <p:spPr>
          <a:xfrm>
            <a:off x="635508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皮尤研究中心青少年调查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概率样本 1,458 人 · 加权</a:t>
            </a:r>
            <a:endParaRPr lang="en-US" sz="1500" dirty="0"/>
          </a:p>
        </p:txBody>
      </p:sp>
      <p:sp>
        <p:nvSpPr>
          <p:cNvPr id="13" name="来源卡4"/>
          <p:cNvSpPr/>
          <p:nvPr/>
        </p:nvSpPr>
        <p:spPr>
          <a:xfrm>
            <a:off x="898398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来源状态4"/>
          <p:cNvSpPr txBox="1"/>
          <p:nvPr/>
        </p:nvSpPr>
        <p:spPr>
          <a:xfrm>
            <a:off x="916686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5" name="来源说明4"/>
          <p:cNvSpPr txBox="1"/>
          <p:nvPr/>
        </p:nvSpPr>
        <p:spPr>
          <a:xfrm>
            <a:off x="916686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德勤数字媒体趋势调查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美国 3,595 人 · 人口普查加权</a:t>
            </a:r>
            <a:endParaRPr lang="en-US" sz="1500" dirty="0"/>
          </a:p>
        </p:txBody>
      </p:sp>
      <p:sp>
        <p:nvSpPr>
          <p:cNvPr id="16" name="来源卡5"/>
          <p:cNvSpPr/>
          <p:nvPr/>
        </p:nvSpPr>
        <p:spPr>
          <a:xfrm>
            <a:off x="54864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来源状态5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8" name="来源说明5"/>
          <p:cNvSpPr txBox="1"/>
          <p:nvPr/>
        </p:nvSpPr>
        <p:spPr>
          <a:xfrm>
            <a:off x="73152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 NPOWER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 + 机顶盒数据</a:t>
            </a:r>
            <a:endParaRPr lang="en-US" sz="1500" dirty="0"/>
          </a:p>
        </p:txBody>
      </p:sp>
      <p:sp>
        <p:nvSpPr>
          <p:cNvPr id="19" name="来源卡6"/>
          <p:cNvSpPr/>
          <p:nvPr/>
        </p:nvSpPr>
        <p:spPr>
          <a:xfrm>
            <a:off x="336042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来源状态6"/>
          <p:cNvSpPr txBox="1"/>
          <p:nvPr/>
        </p:nvSpPr>
        <p:spPr>
          <a:xfrm>
            <a:off x="35433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21" name="来源说明6"/>
          <p:cNvSpPr txBox="1"/>
          <p:nvPr/>
        </p:nvSpPr>
        <p:spPr>
          <a:xfrm>
            <a:off x="354330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尼尔森流媒体收视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测量仪样本户，仅电视屏幕</a:t>
            </a:r>
            <a:endParaRPr lang="en-US" sz="1500" dirty="0"/>
          </a:p>
        </p:txBody>
      </p:sp>
      <p:sp>
        <p:nvSpPr>
          <p:cNvPr id="22" name="来源卡7"/>
          <p:cNvSpPr/>
          <p:nvPr/>
        </p:nvSpPr>
        <p:spPr>
          <a:xfrm>
            <a:off x="617220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来源状态7"/>
          <p:cNvSpPr txBox="1"/>
          <p:nvPr/>
        </p:nvSpPr>
        <p:spPr>
          <a:xfrm>
            <a:off x="63550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24" name="来源说明7"/>
          <p:cNvSpPr txBox="1"/>
          <p:nvPr/>
        </p:nvSpPr>
        <p:spPr>
          <a:xfrm>
            <a:off x="635508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节目数据库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企业自有数据，非抽样</a:t>
            </a:r>
            <a:endParaRPr lang="en-US" sz="1500" dirty="0"/>
          </a:p>
        </p:txBody>
      </p:sp>
      <p:sp>
        <p:nvSpPr>
          <p:cNvPr id="25" name="来源卡8"/>
          <p:cNvSpPr/>
          <p:nvPr/>
        </p:nvSpPr>
        <p:spPr>
          <a:xfrm>
            <a:off x="898398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来源状态8"/>
          <p:cNvSpPr txBox="1"/>
          <p:nvPr/>
        </p:nvSpPr>
        <p:spPr>
          <a:xfrm>
            <a:off x="91668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部分公开</a:t>
            </a:r>
            <a:endParaRPr lang="en-US" sz="1200" dirty="0"/>
          </a:p>
        </p:txBody>
      </p:sp>
      <p:sp>
        <p:nvSpPr>
          <p:cNvPr id="27" name="来源说明8"/>
          <p:cNvSpPr txBox="1"/>
          <p:nvPr/>
        </p:nvSpPr>
        <p:spPr>
          <a:xfrm>
            <a:off x="916686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普华永道展望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公开数据 + 访谈 + 建模</a:t>
            </a:r>
            <a:endParaRPr lang="en-US" sz="1500" dirty="0"/>
          </a:p>
        </p:txBody>
      </p:sp>
      <p:sp>
        <p:nvSpPr>
          <p:cNvPr id="28" name="来源卡9"/>
          <p:cNvSpPr/>
          <p:nvPr/>
        </p:nvSpPr>
        <p:spPr>
          <a:xfrm>
            <a:off x="54864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来源状态9"/>
          <p:cNvSpPr txBox="1"/>
          <p:nvPr/>
        </p:nvSpPr>
        <p:spPr>
          <a:xfrm>
            <a:off x="73152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0" name="来源说明9"/>
          <p:cNvSpPr txBox="1"/>
          <p:nvPr/>
        </p:nvSpPr>
        <p:spPr>
          <a:xfrm>
            <a:off x="73152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Veed Analytics 测试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六国、独播剧；题量未公开</a:t>
            </a:r>
            <a:endParaRPr lang="en-US" sz="1500" dirty="0"/>
          </a:p>
        </p:txBody>
      </p:sp>
      <p:sp>
        <p:nvSpPr>
          <p:cNvPr id="31" name="来源卡10"/>
          <p:cNvSpPr/>
          <p:nvPr/>
        </p:nvSpPr>
        <p:spPr>
          <a:xfrm>
            <a:off x="336042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来源状态10"/>
          <p:cNvSpPr txBox="1"/>
          <p:nvPr/>
        </p:nvSpPr>
        <p:spPr>
          <a:xfrm>
            <a:off x="354330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33" name="来源说明10"/>
          <p:cNvSpPr txBox="1"/>
          <p:nvPr/>
        </p:nvSpPr>
        <p:spPr>
          <a:xfrm>
            <a:off x="354330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南加州大学论文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同行评审，自动分类器</a:t>
            </a:r>
            <a:endParaRPr lang="en-US" sz="1500" dirty="0"/>
          </a:p>
        </p:txBody>
      </p:sp>
      <p:sp>
        <p:nvSpPr>
          <p:cNvPr id="34" name="来源卡11"/>
          <p:cNvSpPr/>
          <p:nvPr/>
        </p:nvSpPr>
        <p:spPr>
          <a:xfrm>
            <a:off x="617220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来源状态11"/>
          <p:cNvSpPr txBox="1"/>
          <p:nvPr/>
        </p:nvSpPr>
        <p:spPr>
          <a:xfrm>
            <a:off x="635508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6" name="来源说明11"/>
          <p:cNvSpPr txBox="1"/>
          <p:nvPr/>
        </p:nvSpPr>
        <p:spPr>
          <a:xfrm>
            <a:off x="635508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Fabric 退订率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计算方法未公开</a:t>
            </a:r>
            <a:endParaRPr lang="en-US" sz="1500" dirty="0"/>
          </a:p>
        </p:txBody>
      </p:sp>
      <p:sp>
        <p:nvSpPr>
          <p:cNvPr id="3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详见《Gracenote报告_数据来源与采集方式核查.md》。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附录二：引用与原始来源比对</a:t>
            </a:r>
            <a:endParaRPr lang="en-US" sz="3000" dirty="0"/>
          </a:p>
        </p:txBody>
      </p:sp>
      <p:graphicFrame>
        <p:nvGraphicFramePr>
          <p:cNvPr id="15" name="引用比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原始来源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皮尤：30% 的青少年每日使用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精确值 28%；13–14 岁为 24%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南加州大学：“高达 38%”数据有偏差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仅为单一知识库、单一自动指标的结果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德勤：41% 的“订户”认为不值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原文分母为全体消费者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普华永道：2029 年支出 3,185 亿美元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全球数据，非美国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摘要：54% 的 18–34 岁“会取消”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“26% 的美国人找不到想看的”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未找到出处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报告；皮尤、南加州大学、德勤、普华永道原文。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2026-10-10T18:51:56Z</dcterms:created>
  <dcterms:modified xsi:type="dcterms:W3CDTF">2026-10-10T18:51:56Z</dcterms:modified>
</cp:coreProperties>
</file>