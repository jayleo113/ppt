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7236708e-6632-68ed-795b-be9b9dc6b72f}">
          <p14:sldIdLst>
            <p14:sldId id="256"/>
            <p14:sldId id="257"/>
          </p14:sldIdLst>
        </p14:section>
        <p14:section name="报告介绍" id="{b403a56f-1af2-5158-c7b4-106d3ceb85cd}">
          <p14:sldIdLst>
            <p14:sldId id="258"/>
            <p14:sldId id="259"/>
            <p14:sldId id="260"/>
            <p14:sldId id="261"/>
          </p14:sldIdLst>
        </p14:section>
        <p14:section name="方法评价" id="{6ea40926-f546-cbdd-c379-2fea83c8c218}">
          <p14:sldIdLst>
            <p14:sldId id="262"/>
            <p14:sldId id="263"/>
            <p14:sldId id="264"/>
            <p14:sldId id="265"/>
            <p14:sldId id="266"/>
          </p14:sldIdLst>
        </p14:section>
        <p14:section name="总结" id="{c95d22b6-39ab-a8e2-d737-0778e6a3556e}">
          <p14:sldIdLst>
            <p14:sldId id="267"/>
          </p14:sldIdLst>
        </p14:section>
        <p14:section name="附录（备问）" id="{c70fcf27-1e1c-f053-6bb2-b798cc6c6e9f}">
          <p14:sldIdLst>
            <p14:sldId id="268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600" b="0" i="0" u="none" strike="noStrike">
                <a:solidFill>
                  <a:srgbClr val="1F2A44"/>
                </a:solidFill>
                <a:latin typeface="+mn-lt"/>
              </a:defRPr>
            </a:pPr>
            <a:r>
              <a:rPr sz="1600" b="0" i="0" u="none" strike="noStrike">
                <a:solidFill>
                  <a:srgbClr val="1F2A44"/>
                </a:solidFill>
                <a:latin typeface="+mn-lt"/>
              </a:rPr>
              <a:t>寻找节目的平均时长（分钟）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寻找节目时长</c:v>
                </c:pt>
              </c:strCache>
            </c:strRef>
          </c:tx>
          <c:spPr>
            <a:solidFill>
              <a:srgbClr val="C5CBD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500" u="none">
                    <a:solidFill>
                      <a:srgbClr val="1F2937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5CBD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2F6690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E4572E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巴西</c:v>
                  </c:pt>
                  <c:pt idx="1">
                    <c:v>法国</c:v>
                  </c:pt>
                  <c:pt idx="2">
                    <c:v>德国</c:v>
                  </c:pt>
                  <c:pt idx="3">
                    <c:v>墨西哥</c:v>
                  </c:pt>
                  <c:pt idx="4">
                    <c:v>英国</c:v>
                  </c:pt>
                  <c:pt idx="5">
                    <c:v>美国</c:v>
                  </c:pt>
                  <c:pt idx="6">
                    <c:v>六国均值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12</c:v>
                </c:pt>
                <c:pt idx="1">
                  <c:v>26</c:v>
                </c:pt>
                <c:pt idx="2">
                  <c:v>11</c:v>
                </c:pt>
                <c:pt idx="3">
                  <c:v>11</c:v>
                </c:pt>
                <c:pt idx="4">
                  <c:v>12</c:v>
                </c:pt>
                <c:pt idx="5">
                  <c:v>12</c:v>
                </c:pt>
                <c:pt idx="6">
                  <c:v>14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500" u="none">
                  <a:solidFill>
                    <a:srgbClr val="1F2937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600" b="0" i="0" u="none" strike="noStrike">
                <a:solidFill>
                  <a:srgbClr val="1F2937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秒】大家好，我汇报的是尼尔森旗下 Gracenote 今年 4 月发布的一份报告，讲 AI 时代人们怎样找电视节目。报告提到，13 到 14 岁的受访者中有 54% 每天使用 AI。我想先弄清楚，这个比例是在哪些人中得出的。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15 秒】我的看法是，这份报告说明了 AI 用户的一些变化，这部分可以参考；但它常把这群用户的回答，写成美国人整体的情况。汇报分五个部分。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秒】先介绍背景。平台越来越多，找节目变得费时，不少人开始直接问 AI。报告关心三个问题：人们怎样用 AI 找信息，找节目难不难、会不会因此退订，以及是否相信 AI 的答案。另外，Gracenote 本身做节目数据。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秒】报告的数据主要来自两份线上问卷。第一份在今年一到二月，调查了 4003 名 13 到 79 岁的美国 AI 聊天机器人用户；第二份在去年夏天，调查了六个国家的流媒体用户，每国 500 人。两份调查都没有说明样本是怎么抽取的。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秒】报告的第一组发现是，13 到 14 岁的 AI 用户中有 54% 每天使用；同时 75% 的受访者会核对 AI 的答案。报告认为，AI 回答直接、可以追问，所以用得越来越多；但它有时会给出错误信息，所以多数人还会再核对。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秒】第二组发现与找节目有关。用户平均要花 14 分钟找节目，18 到 34 岁的受访者中有 54% 表示可能因此退订，而 AI 只能答对约三分之二节目的播出平台。报告据此建议，AI 应该接入可靠的行业数据。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10 秒】这条推理可以分成四步。调查结果会随调查对象、范围、时间和方法而变化，所以我从这四个方面分别检查。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秒】第一是调查对象。这 4003 名受访者都是 AI 聊天机器人用户，没有包括不用 AI 的人。线上样本的构成和总体不同，所以 54% 和 75% 只能说明 AI 用户的情况，不能直接推到全体美国人。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20 秒】第二是调查范围。“平均 14 分钟”来自六国调查，是六个国家的平均值；美国是 12 分钟，法国是 26 分钟。报告把这个数字放在一张讲美国收视的图里，读者容易以为美国人也要找 14 分钟。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秒】第三是调查时间和比较对象。报告用皮尤去年秋天的 30% 对比自己今年初的 54%，认为使用在加速。但皮尤调查的是全体青少年，同样 13 到 14 岁只有 24%；本报告只调查 AI 用户。换成相同分母，两者只差约 10 个百分点。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秒】第四是方法。报告用来说明“节目难找导致退订”的，是四种性质不同的数据：退订意愿、实际退订率、市场预测和 AI 测试。报告也没有追踪同一批用户，所以这些数据只能说明两者有关，不能说明前者导致后者。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【约 25 秒】总的来看，前两步在 AI 用户中基本成立，后两步证据不够。报告的样本量、调查时间和年龄范围写得很清楚，图里的数字也能复算。最后想请大家想一想：要验证节目难找会不会导致退订，调查应该怎么设计？谢谢。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备问用，不计入汇报时间。被问及数据来源与方法公开程度时使用。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备问用，不计入汇报时间。被问及报告引用数据是否准确时使用。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737360"/>
            <a:ext cx="67665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课程名"/>
          <p:cNvSpPr txBox="1"/>
          <p:nvPr/>
        </p:nvSpPr>
        <p:spPr>
          <a:xfrm>
            <a:off x="731520" y="1097280"/>
            <a:ext cx="6766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4"/>
                </a:solidFill>
              </a:rPr>
              <a:t>市场调研：方法与实践 · 课后作业汇报</a:t>
            </a:r>
            <a:endParaRPr lang="en-US" sz="16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17373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AI 时代的电视搜索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与内容发现</a:t>
            </a:r>
            <a:endParaRPr lang="en-US" sz="40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731520" y="3657600"/>
            <a:ext cx="6766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Gracenote（尼尔森旗下）2026 年报告解读</a:t>
            </a:r>
            <a:endParaRPr lang="en-US" sz="1800" dirty="0"/>
          </a:p>
        </p:txBody>
      </p:sp>
      <p:sp>
        <p:nvSpPr>
          <p:cNvPr id="5" name="封面数字"/>
          <p:cNvSpPr txBox="1"/>
          <p:nvPr/>
        </p:nvSpPr>
        <p:spPr>
          <a:xfrm>
            <a:off x="7772400" y="1463040"/>
            <a:ext cx="3931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12000" dirty="0"/>
          </a:p>
        </p:txBody>
      </p:sp>
      <p:sp>
        <p:nvSpPr>
          <p:cNvPr id="6" name="封面数字说明"/>
          <p:cNvSpPr txBox="1"/>
          <p:nvPr/>
        </p:nvSpPr>
        <p:spPr>
          <a:xfrm>
            <a:off x="7772400" y="3291840"/>
            <a:ext cx="3931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报告：13–14 岁受访者每天使用 AI</a:t>
            </a:r>
            <a:endParaRPr lang="en-US" sz="1600" dirty="0"/>
          </a:p>
        </p:txBody>
      </p:sp>
      <p:sp>
        <p:nvSpPr>
          <p:cNvPr id="7" name="提问框"/>
          <p:cNvSpPr/>
          <p:nvPr/>
        </p:nvSpPr>
        <p:spPr>
          <a:xfrm>
            <a:off x="8092440" y="4069080"/>
            <a:ext cx="3291840" cy="73152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8" name="提问框图标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66760" y="4279392"/>
            <a:ext cx="310896" cy="310896"/>
          </a:xfrm>
          <a:prstGeom prst="rect">
            <a:avLst/>
          </a:prstGeom>
        </p:spPr>
      </p:pic>
      <p:sp>
        <p:nvSpPr>
          <p:cNvPr id="9" name="提问框文字"/>
          <p:cNvSpPr txBox="1"/>
          <p:nvPr/>
        </p:nvSpPr>
        <p:spPr>
          <a:xfrm>
            <a:off x="8778240" y="4069080"/>
            <a:ext cx="2514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这个比例来自哪些人？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汇报框架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报告反映的趋势有参考价值，但不少结论超出了样本范围</a:t>
            </a:r>
            <a:endParaRPr lang="en-US" sz="3000" dirty="0"/>
          </a:p>
        </p:txBody>
      </p:sp>
      <p:sp>
        <p:nvSpPr>
          <p:cNvPr id="4" name="框架行1"/>
          <p:cNvSpPr/>
          <p:nvPr/>
        </p:nvSpPr>
        <p:spPr>
          <a:xfrm>
            <a:off x="548640" y="160020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序号1"/>
          <p:cNvSpPr txBox="1"/>
          <p:nvPr/>
        </p:nvSpPr>
        <p:spPr>
          <a:xfrm>
            <a:off x="777240" y="16002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框架名1"/>
          <p:cNvSpPr txBox="1"/>
          <p:nvPr/>
        </p:nvSpPr>
        <p:spPr>
          <a:xfrm>
            <a:off x="1554480" y="160020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研究背景与问题</a:t>
            </a:r>
            <a:endParaRPr lang="en-US" sz="2000" dirty="0"/>
          </a:p>
        </p:txBody>
      </p:sp>
      <p:sp>
        <p:nvSpPr>
          <p:cNvPr id="7" name="框架行2"/>
          <p:cNvSpPr/>
          <p:nvPr/>
        </p:nvSpPr>
        <p:spPr>
          <a:xfrm>
            <a:off x="548640" y="246888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序号2"/>
          <p:cNvSpPr txBox="1"/>
          <p:nvPr/>
        </p:nvSpPr>
        <p:spPr>
          <a:xfrm>
            <a:off x="777240" y="246888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 dirty="0"/>
          </a:p>
        </p:txBody>
      </p:sp>
      <p:sp>
        <p:nvSpPr>
          <p:cNvPr id="9" name="框架名2"/>
          <p:cNvSpPr txBox="1"/>
          <p:nvPr/>
        </p:nvSpPr>
        <p:spPr>
          <a:xfrm>
            <a:off x="1554480" y="246888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研究设计</a:t>
            </a:r>
            <a:endParaRPr lang="en-US" sz="2000" dirty="0"/>
          </a:p>
        </p:txBody>
      </p:sp>
      <p:sp>
        <p:nvSpPr>
          <p:cNvPr id="10" name="框架行3"/>
          <p:cNvSpPr/>
          <p:nvPr/>
        </p:nvSpPr>
        <p:spPr>
          <a:xfrm>
            <a:off x="548640" y="333756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序号3"/>
          <p:cNvSpPr txBox="1"/>
          <p:nvPr/>
        </p:nvSpPr>
        <p:spPr>
          <a:xfrm>
            <a:off x="777240" y="333756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 dirty="0"/>
          </a:p>
        </p:txBody>
      </p:sp>
      <p:sp>
        <p:nvSpPr>
          <p:cNvPr id="12" name="框架名3"/>
          <p:cNvSpPr txBox="1"/>
          <p:nvPr/>
        </p:nvSpPr>
        <p:spPr>
          <a:xfrm>
            <a:off x="1554480" y="333756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报告内容</a:t>
            </a:r>
            <a:endParaRPr lang="en-US" sz="2000" dirty="0"/>
          </a:p>
        </p:txBody>
      </p:sp>
      <p:sp>
        <p:nvSpPr>
          <p:cNvPr id="13" name="框架行4"/>
          <p:cNvSpPr/>
          <p:nvPr/>
        </p:nvSpPr>
        <p:spPr>
          <a:xfrm>
            <a:off x="548640" y="420624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14" name="序号4"/>
          <p:cNvSpPr txBox="1"/>
          <p:nvPr/>
        </p:nvSpPr>
        <p:spPr>
          <a:xfrm>
            <a:off x="777240" y="42062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 dirty="0"/>
          </a:p>
        </p:txBody>
      </p:sp>
      <p:sp>
        <p:nvSpPr>
          <p:cNvPr id="15" name="框架名4"/>
          <p:cNvSpPr txBox="1"/>
          <p:nvPr/>
        </p:nvSpPr>
        <p:spPr>
          <a:xfrm>
            <a:off x="1554480" y="420624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方法评价</a:t>
            </a:r>
            <a:endParaRPr lang="en-US" sz="2000" dirty="0"/>
          </a:p>
        </p:txBody>
      </p:sp>
      <p:sp>
        <p:nvSpPr>
          <p:cNvPr id="16" name="框架行5"/>
          <p:cNvSpPr/>
          <p:nvPr/>
        </p:nvSpPr>
        <p:spPr>
          <a:xfrm>
            <a:off x="548640" y="5074920"/>
            <a:ext cx="5669280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序号5"/>
          <p:cNvSpPr txBox="1"/>
          <p:nvPr/>
        </p:nvSpPr>
        <p:spPr>
          <a:xfrm>
            <a:off x="777240" y="50749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 dirty="0"/>
          </a:p>
        </p:txBody>
      </p:sp>
      <p:sp>
        <p:nvSpPr>
          <p:cNvPr id="18" name="框架名5"/>
          <p:cNvSpPr txBox="1"/>
          <p:nvPr/>
        </p:nvSpPr>
        <p:spPr>
          <a:xfrm>
            <a:off x="1554480" y="5074920"/>
            <a:ext cx="4480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2"/>
                </a:solidFill>
              </a:rPr>
              <a:t>总结</a:t>
            </a:r>
            <a:endParaRPr lang="en-US" sz="2000" dirty="0"/>
          </a:p>
        </p:txBody>
      </p:sp>
      <p:sp>
        <p:nvSpPr>
          <p:cNvPr id="19" name="核心观点卡"/>
          <p:cNvSpPr/>
          <p:nvPr/>
        </p:nvSpPr>
        <p:spPr>
          <a:xfrm>
            <a:off x="6583680" y="1600200"/>
            <a:ext cx="5029200" cy="4206240"/>
          </a:xfrm>
          <a:prstGeom prst="roundRect">
            <a:avLst>
              <a:gd name="adj" fmla="val 2174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核心观点"/>
          <p:cNvSpPr txBox="1"/>
          <p:nvPr/>
        </p:nvSpPr>
        <p:spPr>
          <a:xfrm>
            <a:off x="6949440" y="1783080"/>
            <a:ext cx="42976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800"/>
              </a:spcAft>
              <a:buNone/>
            </a:pPr>
            <a:r>
              <a:rPr lang="en-US" sz="1600" b="1" dirty="0">
                <a:solidFill>
                  <a:schemeClr val="accent4"/>
                </a:solidFill>
              </a:rPr>
              <a:t>我的看法</a:t>
            </a:r>
            <a:endParaRPr lang="en-US" sz="1600" dirty="0"/>
          </a:p>
          <a:p>
            <a:pPr indent="0" marL="0">
              <a:spcAft>
                <a:spcPts val="1800"/>
              </a:spcAft>
              <a:buNone/>
            </a:pPr>
            <a:r>
              <a:rPr lang="en-US" sz="2200" b="1" dirty="0">
                <a:solidFill>
                  <a:schemeClr val="bg1"/>
                </a:solidFill>
              </a:rPr>
              <a:t>这份报告说明了 AI 用户的一些变化，这部分可以参考；但它常把这群用户的回答，写成美国人整体的情况。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01  研究背景与问题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报告关心人们怎样用 AI 找电视节目</a:t>
            </a:r>
            <a:endParaRPr lang="en-US" sz="3000" dirty="0"/>
          </a:p>
        </p:txBody>
      </p:sp>
      <p:sp>
        <p:nvSpPr>
          <p:cNvPr id="4" name="问题卡1"/>
          <p:cNvSpPr/>
          <p:nvPr/>
        </p:nvSpPr>
        <p:spPr>
          <a:xfrm>
            <a:off x="54864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问题编号1"/>
          <p:cNvSpPr txBox="1"/>
          <p:nvPr/>
        </p:nvSpPr>
        <p:spPr>
          <a:xfrm>
            <a:off x="86868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问题一</a:t>
            </a:r>
            <a:endParaRPr lang="en-US" sz="1600" dirty="0"/>
          </a:p>
        </p:txBody>
      </p:sp>
      <p:sp>
        <p:nvSpPr>
          <p:cNvPr id="6" name="问题名1"/>
          <p:cNvSpPr txBox="1"/>
          <p:nvPr/>
        </p:nvSpPr>
        <p:spPr>
          <a:xfrm>
            <a:off x="86868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使用情况</a:t>
            </a:r>
            <a:endParaRPr lang="en-US" sz="2600" dirty="0"/>
          </a:p>
        </p:txBody>
      </p:sp>
      <p:sp>
        <p:nvSpPr>
          <p:cNvPr id="7" name="问题内容1"/>
          <p:cNvSpPr txBox="1"/>
          <p:nvPr/>
        </p:nvSpPr>
        <p:spPr>
          <a:xfrm>
            <a:off x="86868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不同年龄的人用 AI 找信息的频率</a:t>
            </a:r>
            <a:endParaRPr lang="en-US" sz="1800" dirty="0"/>
          </a:p>
        </p:txBody>
      </p:sp>
      <p:sp>
        <p:nvSpPr>
          <p:cNvPr id="8" name="问题卡2"/>
          <p:cNvSpPr/>
          <p:nvPr/>
        </p:nvSpPr>
        <p:spPr>
          <a:xfrm>
            <a:off x="429768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问题编号2"/>
          <p:cNvSpPr txBox="1"/>
          <p:nvPr/>
        </p:nvSpPr>
        <p:spPr>
          <a:xfrm>
            <a:off x="461772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问题二</a:t>
            </a:r>
            <a:endParaRPr lang="en-US" sz="1600" dirty="0"/>
          </a:p>
        </p:txBody>
      </p:sp>
      <p:sp>
        <p:nvSpPr>
          <p:cNvPr id="10" name="问题名2"/>
          <p:cNvSpPr txBox="1"/>
          <p:nvPr/>
        </p:nvSpPr>
        <p:spPr>
          <a:xfrm>
            <a:off x="461772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找节目的难度</a:t>
            </a:r>
            <a:endParaRPr lang="en-US" sz="2600" dirty="0"/>
          </a:p>
        </p:txBody>
      </p:sp>
      <p:sp>
        <p:nvSpPr>
          <p:cNvPr id="11" name="问题内容2"/>
          <p:cNvSpPr txBox="1"/>
          <p:nvPr/>
        </p:nvSpPr>
        <p:spPr>
          <a:xfrm>
            <a:off x="461772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找节目要花多久，会不会因此退订</a:t>
            </a:r>
            <a:endParaRPr lang="en-US" sz="1800" dirty="0"/>
          </a:p>
        </p:txBody>
      </p:sp>
      <p:sp>
        <p:nvSpPr>
          <p:cNvPr id="12" name="问题卡3"/>
          <p:cNvSpPr/>
          <p:nvPr/>
        </p:nvSpPr>
        <p:spPr>
          <a:xfrm>
            <a:off x="8046720" y="1600200"/>
            <a:ext cx="3474720" cy="251460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问题编号3"/>
          <p:cNvSpPr txBox="1"/>
          <p:nvPr/>
        </p:nvSpPr>
        <p:spPr>
          <a:xfrm>
            <a:off x="8366760" y="178308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问题三</a:t>
            </a:r>
            <a:endParaRPr lang="en-US" sz="1600" dirty="0"/>
          </a:p>
        </p:txBody>
      </p:sp>
      <p:sp>
        <p:nvSpPr>
          <p:cNvPr id="14" name="问题名3"/>
          <p:cNvSpPr txBox="1"/>
          <p:nvPr/>
        </p:nvSpPr>
        <p:spPr>
          <a:xfrm>
            <a:off x="8366760" y="2194560"/>
            <a:ext cx="28346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对 AI 的信任</a:t>
            </a:r>
            <a:endParaRPr lang="en-US" sz="2600" dirty="0"/>
          </a:p>
        </p:txBody>
      </p:sp>
      <p:sp>
        <p:nvSpPr>
          <p:cNvPr id="15" name="问题内容3"/>
          <p:cNvSpPr txBox="1"/>
          <p:nvPr/>
        </p:nvSpPr>
        <p:spPr>
          <a:xfrm>
            <a:off x="8366760" y="2926080"/>
            <a:ext cx="2880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人们是否会核对 AI 给出的答案</a:t>
            </a:r>
            <a:endParaRPr lang="en-US" sz="1800" dirty="0"/>
          </a:p>
        </p:txBody>
      </p:sp>
      <p:sp>
        <p:nvSpPr>
          <p:cNvPr id="16" name="机构条"/>
          <p:cNvSpPr/>
          <p:nvPr/>
        </p:nvSpPr>
        <p:spPr>
          <a:xfrm>
            <a:off x="548640" y="4434840"/>
            <a:ext cx="11064240" cy="1325880"/>
          </a:xfrm>
          <a:prstGeom prst="roundRect">
            <a:avLst>
              <a:gd name="adj" fmla="val 689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研究机构"/>
          <p:cNvSpPr txBox="1"/>
          <p:nvPr/>
        </p:nvSpPr>
        <p:spPr>
          <a:xfrm>
            <a:off x="868680" y="4434840"/>
            <a:ext cx="10515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4"/>
                </a:solidFill>
              </a:rPr>
              <a:t>研究机构  </a:t>
            </a:r>
            <a:pPr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Gracenote 是尼尔森旗下的节目数据公司；报告建议平台接入行业数据，这也是它的业务。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02  研究设计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报告的数据主要来自两份线上问卷</a:t>
            </a:r>
            <a:endParaRPr lang="en-US" sz="3000" dirty="0"/>
          </a:p>
        </p:txBody>
      </p:sp>
      <p:graphicFrame>
        <p:nvGraphicFramePr>
          <p:cNvPr id="5" name="研究设计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617720"/>
                <a:gridCol w="4617720"/>
              </a:tblGrid>
              <a:tr h="7772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调查一：2026 年 AI 使用调查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chemeClr val="bg1"/>
                          </a:solidFill>
                        </a:rPr>
                        <a:t>调查二：2025 年六国流媒体调查</a:t>
                      </a:r>
                      <a:endParaRPr lang="en-US" sz="18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调查对象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美国 13–79 岁 AI 聊天机器人用户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六国流媒体用户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调查时间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2026 年 1–2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2025 年 7–8 月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960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b="1" dirty="0">
                          <a:solidFill>
                            <a:schemeClr val="accent1"/>
                          </a:solidFill>
                        </a:rPr>
                        <a:t>样本量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4,003 人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2000" dirty="0">
                          <a:solidFill>
                            <a:schemeClr val="tx1"/>
                          </a:solidFill>
                        </a:rPr>
                        <a:t>3,000 人（每国 500）</a:t>
                      </a:r>
                      <a:endParaRPr lang="en-US" sz="2000" dirty="0"/>
                    </a:p>
                  </a:txBody>
                  <a:tcPr marL="177800" marR="177800" marT="76200" marB="76200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5" name="说明条"/>
          <p:cNvSpPr txBox="1"/>
          <p:nvPr/>
        </p:nvSpPr>
        <p:spPr>
          <a:xfrm>
            <a:off x="548640" y="55321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注：</a:t>
            </a:r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两份调查都没有说明样本是怎么抽取的。报告还引用了尼尔森、皮尤等共 11 个来源（见附录）。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报告内容（一）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年轻用户常用 AI，但多数受访者会核对它的答案</a:t>
            </a:r>
            <a:endParaRPr lang="en-US" sz="3000" dirty="0"/>
          </a:p>
        </p:txBody>
      </p:sp>
      <p:sp>
        <p:nvSpPr>
          <p:cNvPr id="4" name="大数字卡1"/>
          <p:cNvSpPr/>
          <p:nvPr/>
        </p:nvSpPr>
        <p:spPr>
          <a:xfrm>
            <a:off x="548640" y="160020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大数字1"/>
          <p:cNvSpPr txBox="1"/>
          <p:nvPr/>
        </p:nvSpPr>
        <p:spPr>
          <a:xfrm>
            <a:off x="868680" y="16002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400" dirty="0"/>
          </a:p>
        </p:txBody>
      </p:sp>
      <p:sp>
        <p:nvSpPr>
          <p:cNvPr id="6" name="大数字说明1"/>
          <p:cNvSpPr txBox="1"/>
          <p:nvPr/>
        </p:nvSpPr>
        <p:spPr>
          <a:xfrm>
            <a:off x="3154680" y="160020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13–14 岁 AI 用户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每天使用</a:t>
            </a:r>
            <a:endParaRPr lang="en-US" sz="2000" dirty="0"/>
          </a:p>
        </p:txBody>
      </p:sp>
      <p:sp>
        <p:nvSpPr>
          <p:cNvPr id="7" name="大数字卡2"/>
          <p:cNvSpPr/>
          <p:nvPr/>
        </p:nvSpPr>
        <p:spPr>
          <a:xfrm>
            <a:off x="6172200" y="1600200"/>
            <a:ext cx="5440680" cy="210312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大数字2"/>
          <p:cNvSpPr txBox="1"/>
          <p:nvPr/>
        </p:nvSpPr>
        <p:spPr>
          <a:xfrm>
            <a:off x="6492240" y="1600200"/>
            <a:ext cx="2194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</a:t>
            </a:r>
            <a:endParaRPr lang="en-US" sz="6400" dirty="0"/>
          </a:p>
        </p:txBody>
      </p:sp>
      <p:sp>
        <p:nvSpPr>
          <p:cNvPr id="9" name="大数字说明2"/>
          <p:cNvSpPr txBox="1"/>
          <p:nvPr/>
        </p:nvSpPr>
        <p:spPr>
          <a:xfrm>
            <a:off x="8778240" y="1600200"/>
            <a:ext cx="26974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受访者会核对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AI 的答案</a:t>
            </a:r>
            <a:endParaRPr lang="en-US" sz="2000" dirty="0"/>
          </a:p>
        </p:txBody>
      </p:sp>
      <p:sp>
        <p:nvSpPr>
          <p:cNvPr id="10" name="解释标题"/>
          <p:cNvSpPr txBox="1"/>
          <p:nvPr/>
        </p:nvSpPr>
        <p:spPr>
          <a:xfrm>
            <a:off x="548640" y="39319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报告的解释</a:t>
            </a:r>
            <a:endParaRPr lang="en-US" sz="1800" dirty="0"/>
          </a:p>
        </p:txBody>
      </p:sp>
      <p:sp>
        <p:nvSpPr>
          <p:cNvPr id="11" name="原因1"/>
          <p:cNvSpPr/>
          <p:nvPr/>
        </p:nvSpPr>
        <p:spPr>
          <a:xfrm>
            <a:off x="548640" y="4434840"/>
            <a:ext cx="722376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原因文字1"/>
          <p:cNvSpPr txBox="1"/>
          <p:nvPr/>
        </p:nvSpPr>
        <p:spPr>
          <a:xfrm>
            <a:off x="822960" y="443484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回答直接，可以继续追问</a:t>
            </a:r>
            <a:endParaRPr lang="en-US" sz="1800" dirty="0"/>
          </a:p>
        </p:txBody>
      </p:sp>
      <p:sp>
        <p:nvSpPr>
          <p:cNvPr id="13" name="箭头"/>
          <p:cNvSpPr txBox="1"/>
          <p:nvPr/>
        </p:nvSpPr>
        <p:spPr>
          <a:xfrm>
            <a:off x="7863840" y="443484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4" name="标签：使用增加"/>
          <p:cNvSpPr/>
          <p:nvPr/>
        </p:nvSpPr>
        <p:spPr>
          <a:xfrm>
            <a:off x="8275320" y="4453128"/>
            <a:ext cx="3337560" cy="5486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5" name="标签文字：使用增加"/>
          <p:cNvSpPr txBox="1"/>
          <p:nvPr/>
        </p:nvSpPr>
        <p:spPr>
          <a:xfrm>
            <a:off x="8275320" y="445312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使用增加</a:t>
            </a:r>
            <a:endParaRPr lang="en-US" sz="1700" dirty="0"/>
          </a:p>
        </p:txBody>
      </p:sp>
      <p:sp>
        <p:nvSpPr>
          <p:cNvPr id="16" name="原因2"/>
          <p:cNvSpPr/>
          <p:nvPr/>
        </p:nvSpPr>
        <p:spPr>
          <a:xfrm>
            <a:off x="548640" y="5166360"/>
            <a:ext cx="7223760" cy="594360"/>
          </a:xfrm>
          <a:prstGeom prst="roundRect">
            <a:avLst>
              <a:gd name="adj" fmla="val 1538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原因文字2"/>
          <p:cNvSpPr txBox="1"/>
          <p:nvPr/>
        </p:nvSpPr>
        <p:spPr>
          <a:xfrm>
            <a:off x="822960" y="516636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有时会给出看似合理的错误信息</a:t>
            </a:r>
            <a:endParaRPr lang="en-US" sz="1800" dirty="0"/>
          </a:p>
        </p:txBody>
      </p:sp>
      <p:sp>
        <p:nvSpPr>
          <p:cNvPr id="18" name="箭头"/>
          <p:cNvSpPr txBox="1"/>
          <p:nvPr/>
        </p:nvSpPr>
        <p:spPr>
          <a:xfrm>
            <a:off x="7863840" y="5166360"/>
            <a:ext cx="274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标签：需要核对"/>
          <p:cNvSpPr/>
          <p:nvPr/>
        </p:nvSpPr>
        <p:spPr>
          <a:xfrm>
            <a:off x="8275320" y="5184648"/>
            <a:ext cx="3337560" cy="548640"/>
          </a:xfrm>
          <a:prstGeom prst="roundRect">
            <a:avLst>
              <a:gd name="adj" fmla="val 5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0" name="标签文字：需要核对"/>
          <p:cNvSpPr txBox="1"/>
          <p:nvPr/>
        </p:nvSpPr>
        <p:spPr>
          <a:xfrm>
            <a:off x="8275320" y="5184648"/>
            <a:ext cx="3337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需要核对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03  报告内容（二）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报告认为，节目难找会让用户退订</a:t>
            </a:r>
            <a:endParaRPr lang="en-US" sz="3000" dirty="0"/>
          </a:p>
        </p:txBody>
      </p:sp>
      <p:sp>
        <p:nvSpPr>
          <p:cNvPr id="4" name="链条卡1"/>
          <p:cNvSpPr/>
          <p:nvPr/>
        </p:nvSpPr>
        <p:spPr>
          <a:xfrm>
            <a:off x="54864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步骤1"/>
          <p:cNvSpPr txBox="1"/>
          <p:nvPr/>
        </p:nvSpPr>
        <p:spPr>
          <a:xfrm>
            <a:off x="82296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1 步</a:t>
            </a:r>
            <a:endParaRPr lang="en-US" sz="1400" dirty="0"/>
          </a:p>
        </p:txBody>
      </p:sp>
      <p:sp>
        <p:nvSpPr>
          <p:cNvPr id="6" name="步骤名1"/>
          <p:cNvSpPr txBox="1"/>
          <p:nvPr/>
        </p:nvSpPr>
        <p:spPr>
          <a:xfrm>
            <a:off x="82296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内容分散</a:t>
            </a:r>
            <a:endParaRPr lang="en-US" sz="2100" dirty="0"/>
          </a:p>
        </p:txBody>
      </p:sp>
      <p:sp>
        <p:nvSpPr>
          <p:cNvPr id="7" name="步骤数字1"/>
          <p:cNvSpPr txBox="1"/>
          <p:nvPr/>
        </p:nvSpPr>
        <p:spPr>
          <a:xfrm>
            <a:off x="82296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8" name="步骤说明1"/>
          <p:cNvSpPr txBox="1"/>
          <p:nvPr/>
        </p:nvSpPr>
        <p:spPr>
          <a:xfrm>
            <a:off x="82296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联网电视占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美国电视时长</a:t>
            </a:r>
            <a:endParaRPr lang="en-US" sz="1600" dirty="0"/>
          </a:p>
        </p:txBody>
      </p:sp>
      <p:sp>
        <p:nvSpPr>
          <p:cNvPr id="9" name="箭头"/>
          <p:cNvSpPr txBox="1"/>
          <p:nvPr/>
        </p:nvSpPr>
        <p:spPr>
          <a:xfrm>
            <a:off x="310896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0" name="链条卡2"/>
          <p:cNvSpPr/>
          <p:nvPr/>
        </p:nvSpPr>
        <p:spPr>
          <a:xfrm>
            <a:off x="338328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步骤2"/>
          <p:cNvSpPr txBox="1"/>
          <p:nvPr/>
        </p:nvSpPr>
        <p:spPr>
          <a:xfrm>
            <a:off x="365760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2 步</a:t>
            </a:r>
            <a:endParaRPr lang="en-US" sz="1400" dirty="0"/>
          </a:p>
        </p:txBody>
      </p:sp>
      <p:sp>
        <p:nvSpPr>
          <p:cNvPr id="12" name="步骤名2"/>
          <p:cNvSpPr txBox="1"/>
          <p:nvPr/>
        </p:nvSpPr>
        <p:spPr>
          <a:xfrm>
            <a:off x="365760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找节目费时</a:t>
            </a:r>
            <a:endParaRPr lang="en-US" sz="2100" dirty="0"/>
          </a:p>
        </p:txBody>
      </p:sp>
      <p:sp>
        <p:nvSpPr>
          <p:cNvPr id="13" name="步骤数字2"/>
          <p:cNvSpPr txBox="1"/>
          <p:nvPr/>
        </p:nvSpPr>
        <p:spPr>
          <a:xfrm>
            <a:off x="365760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分钟</a:t>
            </a:r>
            <a:endParaRPr lang="en-US" sz="3600" dirty="0"/>
          </a:p>
        </p:txBody>
      </p:sp>
      <p:sp>
        <p:nvSpPr>
          <p:cNvPr id="14" name="步骤说明2"/>
          <p:cNvSpPr txBox="1"/>
          <p:nvPr/>
        </p:nvSpPr>
        <p:spPr>
          <a:xfrm>
            <a:off x="365760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平均找一个节目</a:t>
            </a:r>
            <a:endParaRPr lang="en-US" sz="1600" dirty="0"/>
          </a:p>
        </p:txBody>
      </p:sp>
      <p:sp>
        <p:nvSpPr>
          <p:cNvPr id="15" name="箭头"/>
          <p:cNvSpPr txBox="1"/>
          <p:nvPr/>
        </p:nvSpPr>
        <p:spPr>
          <a:xfrm>
            <a:off x="594360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链条卡3"/>
          <p:cNvSpPr/>
          <p:nvPr/>
        </p:nvSpPr>
        <p:spPr>
          <a:xfrm>
            <a:off x="621792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步骤3"/>
          <p:cNvSpPr txBox="1"/>
          <p:nvPr/>
        </p:nvSpPr>
        <p:spPr>
          <a:xfrm>
            <a:off x="649224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5"/>
                </a:solidFill>
              </a:rPr>
              <a:t>第 3 步</a:t>
            </a:r>
            <a:endParaRPr lang="en-US" sz="1400" dirty="0"/>
          </a:p>
        </p:txBody>
      </p:sp>
      <p:sp>
        <p:nvSpPr>
          <p:cNvPr id="18" name="步骤名3"/>
          <p:cNvSpPr txBox="1"/>
          <p:nvPr/>
        </p:nvSpPr>
        <p:spPr>
          <a:xfrm>
            <a:off x="649224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</a:rPr>
              <a:t>可能退订</a:t>
            </a:r>
            <a:endParaRPr lang="en-US" sz="2100" dirty="0"/>
          </a:p>
        </p:txBody>
      </p:sp>
      <p:sp>
        <p:nvSpPr>
          <p:cNvPr id="19" name="步骤数字3"/>
          <p:cNvSpPr txBox="1"/>
          <p:nvPr/>
        </p:nvSpPr>
        <p:spPr>
          <a:xfrm>
            <a:off x="649224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400" dirty="0"/>
          </a:p>
        </p:txBody>
      </p:sp>
      <p:sp>
        <p:nvSpPr>
          <p:cNvPr id="20" name="步骤说明3"/>
          <p:cNvSpPr txBox="1"/>
          <p:nvPr/>
        </p:nvSpPr>
        <p:spPr>
          <a:xfrm>
            <a:off x="649224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18–34 岁表示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可能退订</a:t>
            </a:r>
            <a:endParaRPr lang="en-US" sz="1600" dirty="0"/>
          </a:p>
        </p:txBody>
      </p:sp>
      <p:sp>
        <p:nvSpPr>
          <p:cNvPr id="21" name="箭头"/>
          <p:cNvSpPr txBox="1"/>
          <p:nvPr/>
        </p:nvSpPr>
        <p:spPr>
          <a:xfrm>
            <a:off x="8778240" y="1691640"/>
            <a:ext cx="274320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22" name="链条卡4"/>
          <p:cNvSpPr/>
          <p:nvPr/>
        </p:nvSpPr>
        <p:spPr>
          <a:xfrm>
            <a:off x="9052560" y="1691640"/>
            <a:ext cx="2560320" cy="3749040"/>
          </a:xfrm>
          <a:prstGeom prst="roundRect">
            <a:avLst>
              <a:gd name="adj" fmla="val 357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步骤4"/>
          <p:cNvSpPr txBox="1"/>
          <p:nvPr/>
        </p:nvSpPr>
        <p:spPr>
          <a:xfrm>
            <a:off x="9326880" y="18745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第 4 步</a:t>
            </a:r>
            <a:endParaRPr lang="en-US" sz="1400" dirty="0"/>
          </a:p>
        </p:txBody>
      </p:sp>
      <p:sp>
        <p:nvSpPr>
          <p:cNvPr id="24" name="步骤名4"/>
          <p:cNvSpPr txBox="1"/>
          <p:nvPr/>
        </p:nvSpPr>
        <p:spPr>
          <a:xfrm>
            <a:off x="9326880" y="228600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接入行业数据</a:t>
            </a:r>
            <a:endParaRPr lang="en-US" sz="2100" dirty="0"/>
          </a:p>
        </p:txBody>
      </p:sp>
      <p:sp>
        <p:nvSpPr>
          <p:cNvPr id="25" name="步骤数字4"/>
          <p:cNvSpPr txBox="1"/>
          <p:nvPr/>
        </p:nvSpPr>
        <p:spPr>
          <a:xfrm>
            <a:off x="9326880" y="324612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3600" dirty="0"/>
          </a:p>
        </p:txBody>
      </p:sp>
      <p:sp>
        <p:nvSpPr>
          <p:cNvPr id="26" name="步骤说明4"/>
          <p:cNvSpPr txBox="1"/>
          <p:nvPr/>
        </p:nvSpPr>
        <p:spPr>
          <a:xfrm>
            <a:off x="9326880" y="42519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AI 能答对的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播出平台</a:t>
            </a:r>
            <a:endParaRPr lang="en-US" sz="1600" dirty="0"/>
          </a:p>
        </p:txBody>
      </p:sp>
      <p:sp>
        <p:nvSpPr>
          <p:cNvPr id="2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数据：尼尔森收视测量；调查二（六国）；Veed Analytics 测试（报告引用）。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从四个方面检查每一步的证据</a:t>
            </a:r>
            <a:endParaRPr lang="en-US" sz="3000" dirty="0"/>
          </a:p>
        </p:txBody>
      </p:sp>
      <p:sp>
        <p:nvSpPr>
          <p:cNvPr id="4" name="环节1"/>
          <p:cNvSpPr/>
          <p:nvPr/>
        </p:nvSpPr>
        <p:spPr>
          <a:xfrm>
            <a:off x="54864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5" name="环节文字1"/>
          <p:cNvSpPr txBox="1"/>
          <p:nvPr/>
        </p:nvSpPr>
        <p:spPr>
          <a:xfrm>
            <a:off x="54864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箭头"/>
          <p:cNvSpPr txBox="1"/>
          <p:nvPr/>
        </p:nvSpPr>
        <p:spPr>
          <a:xfrm>
            <a:off x="310896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7" name="下箭头1"/>
          <p:cNvSpPr txBox="1"/>
          <p:nvPr/>
        </p:nvSpPr>
        <p:spPr>
          <a:xfrm>
            <a:off x="54864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8" name="检验1"/>
          <p:cNvSpPr/>
          <p:nvPr/>
        </p:nvSpPr>
        <p:spPr>
          <a:xfrm>
            <a:off x="54864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检验文字1"/>
          <p:cNvSpPr txBox="1"/>
          <p:nvPr/>
        </p:nvSpPr>
        <p:spPr>
          <a:xfrm>
            <a:off x="77724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调查时间</a:t>
            </a:r>
            <a:endParaRPr lang="en-US" sz="2000" dirty="0"/>
          </a:p>
        </p:txBody>
      </p:sp>
      <p:sp>
        <p:nvSpPr>
          <p:cNvPr id="10" name="环节2"/>
          <p:cNvSpPr/>
          <p:nvPr/>
        </p:nvSpPr>
        <p:spPr>
          <a:xfrm>
            <a:off x="338328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1" name="环节文字2"/>
          <p:cNvSpPr txBox="1"/>
          <p:nvPr/>
        </p:nvSpPr>
        <p:spPr>
          <a:xfrm>
            <a:off x="338328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2" name="箭头"/>
          <p:cNvSpPr txBox="1"/>
          <p:nvPr/>
        </p:nvSpPr>
        <p:spPr>
          <a:xfrm>
            <a:off x="594360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3" name="下箭头2"/>
          <p:cNvSpPr txBox="1"/>
          <p:nvPr/>
        </p:nvSpPr>
        <p:spPr>
          <a:xfrm>
            <a:off x="338328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14" name="检验2"/>
          <p:cNvSpPr/>
          <p:nvPr/>
        </p:nvSpPr>
        <p:spPr>
          <a:xfrm>
            <a:off x="338328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检验文字2"/>
          <p:cNvSpPr txBox="1"/>
          <p:nvPr/>
        </p:nvSpPr>
        <p:spPr>
          <a:xfrm>
            <a:off x="361188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调查对象</a:t>
            </a:r>
            <a:endParaRPr lang="en-US" sz="2000" dirty="0"/>
          </a:p>
        </p:txBody>
      </p:sp>
      <p:sp>
        <p:nvSpPr>
          <p:cNvPr id="16" name="环节3"/>
          <p:cNvSpPr/>
          <p:nvPr/>
        </p:nvSpPr>
        <p:spPr>
          <a:xfrm>
            <a:off x="621792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环节文字3"/>
          <p:cNvSpPr txBox="1"/>
          <p:nvPr/>
        </p:nvSpPr>
        <p:spPr>
          <a:xfrm>
            <a:off x="621792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8" name="箭头"/>
          <p:cNvSpPr txBox="1"/>
          <p:nvPr/>
        </p:nvSpPr>
        <p:spPr>
          <a:xfrm>
            <a:off x="8778240" y="1645920"/>
            <a:ext cx="274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accent5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下箭头3"/>
          <p:cNvSpPr txBox="1"/>
          <p:nvPr/>
        </p:nvSpPr>
        <p:spPr>
          <a:xfrm>
            <a:off x="621792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20" name="检验3"/>
          <p:cNvSpPr/>
          <p:nvPr/>
        </p:nvSpPr>
        <p:spPr>
          <a:xfrm>
            <a:off x="621792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检验文字3"/>
          <p:cNvSpPr txBox="1"/>
          <p:nvPr/>
        </p:nvSpPr>
        <p:spPr>
          <a:xfrm>
            <a:off x="644652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调查范围</a:t>
            </a:r>
            <a:endParaRPr lang="en-US" sz="2000" dirty="0"/>
          </a:p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2" name="环节4"/>
          <p:cNvSpPr/>
          <p:nvPr/>
        </p:nvSpPr>
        <p:spPr>
          <a:xfrm>
            <a:off x="9052560" y="1645920"/>
            <a:ext cx="2560320" cy="91440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环节文字4"/>
          <p:cNvSpPr txBox="1"/>
          <p:nvPr/>
        </p:nvSpPr>
        <p:spPr>
          <a:xfrm>
            <a:off x="9052560" y="164592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24" name="下箭头4"/>
          <p:cNvSpPr txBox="1"/>
          <p:nvPr/>
        </p:nvSpPr>
        <p:spPr>
          <a:xfrm>
            <a:off x="9052560" y="26060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accent5"/>
                </a:solidFill>
              </a:rPr>
              <a:t>↓</a:t>
            </a:r>
            <a:endParaRPr lang="en-US" sz="2000" dirty="0"/>
          </a:p>
        </p:txBody>
      </p:sp>
      <p:sp>
        <p:nvSpPr>
          <p:cNvPr id="25" name="检验4"/>
          <p:cNvSpPr/>
          <p:nvPr/>
        </p:nvSpPr>
        <p:spPr>
          <a:xfrm>
            <a:off x="9052560" y="3063240"/>
            <a:ext cx="2560320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检验文字4"/>
          <p:cNvSpPr txBox="1"/>
          <p:nvPr/>
        </p:nvSpPr>
        <p:spPr>
          <a:xfrm>
            <a:off x="9281160" y="3063240"/>
            <a:ext cx="219456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600"/>
              </a:spcAft>
              <a:buNone/>
            </a:pPr>
            <a:r>
              <a:rPr lang="en-US" sz="2000" b="1" dirty="0">
                <a:solidFill>
                  <a:schemeClr val="accent1"/>
                </a:solidFill>
              </a:rPr>
              <a:t>研究方法</a:t>
            </a:r>
            <a:endParaRPr lang="en-US" sz="2000" dirty="0"/>
          </a:p>
        </p:txBody>
      </p:sp>
      <p:sp>
        <p:nvSpPr>
          <p:cNvPr id="27" name="依据条"/>
          <p:cNvSpPr/>
          <p:nvPr/>
        </p:nvSpPr>
        <p:spPr>
          <a:xfrm>
            <a:off x="548640" y="4983480"/>
            <a:ext cx="11064240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评价依据"/>
          <p:cNvSpPr txBox="1"/>
          <p:nvPr/>
        </p:nvSpPr>
        <p:spPr>
          <a:xfrm>
            <a:off x="822960" y="498348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调查结果会随调查对象、范围、时间和方法而变化，所以分别从这四个方面检查。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调查对象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样本都是 AI 用户，不能直接代表美国人</a:t>
            </a:r>
            <a:endParaRPr lang="en-US" sz="3000" dirty="0"/>
          </a:p>
        </p:txBody>
      </p:sp>
      <p:sp>
        <p:nvSpPr>
          <p:cNvPr id="4" name="总体圈1"/>
          <p:cNvSpPr/>
          <p:nvPr/>
        </p:nvSpPr>
        <p:spPr>
          <a:xfrm>
            <a:off x="822960" y="1554480"/>
            <a:ext cx="4389120" cy="4389120"/>
          </a:xfrm>
          <a:prstGeom prst="ellipse">
            <a:avLst/>
          </a:prstGeom>
          <a:solidFill>
            <a:schemeClr val="bg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5" name="总体标签1"/>
          <p:cNvSpPr txBox="1"/>
          <p:nvPr/>
        </p:nvSpPr>
        <p:spPr>
          <a:xfrm>
            <a:off x="822960" y="16459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美国人口</a:t>
            </a:r>
            <a:endParaRPr lang="en-US" sz="1500" dirty="0"/>
          </a:p>
        </p:txBody>
      </p:sp>
      <p:sp>
        <p:nvSpPr>
          <p:cNvPr id="6" name="总体圈2"/>
          <p:cNvSpPr/>
          <p:nvPr/>
        </p:nvSpPr>
        <p:spPr>
          <a:xfrm>
            <a:off x="1234440" y="2194560"/>
            <a:ext cx="3566160" cy="3566160"/>
          </a:xfrm>
          <a:prstGeom prst="ellipse">
            <a:avLst/>
          </a:prstGeom>
          <a:solidFill>
            <a:schemeClr val="accent6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7" name="总体标签2"/>
          <p:cNvSpPr txBox="1"/>
          <p:nvPr/>
        </p:nvSpPr>
        <p:spPr>
          <a:xfrm>
            <a:off x="1234440" y="228600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互联网用户</a:t>
            </a:r>
            <a:endParaRPr lang="en-US" sz="1500" dirty="0"/>
          </a:p>
        </p:txBody>
      </p:sp>
      <p:sp>
        <p:nvSpPr>
          <p:cNvPr id="8" name="总体圈3"/>
          <p:cNvSpPr/>
          <p:nvPr/>
        </p:nvSpPr>
        <p:spPr>
          <a:xfrm>
            <a:off x="1645920" y="2834640"/>
            <a:ext cx="2743200" cy="2743200"/>
          </a:xfrm>
          <a:prstGeom prst="ellipse">
            <a:avLst/>
          </a:prstGeom>
          <a:solidFill>
            <a:srgbClr val="A9C3DA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9" name="总体标签3"/>
          <p:cNvSpPr txBox="1"/>
          <p:nvPr/>
        </p:nvSpPr>
        <p:spPr>
          <a:xfrm>
            <a:off x="1645920" y="29260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AI 聊天机器人用户</a:t>
            </a:r>
            <a:endParaRPr lang="en-US" sz="1500" dirty="0"/>
          </a:p>
        </p:txBody>
      </p:sp>
      <p:sp>
        <p:nvSpPr>
          <p:cNvPr id="10" name="总体圈4"/>
          <p:cNvSpPr/>
          <p:nvPr/>
        </p:nvSpPr>
        <p:spPr>
          <a:xfrm>
            <a:off x="2103120" y="3474720"/>
            <a:ext cx="1828800" cy="1828800"/>
          </a:xfrm>
          <a:prstGeom prst="ellipse">
            <a:avLst/>
          </a:prstGeom>
          <a:solidFill>
            <a:schemeClr val="tx2"/>
          </a:solidFill>
          <a:ln w="19050">
            <a:solidFill>
              <a:schemeClr val="bg1"/>
            </a:solidFill>
            <a:prstDash val="solid"/>
          </a:ln>
        </p:spPr>
      </p:sp>
      <p:sp>
        <p:nvSpPr>
          <p:cNvPr id="11" name="样本标签"/>
          <p:cNvSpPr txBox="1"/>
          <p:nvPr/>
        </p:nvSpPr>
        <p:spPr>
          <a:xfrm>
            <a:off x="2103120" y="374904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本次样本</a:t>
            </a:r>
            <a:endParaRPr lang="en-US" sz="14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4,003</a:t>
            </a:r>
            <a:endParaRPr lang="en-US" sz="1400" dirty="0"/>
          </a:p>
        </p:txBody>
      </p:sp>
      <p:sp>
        <p:nvSpPr>
          <p:cNvPr id="12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5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4,003 名受访者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都是 AI 聊天机器人用户</a:t>
            </a:r>
            <a:endParaRPr lang="en-US" sz="1800" dirty="0"/>
          </a:p>
        </p:txBody>
      </p:sp>
      <p:sp>
        <p:nvSpPr>
          <p:cNvPr id="16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9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调查只问了用 AI 的人，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没有包括不用的人</a:t>
            </a:r>
            <a:endParaRPr lang="en-US" sz="1800" dirty="0"/>
          </a:p>
        </p:txBody>
      </p:sp>
      <p:sp>
        <p:nvSpPr>
          <p:cNvPr id="20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3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线上样本和总体构成不同，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比例只能代表 AI 用户</a:t>
            </a:r>
            <a:endParaRPr lang="en-US" sz="18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报告；尼尔森新闻稿。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调查范围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“14 分钟”是六国平均值，美国是 12 分钟</a:t>
            </a:r>
            <a:endParaRPr lang="en-US" sz="3000" dirty="0"/>
          </a:p>
        </p:txBody>
      </p:sp>
      <p:graphicFrame>
        <p:nvGraphicFramePr>
          <p:cNvPr id="4" name="分国家寻找时长图" descr=""/>
          <p:cNvGraphicFramePr/>
          <p:nvPr/>
        </p:nvGraphicFramePr>
        <p:xfrm>
          <a:off x="548640" y="1508760"/>
          <a:ext cx="5486400" cy="4389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8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报告把六国平均值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放在了美国收视的图里</a:t>
            </a:r>
            <a:endParaRPr lang="en-US" sz="1800" dirty="0"/>
          </a:p>
        </p:txBody>
      </p:sp>
      <p:sp>
        <p:nvSpPr>
          <p:cNvPr id="9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2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六国按同等权重平均，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法国的 26 分钟抬高了均值</a:t>
            </a:r>
            <a:endParaRPr lang="en-US" sz="1800" dirty="0"/>
          </a:p>
        </p:txBody>
      </p:sp>
      <p:sp>
        <p:nvSpPr>
          <p:cNvPr id="13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16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读者容易以为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美国人也要找 14 分钟</a:t>
            </a:r>
            <a:endParaRPr lang="en-US" sz="1800" dirty="0"/>
          </a:p>
        </p:txBody>
      </p:sp>
      <p:sp>
        <p:nvSpPr>
          <p:cNvPr id="1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2025 年报告《State of Play》分国家数据（每国 500 人）。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调查时间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两项调查的分母不同，不能说明使用在“加速”</a:t>
            </a:r>
            <a:endParaRPr lang="en-US" sz="3000" dirty="0"/>
          </a:p>
        </p:txBody>
      </p:sp>
      <p:sp>
        <p:nvSpPr>
          <p:cNvPr id="4" name="对比卡1"/>
          <p:cNvSpPr/>
          <p:nvPr/>
        </p:nvSpPr>
        <p:spPr>
          <a:xfrm>
            <a:off x="548640" y="1600200"/>
            <a:ext cx="548640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对比机构1"/>
          <p:cNvSpPr txBox="1"/>
          <p:nvPr/>
        </p:nvSpPr>
        <p:spPr>
          <a:xfrm>
            <a:off x="868680" y="17830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皮尤研究中心（2025 年秋）</a:t>
            </a:r>
            <a:endParaRPr lang="en-US" sz="1700" dirty="0"/>
          </a:p>
        </p:txBody>
      </p:sp>
      <p:sp>
        <p:nvSpPr>
          <p:cNvPr id="6" name="对比数字1"/>
          <p:cNvSpPr txBox="1"/>
          <p:nvPr/>
        </p:nvSpPr>
        <p:spPr>
          <a:xfrm>
            <a:off x="868680" y="224028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24%</a:t>
            </a:r>
            <a:endParaRPr lang="en-US" sz="6000" dirty="0"/>
          </a:p>
        </p:txBody>
      </p:sp>
      <p:sp>
        <p:nvSpPr>
          <p:cNvPr id="7" name="对比分母1"/>
          <p:cNvSpPr txBox="1"/>
          <p:nvPr/>
        </p:nvSpPr>
        <p:spPr>
          <a:xfrm>
            <a:off x="3108960" y="224028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全体 13–14 岁青少年</a:t>
            </a:r>
            <a:endParaRPr lang="en-US" sz="1400" dirty="0"/>
          </a:p>
        </p:txBody>
      </p:sp>
      <p:sp>
        <p:nvSpPr>
          <p:cNvPr id="8" name="对比卡2"/>
          <p:cNvSpPr/>
          <p:nvPr/>
        </p:nvSpPr>
        <p:spPr>
          <a:xfrm>
            <a:off x="548640" y="3794760"/>
            <a:ext cx="548640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对比机构2"/>
          <p:cNvSpPr txBox="1"/>
          <p:nvPr/>
        </p:nvSpPr>
        <p:spPr>
          <a:xfrm>
            <a:off x="868680" y="397764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本报告（2026 年初）</a:t>
            </a:r>
            <a:endParaRPr lang="en-US" sz="1700" dirty="0"/>
          </a:p>
        </p:txBody>
      </p:sp>
      <p:sp>
        <p:nvSpPr>
          <p:cNvPr id="10" name="对比数字2"/>
          <p:cNvSpPr txBox="1"/>
          <p:nvPr/>
        </p:nvSpPr>
        <p:spPr>
          <a:xfrm>
            <a:off x="868680" y="4434840"/>
            <a:ext cx="21945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6000" dirty="0"/>
          </a:p>
        </p:txBody>
      </p:sp>
      <p:sp>
        <p:nvSpPr>
          <p:cNvPr id="11" name="对比分母2"/>
          <p:cNvSpPr txBox="1"/>
          <p:nvPr/>
        </p:nvSpPr>
        <p:spPr>
          <a:xfrm>
            <a:off x="3108960" y="4434840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</a:rPr>
              <a:t>分母</a:t>
            </a:r>
            <a:endParaRPr lang="en-US" sz="1400" dirty="0"/>
          </a:p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13–14 岁 AI 用户</a:t>
            </a:r>
            <a:endParaRPr lang="en-US" sz="1400" dirty="0"/>
          </a:p>
        </p:txBody>
      </p:sp>
      <p:sp>
        <p:nvSpPr>
          <p:cNvPr id="12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5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报告用皮尤去年秋的 30%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对比自己今年初的 54%</a:t>
            </a:r>
            <a:endParaRPr lang="en-US" sz="1800" dirty="0"/>
          </a:p>
        </p:txBody>
      </p:sp>
      <p:sp>
        <p:nvSpPr>
          <p:cNvPr id="16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8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19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皮尤调查全体青少年，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本报告只调查 AI 用户</a:t>
            </a:r>
            <a:endParaRPr lang="en-US" sz="1800" dirty="0"/>
          </a:p>
        </p:txBody>
      </p:sp>
      <p:sp>
        <p:nvSpPr>
          <p:cNvPr id="20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2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3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换成相同分母后，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两者只差约 10 个百分点</a:t>
            </a:r>
            <a:endParaRPr lang="en-US" sz="1800" dirty="0"/>
          </a:p>
        </p:txBody>
      </p:sp>
      <p:sp>
        <p:nvSpPr>
          <p:cNvPr id="24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来源：皮尤《Teens, Social Media and AI Chatbots 2025》数据表（使用者中每日使用 44%）。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04  方法评价 · 研究方法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现有数据不足以证明节目难找会导致退订</a:t>
            </a:r>
            <a:endParaRPr lang="en-US" sz="3000" dirty="0"/>
          </a:p>
        </p:txBody>
      </p:sp>
      <p:sp>
        <p:nvSpPr>
          <p:cNvPr id="4" name="数据类型卡1"/>
          <p:cNvSpPr/>
          <p:nvPr/>
        </p:nvSpPr>
        <p:spPr>
          <a:xfrm>
            <a:off x="548640" y="160020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数据类型1"/>
          <p:cNvSpPr txBox="1"/>
          <p:nvPr/>
        </p:nvSpPr>
        <p:spPr>
          <a:xfrm>
            <a:off x="82296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意向 · 问卷</a:t>
            </a:r>
            <a:endParaRPr lang="en-US" sz="1700" dirty="0"/>
          </a:p>
        </p:txBody>
      </p:sp>
      <p:sp>
        <p:nvSpPr>
          <p:cNvPr id="6" name="数据类型数字1"/>
          <p:cNvSpPr txBox="1"/>
          <p:nvPr/>
        </p:nvSpPr>
        <p:spPr>
          <a:xfrm>
            <a:off x="82296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54%</a:t>
            </a:r>
            <a:endParaRPr lang="en-US" sz="4000" dirty="0"/>
          </a:p>
        </p:txBody>
      </p:sp>
      <p:sp>
        <p:nvSpPr>
          <p:cNvPr id="7" name="数据类型卡2"/>
          <p:cNvSpPr/>
          <p:nvPr/>
        </p:nvSpPr>
        <p:spPr>
          <a:xfrm>
            <a:off x="3383280" y="160020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数据类型2"/>
          <p:cNvSpPr txBox="1"/>
          <p:nvPr/>
        </p:nvSpPr>
        <p:spPr>
          <a:xfrm>
            <a:off x="3657600" y="18288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行为 · 退订率</a:t>
            </a:r>
            <a:endParaRPr lang="en-US" sz="1700" dirty="0"/>
          </a:p>
        </p:txBody>
      </p:sp>
      <p:sp>
        <p:nvSpPr>
          <p:cNvPr id="9" name="数据类型数字2"/>
          <p:cNvSpPr txBox="1"/>
          <p:nvPr/>
        </p:nvSpPr>
        <p:spPr>
          <a:xfrm>
            <a:off x="3657600" y="233172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5.5%</a:t>
            </a:r>
            <a:endParaRPr lang="en-US" sz="4000" dirty="0"/>
          </a:p>
        </p:txBody>
      </p:sp>
      <p:sp>
        <p:nvSpPr>
          <p:cNvPr id="10" name="数据类型卡3"/>
          <p:cNvSpPr/>
          <p:nvPr/>
        </p:nvSpPr>
        <p:spPr>
          <a:xfrm>
            <a:off x="548640" y="379476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数据类型3"/>
          <p:cNvSpPr txBox="1"/>
          <p:nvPr/>
        </p:nvSpPr>
        <p:spPr>
          <a:xfrm>
            <a:off x="82296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预测 · 普华永道</a:t>
            </a:r>
            <a:endParaRPr lang="en-US" sz="1700" dirty="0"/>
          </a:p>
        </p:txBody>
      </p:sp>
      <p:sp>
        <p:nvSpPr>
          <p:cNvPr id="12" name="数据类型数字3"/>
          <p:cNvSpPr txBox="1"/>
          <p:nvPr/>
        </p:nvSpPr>
        <p:spPr>
          <a:xfrm>
            <a:off x="822960" y="4526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3,185 亿美元</a:t>
            </a:r>
            <a:endParaRPr lang="en-US" sz="2600" dirty="0"/>
          </a:p>
        </p:txBody>
      </p:sp>
      <p:sp>
        <p:nvSpPr>
          <p:cNvPr id="13" name="数据类型卡4"/>
          <p:cNvSpPr/>
          <p:nvPr/>
        </p:nvSpPr>
        <p:spPr>
          <a:xfrm>
            <a:off x="3383280" y="3794760"/>
            <a:ext cx="265176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数据类型4"/>
          <p:cNvSpPr txBox="1"/>
          <p:nvPr/>
        </p:nvSpPr>
        <p:spPr>
          <a:xfrm>
            <a:off x="3657600" y="402336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测试 · AI 答题</a:t>
            </a:r>
            <a:endParaRPr lang="en-US" sz="1700" dirty="0"/>
          </a:p>
        </p:txBody>
      </p:sp>
      <p:sp>
        <p:nvSpPr>
          <p:cNvPr id="15" name="数据类型数字4"/>
          <p:cNvSpPr txBox="1"/>
          <p:nvPr/>
        </p:nvSpPr>
        <p:spPr>
          <a:xfrm>
            <a:off x="3657600" y="4526280"/>
            <a:ext cx="2286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约 2/3</a:t>
            </a:r>
            <a:endParaRPr lang="en-US" sz="4000" dirty="0"/>
          </a:p>
        </p:txBody>
      </p:sp>
      <p:sp>
        <p:nvSpPr>
          <p:cNvPr id="16" name="事实卡"/>
          <p:cNvSpPr/>
          <p:nvPr/>
        </p:nvSpPr>
        <p:spPr>
          <a:xfrm>
            <a:off x="6309360" y="160020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标签：事实"/>
          <p:cNvSpPr/>
          <p:nvPr/>
        </p:nvSpPr>
        <p:spPr>
          <a:xfrm>
            <a:off x="6537960" y="198424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标签文字：事实"/>
          <p:cNvSpPr txBox="1"/>
          <p:nvPr/>
        </p:nvSpPr>
        <p:spPr>
          <a:xfrm>
            <a:off x="6537960" y="198424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事实</a:t>
            </a:r>
            <a:endParaRPr lang="en-US" sz="1500" dirty="0"/>
          </a:p>
        </p:txBody>
      </p:sp>
      <p:sp>
        <p:nvSpPr>
          <p:cNvPr id="19" name="事实内容"/>
          <p:cNvSpPr txBox="1"/>
          <p:nvPr/>
        </p:nvSpPr>
        <p:spPr>
          <a:xfrm>
            <a:off x="7589520" y="160020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报告把退订意愿、退订率、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市场预测和 AI 测试放在一起</a:t>
            </a:r>
            <a:endParaRPr lang="en-US" sz="1800" dirty="0"/>
          </a:p>
        </p:txBody>
      </p:sp>
      <p:sp>
        <p:nvSpPr>
          <p:cNvPr id="20" name="原因卡"/>
          <p:cNvSpPr/>
          <p:nvPr/>
        </p:nvSpPr>
        <p:spPr>
          <a:xfrm>
            <a:off x="6309360" y="301752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标签：原因"/>
          <p:cNvSpPr/>
          <p:nvPr/>
        </p:nvSpPr>
        <p:spPr>
          <a:xfrm>
            <a:off x="6537960" y="340156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标签文字：原因"/>
          <p:cNvSpPr txBox="1"/>
          <p:nvPr/>
        </p:nvSpPr>
        <p:spPr>
          <a:xfrm>
            <a:off x="6537960" y="340156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原因</a:t>
            </a:r>
            <a:endParaRPr lang="en-US" sz="1500" dirty="0"/>
          </a:p>
        </p:txBody>
      </p:sp>
      <p:sp>
        <p:nvSpPr>
          <p:cNvPr id="23" name="原因内容"/>
          <p:cNvSpPr txBox="1"/>
          <p:nvPr/>
        </p:nvSpPr>
        <p:spPr>
          <a:xfrm>
            <a:off x="7589520" y="301752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这些数据性质不同，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也没有追踪同一批人</a:t>
            </a:r>
            <a:endParaRPr lang="en-US" sz="1800" dirty="0"/>
          </a:p>
        </p:txBody>
      </p:sp>
      <p:sp>
        <p:nvSpPr>
          <p:cNvPr id="24" name="影响卡"/>
          <p:cNvSpPr/>
          <p:nvPr/>
        </p:nvSpPr>
        <p:spPr>
          <a:xfrm>
            <a:off x="6309360" y="4434840"/>
            <a:ext cx="5303520" cy="1234440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标签：影响"/>
          <p:cNvSpPr/>
          <p:nvPr/>
        </p:nvSpPr>
        <p:spPr>
          <a:xfrm>
            <a:off x="6537960" y="4818888"/>
            <a:ext cx="868680" cy="45720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6" name="标签文字：影响"/>
          <p:cNvSpPr txBox="1"/>
          <p:nvPr/>
        </p:nvSpPr>
        <p:spPr>
          <a:xfrm>
            <a:off x="6537960" y="4818888"/>
            <a:ext cx="868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影响</a:t>
            </a:r>
            <a:endParaRPr lang="en-US" sz="1500" dirty="0"/>
          </a:p>
        </p:txBody>
      </p:sp>
      <p:sp>
        <p:nvSpPr>
          <p:cNvPr id="27" name="影响内容"/>
          <p:cNvSpPr txBox="1"/>
          <p:nvPr/>
        </p:nvSpPr>
        <p:spPr>
          <a:xfrm>
            <a:off x="7589520" y="4434840"/>
            <a:ext cx="38862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只能说明两者有关，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不能说明前者导致后者</a:t>
            </a:r>
            <a:endParaRPr lang="en-US" sz="1800" dirty="0"/>
          </a:p>
        </p:txBody>
      </p:sp>
      <p:sp>
        <p:nvSpPr>
          <p:cNvPr id="28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报告；普华永道、Veed Analytics 原文；Fabric 数据经 Broadband TV News 转述。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731520" y="320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4"/>
                </a:solidFill>
              </a:rPr>
              <a:t>05  总结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731520" y="68580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报告的结论，更适合用来描述 AI 用户群体</a:t>
            </a:r>
            <a:endParaRPr lang="en-US" sz="3000" dirty="0"/>
          </a:p>
        </p:txBody>
      </p:sp>
      <p:sp>
        <p:nvSpPr>
          <p:cNvPr id="4" name="判断行1"/>
          <p:cNvSpPr/>
          <p:nvPr/>
        </p:nvSpPr>
        <p:spPr>
          <a:xfrm>
            <a:off x="731520" y="17830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5" name="判断环节1"/>
          <p:cNvSpPr txBox="1"/>
          <p:nvPr/>
        </p:nvSpPr>
        <p:spPr>
          <a:xfrm>
            <a:off x="1005840" y="17830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① 依赖 AI</a:t>
            </a:r>
            <a:endParaRPr lang="en-US" sz="2000" dirty="0"/>
          </a:p>
        </p:txBody>
      </p:sp>
      <p:sp>
        <p:nvSpPr>
          <p:cNvPr id="6" name="标签：部分成立"/>
          <p:cNvSpPr/>
          <p:nvPr/>
        </p:nvSpPr>
        <p:spPr>
          <a:xfrm>
            <a:off x="5669280" y="19385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标签文字：部分成立"/>
          <p:cNvSpPr txBox="1"/>
          <p:nvPr/>
        </p:nvSpPr>
        <p:spPr>
          <a:xfrm>
            <a:off x="5669280" y="19385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8" name="判断行2"/>
          <p:cNvSpPr/>
          <p:nvPr/>
        </p:nvSpPr>
        <p:spPr>
          <a:xfrm>
            <a:off x="731520" y="26974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9" name="判断环节2"/>
          <p:cNvSpPr txBox="1"/>
          <p:nvPr/>
        </p:nvSpPr>
        <p:spPr>
          <a:xfrm>
            <a:off x="1005840" y="26974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② 信任不足</a:t>
            </a:r>
            <a:endParaRPr lang="en-US" sz="2000" dirty="0"/>
          </a:p>
        </p:txBody>
      </p:sp>
      <p:sp>
        <p:nvSpPr>
          <p:cNvPr id="10" name="标签：部分成立"/>
          <p:cNvSpPr/>
          <p:nvPr/>
        </p:nvSpPr>
        <p:spPr>
          <a:xfrm>
            <a:off x="5669280" y="28529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标签文字：部分成立"/>
          <p:cNvSpPr txBox="1"/>
          <p:nvPr/>
        </p:nvSpPr>
        <p:spPr>
          <a:xfrm>
            <a:off x="5669280" y="28529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部分成立</a:t>
            </a:r>
            <a:endParaRPr lang="en-US" sz="1500" dirty="0"/>
          </a:p>
        </p:txBody>
      </p:sp>
      <p:sp>
        <p:nvSpPr>
          <p:cNvPr id="12" name="判断行3"/>
          <p:cNvSpPr/>
          <p:nvPr/>
        </p:nvSpPr>
        <p:spPr>
          <a:xfrm>
            <a:off x="731520" y="36118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13" name="判断环节3"/>
          <p:cNvSpPr txBox="1"/>
          <p:nvPr/>
        </p:nvSpPr>
        <p:spPr>
          <a:xfrm>
            <a:off x="1005840" y="36118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③ 难找导致退订</a:t>
            </a:r>
            <a:endParaRPr lang="en-US" sz="2000" dirty="0"/>
          </a:p>
        </p:txBody>
      </p:sp>
      <p:sp>
        <p:nvSpPr>
          <p:cNvPr id="14" name="标签：证据不足"/>
          <p:cNvSpPr/>
          <p:nvPr/>
        </p:nvSpPr>
        <p:spPr>
          <a:xfrm>
            <a:off x="5669280" y="37673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标签文字：证据不足"/>
          <p:cNvSpPr txBox="1"/>
          <p:nvPr/>
        </p:nvSpPr>
        <p:spPr>
          <a:xfrm>
            <a:off x="5669280" y="37673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证据不足</a:t>
            </a:r>
            <a:endParaRPr lang="en-US" sz="1500" dirty="0"/>
          </a:p>
        </p:txBody>
      </p:sp>
      <p:sp>
        <p:nvSpPr>
          <p:cNvPr id="16" name="判断行4"/>
          <p:cNvSpPr/>
          <p:nvPr/>
        </p:nvSpPr>
        <p:spPr>
          <a:xfrm>
            <a:off x="731520" y="4526280"/>
            <a:ext cx="6766560" cy="749808"/>
          </a:xfrm>
          <a:prstGeom prst="roundRect">
            <a:avLst>
              <a:gd name="adj" fmla="val 12195"/>
            </a:avLst>
          </a:prstGeom>
          <a:solidFill>
            <a:srgbClr val="2C3A5C"/>
          </a:solidFill>
          <a:ln w="12700">
            <a:solidFill>
              <a:srgbClr val="2C3A5C"/>
            </a:solidFill>
            <a:prstDash val="solid"/>
          </a:ln>
        </p:spPr>
      </p:sp>
      <p:sp>
        <p:nvSpPr>
          <p:cNvPr id="17" name="判断环节4"/>
          <p:cNvSpPr txBox="1"/>
          <p:nvPr/>
        </p:nvSpPr>
        <p:spPr>
          <a:xfrm>
            <a:off x="1005840" y="4526280"/>
            <a:ext cx="4114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④ 接入行业数据</a:t>
            </a:r>
            <a:endParaRPr lang="en-US" sz="2000" dirty="0"/>
          </a:p>
        </p:txBody>
      </p:sp>
      <p:sp>
        <p:nvSpPr>
          <p:cNvPr id="18" name="标签：未经检验"/>
          <p:cNvSpPr/>
          <p:nvPr/>
        </p:nvSpPr>
        <p:spPr>
          <a:xfrm>
            <a:off x="5669280" y="4681728"/>
            <a:ext cx="1600200" cy="43891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标签文字：未经检验"/>
          <p:cNvSpPr txBox="1"/>
          <p:nvPr/>
        </p:nvSpPr>
        <p:spPr>
          <a:xfrm>
            <a:off x="5669280" y="4681728"/>
            <a:ext cx="1600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未经检验</a:t>
            </a:r>
            <a:endParaRPr lang="en-US" sz="1500" dirty="0"/>
          </a:p>
        </p:txBody>
      </p:sp>
      <p:sp>
        <p:nvSpPr>
          <p:cNvPr id="20" name="优点"/>
          <p:cNvSpPr txBox="1"/>
          <p:nvPr/>
        </p:nvSpPr>
        <p:spPr>
          <a:xfrm>
            <a:off x="731520" y="5532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</a:rPr>
              <a:t>报告的样本量、调查时间和年龄范围写得很清楚，图里的数字也能复算。</a:t>
            </a:r>
            <a:endParaRPr lang="en-US" sz="1600" dirty="0"/>
          </a:p>
        </p:txBody>
      </p:sp>
      <p:sp>
        <p:nvSpPr>
          <p:cNvPr id="21" name="讨论卡"/>
          <p:cNvSpPr/>
          <p:nvPr/>
        </p:nvSpPr>
        <p:spPr>
          <a:xfrm>
            <a:off x="7955280" y="1783080"/>
            <a:ext cx="3520440" cy="3493008"/>
          </a:xfrm>
          <a:prstGeom prst="roundRect">
            <a:avLst>
              <a:gd name="adj" fmla="val 2618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22" name="讨论问题"/>
          <p:cNvSpPr txBox="1"/>
          <p:nvPr/>
        </p:nvSpPr>
        <p:spPr>
          <a:xfrm>
            <a:off x="8275320" y="1920240"/>
            <a:ext cx="29260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1400"/>
              </a:spcAft>
              <a:buNone/>
            </a:pPr>
            <a:r>
              <a:rPr lang="en-US" sz="1600" b="1" dirty="0">
                <a:solidFill>
                  <a:schemeClr val="accent3"/>
                </a:solidFill>
              </a:rPr>
              <a:t>讨论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要验证节目难找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会不会导致退订，</a:t>
            </a:r>
            <a:endParaRPr lang="en-US" sz="1600" dirty="0"/>
          </a:p>
          <a:p>
            <a:pPr indent="0" marL="0">
              <a:spcAft>
                <a:spcPts val="1400"/>
              </a:spcAft>
              <a:buNone/>
            </a:pPr>
            <a:r>
              <a:rPr lang="en-US" sz="2200" b="1" dirty="0">
                <a:solidFill>
                  <a:schemeClr val="tx2"/>
                </a:solidFill>
              </a:rPr>
              <a:t>调查应该怎么设计？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97280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各数据来源的方法说明情况</a:t>
            </a:r>
            <a:endParaRPr lang="en-US" sz="3000" dirty="0"/>
          </a:p>
        </p:txBody>
      </p:sp>
      <p:sp>
        <p:nvSpPr>
          <p:cNvPr id="4" name="来源卡1"/>
          <p:cNvSpPr/>
          <p:nvPr/>
        </p:nvSpPr>
        <p:spPr>
          <a:xfrm>
            <a:off x="54864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来源状态1"/>
          <p:cNvSpPr txBox="1"/>
          <p:nvPr/>
        </p:nvSpPr>
        <p:spPr>
          <a:xfrm>
            <a:off x="73152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6" name="来源说明1"/>
          <p:cNvSpPr txBox="1"/>
          <p:nvPr/>
        </p:nvSpPr>
        <p:spPr>
          <a:xfrm>
            <a:off x="73152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2026 AI 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美国 AI 用户 4,003 人</a:t>
            </a:r>
            <a:endParaRPr lang="en-US" sz="1500" dirty="0"/>
          </a:p>
        </p:txBody>
      </p:sp>
      <p:sp>
        <p:nvSpPr>
          <p:cNvPr id="7" name="来源卡2"/>
          <p:cNvSpPr/>
          <p:nvPr/>
        </p:nvSpPr>
        <p:spPr>
          <a:xfrm>
            <a:off x="336042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来源状态2"/>
          <p:cNvSpPr txBox="1"/>
          <p:nvPr/>
        </p:nvSpPr>
        <p:spPr>
          <a:xfrm>
            <a:off x="354330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9" name="来源说明2"/>
          <p:cNvSpPr txBox="1"/>
          <p:nvPr/>
        </p:nvSpPr>
        <p:spPr>
          <a:xfrm>
            <a:off x="354330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2025 流媒体调查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线上 · 六国各 500 人</a:t>
            </a:r>
            <a:endParaRPr lang="en-US" sz="1500" dirty="0"/>
          </a:p>
        </p:txBody>
      </p:sp>
      <p:sp>
        <p:nvSpPr>
          <p:cNvPr id="10" name="来源卡3"/>
          <p:cNvSpPr/>
          <p:nvPr/>
        </p:nvSpPr>
        <p:spPr>
          <a:xfrm>
            <a:off x="617220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来源状态3"/>
          <p:cNvSpPr txBox="1"/>
          <p:nvPr/>
        </p:nvSpPr>
        <p:spPr>
          <a:xfrm>
            <a:off x="635508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2" name="来源说明3"/>
          <p:cNvSpPr txBox="1"/>
          <p:nvPr/>
        </p:nvSpPr>
        <p:spPr>
          <a:xfrm>
            <a:off x="635508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皮尤研究中心青少年调查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概率样本 1,458 人 · 加权</a:t>
            </a:r>
            <a:endParaRPr lang="en-US" sz="1500" dirty="0"/>
          </a:p>
        </p:txBody>
      </p:sp>
      <p:sp>
        <p:nvSpPr>
          <p:cNvPr id="13" name="来源卡4"/>
          <p:cNvSpPr/>
          <p:nvPr/>
        </p:nvSpPr>
        <p:spPr>
          <a:xfrm>
            <a:off x="8983980" y="155448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来源状态4"/>
          <p:cNvSpPr txBox="1"/>
          <p:nvPr/>
        </p:nvSpPr>
        <p:spPr>
          <a:xfrm>
            <a:off x="9166860" y="166420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5" name="来源说明4"/>
          <p:cNvSpPr txBox="1"/>
          <p:nvPr/>
        </p:nvSpPr>
        <p:spPr>
          <a:xfrm>
            <a:off x="9166860" y="199339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德勤数字媒体趋势调查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美国 3,595 人 · 人口普查加权</a:t>
            </a:r>
            <a:endParaRPr lang="en-US" sz="1500" dirty="0"/>
          </a:p>
        </p:txBody>
      </p:sp>
      <p:sp>
        <p:nvSpPr>
          <p:cNvPr id="16" name="来源卡5"/>
          <p:cNvSpPr/>
          <p:nvPr/>
        </p:nvSpPr>
        <p:spPr>
          <a:xfrm>
            <a:off x="54864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来源状态5"/>
          <p:cNvSpPr txBox="1"/>
          <p:nvPr/>
        </p:nvSpPr>
        <p:spPr>
          <a:xfrm>
            <a:off x="73152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18" name="来源说明5"/>
          <p:cNvSpPr txBox="1"/>
          <p:nvPr/>
        </p:nvSpPr>
        <p:spPr>
          <a:xfrm>
            <a:off x="73152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 NPOWER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 + 机顶盒数据</a:t>
            </a:r>
            <a:endParaRPr lang="en-US" sz="1500" dirty="0"/>
          </a:p>
        </p:txBody>
      </p:sp>
      <p:sp>
        <p:nvSpPr>
          <p:cNvPr id="19" name="来源卡6"/>
          <p:cNvSpPr/>
          <p:nvPr/>
        </p:nvSpPr>
        <p:spPr>
          <a:xfrm>
            <a:off x="336042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来源状态6"/>
          <p:cNvSpPr txBox="1"/>
          <p:nvPr/>
        </p:nvSpPr>
        <p:spPr>
          <a:xfrm>
            <a:off x="354330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21" name="来源说明6"/>
          <p:cNvSpPr txBox="1"/>
          <p:nvPr/>
        </p:nvSpPr>
        <p:spPr>
          <a:xfrm>
            <a:off x="354330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尼尔森流媒体收视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测量仪样本户，仅电视屏幕</a:t>
            </a:r>
            <a:endParaRPr lang="en-US" sz="1500" dirty="0"/>
          </a:p>
        </p:txBody>
      </p:sp>
      <p:sp>
        <p:nvSpPr>
          <p:cNvPr id="22" name="来源卡7"/>
          <p:cNvSpPr/>
          <p:nvPr/>
        </p:nvSpPr>
        <p:spPr>
          <a:xfrm>
            <a:off x="617220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来源状态7"/>
          <p:cNvSpPr txBox="1"/>
          <p:nvPr/>
        </p:nvSpPr>
        <p:spPr>
          <a:xfrm>
            <a:off x="635508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24" name="来源说明7"/>
          <p:cNvSpPr txBox="1"/>
          <p:nvPr/>
        </p:nvSpPr>
        <p:spPr>
          <a:xfrm>
            <a:off x="635508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Gracenote 节目数据库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企业自有数据，非抽样</a:t>
            </a:r>
            <a:endParaRPr lang="en-US" sz="1500" dirty="0"/>
          </a:p>
        </p:txBody>
      </p:sp>
      <p:sp>
        <p:nvSpPr>
          <p:cNvPr id="25" name="来源卡8"/>
          <p:cNvSpPr/>
          <p:nvPr/>
        </p:nvSpPr>
        <p:spPr>
          <a:xfrm>
            <a:off x="8983980" y="301752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来源状态8"/>
          <p:cNvSpPr txBox="1"/>
          <p:nvPr/>
        </p:nvSpPr>
        <p:spPr>
          <a:xfrm>
            <a:off x="9166860" y="312724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5"/>
                </a:solidFill>
              </a:rPr>
              <a:t>部分公开</a:t>
            </a:r>
            <a:endParaRPr lang="en-US" sz="1200" dirty="0"/>
          </a:p>
        </p:txBody>
      </p:sp>
      <p:sp>
        <p:nvSpPr>
          <p:cNvPr id="27" name="来源说明8"/>
          <p:cNvSpPr txBox="1"/>
          <p:nvPr/>
        </p:nvSpPr>
        <p:spPr>
          <a:xfrm>
            <a:off x="9166860" y="345643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普华永道展望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公开数据 + 访谈 + 建模</a:t>
            </a:r>
            <a:endParaRPr lang="en-US" sz="1500" dirty="0"/>
          </a:p>
        </p:txBody>
      </p:sp>
      <p:sp>
        <p:nvSpPr>
          <p:cNvPr id="28" name="来源卡9"/>
          <p:cNvSpPr/>
          <p:nvPr/>
        </p:nvSpPr>
        <p:spPr>
          <a:xfrm>
            <a:off x="54864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来源状态9"/>
          <p:cNvSpPr txBox="1"/>
          <p:nvPr/>
        </p:nvSpPr>
        <p:spPr>
          <a:xfrm>
            <a:off x="73152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0" name="来源说明9"/>
          <p:cNvSpPr txBox="1"/>
          <p:nvPr/>
        </p:nvSpPr>
        <p:spPr>
          <a:xfrm>
            <a:off x="73152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Veed Analytics 测试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六国、独播剧；题量未公开</a:t>
            </a:r>
            <a:endParaRPr lang="en-US" sz="1500" dirty="0"/>
          </a:p>
        </p:txBody>
      </p:sp>
      <p:sp>
        <p:nvSpPr>
          <p:cNvPr id="31" name="来源卡10"/>
          <p:cNvSpPr/>
          <p:nvPr/>
        </p:nvSpPr>
        <p:spPr>
          <a:xfrm>
            <a:off x="336042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2" name="来源状态10"/>
          <p:cNvSpPr txBox="1"/>
          <p:nvPr/>
        </p:nvSpPr>
        <p:spPr>
          <a:xfrm>
            <a:off x="354330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方法公开</a:t>
            </a:r>
            <a:endParaRPr lang="en-US" sz="1200" dirty="0"/>
          </a:p>
        </p:txBody>
      </p:sp>
      <p:sp>
        <p:nvSpPr>
          <p:cNvPr id="33" name="来源说明10"/>
          <p:cNvSpPr txBox="1"/>
          <p:nvPr/>
        </p:nvSpPr>
        <p:spPr>
          <a:xfrm>
            <a:off x="354330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南加州大学论文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同行评审，自动分类器</a:t>
            </a:r>
            <a:endParaRPr lang="en-US" sz="1500" dirty="0"/>
          </a:p>
        </p:txBody>
      </p:sp>
      <p:sp>
        <p:nvSpPr>
          <p:cNvPr id="34" name="来源卡11"/>
          <p:cNvSpPr/>
          <p:nvPr/>
        </p:nvSpPr>
        <p:spPr>
          <a:xfrm>
            <a:off x="6172200" y="4480560"/>
            <a:ext cx="2651760" cy="1298448"/>
          </a:xfrm>
          <a:prstGeom prst="roundRect">
            <a:avLst>
              <a:gd name="adj" fmla="val 704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5" name="来源状态11"/>
          <p:cNvSpPr txBox="1"/>
          <p:nvPr/>
        </p:nvSpPr>
        <p:spPr>
          <a:xfrm>
            <a:off x="6355080" y="4590288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关键信息未公开</a:t>
            </a:r>
            <a:endParaRPr lang="en-US" sz="1200" dirty="0"/>
          </a:p>
        </p:txBody>
      </p:sp>
      <p:sp>
        <p:nvSpPr>
          <p:cNvPr id="36" name="来源说明11"/>
          <p:cNvSpPr txBox="1"/>
          <p:nvPr/>
        </p:nvSpPr>
        <p:spPr>
          <a:xfrm>
            <a:off x="6355080" y="4919472"/>
            <a:ext cx="237744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tx2"/>
                </a:solidFill>
              </a:rPr>
              <a:t>Fabric 退订率</a:t>
            </a:r>
            <a:endParaRPr lang="en-US" sz="15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计算方法未公开</a:t>
            </a:r>
            <a:endParaRPr lang="en-US" sz="1500" dirty="0"/>
          </a:p>
        </p:txBody>
      </p:sp>
      <p:sp>
        <p:nvSpPr>
          <p:cNvPr id="37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详见《Gracenote报告_数据来源与采集方式核查.md》。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章节标记"/>
          <p:cNvSpPr txBox="1"/>
          <p:nvPr/>
        </p:nvSpPr>
        <p:spPr>
          <a:xfrm>
            <a:off x="548640" y="27432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附录（备问）</a:t>
            </a:r>
            <a:endParaRPr lang="en-US" sz="14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部分引用与原始来源不一致</a:t>
            </a:r>
            <a:endParaRPr lang="en-US" sz="3000" dirty="0"/>
          </a:p>
        </p:txBody>
      </p:sp>
      <p:graphicFrame>
        <p:nvGraphicFramePr>
          <p:cNvPr id="15" name="口径核对表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43600"/>
              </a:tblGrid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报告表述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chemeClr val="bg1"/>
                          </a:solidFill>
                        </a:rPr>
                        <a:t>原始来源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皮尤：30% 的青少年每日使用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精确值 28%；13–14 岁为 24%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南加州大学：“高达 38%”数据有偏差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仅一个知识库、一个自动指标的结果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德勤：41% 的“订户”认为不值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原文分母为全体消费者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普华永道：2029 年支出 3,185 亿美元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全球数据，非美国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摘要：54% 的 18–34 岁“会取消”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原题为“可能取消”，且为六国数据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“26% 的美国人找不到想看的”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chemeClr val="tx1"/>
                          </a:solidFill>
                        </a:rPr>
                        <a:t>未找到出处</a:t>
                      </a:r>
                      <a:endParaRPr lang="en-US" sz="1600" dirty="0"/>
                    </a:p>
                  </a:txBody>
                  <a:tcPr marL="152400" marR="152400" marT="50800" marB="50800" anchor="ctr">
                    <a:lnL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accent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来源说明"/>
          <p:cNvSpPr txBox="1"/>
          <p:nvPr/>
        </p:nvSpPr>
        <p:spPr>
          <a:xfrm>
            <a:off x="548640" y="603504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accent5"/>
                </a:solidFill>
              </a:rPr>
              <a:t>来源：Gracenote 报告；皮尤、南加州大学、德勤、普华永道原文。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35508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avy Brief">
  <a:themeElements>
    <a:clrScheme name="Navy Brief">
      <a:dk1>
        <a:srgbClr val="1F2937"/>
      </a:dk1>
      <a:lt1>
        <a:srgbClr val="FFFFFF"/>
      </a:lt1>
      <a:dk2>
        <a:srgbClr val="1F2A44"/>
      </a:dk2>
      <a:lt2>
        <a:srgbClr val="F3F4F6"/>
      </a:lt2>
      <a:accent1>
        <a:srgbClr val="2F6690"/>
      </a:accent1>
      <a:accent2>
        <a:srgbClr val="3A7D44"/>
      </a:accent2>
      <a:accent3>
        <a:srgbClr val="E4572E"/>
      </a:accent3>
      <a:accent4>
        <a:srgbClr val="F4A259"/>
      </a:accent4>
      <a:accent5>
        <a:srgbClr val="6B7280"/>
      </a:accent5>
      <a:accent6>
        <a:srgbClr val="DCE6F0"/>
      </a:accent6>
      <a:hlink>
        <a:srgbClr val="2F6690"/>
      </a:hlink>
      <a:folHlink>
        <a:srgbClr val="6B7280"/>
      </a:folHlink>
    </a:clrScheme>
    <a:fontScheme name="Navy Brief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时代的电视搜索与内容发现：Gracenote 2026 报告解读与方法评价</dc:title>
  <dc:subject>市场调研：方法与实践 课后作业汇报</dc:subject>
  <dc:creator>PptxGenJS</dc:creator>
  <cp:lastModifiedBy>PptxGenJS</cp:lastModifiedBy>
  <cp:revision>1</cp:revision>
  <dcterms:created xsi:type="dcterms:W3CDTF">2026-10-07T16:18:20Z</dcterms:created>
  <dcterms:modified xsi:type="dcterms:W3CDTF">2026-10-07T16:18:20Z</dcterms:modified>
</cp:coreProperties>
</file>