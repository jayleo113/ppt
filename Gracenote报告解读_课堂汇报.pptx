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ddb8e42-d955-15ed-0cfc-18ade258b697}">
          <p14:sldIdLst>
            <p14:sldId id="256"/>
            <p14:sldId id="257"/>
          </p14:sldIdLst>
        </p14:section>
        <p14:section name="报告介绍" id="{2281cdfa-d88f-c72c-3f05-003993a7ff03}">
          <p14:sldIdLst>
            <p14:sldId id="258"/>
            <p14:sldId id="259"/>
            <p14:sldId id="260"/>
            <p14:sldId id="261"/>
          </p14:sldIdLst>
        </p14:section>
        <p14:section name="方法评价" id="{94be0154-8ef7-c04c-6143-ebf562626050}">
          <p14:sldIdLst>
            <p14:sldId id="262"/>
            <p14:sldId id="263"/>
            <p14:sldId id="264"/>
            <p14:sldId id="265"/>
            <p14:sldId id="266"/>
          </p14:sldIdLst>
        </p14:section>
        <p14:section name="结论" id="{e2bc6846-180b-010c-6a6f-08d2d818f699}">
          <p14:sldIdLst>
            <p14:sldId id="267"/>
          </p14:sldIdLst>
        </p14:section>
        <p14:section name="附录（备问）" id="{1ae18802-e9b4-84f1-4976-b0d47a6dbd1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6B7280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6B7280"/>
                </a:solidFill>
                <a:latin typeface="+mn-lt"/>
              </a:rPr>
              <a:t>平均检索时长（分钟）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检索时长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E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669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542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秒】各位好。本次评析尼尔森旗下 Gracenote 2026 年 4 月发布的报告《AI 时代的电视搜索与内容发现》。报告称，13 至 14 岁受访者中 54% 每日使用 AI。评析从这一数据的样本构成入手。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秒】我的结论是：报告反映了 AI 用户的变化，具有参考价值；但样本仅限 AI 用户，结论不宜推及美国整体人群。汇报分五部分。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秒】研究背景是流媒体平台增多、节目分散，用户检索成本上升，AI 成为新的检索工具。报告考察三个问题：AI 使用频率、检索难度与退订意向、对 AI 的信任。需说明，Gracenote 的主营业务即节目数据。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秒】数据主要来自两项线上问卷。调查一于 2026 年 1 至 2 月进行，样本为 4003 名 13 至 79 岁的美国 AI 聊天机器人用户；调查二于 2025 年夏季进行，覆盖六国，每国 500 名流媒体用户。两项调查均未说明抽样方法。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秒】发现一：13 至 14 岁 AI 用户中 54% 每日使用，75% 的受访者会核对 AI 的回答。报告的解释是，AI 回答直接、可追问，使用因此增加；但可能生成错误信息，用户仍需核对。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秒】发现二：用户平均需 14 分钟检索节目，18 至 34 岁受访者中 54% 表示可能因此退订，AI 仅能正确回答约三分之二的播出平台。报告据此主张 AI 应接入可靠的行业数据。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秒】报告的推论可分为四个环节。调查对象、范围、时间与方法的差异都会影响结果，以下逐项检验。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秒】调查对象。4003 名受访者均为 AI 聊天机器人用户，样本以使用 AI 为筛选条件，不含非用户。线上样本的结构与总体不同，因此 54% 与 75% 仅代表 AI 用户，不能推及全体美国人。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秒】调查范围。“平均 14 分钟”来自六国调查，为六国等权平均，法国的 26 分钟抬高了均值；美国实际为 12 分钟。报告将其置于美国收视图表中，容易造成高估。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秒】调查时间与比较基准。报告以皮尤 2025 年秋的 30% 对比自身 2026 年初的 54%，称使用正在加速。但皮尤的分母是全体青少年，同为 13 至 14 岁仅 24%；本报告仅含 AI 用户。统一分母后，差距约 10 个百分点，不足以支持“加速”的判断。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秒】研究方法。“检索困难导致退订”依赖退订意向、退订率、市场预测与 AI 测试四类数据，性质不一，且缺乏追踪设计，只能说明相关，不能证明因果。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秒】综上，前两个环节在 AI 用户范围内基本成立，后两个环节证据不足。报告公开了样本量、调查时间与年龄范围，数据可复核，这是其可取之处。最后提出一个问题：如何设计调查，才能检验检索困难与退订之间的因果关系？谢谢。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备问用，不计入汇报时间。被问及数据来源与方法披露时使用。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11887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5" name="封面分隔线"/>
          <p:cNvSpPr/>
          <p:nvPr/>
        </p:nvSpPr>
        <p:spPr>
          <a:xfrm>
            <a:off x="8138160" y="1737360"/>
            <a:ext cx="32918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6" name="封面数字"/>
          <p:cNvSpPr txBox="1"/>
          <p:nvPr/>
        </p:nvSpPr>
        <p:spPr>
          <a:xfrm>
            <a:off x="8138160" y="18745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9600" dirty="0"/>
          </a:p>
        </p:txBody>
      </p:sp>
      <p:sp>
        <p:nvSpPr>
          <p:cNvPr id="7" name="封面数字说明"/>
          <p:cNvSpPr txBox="1"/>
          <p:nvPr/>
        </p:nvSpPr>
        <p:spPr>
          <a:xfrm>
            <a:off x="813816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13–14 岁受访者每日使用 AI</a:t>
            </a:r>
            <a:endParaRPr lang="en-US" sz="1600" dirty="0"/>
          </a:p>
        </p:txBody>
      </p:sp>
      <p:sp>
        <p:nvSpPr>
          <p:cNvPr id="8" name="封面分隔线"/>
          <p:cNvSpPr/>
          <p:nvPr/>
        </p:nvSpPr>
        <p:spPr>
          <a:xfrm>
            <a:off x="8138160" y="3977640"/>
            <a:ext cx="32918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封面问题"/>
          <p:cNvSpPr txBox="1"/>
          <p:nvPr/>
        </p:nvSpPr>
        <p:spPr>
          <a:xfrm>
            <a:off x="813816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该比例来自哪类样本？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报告结论的适用范围小于其表述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框架名1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分隔线"/>
          <p:cNvSpPr/>
          <p:nvPr/>
        </p:nvSpPr>
        <p:spPr>
          <a:xfrm>
            <a:off x="548640" y="246888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框架名2"/>
          <p:cNvSpPr txBox="1"/>
          <p:nvPr/>
        </p:nvSpPr>
        <p:spPr>
          <a:xfrm>
            <a:off x="1371600" y="2468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研究设计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29184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框架名3"/>
          <p:cNvSpPr txBox="1"/>
          <p:nvPr/>
        </p:nvSpPr>
        <p:spPr>
          <a:xfrm>
            <a:off x="1371600" y="3291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报告内容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11480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54864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框架名4"/>
          <p:cNvSpPr txBox="1"/>
          <p:nvPr/>
        </p:nvSpPr>
        <p:spPr>
          <a:xfrm>
            <a:off x="1371600" y="4114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方法评价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493776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548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框架名5"/>
          <p:cNvSpPr txBox="1"/>
          <p:nvPr/>
        </p:nvSpPr>
        <p:spPr>
          <a:xfrm>
            <a:off x="13716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结论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7607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结论卡"/>
          <p:cNvSpPr/>
          <p:nvPr/>
        </p:nvSpPr>
        <p:spPr>
          <a:xfrm>
            <a:off x="6583680" y="1645920"/>
            <a:ext cx="5029200" cy="4114800"/>
          </a:xfrm>
          <a:prstGeom prst="roundRect">
            <a:avLst>
              <a:gd name="adj" fmla="val 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结论"/>
          <p:cNvSpPr txBox="1"/>
          <p:nvPr/>
        </p:nvSpPr>
        <p:spPr>
          <a:xfrm>
            <a:off x="6949440" y="18288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结论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报告反映了 AI 用户的变化，具有参考价值；但样本仅限 AI 用户，结论不宜推及美国整体人群。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研究问题：AI 如何改变节目检索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背景：流媒体平台增多，节目分散，检索成本上升；AI 聊天机器人成为新的检索工具。</a:t>
            </a:r>
            <a:endParaRPr lang="en-US" sz="1800" dirty="0"/>
          </a:p>
        </p:txBody>
      </p:sp>
      <p:sp>
        <p:nvSpPr>
          <p:cNvPr id="5" name="问题卡1"/>
          <p:cNvSpPr/>
          <p:nvPr/>
        </p:nvSpPr>
        <p:spPr>
          <a:xfrm>
            <a:off x="548640" y="2240280"/>
            <a:ext cx="347472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问题编号1"/>
          <p:cNvSpPr txBox="1"/>
          <p:nvPr/>
        </p:nvSpPr>
        <p:spPr>
          <a:xfrm>
            <a:off x="868680" y="2423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7" name="问题名1"/>
          <p:cNvSpPr txBox="1"/>
          <p:nvPr/>
        </p:nvSpPr>
        <p:spPr>
          <a:xfrm>
            <a:off x="8686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使用频率</a:t>
            </a:r>
            <a:endParaRPr lang="en-US" sz="2400" dirty="0"/>
          </a:p>
        </p:txBody>
      </p:sp>
      <p:sp>
        <p:nvSpPr>
          <p:cNvPr id="8" name="问题内容1"/>
          <p:cNvSpPr txBox="1"/>
          <p:nvPr/>
        </p:nvSpPr>
        <p:spPr>
          <a:xfrm>
            <a:off x="86868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各年龄层 AI 使用频率</a:t>
            </a:r>
            <a:endParaRPr lang="en-US" sz="1700" dirty="0"/>
          </a:p>
        </p:txBody>
      </p:sp>
      <p:sp>
        <p:nvSpPr>
          <p:cNvPr id="9" name="问题卡2"/>
          <p:cNvSpPr/>
          <p:nvPr/>
        </p:nvSpPr>
        <p:spPr>
          <a:xfrm>
            <a:off x="4297680" y="2240280"/>
            <a:ext cx="347472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问题编号2"/>
          <p:cNvSpPr txBox="1"/>
          <p:nvPr/>
        </p:nvSpPr>
        <p:spPr>
          <a:xfrm>
            <a:off x="4617720" y="2423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11" name="问题名2"/>
          <p:cNvSpPr txBox="1"/>
          <p:nvPr/>
        </p:nvSpPr>
        <p:spPr>
          <a:xfrm>
            <a:off x="461772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检索难度</a:t>
            </a:r>
            <a:endParaRPr lang="en-US" sz="24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461772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检索耗时与退订意向</a:t>
            </a:r>
            <a:endParaRPr lang="en-US" sz="1700" dirty="0"/>
          </a:p>
        </p:txBody>
      </p:sp>
      <p:sp>
        <p:nvSpPr>
          <p:cNvPr id="13" name="问题卡3"/>
          <p:cNvSpPr/>
          <p:nvPr/>
        </p:nvSpPr>
        <p:spPr>
          <a:xfrm>
            <a:off x="8046720" y="2240280"/>
            <a:ext cx="347472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问题编号3"/>
          <p:cNvSpPr txBox="1"/>
          <p:nvPr/>
        </p:nvSpPr>
        <p:spPr>
          <a:xfrm>
            <a:off x="8366760" y="2423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15" name="问题名3"/>
          <p:cNvSpPr txBox="1"/>
          <p:nvPr/>
        </p:nvSpPr>
        <p:spPr>
          <a:xfrm>
            <a:off x="83667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信任程度</a:t>
            </a:r>
            <a:endParaRPr lang="en-US" sz="2400" dirty="0"/>
          </a:p>
        </p:txBody>
      </p:sp>
      <p:sp>
        <p:nvSpPr>
          <p:cNvPr id="16" name="问题内容3"/>
          <p:cNvSpPr txBox="1"/>
          <p:nvPr/>
        </p:nvSpPr>
        <p:spPr>
          <a:xfrm>
            <a:off x="83667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对 AI 回答的核查</a:t>
            </a:r>
            <a:endParaRPr lang="en-US" sz="1700" dirty="0"/>
          </a:p>
        </p:txBody>
      </p:sp>
      <p:sp>
        <p:nvSpPr>
          <p:cNvPr id="17" name="分隔线"/>
          <p:cNvSpPr/>
          <p:nvPr/>
        </p:nvSpPr>
        <p:spPr>
          <a:xfrm>
            <a:off x="548640" y="4663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研究机构"/>
          <p:cNvSpPr txBox="1"/>
          <p:nvPr/>
        </p:nvSpPr>
        <p:spPr>
          <a:xfrm>
            <a:off x="548640" y="4800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研究机构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Gracenote，尼尔森旗下节目数据公司。报告建议接入的行业数据，即其主营业务。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研究设计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数据来源：两项线上问卷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两项调查均未说明抽样方法；另引用 11 个外部来源（见附录）。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发现一：AI 使用普遍，信任有限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发现二：检索困难与退订风险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箭头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箭头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箭头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箭头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信任不足</a:t>
            </a:r>
            <a:endParaRPr lang="en-US" sz="1900" dirty="0"/>
          </a:p>
        </p:txBody>
      </p:sp>
      <p:sp>
        <p:nvSpPr>
          <p:cNvPr id="13" name="箭头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箭头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graphicFrame>
        <p:nvGraphicFramePr>
          <p:cNvPr id="4" name="分国家检索时长图" descr=""/>
          <p:cNvGraphicFramePr/>
          <p:nvPr/>
        </p:nvGraphicFramePr>
        <p:xfrm>
          <a:off x="548640" y="155448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6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7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0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3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统一分母后差距约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“加速”不成立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且无追踪设计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仅能说明相关，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结论适用于 AI 用户，不宜外推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783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806440" y="200253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806440" y="200253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51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517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806440" y="287121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806440" y="287121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5204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520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806440" y="373989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806440" y="373989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389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389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806440" y="460857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806440" y="460857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52578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可取之处"/>
          <p:cNvSpPr txBox="1"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报告公开了样本量、调查时间与年龄范围，数据可复核。</a:t>
            </a:r>
            <a:endParaRPr lang="en-US" sz="1600" dirty="0"/>
          </a:p>
        </p:txBody>
      </p:sp>
      <p:sp>
        <p:nvSpPr>
          <p:cNvPr id="22" name="讨论卡"/>
          <p:cNvSpPr/>
          <p:nvPr/>
        </p:nvSpPr>
        <p:spPr>
          <a:xfrm>
            <a:off x="7955280" y="1783080"/>
            <a:ext cx="3520440" cy="3474720"/>
          </a:xfrm>
          <a:prstGeom prst="roundRect">
            <a:avLst>
              <a:gd name="adj" fmla="val 1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讨论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检验检索困难与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退订的因果关系？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附录一：数据来源的方法披露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附录二：引用与原始来源比对</a:t>
            </a:r>
            <a:endParaRPr lang="en-US" sz="3000" dirty="0"/>
          </a:p>
        </p:txBody>
      </p:sp>
      <p:graphicFrame>
        <p:nvGraphicFramePr>
          <p:cNvPr id="15" name="引用比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仅为单一知识库、单一自动指标的结果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2026-10-07T16:23:54Z</dcterms:created>
  <dcterms:modified xsi:type="dcterms:W3CDTF">2026-10-07T16:23:54Z</dcterms:modified>
</cp:coreProperties>
</file>