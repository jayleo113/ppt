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6d2b9a57-c96a-ff0a-4dd6-c1b172ace300}">
          <p14:sldIdLst>
            <p14:sldId id="256"/>
            <p14:sldId id="257"/>
          </p14:sldIdLst>
        </p14:section>
        <p14:section name="报告介绍" id="{de5f52f3-458a-d51f-cb1e-2a2f6de6e17c}">
          <p14:sldIdLst>
            <p14:sldId id="258"/>
            <p14:sldId id="259"/>
            <p14:sldId id="260"/>
            <p14:sldId id="261"/>
          </p14:sldIdLst>
        </p14:section>
        <p14:section name="方法评价" id="{18d7fba7-8f6c-a4f5-65a9-480f34b1b131}">
          <p14:sldIdLst>
            <p14:sldId id="262"/>
            <p14:sldId id="263"/>
            <p14:sldId id="264"/>
            <p14:sldId id="265"/>
            <p14:sldId id="266"/>
          </p14:sldIdLst>
        </p14:section>
        <p14:section name="总结" id="{696348cc-a504-4ced-90e1-99cfee7af2eb}">
          <p14:sldIdLst>
            <p14:sldId id="267"/>
          </p14:sldIdLst>
        </p14:section>
        <p14:section name="附录（备问）" id="{c592c07e-c550-a0de-8760-e7fac75f76fc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B1D6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2B1D6B"/>
                </a:solidFill>
                <a:latin typeface="+mn-lt"/>
              </a:rPr>
              <a:t>寻找节目的平均时长（六国调查原始报告）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寻找节目时长</c:v>
                </c:pt>
              </c:strCache>
            </c:strRef>
          </c:tx>
          <c:spPr>
            <a:solidFill>
              <a:srgbClr val="A99BEA"/>
            </a:solidFill>
            <a:effectLst/>
          </c:spPr>
          <c:invertIfNegative val="0"/>
          <c:dLbls>
            <c:numFmt formatCode="0&quot; 分钟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C17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5B3FD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9480F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巴西</c:v>
                  </c:pt>
                  <c:pt idx="1">
                    <c:v>法国</c:v>
                  </c:pt>
                  <c:pt idx="2">
                    <c:v>德国</c:v>
                  </c:pt>
                  <c:pt idx="3">
                    <c:v>墨西哥</c:v>
                  </c:pt>
                  <c:pt idx="4">
                    <c:v>英国</c:v>
                  </c:pt>
                  <c:pt idx="5">
                    <c:v>美国</c:v>
                  </c:pt>
                  <c:pt idx="6">
                    <c:v>六国均值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</c:v>
                </c:pt>
                <c:pt idx="1">
                  <c:v>26</c:v>
                </c:pt>
                <c:pt idx="2">
                  <c:v>11</c:v>
                </c:pt>
                <c:pt idx="3">
                  <c:v>11</c:v>
                </c:pt>
                <c:pt idx="4">
                  <c:v>12</c:v>
                </c:pt>
                <c:pt idx="5">
                  <c:v>12</c:v>
                </c:pt>
                <c:pt idx="6">
                  <c:v>14</c:v>
                </c:pt>
              </c:numCache>
            </c:numRef>
          </c:val>
        </c:ser>
        <c:dLbls>
          <c:numFmt formatCode="0&quot; 分钟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C17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C17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秒】各位同学好。我汇报的是尼尔森旗下 Gracenote 公司 2026 年的报告《AI 时代的电视搜索与内容发现》。报告称 54% 的 13 至 14 岁受访者每天使用 AI。这一数据代表哪类人群，是本次汇报的出发点。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10 秒】汇报分为五部分。核心观点是：报告的趋势判断有参考价值，但论证链的关键环节证据不足。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秒】研究背景是：流媒体平台增多、内容分散，用户检索节目的难度上升，AI 也成为新的检索工具。报告由此提出三个问题：用户如何使用 AI、检索困难是否影响订阅、用户是否信任 AI。另需注意，Gracenote 的主营业务正是节目数据服务。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秒】报告主要依据两项线上问卷。调查一于 2026 年初进行，对象是 4003 名 13 至 79 岁的美国 AI 聊天机器人用户；调查二于 2025 年夏季进行，覆盖六国，每国 500 名流媒体用户。两项调查均未公开抽样框、加权方法和应答率。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秒】第一组发现是 AI 使用增加、信任不足：13 至 14 岁的 AI 用户中 54% 每天使用，但 75% 的受访者会核查 AI 的回答。报告的解释是：AI 能给出直接、完整的答案，因而受到偏好；但大模型可能生成看似合理的错误信息，因而难以被完全信任。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秒】第二组发现是内容分散导致检索困难：联网电视已占美国电视时长的 54%，用户平均花 14 分钟找节目，18 至 34 岁中 54% 表示可能因此退订，而 AI 只答对约三分之二的播出平台。报告据此主张 AI 须接入可信的行业数据。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15 秒】报告的论证可以整理为一条链：依赖 AI、不信任 AI、检索困难导致退订、AI 须接入可信数据。下面参照课上春晚案例的四个维度，逐环检验。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秒】维度一，调查对象。事实是，样本只包括 AI 聊天机器人用户，报告却表述为“美国人”。原因是线上样本以使用 AI 为筛选条件，抽样方式也未公开。因此，54% 和 75% 只能理解为 AI 用户中的比例，这与课上 Durex 网络调查的问题相同。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秒】维度二，研究总体。“平均 14 分钟”来自六国调查，是六国简单平均；美国受访者是 12 分钟，法国的 26 分钟拉高了均值。报告却把它放进描述美国收视的图表，会使读者高估美国用户的检索困难。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秒】维度三，调查时间。报告将皮尤 2025 年秋的 30% 与自身 2026 年初的 54% 对比，称使用“正在加速”。但两者分母不同：皮尤是全体青少年，同为 13 至 14 岁仅 24%。统一为使用者口径后，差距约 10 个百分点，不足以说明“加速”。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秒】维度四，研究方法。“检索困难导致退订”由四类数据支撑：退订意向、行业退订率、市场预测和 AI 测试。它们对象和性质各不相同，又无追踪或实验设计，只能提示可能相关，不能证明因果。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秒】回到论证链：前两环方向成立，但只适用于 AI 用户；第三环口径混用、因果未证；第四环尚未检验。因此，报告可作为趋势参考，不宜作为精确估计或因果证据。最后提出一个问题：如何设计调查，才能检验“检索困难导致退订”？谢谢。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备问用，不计入汇报时间。被问及数据来源与方法公开程度时使用。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备问用，不计入汇报时间。被问及报告引用数据是否准确时使用。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667512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66751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02920"/>
            <a:ext cx="1069848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4066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课程名"/>
          <p:cNvSpPr txBox="1"/>
          <p:nvPr/>
        </p:nvSpPr>
        <p:spPr>
          <a:xfrm>
            <a:off x="731520" y="9144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市场调研：方法与实践 ｜ 课后作业汇报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46304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 时代的电视搜索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与内容发现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703320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Gracenote（尼尔森旗下）2026 年研究报告解读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《TV Search and Discovery in the AI Era》</a:t>
            </a:r>
            <a:endParaRPr lang="en-US" sz="1800" dirty="0"/>
          </a:p>
        </p:txBody>
      </p:sp>
      <p:sp>
        <p:nvSpPr>
          <p:cNvPr id="5" name="封面数字"/>
          <p:cNvSpPr txBox="1"/>
          <p:nvPr/>
        </p:nvSpPr>
        <p:spPr>
          <a:xfrm>
            <a:off x="7680960" y="1325880"/>
            <a:ext cx="4114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12000" dirty="0"/>
          </a:p>
        </p:txBody>
      </p:sp>
      <p:sp>
        <p:nvSpPr>
          <p:cNvPr id="6" name="封面数字说明"/>
          <p:cNvSpPr txBox="1"/>
          <p:nvPr/>
        </p:nvSpPr>
        <p:spPr>
          <a:xfrm>
            <a:off x="7680960" y="33375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报告数据：13–14 岁受访者每日使用 AI 的比例</a:t>
            </a:r>
            <a:endParaRPr lang="en-US" sz="1300" dirty="0"/>
          </a:p>
        </p:txBody>
      </p:sp>
      <p:sp>
        <p:nvSpPr>
          <p:cNvPr id="7" name="提问框"/>
          <p:cNvSpPr/>
          <p:nvPr/>
        </p:nvSpPr>
        <p:spPr>
          <a:xfrm>
            <a:off x="8001000" y="4160520"/>
            <a:ext cx="3474720" cy="7315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8" name="提问框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4370832"/>
            <a:ext cx="310896" cy="310896"/>
          </a:xfrm>
          <a:prstGeom prst="rect">
            <a:avLst/>
          </a:prstGeom>
        </p:spPr>
      </p:pic>
      <p:sp>
        <p:nvSpPr>
          <p:cNvPr id="9" name="提问框文字"/>
          <p:cNvSpPr txBox="1"/>
          <p:nvPr/>
        </p:nvSpPr>
        <p:spPr>
          <a:xfrm>
            <a:off x="8732520" y="416052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该数据代表哪类人群？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汇报框架与核心观点</a:t>
            </a:r>
            <a:endParaRPr lang="en-US" sz="2800" dirty="0"/>
          </a:p>
        </p:txBody>
      </p:sp>
      <p:sp>
        <p:nvSpPr>
          <p:cNvPr id="3" name="框架行1"/>
          <p:cNvSpPr/>
          <p:nvPr/>
        </p:nvSpPr>
        <p:spPr>
          <a:xfrm>
            <a:off x="548640" y="1371600"/>
            <a:ext cx="6309360" cy="749808"/>
          </a:xfrm>
          <a:prstGeom prst="roundRect">
            <a:avLst>
              <a:gd name="adj" fmla="val 14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序号底1"/>
          <p:cNvSpPr/>
          <p:nvPr/>
        </p:nvSpPr>
        <p:spPr>
          <a:xfrm>
            <a:off x="731520" y="1490472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序号1"/>
          <p:cNvSpPr txBox="1"/>
          <p:nvPr/>
        </p:nvSpPr>
        <p:spPr>
          <a:xfrm>
            <a:off x="731520" y="14904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一</a:t>
            </a:r>
            <a:endParaRPr lang="en-US" sz="1600" dirty="0"/>
          </a:p>
        </p:txBody>
      </p:sp>
      <p:sp>
        <p:nvSpPr>
          <p:cNvPr id="6" name="框架名1"/>
          <p:cNvSpPr txBox="1"/>
          <p:nvPr/>
        </p:nvSpPr>
        <p:spPr>
          <a:xfrm>
            <a:off x="1463040" y="1371600"/>
            <a:ext cx="2103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研究背景与研究问题</a:t>
            </a:r>
            <a:endParaRPr lang="en-US" sz="1700" dirty="0"/>
          </a:p>
        </p:txBody>
      </p:sp>
      <p:sp>
        <p:nvSpPr>
          <p:cNvPr id="7" name="框架说明1"/>
          <p:cNvSpPr txBox="1"/>
          <p:nvPr/>
        </p:nvSpPr>
        <p:spPr>
          <a:xfrm>
            <a:off x="3611880" y="1371600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报告为何开展、回答哪些问题</a:t>
            </a:r>
            <a:endParaRPr lang="en-US" sz="1400" dirty="0"/>
          </a:p>
        </p:txBody>
      </p:sp>
      <p:sp>
        <p:nvSpPr>
          <p:cNvPr id="8" name="框架行2"/>
          <p:cNvSpPr/>
          <p:nvPr/>
        </p:nvSpPr>
        <p:spPr>
          <a:xfrm>
            <a:off x="548640" y="2267712"/>
            <a:ext cx="6309360" cy="749808"/>
          </a:xfrm>
          <a:prstGeom prst="roundRect">
            <a:avLst>
              <a:gd name="adj" fmla="val 14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序号底2"/>
          <p:cNvSpPr/>
          <p:nvPr/>
        </p:nvSpPr>
        <p:spPr>
          <a:xfrm>
            <a:off x="731520" y="2386584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序号2"/>
          <p:cNvSpPr txBox="1"/>
          <p:nvPr/>
        </p:nvSpPr>
        <p:spPr>
          <a:xfrm>
            <a:off x="731520" y="23865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二</a:t>
            </a:r>
            <a:endParaRPr lang="en-US" sz="1600" dirty="0"/>
          </a:p>
        </p:txBody>
      </p:sp>
      <p:sp>
        <p:nvSpPr>
          <p:cNvPr id="11" name="框架名2"/>
          <p:cNvSpPr txBox="1"/>
          <p:nvPr/>
        </p:nvSpPr>
        <p:spPr>
          <a:xfrm>
            <a:off x="1463040" y="2267712"/>
            <a:ext cx="2103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研究设计</a:t>
            </a:r>
            <a:endParaRPr lang="en-US" sz="1700" dirty="0"/>
          </a:p>
        </p:txBody>
      </p:sp>
      <p:sp>
        <p:nvSpPr>
          <p:cNvPr id="12" name="框架说明2"/>
          <p:cNvSpPr txBox="1"/>
          <p:nvPr/>
        </p:nvSpPr>
        <p:spPr>
          <a:xfrm>
            <a:off x="3611880" y="2267712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对象、时间、抽样方式、样本量</a:t>
            </a:r>
            <a:endParaRPr lang="en-US" sz="1400" dirty="0"/>
          </a:p>
        </p:txBody>
      </p:sp>
      <p:sp>
        <p:nvSpPr>
          <p:cNvPr id="13" name="框架行3"/>
          <p:cNvSpPr/>
          <p:nvPr/>
        </p:nvSpPr>
        <p:spPr>
          <a:xfrm>
            <a:off x="548640" y="3163824"/>
            <a:ext cx="6309360" cy="749808"/>
          </a:xfrm>
          <a:prstGeom prst="roundRect">
            <a:avLst>
              <a:gd name="adj" fmla="val 14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序号底3"/>
          <p:cNvSpPr/>
          <p:nvPr/>
        </p:nvSpPr>
        <p:spPr>
          <a:xfrm>
            <a:off x="731520" y="3282696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序号3"/>
          <p:cNvSpPr txBox="1"/>
          <p:nvPr/>
        </p:nvSpPr>
        <p:spPr>
          <a:xfrm>
            <a:off x="731520" y="3282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三</a:t>
            </a:r>
            <a:endParaRPr lang="en-US" sz="1600" dirty="0"/>
          </a:p>
        </p:txBody>
      </p:sp>
      <p:sp>
        <p:nvSpPr>
          <p:cNvPr id="16" name="框架名3"/>
          <p:cNvSpPr txBox="1"/>
          <p:nvPr/>
        </p:nvSpPr>
        <p:spPr>
          <a:xfrm>
            <a:off x="1463040" y="3163824"/>
            <a:ext cx="2103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报告内容与论证</a:t>
            </a:r>
            <a:endParaRPr lang="en-US" sz="1700" dirty="0"/>
          </a:p>
        </p:txBody>
      </p:sp>
      <p:sp>
        <p:nvSpPr>
          <p:cNvPr id="17" name="框架说明3"/>
          <p:cNvSpPr txBox="1"/>
          <p:nvPr/>
        </p:nvSpPr>
        <p:spPr>
          <a:xfrm>
            <a:off x="3611880" y="3163824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两组发现及报告给出的解释</a:t>
            </a:r>
            <a:endParaRPr lang="en-US" sz="1400" dirty="0"/>
          </a:p>
        </p:txBody>
      </p:sp>
      <p:sp>
        <p:nvSpPr>
          <p:cNvPr id="18" name="框架行4"/>
          <p:cNvSpPr/>
          <p:nvPr/>
        </p:nvSpPr>
        <p:spPr>
          <a:xfrm>
            <a:off x="548640" y="4059936"/>
            <a:ext cx="6309360" cy="749808"/>
          </a:xfrm>
          <a:prstGeom prst="roundRect">
            <a:avLst>
              <a:gd name="adj" fmla="val 14634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序号底4"/>
          <p:cNvSpPr/>
          <p:nvPr/>
        </p:nvSpPr>
        <p:spPr>
          <a:xfrm>
            <a:off x="731520" y="417880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序号4"/>
          <p:cNvSpPr txBox="1"/>
          <p:nvPr/>
        </p:nvSpPr>
        <p:spPr>
          <a:xfrm>
            <a:off x="731520" y="41788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四</a:t>
            </a:r>
            <a:endParaRPr lang="en-US" sz="1600" dirty="0"/>
          </a:p>
        </p:txBody>
      </p:sp>
      <p:sp>
        <p:nvSpPr>
          <p:cNvPr id="21" name="框架名4"/>
          <p:cNvSpPr txBox="1"/>
          <p:nvPr/>
        </p:nvSpPr>
        <p:spPr>
          <a:xfrm>
            <a:off x="1463040" y="4059936"/>
            <a:ext cx="2103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方法评价</a:t>
            </a:r>
            <a:endParaRPr lang="en-US" sz="1700" dirty="0"/>
          </a:p>
        </p:txBody>
      </p:sp>
      <p:sp>
        <p:nvSpPr>
          <p:cNvPr id="22" name="框架说明4"/>
          <p:cNvSpPr txBox="1"/>
          <p:nvPr/>
        </p:nvSpPr>
        <p:spPr>
          <a:xfrm>
            <a:off x="3611880" y="4059936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沿论证链，从四个维度逐环检验</a:t>
            </a:r>
            <a:endParaRPr lang="en-US" sz="1400" dirty="0"/>
          </a:p>
        </p:txBody>
      </p:sp>
      <p:sp>
        <p:nvSpPr>
          <p:cNvPr id="23" name="框架行5"/>
          <p:cNvSpPr/>
          <p:nvPr/>
        </p:nvSpPr>
        <p:spPr>
          <a:xfrm>
            <a:off x="548640" y="4956048"/>
            <a:ext cx="6309360" cy="749808"/>
          </a:xfrm>
          <a:prstGeom prst="roundRect">
            <a:avLst>
              <a:gd name="adj" fmla="val 14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序号底5"/>
          <p:cNvSpPr/>
          <p:nvPr/>
        </p:nvSpPr>
        <p:spPr>
          <a:xfrm>
            <a:off x="731520" y="5074920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序号5"/>
          <p:cNvSpPr txBox="1"/>
          <p:nvPr/>
        </p:nvSpPr>
        <p:spPr>
          <a:xfrm>
            <a:off x="731520" y="50749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五</a:t>
            </a:r>
            <a:endParaRPr lang="en-US" sz="1600" dirty="0"/>
          </a:p>
        </p:txBody>
      </p:sp>
      <p:sp>
        <p:nvSpPr>
          <p:cNvPr id="26" name="框架名5"/>
          <p:cNvSpPr txBox="1"/>
          <p:nvPr/>
        </p:nvSpPr>
        <p:spPr>
          <a:xfrm>
            <a:off x="1463040" y="4956048"/>
            <a:ext cx="2103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总结与启示</a:t>
            </a:r>
            <a:endParaRPr lang="en-US" sz="1700" dirty="0"/>
          </a:p>
        </p:txBody>
      </p:sp>
      <p:sp>
        <p:nvSpPr>
          <p:cNvPr id="27" name="框架说明5"/>
          <p:cNvSpPr txBox="1"/>
          <p:nvPr/>
        </p:nvSpPr>
        <p:spPr>
          <a:xfrm>
            <a:off x="3611880" y="4956048"/>
            <a:ext cx="3154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各环节判断与讨论问题</a:t>
            </a:r>
            <a:endParaRPr lang="en-US" sz="1400" dirty="0"/>
          </a:p>
        </p:txBody>
      </p:sp>
      <p:sp>
        <p:nvSpPr>
          <p:cNvPr id="28" name="核心观点卡"/>
          <p:cNvSpPr/>
          <p:nvPr/>
        </p:nvSpPr>
        <p:spPr>
          <a:xfrm>
            <a:off x="7223760" y="1371600"/>
            <a:ext cx="4389120" cy="4334256"/>
          </a:xfrm>
          <a:prstGeom prst="roundRect">
            <a:avLst>
              <a:gd name="adj" fmla="val 253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核心观点"/>
          <p:cNvSpPr txBox="1"/>
          <p:nvPr/>
        </p:nvSpPr>
        <p:spPr>
          <a:xfrm>
            <a:off x="7543800" y="1554480"/>
            <a:ext cx="3749040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800" b="1" dirty="0">
                <a:solidFill>
                  <a:schemeClr val="accent6"/>
                </a:solidFill>
              </a:rPr>
              <a:t>核心观点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报告揭示的行业趋势具有参考价值，但其论证链的关键环节证据不足，结论应限定在调查对象的范围之内。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评价重点：第四部分，沿报告的论证链逐环检验。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一、研究背景与研究问题</a:t>
            </a:r>
            <a:endParaRPr lang="en-US" sz="2800" dirty="0"/>
          </a:p>
        </p:txBody>
      </p:sp>
      <p:sp>
        <p:nvSpPr>
          <p:cNvPr id="3" name="进度1"/>
          <p:cNvSpPr/>
          <p:nvPr/>
        </p:nvSpPr>
        <p:spPr>
          <a:xfrm>
            <a:off x="8165592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进度文字1"/>
          <p:cNvSpPr txBox="1"/>
          <p:nvPr/>
        </p:nvSpPr>
        <p:spPr>
          <a:xfrm>
            <a:off x="8165592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背景</a:t>
            </a:r>
            <a:endParaRPr lang="en-US" sz="1100" dirty="0"/>
          </a:p>
        </p:txBody>
      </p:sp>
      <p:sp>
        <p:nvSpPr>
          <p:cNvPr id="5" name="进度2"/>
          <p:cNvSpPr/>
          <p:nvPr/>
        </p:nvSpPr>
        <p:spPr>
          <a:xfrm>
            <a:off x="8869680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进度文字2"/>
          <p:cNvSpPr txBox="1"/>
          <p:nvPr/>
        </p:nvSpPr>
        <p:spPr>
          <a:xfrm>
            <a:off x="8869680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设计</a:t>
            </a:r>
            <a:endParaRPr lang="en-US" sz="1100" dirty="0"/>
          </a:p>
        </p:txBody>
      </p:sp>
      <p:sp>
        <p:nvSpPr>
          <p:cNvPr id="7" name="进度3"/>
          <p:cNvSpPr/>
          <p:nvPr/>
        </p:nvSpPr>
        <p:spPr>
          <a:xfrm>
            <a:off x="9573768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进度文字3"/>
          <p:cNvSpPr txBox="1"/>
          <p:nvPr/>
        </p:nvSpPr>
        <p:spPr>
          <a:xfrm>
            <a:off x="9573768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内容</a:t>
            </a:r>
            <a:endParaRPr lang="en-US" sz="1100" dirty="0"/>
          </a:p>
        </p:txBody>
      </p:sp>
      <p:sp>
        <p:nvSpPr>
          <p:cNvPr id="9" name="进度4"/>
          <p:cNvSpPr/>
          <p:nvPr/>
        </p:nvSpPr>
        <p:spPr>
          <a:xfrm>
            <a:off x="10277856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进度文字4"/>
          <p:cNvSpPr txBox="1"/>
          <p:nvPr/>
        </p:nvSpPr>
        <p:spPr>
          <a:xfrm>
            <a:off x="10277856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评价</a:t>
            </a:r>
            <a:endParaRPr lang="en-US" sz="1100" dirty="0"/>
          </a:p>
        </p:txBody>
      </p:sp>
      <p:sp>
        <p:nvSpPr>
          <p:cNvPr id="11" name="进度5"/>
          <p:cNvSpPr/>
          <p:nvPr/>
        </p:nvSpPr>
        <p:spPr>
          <a:xfrm>
            <a:off x="10981944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进度文字5"/>
          <p:cNvSpPr txBox="1"/>
          <p:nvPr/>
        </p:nvSpPr>
        <p:spPr>
          <a:xfrm>
            <a:off x="10981944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总结</a:t>
            </a:r>
            <a:endParaRPr lang="en-US" sz="1100" dirty="0"/>
          </a:p>
        </p:txBody>
      </p:sp>
      <p:sp>
        <p:nvSpPr>
          <p:cNvPr id="13" name="研究背景"/>
          <p:cNvSpPr txBox="1"/>
          <p:nvPr/>
        </p:nvSpPr>
        <p:spPr>
          <a:xfrm>
            <a:off x="548640" y="1234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研究背景：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流媒体平台数量增加、内容分散，用户检索节目的难度上升；生成式 AI 聊天机器人逐渐成为新的信息检索工具。</a:t>
            </a:r>
            <a:endParaRPr lang="en-US" sz="1500" dirty="0"/>
          </a:p>
        </p:txBody>
      </p:sp>
      <p:sp>
        <p:nvSpPr>
          <p:cNvPr id="14" name="问题卡1"/>
          <p:cNvSpPr/>
          <p:nvPr/>
        </p:nvSpPr>
        <p:spPr>
          <a:xfrm>
            <a:off x="548640" y="1874520"/>
            <a:ext cx="347472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图标底"/>
          <p:cNvSpPr/>
          <p:nvPr/>
        </p:nvSpPr>
        <p:spPr>
          <a:xfrm>
            <a:off x="822960" y="20574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5990"/>
            <a:ext cx="297180" cy="297180"/>
          </a:xfrm>
          <a:prstGeom prst="rect">
            <a:avLst/>
          </a:prstGeom>
        </p:spPr>
      </p:pic>
      <p:sp>
        <p:nvSpPr>
          <p:cNvPr id="17" name="问题标题1"/>
          <p:cNvSpPr txBox="1"/>
          <p:nvPr/>
        </p:nvSpPr>
        <p:spPr>
          <a:xfrm>
            <a:off x="1554480" y="20574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问题一 · 使用行为</a:t>
            </a:r>
            <a:endParaRPr lang="en-US" sz="1700" dirty="0"/>
          </a:p>
        </p:txBody>
      </p:sp>
      <p:sp>
        <p:nvSpPr>
          <p:cNvPr id="18" name="问题内容1"/>
          <p:cNvSpPr txBox="1"/>
          <p:nvPr/>
        </p:nvSpPr>
        <p:spPr>
          <a:xfrm>
            <a:off x="822960" y="27432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不同年龄群体如何使用 AI 聊天机器人检索信息？</a:t>
            </a:r>
            <a:endParaRPr lang="en-US" sz="1500" dirty="0"/>
          </a:p>
        </p:txBody>
      </p:sp>
      <p:sp>
        <p:nvSpPr>
          <p:cNvPr id="19" name="问题卡2"/>
          <p:cNvSpPr/>
          <p:nvPr/>
        </p:nvSpPr>
        <p:spPr>
          <a:xfrm>
            <a:off x="4297680" y="1874520"/>
            <a:ext cx="347472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图标底"/>
          <p:cNvSpPr/>
          <p:nvPr/>
        </p:nvSpPr>
        <p:spPr>
          <a:xfrm>
            <a:off x="4572000" y="20574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图标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0590" y="2205990"/>
            <a:ext cx="297180" cy="297180"/>
          </a:xfrm>
          <a:prstGeom prst="rect">
            <a:avLst/>
          </a:prstGeom>
        </p:spPr>
      </p:pic>
      <p:sp>
        <p:nvSpPr>
          <p:cNvPr id="22" name="问题标题2"/>
          <p:cNvSpPr txBox="1"/>
          <p:nvPr/>
        </p:nvSpPr>
        <p:spPr>
          <a:xfrm>
            <a:off x="5303520" y="20574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问题二 · 检索困难</a:t>
            </a:r>
            <a:endParaRPr lang="en-US" sz="1700" dirty="0"/>
          </a:p>
        </p:txBody>
      </p:sp>
      <p:sp>
        <p:nvSpPr>
          <p:cNvPr id="23" name="问题内容2"/>
          <p:cNvSpPr txBox="1"/>
          <p:nvPr/>
        </p:nvSpPr>
        <p:spPr>
          <a:xfrm>
            <a:off x="4572000" y="27432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内容分散是否增加检索难度，并影响订阅决策？</a:t>
            </a:r>
            <a:endParaRPr lang="en-US" sz="1500" dirty="0"/>
          </a:p>
        </p:txBody>
      </p:sp>
      <p:sp>
        <p:nvSpPr>
          <p:cNvPr id="24" name="问题卡3"/>
          <p:cNvSpPr/>
          <p:nvPr/>
        </p:nvSpPr>
        <p:spPr>
          <a:xfrm>
            <a:off x="8046720" y="1874520"/>
            <a:ext cx="347472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图标底"/>
          <p:cNvSpPr/>
          <p:nvPr/>
        </p:nvSpPr>
        <p:spPr>
          <a:xfrm>
            <a:off x="8321040" y="20574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图标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9630" y="2205990"/>
            <a:ext cx="297180" cy="297180"/>
          </a:xfrm>
          <a:prstGeom prst="rect">
            <a:avLst/>
          </a:prstGeom>
        </p:spPr>
      </p:pic>
      <p:sp>
        <p:nvSpPr>
          <p:cNvPr id="27" name="问题标题3"/>
          <p:cNvSpPr txBox="1"/>
          <p:nvPr/>
        </p:nvSpPr>
        <p:spPr>
          <a:xfrm>
            <a:off x="9052560" y="20574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问题三 · 信任程度</a:t>
            </a:r>
            <a:endParaRPr lang="en-US" sz="1700" dirty="0"/>
          </a:p>
        </p:txBody>
      </p:sp>
      <p:sp>
        <p:nvSpPr>
          <p:cNvPr id="28" name="问题内容3"/>
          <p:cNvSpPr txBox="1"/>
          <p:nvPr/>
        </p:nvSpPr>
        <p:spPr>
          <a:xfrm>
            <a:off x="8321040" y="27432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用户是否信任 AI 提供的娱乐与体育信息？</a:t>
            </a:r>
            <a:endParaRPr lang="en-US" sz="1500" dirty="0"/>
          </a:p>
        </p:txBody>
      </p:sp>
      <p:sp>
        <p:nvSpPr>
          <p:cNvPr id="29" name="机构与主张"/>
          <p:cNvSpPr/>
          <p:nvPr/>
        </p:nvSpPr>
        <p:spPr>
          <a:xfrm>
            <a:off x="548640" y="3886200"/>
            <a:ext cx="11064240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0" name="图标底"/>
          <p:cNvSpPr/>
          <p:nvPr/>
        </p:nvSpPr>
        <p:spPr>
          <a:xfrm>
            <a:off x="868680" y="42062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图标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343400"/>
            <a:ext cx="274320" cy="274320"/>
          </a:xfrm>
          <a:prstGeom prst="rect">
            <a:avLst/>
          </a:prstGeom>
        </p:spPr>
      </p:pic>
      <p:sp>
        <p:nvSpPr>
          <p:cNvPr id="32" name="研究机构"/>
          <p:cNvSpPr txBox="1"/>
          <p:nvPr/>
        </p:nvSpPr>
        <p:spPr>
          <a:xfrm>
            <a:off x="1600200" y="4023360"/>
            <a:ext cx="4297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6"/>
                </a:solidFill>
              </a:rPr>
              <a:t>研究机构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Gracenote，尼尔森（Nielsen）旗下的内容数据业务，为电视与流媒体平台提供节目元数据（片名、简介、播出平台等）。</a:t>
            </a:r>
            <a:endParaRPr lang="en-US" sz="1600" dirty="0"/>
          </a:p>
        </p:txBody>
      </p:sp>
      <p:sp>
        <p:nvSpPr>
          <p:cNvPr id="33" name="图标底"/>
          <p:cNvSpPr/>
          <p:nvPr/>
        </p:nvSpPr>
        <p:spPr>
          <a:xfrm>
            <a:off x="6263640" y="42062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4" name="图标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4343400"/>
            <a:ext cx="274320" cy="274320"/>
          </a:xfrm>
          <a:prstGeom prst="rect">
            <a:avLst/>
          </a:prstGeom>
        </p:spPr>
      </p:pic>
      <p:sp>
        <p:nvSpPr>
          <p:cNvPr id="35" name="报告主张"/>
          <p:cNvSpPr txBox="1"/>
          <p:nvPr/>
        </p:nvSpPr>
        <p:spPr>
          <a:xfrm>
            <a:off x="6995160" y="402336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6"/>
                </a:solidFill>
              </a:rPr>
              <a:t>报告主张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AI 将成为内容发现的主要入口，但须接入可信的行业数据——这与 Gracenote 的主营业务直接相关。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二、研究设计：两项核心问卷调查</a:t>
            </a:r>
            <a:endParaRPr lang="en-US" sz="2800" dirty="0"/>
          </a:p>
        </p:txBody>
      </p:sp>
      <p:sp>
        <p:nvSpPr>
          <p:cNvPr id="3" name="进度1"/>
          <p:cNvSpPr/>
          <p:nvPr/>
        </p:nvSpPr>
        <p:spPr>
          <a:xfrm>
            <a:off x="8165592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进度文字1"/>
          <p:cNvSpPr txBox="1"/>
          <p:nvPr/>
        </p:nvSpPr>
        <p:spPr>
          <a:xfrm>
            <a:off x="8165592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背景</a:t>
            </a:r>
            <a:endParaRPr lang="en-US" sz="1100" dirty="0"/>
          </a:p>
        </p:txBody>
      </p:sp>
      <p:sp>
        <p:nvSpPr>
          <p:cNvPr id="5" name="进度2"/>
          <p:cNvSpPr/>
          <p:nvPr/>
        </p:nvSpPr>
        <p:spPr>
          <a:xfrm>
            <a:off x="8869680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进度文字2"/>
          <p:cNvSpPr txBox="1"/>
          <p:nvPr/>
        </p:nvSpPr>
        <p:spPr>
          <a:xfrm>
            <a:off x="8869680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设计</a:t>
            </a:r>
            <a:endParaRPr lang="en-US" sz="1100" dirty="0"/>
          </a:p>
        </p:txBody>
      </p:sp>
      <p:sp>
        <p:nvSpPr>
          <p:cNvPr id="7" name="进度3"/>
          <p:cNvSpPr/>
          <p:nvPr/>
        </p:nvSpPr>
        <p:spPr>
          <a:xfrm>
            <a:off x="9573768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进度文字3"/>
          <p:cNvSpPr txBox="1"/>
          <p:nvPr/>
        </p:nvSpPr>
        <p:spPr>
          <a:xfrm>
            <a:off x="9573768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内容</a:t>
            </a:r>
            <a:endParaRPr lang="en-US" sz="1100" dirty="0"/>
          </a:p>
        </p:txBody>
      </p:sp>
      <p:sp>
        <p:nvSpPr>
          <p:cNvPr id="9" name="进度4"/>
          <p:cNvSpPr/>
          <p:nvPr/>
        </p:nvSpPr>
        <p:spPr>
          <a:xfrm>
            <a:off x="10277856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进度文字4"/>
          <p:cNvSpPr txBox="1"/>
          <p:nvPr/>
        </p:nvSpPr>
        <p:spPr>
          <a:xfrm>
            <a:off x="10277856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评价</a:t>
            </a:r>
            <a:endParaRPr lang="en-US" sz="1100" dirty="0"/>
          </a:p>
        </p:txBody>
      </p:sp>
      <p:sp>
        <p:nvSpPr>
          <p:cNvPr id="11" name="进度5"/>
          <p:cNvSpPr/>
          <p:nvPr/>
        </p:nvSpPr>
        <p:spPr>
          <a:xfrm>
            <a:off x="10981944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进度文字5"/>
          <p:cNvSpPr txBox="1"/>
          <p:nvPr/>
        </p:nvSpPr>
        <p:spPr>
          <a:xfrm>
            <a:off x="10981944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总结</a:t>
            </a:r>
            <a:endParaRPr lang="en-US" sz="1100" dirty="0"/>
          </a:p>
        </p:txBody>
      </p:sp>
      <p:sp>
        <p:nvSpPr>
          <p:cNvPr id="13" name="问卷卡1"/>
          <p:cNvSpPr/>
          <p:nvPr/>
        </p:nvSpPr>
        <p:spPr>
          <a:xfrm>
            <a:off x="548640" y="1371600"/>
            <a:ext cx="5440680" cy="39776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问卷名1"/>
          <p:cNvSpPr txBox="1"/>
          <p:nvPr/>
        </p:nvSpPr>
        <p:spPr>
          <a:xfrm>
            <a:off x="822960" y="15087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调查一：2026 年生成式 AI 使用调查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报告中 AI 相关数据的来源</a:t>
            </a:r>
            <a:endParaRPr lang="en-US" sz="1700" dirty="0"/>
          </a:p>
        </p:txBody>
      </p:sp>
      <p:sp>
        <p:nvSpPr>
          <p:cNvPr id="15" name="设计项1-1"/>
          <p:cNvSpPr txBox="1"/>
          <p:nvPr/>
        </p:nvSpPr>
        <p:spPr>
          <a:xfrm>
            <a:off x="822960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调查对象</a:t>
            </a:r>
            <a:endParaRPr lang="en-US" sz="1300" dirty="0"/>
          </a:p>
        </p:txBody>
      </p:sp>
      <p:sp>
        <p:nvSpPr>
          <p:cNvPr id="16" name="设计值1-1"/>
          <p:cNvSpPr txBox="1"/>
          <p:nvPr/>
        </p:nvSpPr>
        <p:spPr>
          <a:xfrm>
            <a:off x="2057400" y="237744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美国 13–79 岁 AI 聊天机器人用户</a:t>
            </a:r>
            <a:endParaRPr lang="en-US" sz="1500" dirty="0"/>
          </a:p>
        </p:txBody>
      </p:sp>
      <p:sp>
        <p:nvSpPr>
          <p:cNvPr id="17" name="设计项1-2"/>
          <p:cNvSpPr txBox="1"/>
          <p:nvPr/>
        </p:nvSpPr>
        <p:spPr>
          <a:xfrm>
            <a:off x="822960" y="294436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调查时间</a:t>
            </a:r>
            <a:endParaRPr lang="en-US" sz="1300" dirty="0"/>
          </a:p>
        </p:txBody>
      </p:sp>
      <p:sp>
        <p:nvSpPr>
          <p:cNvPr id="18" name="设计值1-2"/>
          <p:cNvSpPr txBox="1"/>
          <p:nvPr/>
        </p:nvSpPr>
        <p:spPr>
          <a:xfrm>
            <a:off x="2057400" y="294436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2026 年 1 月 23 日—2 月 4 日</a:t>
            </a:r>
            <a:endParaRPr lang="en-US" sz="1500" dirty="0"/>
          </a:p>
        </p:txBody>
      </p:sp>
      <p:sp>
        <p:nvSpPr>
          <p:cNvPr id="19" name="设计项1-3"/>
          <p:cNvSpPr txBox="1"/>
          <p:nvPr/>
        </p:nvSpPr>
        <p:spPr>
          <a:xfrm>
            <a:off x="822960" y="351129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调查方式</a:t>
            </a:r>
            <a:endParaRPr lang="en-US" sz="1300" dirty="0"/>
          </a:p>
        </p:txBody>
      </p:sp>
      <p:sp>
        <p:nvSpPr>
          <p:cNvPr id="20" name="设计值1-3"/>
          <p:cNvSpPr txBox="1"/>
          <p:nvPr/>
        </p:nvSpPr>
        <p:spPr>
          <a:xfrm>
            <a:off x="2057400" y="3511296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线上问卷</a:t>
            </a:r>
            <a:endParaRPr lang="en-US" sz="1500" dirty="0"/>
          </a:p>
        </p:txBody>
      </p:sp>
      <p:sp>
        <p:nvSpPr>
          <p:cNvPr id="21" name="设计项1-4"/>
          <p:cNvSpPr txBox="1"/>
          <p:nvPr/>
        </p:nvSpPr>
        <p:spPr>
          <a:xfrm>
            <a:off x="822960" y="407822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样本量</a:t>
            </a:r>
            <a:endParaRPr lang="en-US" sz="1300" dirty="0"/>
          </a:p>
        </p:txBody>
      </p:sp>
      <p:sp>
        <p:nvSpPr>
          <p:cNvPr id="22" name="设计值1-4"/>
          <p:cNvSpPr txBox="1"/>
          <p:nvPr/>
        </p:nvSpPr>
        <p:spPr>
          <a:xfrm>
            <a:off x="2057400" y="4078224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4,003</a:t>
            </a:r>
            <a:endParaRPr lang="en-US" sz="1500" dirty="0"/>
          </a:p>
        </p:txBody>
      </p:sp>
      <p:sp>
        <p:nvSpPr>
          <p:cNvPr id="23" name="未公开底"/>
          <p:cNvSpPr/>
          <p:nvPr/>
        </p:nvSpPr>
        <p:spPr>
          <a:xfrm>
            <a:off x="685800" y="4608576"/>
            <a:ext cx="516636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4" name="设计项1-5"/>
          <p:cNvSpPr txBox="1"/>
          <p:nvPr/>
        </p:nvSpPr>
        <p:spPr>
          <a:xfrm>
            <a:off x="822960" y="464515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抽样方式</a:t>
            </a:r>
            <a:endParaRPr lang="en-US" sz="1300" dirty="0"/>
          </a:p>
        </p:txBody>
      </p:sp>
      <p:sp>
        <p:nvSpPr>
          <p:cNvPr id="25" name="设计值1-5"/>
          <p:cNvSpPr txBox="1"/>
          <p:nvPr/>
        </p:nvSpPr>
        <p:spPr>
          <a:xfrm>
            <a:off x="2057400" y="4645152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未公开：抽样框、加权方法、应答率</a:t>
            </a:r>
            <a:endParaRPr lang="en-US" sz="1500" dirty="0"/>
          </a:p>
        </p:txBody>
      </p:sp>
      <p:sp>
        <p:nvSpPr>
          <p:cNvPr id="26" name="问卷卡2"/>
          <p:cNvSpPr/>
          <p:nvPr/>
        </p:nvSpPr>
        <p:spPr>
          <a:xfrm>
            <a:off x="6172200" y="1371600"/>
            <a:ext cx="5440680" cy="39776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问卷名2"/>
          <p:cNvSpPr txBox="1"/>
          <p:nvPr/>
        </p:nvSpPr>
        <p:spPr>
          <a:xfrm>
            <a:off x="6446520" y="15087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调查二：2025 年六国流媒体消费者调查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内容检索与退订相关数据的来源</a:t>
            </a:r>
            <a:endParaRPr lang="en-US" sz="1700" dirty="0"/>
          </a:p>
        </p:txBody>
      </p:sp>
      <p:sp>
        <p:nvSpPr>
          <p:cNvPr id="28" name="设计项2-1"/>
          <p:cNvSpPr txBox="1"/>
          <p:nvPr/>
        </p:nvSpPr>
        <p:spPr>
          <a:xfrm>
            <a:off x="6446520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调查对象</a:t>
            </a:r>
            <a:endParaRPr lang="en-US" sz="1300" dirty="0"/>
          </a:p>
        </p:txBody>
      </p:sp>
      <p:sp>
        <p:nvSpPr>
          <p:cNvPr id="29" name="设计值2-1"/>
          <p:cNvSpPr txBox="1"/>
          <p:nvPr/>
        </p:nvSpPr>
        <p:spPr>
          <a:xfrm>
            <a:off x="7680960" y="237744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巴西、法、德、墨、美、英流媒体用户</a:t>
            </a:r>
            <a:endParaRPr lang="en-US" sz="1500" dirty="0"/>
          </a:p>
        </p:txBody>
      </p:sp>
      <p:sp>
        <p:nvSpPr>
          <p:cNvPr id="30" name="设计项2-2"/>
          <p:cNvSpPr txBox="1"/>
          <p:nvPr/>
        </p:nvSpPr>
        <p:spPr>
          <a:xfrm>
            <a:off x="6446520" y="294436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调查时间</a:t>
            </a:r>
            <a:endParaRPr lang="en-US" sz="1300" dirty="0"/>
          </a:p>
        </p:txBody>
      </p:sp>
      <p:sp>
        <p:nvSpPr>
          <p:cNvPr id="31" name="设计值2-2"/>
          <p:cNvSpPr txBox="1"/>
          <p:nvPr/>
        </p:nvSpPr>
        <p:spPr>
          <a:xfrm>
            <a:off x="7680960" y="294436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2025 年 7 月 28 日—8 月 1 日</a:t>
            </a:r>
            <a:endParaRPr lang="en-US" sz="1500" dirty="0"/>
          </a:p>
        </p:txBody>
      </p:sp>
      <p:sp>
        <p:nvSpPr>
          <p:cNvPr id="32" name="设计项2-3"/>
          <p:cNvSpPr txBox="1"/>
          <p:nvPr/>
        </p:nvSpPr>
        <p:spPr>
          <a:xfrm>
            <a:off x="6446520" y="351129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调查方式</a:t>
            </a:r>
            <a:endParaRPr lang="en-US" sz="1300" dirty="0"/>
          </a:p>
        </p:txBody>
      </p:sp>
      <p:sp>
        <p:nvSpPr>
          <p:cNvPr id="33" name="设计值2-3"/>
          <p:cNvSpPr txBox="1"/>
          <p:nvPr/>
        </p:nvSpPr>
        <p:spPr>
          <a:xfrm>
            <a:off x="7680960" y="3511296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线上问卷</a:t>
            </a:r>
            <a:endParaRPr lang="en-US" sz="1500" dirty="0"/>
          </a:p>
        </p:txBody>
      </p:sp>
      <p:sp>
        <p:nvSpPr>
          <p:cNvPr id="34" name="设计项2-4"/>
          <p:cNvSpPr txBox="1"/>
          <p:nvPr/>
        </p:nvSpPr>
        <p:spPr>
          <a:xfrm>
            <a:off x="6446520" y="407822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样本量</a:t>
            </a:r>
            <a:endParaRPr lang="en-US" sz="1300" dirty="0"/>
          </a:p>
        </p:txBody>
      </p:sp>
      <p:sp>
        <p:nvSpPr>
          <p:cNvPr id="35" name="设计值2-4"/>
          <p:cNvSpPr txBox="1"/>
          <p:nvPr/>
        </p:nvSpPr>
        <p:spPr>
          <a:xfrm>
            <a:off x="7680960" y="4078224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3,000（每国 500）</a:t>
            </a:r>
            <a:endParaRPr lang="en-US" sz="1500" dirty="0"/>
          </a:p>
        </p:txBody>
      </p:sp>
      <p:sp>
        <p:nvSpPr>
          <p:cNvPr id="36" name="未公开底"/>
          <p:cNvSpPr/>
          <p:nvPr/>
        </p:nvSpPr>
        <p:spPr>
          <a:xfrm>
            <a:off x="6309360" y="4608576"/>
            <a:ext cx="516636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7" name="设计项2-5"/>
          <p:cNvSpPr txBox="1"/>
          <p:nvPr/>
        </p:nvSpPr>
        <p:spPr>
          <a:xfrm>
            <a:off x="6446520" y="464515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抽样方式</a:t>
            </a:r>
            <a:endParaRPr lang="en-US" sz="1300" dirty="0"/>
          </a:p>
        </p:txBody>
      </p:sp>
      <p:sp>
        <p:nvSpPr>
          <p:cNvPr id="38" name="设计值2-5"/>
          <p:cNvSpPr txBox="1"/>
          <p:nvPr/>
        </p:nvSpPr>
        <p:spPr>
          <a:xfrm>
            <a:off x="7680960" y="4645152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未公开：抽样框、加权方法、应答率</a:t>
            </a:r>
            <a:endParaRPr lang="en-US" sz="1500" dirty="0"/>
          </a:p>
        </p:txBody>
      </p:sp>
      <p:sp>
        <p:nvSpPr>
          <p:cNvPr id="39" name="其他来源"/>
          <p:cNvSpPr txBox="1"/>
          <p:nvPr/>
        </p:nvSpPr>
        <p:spPr>
          <a:xfrm>
            <a:off x="548640" y="54864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此外引用尼尔森收视数据、Gracenote 节目数据库及皮尤研究中心、德勤、普华永道等机构研究，共 11 个数据来源（见附录一）。</a:t>
            </a:r>
            <a:endParaRPr lang="en-US" sz="1400" dirty="0"/>
          </a:p>
        </p:txBody>
      </p:sp>
      <p:sp>
        <p:nvSpPr>
          <p:cNvPr id="40" name="来源说明"/>
          <p:cNvSpPr txBox="1"/>
          <p:nvPr/>
        </p:nvSpPr>
        <p:spPr>
          <a:xfrm>
            <a:off x="548640" y="59893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来源：报告“数据来源”说明；尼尔森新闻稿（2026 年 4 月）；Gracenote 2025 年报告《State of Play》数据说明。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三、报告内容（一）：AI 使用增加，信任不足</a:t>
            </a:r>
            <a:endParaRPr lang="en-US" sz="2800" dirty="0"/>
          </a:p>
        </p:txBody>
      </p:sp>
      <p:sp>
        <p:nvSpPr>
          <p:cNvPr id="3" name="进度1"/>
          <p:cNvSpPr/>
          <p:nvPr/>
        </p:nvSpPr>
        <p:spPr>
          <a:xfrm>
            <a:off x="8165592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进度文字1"/>
          <p:cNvSpPr txBox="1"/>
          <p:nvPr/>
        </p:nvSpPr>
        <p:spPr>
          <a:xfrm>
            <a:off x="8165592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背景</a:t>
            </a:r>
            <a:endParaRPr lang="en-US" sz="1100" dirty="0"/>
          </a:p>
        </p:txBody>
      </p:sp>
      <p:sp>
        <p:nvSpPr>
          <p:cNvPr id="5" name="进度2"/>
          <p:cNvSpPr/>
          <p:nvPr/>
        </p:nvSpPr>
        <p:spPr>
          <a:xfrm>
            <a:off x="8869680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进度文字2"/>
          <p:cNvSpPr txBox="1"/>
          <p:nvPr/>
        </p:nvSpPr>
        <p:spPr>
          <a:xfrm>
            <a:off x="8869680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设计</a:t>
            </a:r>
            <a:endParaRPr lang="en-US" sz="1100" dirty="0"/>
          </a:p>
        </p:txBody>
      </p:sp>
      <p:sp>
        <p:nvSpPr>
          <p:cNvPr id="7" name="进度3"/>
          <p:cNvSpPr/>
          <p:nvPr/>
        </p:nvSpPr>
        <p:spPr>
          <a:xfrm>
            <a:off x="9573768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进度文字3"/>
          <p:cNvSpPr txBox="1"/>
          <p:nvPr/>
        </p:nvSpPr>
        <p:spPr>
          <a:xfrm>
            <a:off x="9573768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内容</a:t>
            </a:r>
            <a:endParaRPr lang="en-US" sz="1100" dirty="0"/>
          </a:p>
        </p:txBody>
      </p:sp>
      <p:sp>
        <p:nvSpPr>
          <p:cNvPr id="9" name="进度4"/>
          <p:cNvSpPr/>
          <p:nvPr/>
        </p:nvSpPr>
        <p:spPr>
          <a:xfrm>
            <a:off x="10277856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进度文字4"/>
          <p:cNvSpPr txBox="1"/>
          <p:nvPr/>
        </p:nvSpPr>
        <p:spPr>
          <a:xfrm>
            <a:off x="10277856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评价</a:t>
            </a:r>
            <a:endParaRPr lang="en-US" sz="1100" dirty="0"/>
          </a:p>
        </p:txBody>
      </p:sp>
      <p:sp>
        <p:nvSpPr>
          <p:cNvPr id="11" name="进度5"/>
          <p:cNvSpPr/>
          <p:nvPr/>
        </p:nvSpPr>
        <p:spPr>
          <a:xfrm>
            <a:off x="10981944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进度文字5"/>
          <p:cNvSpPr txBox="1"/>
          <p:nvPr/>
        </p:nvSpPr>
        <p:spPr>
          <a:xfrm>
            <a:off x="10981944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总结</a:t>
            </a:r>
            <a:endParaRPr lang="en-US" sz="1100" dirty="0"/>
          </a:p>
        </p:txBody>
      </p:sp>
      <p:sp>
        <p:nvSpPr>
          <p:cNvPr id="13" name="数据卡1"/>
          <p:cNvSpPr/>
          <p:nvPr/>
        </p:nvSpPr>
        <p:spPr>
          <a:xfrm>
            <a:off x="548640" y="1371600"/>
            <a:ext cx="25603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数据1"/>
          <p:cNvSpPr txBox="1"/>
          <p:nvPr/>
        </p:nvSpPr>
        <p:spPr>
          <a:xfrm>
            <a:off x="77724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3600" dirty="0"/>
          </a:p>
        </p:txBody>
      </p:sp>
      <p:sp>
        <p:nvSpPr>
          <p:cNvPr id="15" name="数据说明1"/>
          <p:cNvSpPr txBox="1"/>
          <p:nvPr/>
        </p:nvSpPr>
        <p:spPr>
          <a:xfrm>
            <a:off x="777240" y="228600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13–14 岁 AI 用户每日使用（报告称“Alpha 世代”）</a:t>
            </a:r>
            <a:endParaRPr lang="en-US" sz="1300" dirty="0"/>
          </a:p>
        </p:txBody>
      </p:sp>
      <p:sp>
        <p:nvSpPr>
          <p:cNvPr id="16" name="数据卡2"/>
          <p:cNvSpPr/>
          <p:nvPr/>
        </p:nvSpPr>
        <p:spPr>
          <a:xfrm>
            <a:off x="3291840" y="1371600"/>
            <a:ext cx="25603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数据2"/>
          <p:cNvSpPr txBox="1"/>
          <p:nvPr/>
        </p:nvSpPr>
        <p:spPr>
          <a:xfrm>
            <a:off x="352044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3600" dirty="0"/>
          </a:p>
        </p:txBody>
      </p:sp>
      <p:sp>
        <p:nvSpPr>
          <p:cNvPr id="18" name="数据说明2"/>
          <p:cNvSpPr txBox="1"/>
          <p:nvPr/>
        </p:nvSpPr>
        <p:spPr>
          <a:xfrm>
            <a:off x="3520440" y="228600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13–14 岁受访者表示过去 12–18 个月使用增加</a:t>
            </a:r>
            <a:endParaRPr lang="en-US" sz="1300" dirty="0"/>
          </a:p>
        </p:txBody>
      </p:sp>
      <p:sp>
        <p:nvSpPr>
          <p:cNvPr id="19" name="数据卡3"/>
          <p:cNvSpPr/>
          <p:nvPr/>
        </p:nvSpPr>
        <p:spPr>
          <a:xfrm>
            <a:off x="548640" y="3611880"/>
            <a:ext cx="25603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数据3"/>
          <p:cNvSpPr txBox="1"/>
          <p:nvPr/>
        </p:nvSpPr>
        <p:spPr>
          <a:xfrm>
            <a:off x="777240" y="3749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3600" dirty="0"/>
          </a:p>
        </p:txBody>
      </p:sp>
      <p:sp>
        <p:nvSpPr>
          <p:cNvPr id="21" name="数据说明3"/>
          <p:cNvSpPr txBox="1"/>
          <p:nvPr/>
        </p:nvSpPr>
        <p:spPr>
          <a:xfrm>
            <a:off x="777240" y="452628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受访者表示会核查 AI 的回答</a:t>
            </a:r>
            <a:endParaRPr lang="en-US" sz="1300" dirty="0"/>
          </a:p>
        </p:txBody>
      </p:sp>
      <p:sp>
        <p:nvSpPr>
          <p:cNvPr id="22" name="数据卡4"/>
          <p:cNvSpPr/>
          <p:nvPr/>
        </p:nvSpPr>
        <p:spPr>
          <a:xfrm>
            <a:off x="3291840" y="3611880"/>
            <a:ext cx="25603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数据4"/>
          <p:cNvSpPr txBox="1"/>
          <p:nvPr/>
        </p:nvSpPr>
        <p:spPr>
          <a:xfrm>
            <a:off x="3520440" y="3749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3600" dirty="0"/>
          </a:p>
        </p:txBody>
      </p:sp>
      <p:sp>
        <p:nvSpPr>
          <p:cNvPr id="24" name="数据说明4"/>
          <p:cNvSpPr txBox="1"/>
          <p:nvPr/>
        </p:nvSpPr>
        <p:spPr>
          <a:xfrm>
            <a:off x="3520440" y="452628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认为 AI 的娱乐信息准确，低于传统搜索的 92%</a:t>
            </a:r>
            <a:endParaRPr lang="en-US" sz="1300" dirty="0"/>
          </a:p>
        </p:txBody>
      </p:sp>
      <p:sp>
        <p:nvSpPr>
          <p:cNvPr id="25" name="报告解释卡"/>
          <p:cNvSpPr/>
          <p:nvPr/>
        </p:nvSpPr>
        <p:spPr>
          <a:xfrm>
            <a:off x="6172200" y="1371600"/>
            <a:ext cx="5468112" cy="4297680"/>
          </a:xfrm>
          <a:prstGeom prst="roundRect">
            <a:avLst>
              <a:gd name="adj" fmla="val 25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解释标题"/>
          <p:cNvSpPr txBox="1"/>
          <p:nvPr/>
        </p:nvSpPr>
        <p:spPr>
          <a:xfrm>
            <a:off x="6446520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报告的解释</a:t>
            </a:r>
            <a:endParaRPr lang="en-US" sz="1700" dirty="0"/>
          </a:p>
        </p:txBody>
      </p:sp>
      <p:sp>
        <p:nvSpPr>
          <p:cNvPr id="27" name="解释1"/>
          <p:cNvSpPr txBox="1"/>
          <p:nvPr/>
        </p:nvSpPr>
        <p:spPr>
          <a:xfrm>
            <a:off x="6446520" y="201168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为何偏好 AI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AI 能给出直接、完整、可追问的答案；13–14 岁受访者中 70% 在需要直接答案时更偏好 AI。</a:t>
            </a:r>
            <a:endParaRPr lang="en-US" sz="1500" dirty="0"/>
          </a:p>
        </p:txBody>
      </p:sp>
      <p:sp>
        <p:nvSpPr>
          <p:cNvPr id="28" name="解释2"/>
          <p:cNvSpPr txBox="1"/>
          <p:nvPr/>
        </p:nvSpPr>
        <p:spPr>
          <a:xfrm>
            <a:off x="6446520" y="320040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为何信任不足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大模型按概率生成内容，可能出现“幻觉”——看似合理但错误的信息；77% 的受访者对 AI 结果有顾虑。</a:t>
            </a:r>
            <a:endParaRPr lang="en-US" sz="1500" dirty="0"/>
          </a:p>
        </p:txBody>
      </p:sp>
      <p:sp>
        <p:nvSpPr>
          <p:cNvPr id="29" name="解释3"/>
          <p:cNvSpPr txBox="1"/>
          <p:nvPr/>
        </p:nvSpPr>
        <p:spPr>
          <a:xfrm>
            <a:off x="6446520" y="438912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4"/>
                </a:solidFill>
              </a:rPr>
              <a:t>报告的推论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用户已依赖 AI，但需要更可靠的答案来源。</a:t>
            </a:r>
            <a:endParaRPr lang="en-US" sz="1500" dirty="0"/>
          </a:p>
        </p:txBody>
      </p:sp>
      <p:sp>
        <p:nvSpPr>
          <p:cNvPr id="30" name="来源说明"/>
          <p:cNvSpPr txBox="1"/>
          <p:nvPr/>
        </p:nvSpPr>
        <p:spPr>
          <a:xfrm>
            <a:off x="548640" y="59893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来源：调查一（2026 年生成式 AI 使用调查）；报告正文对生成式 AI 的说明。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三、报告内容（二）：内容分散，检索困难</a:t>
            </a:r>
            <a:endParaRPr lang="en-US" sz="2800" dirty="0"/>
          </a:p>
        </p:txBody>
      </p:sp>
      <p:sp>
        <p:nvSpPr>
          <p:cNvPr id="3" name="进度1"/>
          <p:cNvSpPr/>
          <p:nvPr/>
        </p:nvSpPr>
        <p:spPr>
          <a:xfrm>
            <a:off x="8165592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进度文字1"/>
          <p:cNvSpPr txBox="1"/>
          <p:nvPr/>
        </p:nvSpPr>
        <p:spPr>
          <a:xfrm>
            <a:off x="8165592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背景</a:t>
            </a:r>
            <a:endParaRPr lang="en-US" sz="1100" dirty="0"/>
          </a:p>
        </p:txBody>
      </p:sp>
      <p:sp>
        <p:nvSpPr>
          <p:cNvPr id="5" name="进度2"/>
          <p:cNvSpPr/>
          <p:nvPr/>
        </p:nvSpPr>
        <p:spPr>
          <a:xfrm>
            <a:off x="8869680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进度文字2"/>
          <p:cNvSpPr txBox="1"/>
          <p:nvPr/>
        </p:nvSpPr>
        <p:spPr>
          <a:xfrm>
            <a:off x="8869680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设计</a:t>
            </a:r>
            <a:endParaRPr lang="en-US" sz="1100" dirty="0"/>
          </a:p>
        </p:txBody>
      </p:sp>
      <p:sp>
        <p:nvSpPr>
          <p:cNvPr id="7" name="进度3"/>
          <p:cNvSpPr/>
          <p:nvPr/>
        </p:nvSpPr>
        <p:spPr>
          <a:xfrm>
            <a:off x="9573768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进度文字3"/>
          <p:cNvSpPr txBox="1"/>
          <p:nvPr/>
        </p:nvSpPr>
        <p:spPr>
          <a:xfrm>
            <a:off x="9573768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内容</a:t>
            </a:r>
            <a:endParaRPr lang="en-US" sz="1100" dirty="0"/>
          </a:p>
        </p:txBody>
      </p:sp>
      <p:sp>
        <p:nvSpPr>
          <p:cNvPr id="9" name="进度4"/>
          <p:cNvSpPr/>
          <p:nvPr/>
        </p:nvSpPr>
        <p:spPr>
          <a:xfrm>
            <a:off x="10277856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进度文字4"/>
          <p:cNvSpPr txBox="1"/>
          <p:nvPr/>
        </p:nvSpPr>
        <p:spPr>
          <a:xfrm>
            <a:off x="10277856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评价</a:t>
            </a:r>
            <a:endParaRPr lang="en-US" sz="1100" dirty="0"/>
          </a:p>
        </p:txBody>
      </p:sp>
      <p:sp>
        <p:nvSpPr>
          <p:cNvPr id="11" name="进度5"/>
          <p:cNvSpPr/>
          <p:nvPr/>
        </p:nvSpPr>
        <p:spPr>
          <a:xfrm>
            <a:off x="10981944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进度文字5"/>
          <p:cNvSpPr txBox="1"/>
          <p:nvPr/>
        </p:nvSpPr>
        <p:spPr>
          <a:xfrm>
            <a:off x="10981944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总结</a:t>
            </a:r>
            <a:endParaRPr lang="en-US" sz="1100" dirty="0"/>
          </a:p>
        </p:txBody>
      </p:sp>
      <p:sp>
        <p:nvSpPr>
          <p:cNvPr id="13" name="数据卡1"/>
          <p:cNvSpPr/>
          <p:nvPr/>
        </p:nvSpPr>
        <p:spPr>
          <a:xfrm>
            <a:off x="548640" y="1371600"/>
            <a:ext cx="25603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数据1"/>
          <p:cNvSpPr txBox="1"/>
          <p:nvPr/>
        </p:nvSpPr>
        <p:spPr>
          <a:xfrm>
            <a:off x="77724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3600" dirty="0"/>
          </a:p>
        </p:txBody>
      </p:sp>
      <p:sp>
        <p:nvSpPr>
          <p:cNvPr id="15" name="数据说明1"/>
          <p:cNvSpPr txBox="1"/>
          <p:nvPr/>
        </p:nvSpPr>
        <p:spPr>
          <a:xfrm>
            <a:off x="777240" y="228600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联网电视（CTV）占美国电视收视时长（尼尔森，2025 年第四季度）</a:t>
            </a:r>
            <a:endParaRPr lang="en-US" sz="1300" dirty="0"/>
          </a:p>
        </p:txBody>
      </p:sp>
      <p:sp>
        <p:nvSpPr>
          <p:cNvPr id="16" name="数据卡2"/>
          <p:cNvSpPr/>
          <p:nvPr/>
        </p:nvSpPr>
        <p:spPr>
          <a:xfrm>
            <a:off x="3291840" y="1371600"/>
            <a:ext cx="25603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数据2"/>
          <p:cNvSpPr txBox="1"/>
          <p:nvPr/>
        </p:nvSpPr>
        <p:spPr>
          <a:xfrm>
            <a:off x="352044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350+</a:t>
            </a:r>
            <a:endParaRPr lang="en-US" sz="3600" dirty="0"/>
          </a:p>
        </p:txBody>
      </p:sp>
      <p:sp>
        <p:nvSpPr>
          <p:cNvPr id="18" name="数据说明2"/>
          <p:cNvSpPr txBox="1"/>
          <p:nvPr/>
        </p:nvSpPr>
        <p:spPr>
          <a:xfrm>
            <a:off x="3520440" y="228600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订阅点播目录，另有约 2,100 个免费流媒体频道（Gracenote 数据库）</a:t>
            </a:r>
            <a:endParaRPr lang="en-US" sz="1300" dirty="0"/>
          </a:p>
        </p:txBody>
      </p:sp>
      <p:sp>
        <p:nvSpPr>
          <p:cNvPr id="19" name="数据卡3"/>
          <p:cNvSpPr/>
          <p:nvPr/>
        </p:nvSpPr>
        <p:spPr>
          <a:xfrm>
            <a:off x="548640" y="3611880"/>
            <a:ext cx="25603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数据3"/>
          <p:cNvSpPr txBox="1"/>
          <p:nvPr/>
        </p:nvSpPr>
        <p:spPr>
          <a:xfrm>
            <a:off x="777240" y="3749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分钟</a:t>
            </a:r>
            <a:endParaRPr lang="en-US" sz="3600" dirty="0"/>
          </a:p>
        </p:txBody>
      </p:sp>
      <p:sp>
        <p:nvSpPr>
          <p:cNvPr id="21" name="数据说明3"/>
          <p:cNvSpPr txBox="1"/>
          <p:nvPr/>
        </p:nvSpPr>
        <p:spPr>
          <a:xfrm>
            <a:off x="777240" y="452628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用户寻找节目的平均时长（调查二，六国）</a:t>
            </a:r>
            <a:endParaRPr lang="en-US" sz="1300" dirty="0"/>
          </a:p>
        </p:txBody>
      </p:sp>
      <p:sp>
        <p:nvSpPr>
          <p:cNvPr id="22" name="数据卡4"/>
          <p:cNvSpPr/>
          <p:nvPr/>
        </p:nvSpPr>
        <p:spPr>
          <a:xfrm>
            <a:off x="3291840" y="3611880"/>
            <a:ext cx="25603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数据4"/>
          <p:cNvSpPr txBox="1"/>
          <p:nvPr/>
        </p:nvSpPr>
        <p:spPr>
          <a:xfrm>
            <a:off x="3520440" y="3749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3600" dirty="0"/>
          </a:p>
        </p:txBody>
      </p:sp>
      <p:sp>
        <p:nvSpPr>
          <p:cNvPr id="24" name="数据说明4"/>
          <p:cNvSpPr txBox="1"/>
          <p:nvPr/>
        </p:nvSpPr>
        <p:spPr>
          <a:xfrm>
            <a:off x="3520440" y="452628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18–34 岁受访者表示可能因检索困难而退订（调查二，六国）</a:t>
            </a:r>
            <a:endParaRPr lang="en-US" sz="1300" dirty="0"/>
          </a:p>
        </p:txBody>
      </p:sp>
      <p:sp>
        <p:nvSpPr>
          <p:cNvPr id="25" name="报告论证卡"/>
          <p:cNvSpPr/>
          <p:nvPr/>
        </p:nvSpPr>
        <p:spPr>
          <a:xfrm>
            <a:off x="6172200" y="1371600"/>
            <a:ext cx="5468112" cy="4297680"/>
          </a:xfrm>
          <a:prstGeom prst="roundRect">
            <a:avLst>
              <a:gd name="adj" fmla="val 25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论证标题"/>
          <p:cNvSpPr txBox="1"/>
          <p:nvPr/>
        </p:nvSpPr>
        <p:spPr>
          <a:xfrm>
            <a:off x="6446520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报告的论证</a:t>
            </a:r>
            <a:endParaRPr lang="en-US" sz="1700" dirty="0"/>
          </a:p>
        </p:txBody>
      </p:sp>
      <p:sp>
        <p:nvSpPr>
          <p:cNvPr id="27" name="论证环1"/>
          <p:cNvSpPr/>
          <p:nvPr/>
        </p:nvSpPr>
        <p:spPr>
          <a:xfrm>
            <a:off x="6446520" y="2011680"/>
            <a:ext cx="2103120" cy="56692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8" name="论证环文字1"/>
          <p:cNvSpPr txBox="1"/>
          <p:nvPr/>
        </p:nvSpPr>
        <p:spPr>
          <a:xfrm>
            <a:off x="6446520" y="201168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平台与内容分散</a:t>
            </a:r>
            <a:endParaRPr lang="en-US" sz="1300" dirty="0"/>
          </a:p>
        </p:txBody>
      </p:sp>
      <p:sp>
        <p:nvSpPr>
          <p:cNvPr id="29" name="论证说明1"/>
          <p:cNvSpPr txBox="1"/>
          <p:nvPr/>
        </p:nvSpPr>
        <p:spPr>
          <a:xfrm>
            <a:off x="8686800" y="201168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节目分布在数百个目录与频道中</a:t>
            </a:r>
            <a:endParaRPr lang="en-US" sz="1300" dirty="0"/>
          </a:p>
        </p:txBody>
      </p:sp>
      <p:sp>
        <p:nvSpPr>
          <p:cNvPr id="30" name="论证箭头1"/>
          <p:cNvSpPr txBox="1"/>
          <p:nvPr/>
        </p:nvSpPr>
        <p:spPr>
          <a:xfrm>
            <a:off x="6446520" y="257860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↓</a:t>
            </a:r>
            <a:endParaRPr lang="en-US" sz="1400" dirty="0"/>
          </a:p>
        </p:txBody>
      </p:sp>
      <p:sp>
        <p:nvSpPr>
          <p:cNvPr id="31" name="论证环2"/>
          <p:cNvSpPr/>
          <p:nvPr/>
        </p:nvSpPr>
        <p:spPr>
          <a:xfrm>
            <a:off x="6446520" y="2907792"/>
            <a:ext cx="2103120" cy="56692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2" name="论证环文字2"/>
          <p:cNvSpPr txBox="1"/>
          <p:nvPr/>
        </p:nvSpPr>
        <p:spPr>
          <a:xfrm>
            <a:off x="6446520" y="290779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检索时间延长</a:t>
            </a:r>
            <a:endParaRPr lang="en-US" sz="1300" dirty="0"/>
          </a:p>
        </p:txBody>
      </p:sp>
      <p:sp>
        <p:nvSpPr>
          <p:cNvPr id="33" name="论证说明2"/>
          <p:cNvSpPr txBox="1"/>
          <p:nvPr/>
        </p:nvSpPr>
        <p:spPr>
          <a:xfrm>
            <a:off x="8686800" y="2907792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用户需花更多时间寻找想看的节目</a:t>
            </a:r>
            <a:endParaRPr lang="en-US" sz="1300" dirty="0"/>
          </a:p>
        </p:txBody>
      </p:sp>
      <p:sp>
        <p:nvSpPr>
          <p:cNvPr id="34" name="论证箭头2"/>
          <p:cNvSpPr txBox="1"/>
          <p:nvPr/>
        </p:nvSpPr>
        <p:spPr>
          <a:xfrm>
            <a:off x="6446520" y="347472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↓</a:t>
            </a:r>
            <a:endParaRPr lang="en-US" sz="1400" dirty="0"/>
          </a:p>
        </p:txBody>
      </p:sp>
      <p:sp>
        <p:nvSpPr>
          <p:cNvPr id="35" name="论证环3"/>
          <p:cNvSpPr/>
          <p:nvPr/>
        </p:nvSpPr>
        <p:spPr>
          <a:xfrm>
            <a:off x="6446520" y="3803904"/>
            <a:ext cx="2103120" cy="56692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6" name="论证环文字3"/>
          <p:cNvSpPr txBox="1"/>
          <p:nvPr/>
        </p:nvSpPr>
        <p:spPr>
          <a:xfrm>
            <a:off x="6446520" y="380390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退订风险上升</a:t>
            </a:r>
            <a:endParaRPr lang="en-US" sz="1300" dirty="0"/>
          </a:p>
        </p:txBody>
      </p:sp>
      <p:sp>
        <p:nvSpPr>
          <p:cNvPr id="37" name="论证说明3"/>
          <p:cNvSpPr txBox="1"/>
          <p:nvPr/>
        </p:nvSpPr>
        <p:spPr>
          <a:xfrm>
            <a:off x="8686800" y="3803904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找不到内容的用户可能取消订阅</a:t>
            </a:r>
            <a:endParaRPr lang="en-US" sz="1300" dirty="0"/>
          </a:p>
        </p:txBody>
      </p:sp>
      <p:sp>
        <p:nvSpPr>
          <p:cNvPr id="38" name="论证箭头3"/>
          <p:cNvSpPr txBox="1"/>
          <p:nvPr/>
        </p:nvSpPr>
        <p:spPr>
          <a:xfrm>
            <a:off x="6446520" y="437083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↓</a:t>
            </a:r>
            <a:endParaRPr lang="en-US" sz="1400" dirty="0"/>
          </a:p>
        </p:txBody>
      </p:sp>
      <p:sp>
        <p:nvSpPr>
          <p:cNvPr id="39" name="论证环4"/>
          <p:cNvSpPr/>
          <p:nvPr/>
        </p:nvSpPr>
        <p:spPr>
          <a:xfrm>
            <a:off x="6446520" y="4700016"/>
            <a:ext cx="2103120" cy="56692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0" name="论证环文字4"/>
          <p:cNvSpPr txBox="1"/>
          <p:nvPr/>
        </p:nvSpPr>
        <p:spPr>
          <a:xfrm>
            <a:off x="6446520" y="470001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AI 须接入可信数据</a:t>
            </a:r>
            <a:endParaRPr lang="en-US" sz="1300" dirty="0"/>
          </a:p>
        </p:txBody>
      </p:sp>
      <p:sp>
        <p:nvSpPr>
          <p:cNvPr id="41" name="论证说明4"/>
          <p:cNvSpPr txBox="1"/>
          <p:nvPr/>
        </p:nvSpPr>
        <p:spPr>
          <a:xfrm>
            <a:off x="8686800" y="4700016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仅凭公开网络信息，AI 只答对约 2/3 的播出平台</a:t>
            </a:r>
            <a:endParaRPr lang="en-US" sz="1300" dirty="0"/>
          </a:p>
        </p:txBody>
      </p:sp>
      <p:sp>
        <p:nvSpPr>
          <p:cNvPr id="42" name="来源说明"/>
          <p:cNvSpPr txBox="1"/>
          <p:nvPr/>
        </p:nvSpPr>
        <p:spPr>
          <a:xfrm>
            <a:off x="548640" y="59893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来源：尼尔森收视测量；Gracenote 数据库（截至 2026 年 2 月）；调查二；Veed Analytics 测试（报告引用）。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四、方法评价：沿论证链逐环检验</a:t>
            </a:r>
            <a:endParaRPr lang="en-US" sz="2800" dirty="0"/>
          </a:p>
        </p:txBody>
      </p:sp>
      <p:sp>
        <p:nvSpPr>
          <p:cNvPr id="3" name="进度1"/>
          <p:cNvSpPr/>
          <p:nvPr/>
        </p:nvSpPr>
        <p:spPr>
          <a:xfrm>
            <a:off x="8165592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进度文字1"/>
          <p:cNvSpPr txBox="1"/>
          <p:nvPr/>
        </p:nvSpPr>
        <p:spPr>
          <a:xfrm>
            <a:off x="8165592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背景</a:t>
            </a:r>
            <a:endParaRPr lang="en-US" sz="1100" dirty="0"/>
          </a:p>
        </p:txBody>
      </p:sp>
      <p:sp>
        <p:nvSpPr>
          <p:cNvPr id="5" name="进度2"/>
          <p:cNvSpPr/>
          <p:nvPr/>
        </p:nvSpPr>
        <p:spPr>
          <a:xfrm>
            <a:off x="8869680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进度文字2"/>
          <p:cNvSpPr txBox="1"/>
          <p:nvPr/>
        </p:nvSpPr>
        <p:spPr>
          <a:xfrm>
            <a:off x="8869680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设计</a:t>
            </a:r>
            <a:endParaRPr lang="en-US" sz="1100" dirty="0"/>
          </a:p>
        </p:txBody>
      </p:sp>
      <p:sp>
        <p:nvSpPr>
          <p:cNvPr id="7" name="进度3"/>
          <p:cNvSpPr/>
          <p:nvPr/>
        </p:nvSpPr>
        <p:spPr>
          <a:xfrm>
            <a:off x="9573768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进度文字3"/>
          <p:cNvSpPr txBox="1"/>
          <p:nvPr/>
        </p:nvSpPr>
        <p:spPr>
          <a:xfrm>
            <a:off x="9573768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内容</a:t>
            </a:r>
            <a:endParaRPr lang="en-US" sz="1100" dirty="0"/>
          </a:p>
        </p:txBody>
      </p:sp>
      <p:sp>
        <p:nvSpPr>
          <p:cNvPr id="9" name="进度4"/>
          <p:cNvSpPr/>
          <p:nvPr/>
        </p:nvSpPr>
        <p:spPr>
          <a:xfrm>
            <a:off x="10277856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进度文字4"/>
          <p:cNvSpPr txBox="1"/>
          <p:nvPr/>
        </p:nvSpPr>
        <p:spPr>
          <a:xfrm>
            <a:off x="10277856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评价</a:t>
            </a:r>
            <a:endParaRPr lang="en-US" sz="1100" dirty="0"/>
          </a:p>
        </p:txBody>
      </p:sp>
      <p:sp>
        <p:nvSpPr>
          <p:cNvPr id="11" name="进度5"/>
          <p:cNvSpPr/>
          <p:nvPr/>
        </p:nvSpPr>
        <p:spPr>
          <a:xfrm>
            <a:off x="10981944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进度文字5"/>
          <p:cNvSpPr txBox="1"/>
          <p:nvPr/>
        </p:nvSpPr>
        <p:spPr>
          <a:xfrm>
            <a:off x="10981944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总结</a:t>
            </a:r>
            <a:endParaRPr lang="en-US" sz="1100" dirty="0"/>
          </a:p>
        </p:txBody>
      </p:sp>
      <p:sp>
        <p:nvSpPr>
          <p:cNvPr id="13" name="评价引言"/>
          <p:cNvSpPr txBox="1"/>
          <p:nvPr/>
        </p:nvSpPr>
        <p:spPr>
          <a:xfrm>
            <a:off x="548640" y="1188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参照课上春晚满意度调查案例（央视 81.6% 与新浪网 11.5%）：调查对象、研究总体、调查时间与研究方法不同，结论必然不同。</a:t>
            </a:r>
            <a:endParaRPr lang="en-US" sz="1400" dirty="0"/>
          </a:p>
        </p:txBody>
      </p:sp>
      <p:sp>
        <p:nvSpPr>
          <p:cNvPr id="14" name="行标签1"/>
          <p:cNvSpPr txBox="1"/>
          <p:nvPr/>
        </p:nvSpPr>
        <p:spPr>
          <a:xfrm>
            <a:off x="548640" y="178308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论证环节</a:t>
            </a:r>
            <a:endParaRPr lang="en-US" sz="1300" dirty="0"/>
          </a:p>
        </p:txBody>
      </p:sp>
      <p:sp>
        <p:nvSpPr>
          <p:cNvPr id="15" name="行标签2"/>
          <p:cNvSpPr txBox="1"/>
          <p:nvPr/>
        </p:nvSpPr>
        <p:spPr>
          <a:xfrm>
            <a:off x="548640" y="2743200"/>
            <a:ext cx="1097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报告证据</a:t>
            </a:r>
            <a:endParaRPr lang="en-US" sz="1300" dirty="0"/>
          </a:p>
        </p:txBody>
      </p:sp>
      <p:sp>
        <p:nvSpPr>
          <p:cNvPr id="16" name="行标签3"/>
          <p:cNvSpPr txBox="1"/>
          <p:nvPr/>
        </p:nvSpPr>
        <p:spPr>
          <a:xfrm>
            <a:off x="548640" y="4114800"/>
            <a:ext cx="1097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检验维度</a:t>
            </a:r>
            <a:endParaRPr lang="en-US" sz="1300" dirty="0"/>
          </a:p>
        </p:txBody>
      </p:sp>
      <p:sp>
        <p:nvSpPr>
          <p:cNvPr id="17" name="环节1"/>
          <p:cNvSpPr/>
          <p:nvPr/>
        </p:nvSpPr>
        <p:spPr>
          <a:xfrm>
            <a:off x="1645920" y="1783080"/>
            <a:ext cx="2286000" cy="777240"/>
          </a:xfrm>
          <a:prstGeom prst="roundRect">
            <a:avLst>
              <a:gd name="adj" fmla="val 1411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环节文字1"/>
          <p:cNvSpPr txBox="1"/>
          <p:nvPr/>
        </p:nvSpPr>
        <p:spPr>
          <a:xfrm>
            <a:off x="1737360" y="17830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① 用户日益依赖 AI</a:t>
            </a:r>
            <a:endParaRPr lang="en-US" sz="1400" dirty="0"/>
          </a:p>
        </p:txBody>
      </p:sp>
      <p:sp>
        <p:nvSpPr>
          <p:cNvPr id="19" name="环节箭头1"/>
          <p:cNvSpPr txBox="1"/>
          <p:nvPr/>
        </p:nvSpPr>
        <p:spPr>
          <a:xfrm>
            <a:off x="3931920" y="1783080"/>
            <a:ext cx="228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→</a:t>
            </a:r>
            <a:endParaRPr lang="en-US" sz="1600" dirty="0"/>
          </a:p>
        </p:txBody>
      </p:sp>
      <p:sp>
        <p:nvSpPr>
          <p:cNvPr id="20" name="证据1"/>
          <p:cNvSpPr/>
          <p:nvPr/>
        </p:nvSpPr>
        <p:spPr>
          <a:xfrm>
            <a:off x="1645920" y="2743200"/>
            <a:ext cx="228600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证据文字1"/>
          <p:cNvSpPr txBox="1"/>
          <p:nvPr/>
        </p:nvSpPr>
        <p:spPr>
          <a:xfrm>
            <a:off x="1783080" y="27432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54% 每日使用；较皮尤 30% “正在加速”</a:t>
            </a:r>
            <a:endParaRPr lang="en-US" sz="1300" dirty="0"/>
          </a:p>
        </p:txBody>
      </p:sp>
      <p:sp>
        <p:nvSpPr>
          <p:cNvPr id="22" name="检验1"/>
          <p:cNvSpPr/>
          <p:nvPr/>
        </p:nvSpPr>
        <p:spPr>
          <a:xfrm>
            <a:off x="1645920" y="4114800"/>
            <a:ext cx="2286000" cy="1417320"/>
          </a:xfrm>
          <a:prstGeom prst="roundRect">
            <a:avLst>
              <a:gd name="adj" fmla="val 7742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3" name="检验文字1"/>
          <p:cNvSpPr txBox="1"/>
          <p:nvPr/>
        </p:nvSpPr>
        <p:spPr>
          <a:xfrm>
            <a:off x="1783080" y="4114800"/>
            <a:ext cx="2011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维度一 调查对象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维度三 调查时间</a:t>
            </a:r>
            <a:endParaRPr lang="en-US" sz="1400" dirty="0"/>
          </a:p>
        </p:txBody>
      </p:sp>
      <p:sp>
        <p:nvSpPr>
          <p:cNvPr id="24" name="环节2"/>
          <p:cNvSpPr/>
          <p:nvPr/>
        </p:nvSpPr>
        <p:spPr>
          <a:xfrm>
            <a:off x="4160520" y="1783080"/>
            <a:ext cx="2286000" cy="777240"/>
          </a:xfrm>
          <a:prstGeom prst="roundRect">
            <a:avLst>
              <a:gd name="adj" fmla="val 1411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环节文字2"/>
          <p:cNvSpPr txBox="1"/>
          <p:nvPr/>
        </p:nvSpPr>
        <p:spPr>
          <a:xfrm>
            <a:off x="4251960" y="17830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② 但对 AI 信任不足</a:t>
            </a:r>
            <a:endParaRPr lang="en-US" sz="1400" dirty="0"/>
          </a:p>
        </p:txBody>
      </p:sp>
      <p:sp>
        <p:nvSpPr>
          <p:cNvPr id="26" name="环节箭头2"/>
          <p:cNvSpPr txBox="1"/>
          <p:nvPr/>
        </p:nvSpPr>
        <p:spPr>
          <a:xfrm>
            <a:off x="6446520" y="1783080"/>
            <a:ext cx="228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→</a:t>
            </a:r>
            <a:endParaRPr lang="en-US" sz="1600" dirty="0"/>
          </a:p>
        </p:txBody>
      </p:sp>
      <p:sp>
        <p:nvSpPr>
          <p:cNvPr id="27" name="证据2"/>
          <p:cNvSpPr/>
          <p:nvPr/>
        </p:nvSpPr>
        <p:spPr>
          <a:xfrm>
            <a:off x="4160520" y="2743200"/>
            <a:ext cx="228600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证据文字2"/>
          <p:cNvSpPr txBox="1"/>
          <p:nvPr/>
        </p:nvSpPr>
        <p:spPr>
          <a:xfrm>
            <a:off x="4297680" y="27432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75% 会核查 AI 的回答</a:t>
            </a:r>
            <a:endParaRPr lang="en-US" sz="1300" dirty="0"/>
          </a:p>
        </p:txBody>
      </p:sp>
      <p:sp>
        <p:nvSpPr>
          <p:cNvPr id="29" name="检验2"/>
          <p:cNvSpPr/>
          <p:nvPr/>
        </p:nvSpPr>
        <p:spPr>
          <a:xfrm>
            <a:off x="4160520" y="4114800"/>
            <a:ext cx="2286000" cy="1417320"/>
          </a:xfrm>
          <a:prstGeom prst="roundRect">
            <a:avLst>
              <a:gd name="adj" fmla="val 7742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0" name="检验文字2"/>
          <p:cNvSpPr txBox="1"/>
          <p:nvPr/>
        </p:nvSpPr>
        <p:spPr>
          <a:xfrm>
            <a:off x="4297680" y="4114800"/>
            <a:ext cx="2011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维度一 调查对象</a:t>
            </a:r>
            <a:endParaRPr lang="en-US" sz="1400" dirty="0"/>
          </a:p>
        </p:txBody>
      </p:sp>
      <p:sp>
        <p:nvSpPr>
          <p:cNvPr id="31" name="环节3"/>
          <p:cNvSpPr/>
          <p:nvPr/>
        </p:nvSpPr>
        <p:spPr>
          <a:xfrm>
            <a:off x="6675120" y="1783080"/>
            <a:ext cx="2286000" cy="777240"/>
          </a:xfrm>
          <a:prstGeom prst="roundRect">
            <a:avLst>
              <a:gd name="adj" fmla="val 1411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环节文字3"/>
          <p:cNvSpPr txBox="1"/>
          <p:nvPr/>
        </p:nvSpPr>
        <p:spPr>
          <a:xfrm>
            <a:off x="6766560" y="17830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③ 检索困难导致退订</a:t>
            </a:r>
            <a:endParaRPr lang="en-US" sz="1400" dirty="0"/>
          </a:p>
        </p:txBody>
      </p:sp>
      <p:sp>
        <p:nvSpPr>
          <p:cNvPr id="33" name="环节箭头3"/>
          <p:cNvSpPr txBox="1"/>
          <p:nvPr/>
        </p:nvSpPr>
        <p:spPr>
          <a:xfrm>
            <a:off x="8961120" y="1783080"/>
            <a:ext cx="228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→</a:t>
            </a:r>
            <a:endParaRPr lang="en-US" sz="1600" dirty="0"/>
          </a:p>
        </p:txBody>
      </p:sp>
      <p:sp>
        <p:nvSpPr>
          <p:cNvPr id="34" name="证据3"/>
          <p:cNvSpPr/>
          <p:nvPr/>
        </p:nvSpPr>
        <p:spPr>
          <a:xfrm>
            <a:off x="6675120" y="2743200"/>
            <a:ext cx="228600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证据文字3"/>
          <p:cNvSpPr txBox="1"/>
          <p:nvPr/>
        </p:nvSpPr>
        <p:spPr>
          <a:xfrm>
            <a:off x="6812280" y="27432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14 分钟；54% 可能退订；5.5% 月退订率</a:t>
            </a:r>
            <a:endParaRPr lang="en-US" sz="1300" dirty="0"/>
          </a:p>
        </p:txBody>
      </p:sp>
      <p:sp>
        <p:nvSpPr>
          <p:cNvPr id="36" name="检验3"/>
          <p:cNvSpPr/>
          <p:nvPr/>
        </p:nvSpPr>
        <p:spPr>
          <a:xfrm>
            <a:off x="6675120" y="4114800"/>
            <a:ext cx="2286000" cy="1417320"/>
          </a:xfrm>
          <a:prstGeom prst="roundRect">
            <a:avLst>
              <a:gd name="adj" fmla="val 7742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7" name="检验文字3"/>
          <p:cNvSpPr txBox="1"/>
          <p:nvPr/>
        </p:nvSpPr>
        <p:spPr>
          <a:xfrm>
            <a:off x="6812280" y="4114800"/>
            <a:ext cx="2011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维度二 研究总体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维度四 研究方法</a:t>
            </a:r>
            <a:endParaRPr lang="en-US" sz="1400" dirty="0"/>
          </a:p>
        </p:txBody>
      </p:sp>
      <p:sp>
        <p:nvSpPr>
          <p:cNvPr id="38" name="环节4"/>
          <p:cNvSpPr/>
          <p:nvPr/>
        </p:nvSpPr>
        <p:spPr>
          <a:xfrm>
            <a:off x="9189720" y="1783080"/>
            <a:ext cx="2286000" cy="777240"/>
          </a:xfrm>
          <a:prstGeom prst="roundRect">
            <a:avLst>
              <a:gd name="adj" fmla="val 1411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9" name="环节文字4"/>
          <p:cNvSpPr txBox="1"/>
          <p:nvPr/>
        </p:nvSpPr>
        <p:spPr>
          <a:xfrm>
            <a:off x="9281160" y="17830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④ AI 须接入可信数据</a:t>
            </a:r>
            <a:endParaRPr lang="en-US" sz="1400" dirty="0"/>
          </a:p>
        </p:txBody>
      </p:sp>
      <p:sp>
        <p:nvSpPr>
          <p:cNvPr id="40" name="证据4"/>
          <p:cNvSpPr/>
          <p:nvPr/>
        </p:nvSpPr>
        <p:spPr>
          <a:xfrm>
            <a:off x="9189720" y="2743200"/>
            <a:ext cx="228600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1" name="证据文字4"/>
          <p:cNvSpPr txBox="1"/>
          <p:nvPr/>
        </p:nvSpPr>
        <p:spPr>
          <a:xfrm>
            <a:off x="9326880" y="27432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由前三环推出，无直接数据</a:t>
            </a:r>
            <a:endParaRPr lang="en-US" sz="1300" dirty="0"/>
          </a:p>
        </p:txBody>
      </p:sp>
      <p:sp>
        <p:nvSpPr>
          <p:cNvPr id="42" name="检验4"/>
          <p:cNvSpPr/>
          <p:nvPr/>
        </p:nvSpPr>
        <p:spPr>
          <a:xfrm>
            <a:off x="9189720" y="4114800"/>
            <a:ext cx="2286000" cy="1417320"/>
          </a:xfrm>
          <a:prstGeom prst="roundRect">
            <a:avLst>
              <a:gd name="adj" fmla="val 7742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3" name="检验文字4"/>
          <p:cNvSpPr txBox="1"/>
          <p:nvPr/>
        </p:nvSpPr>
        <p:spPr>
          <a:xfrm>
            <a:off x="9326880" y="4114800"/>
            <a:ext cx="2011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维度四 研究方法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（方案未经检验）</a:t>
            </a:r>
            <a:endParaRPr lang="en-US" sz="1400" dirty="0"/>
          </a:p>
        </p:txBody>
      </p:sp>
      <p:sp>
        <p:nvSpPr>
          <p:cNvPr id="44" name="来源说明"/>
          <p:cNvSpPr txBox="1"/>
          <p:nvPr/>
        </p:nvSpPr>
        <p:spPr>
          <a:xfrm>
            <a:off x="548640" y="59893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评价框架参照课程案例：春晚满意度调查中，调查对象、研究总体、调查时间与研究方法的差异导致结论相反。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维度一 · 调查对象：样本代表性存疑</a:t>
            </a:r>
            <a:endParaRPr lang="en-US" sz="2800" dirty="0"/>
          </a:p>
        </p:txBody>
      </p:sp>
      <p:sp>
        <p:nvSpPr>
          <p:cNvPr id="3" name="进度1"/>
          <p:cNvSpPr/>
          <p:nvPr/>
        </p:nvSpPr>
        <p:spPr>
          <a:xfrm>
            <a:off x="8165592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进度文字1"/>
          <p:cNvSpPr txBox="1"/>
          <p:nvPr/>
        </p:nvSpPr>
        <p:spPr>
          <a:xfrm>
            <a:off x="8165592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背景</a:t>
            </a:r>
            <a:endParaRPr lang="en-US" sz="1100" dirty="0"/>
          </a:p>
        </p:txBody>
      </p:sp>
      <p:sp>
        <p:nvSpPr>
          <p:cNvPr id="5" name="进度2"/>
          <p:cNvSpPr/>
          <p:nvPr/>
        </p:nvSpPr>
        <p:spPr>
          <a:xfrm>
            <a:off x="8869680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进度文字2"/>
          <p:cNvSpPr txBox="1"/>
          <p:nvPr/>
        </p:nvSpPr>
        <p:spPr>
          <a:xfrm>
            <a:off x="8869680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设计</a:t>
            </a:r>
            <a:endParaRPr lang="en-US" sz="1100" dirty="0"/>
          </a:p>
        </p:txBody>
      </p:sp>
      <p:sp>
        <p:nvSpPr>
          <p:cNvPr id="7" name="进度3"/>
          <p:cNvSpPr/>
          <p:nvPr/>
        </p:nvSpPr>
        <p:spPr>
          <a:xfrm>
            <a:off x="9573768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进度文字3"/>
          <p:cNvSpPr txBox="1"/>
          <p:nvPr/>
        </p:nvSpPr>
        <p:spPr>
          <a:xfrm>
            <a:off x="9573768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内容</a:t>
            </a:r>
            <a:endParaRPr lang="en-US" sz="1100" dirty="0"/>
          </a:p>
        </p:txBody>
      </p:sp>
      <p:sp>
        <p:nvSpPr>
          <p:cNvPr id="9" name="进度4"/>
          <p:cNvSpPr/>
          <p:nvPr/>
        </p:nvSpPr>
        <p:spPr>
          <a:xfrm>
            <a:off x="10277856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进度文字4"/>
          <p:cNvSpPr txBox="1"/>
          <p:nvPr/>
        </p:nvSpPr>
        <p:spPr>
          <a:xfrm>
            <a:off x="10277856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评价</a:t>
            </a:r>
            <a:endParaRPr lang="en-US" sz="1100" dirty="0"/>
          </a:p>
        </p:txBody>
      </p:sp>
      <p:sp>
        <p:nvSpPr>
          <p:cNvPr id="11" name="进度5"/>
          <p:cNvSpPr/>
          <p:nvPr/>
        </p:nvSpPr>
        <p:spPr>
          <a:xfrm>
            <a:off x="10981944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进度文字5"/>
          <p:cNvSpPr txBox="1"/>
          <p:nvPr/>
        </p:nvSpPr>
        <p:spPr>
          <a:xfrm>
            <a:off x="10981944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总结</a:t>
            </a:r>
            <a:endParaRPr lang="en-US" sz="1100" dirty="0"/>
          </a:p>
        </p:txBody>
      </p:sp>
      <p:sp>
        <p:nvSpPr>
          <p:cNvPr id="13" name="总体圈1"/>
          <p:cNvSpPr/>
          <p:nvPr/>
        </p:nvSpPr>
        <p:spPr>
          <a:xfrm>
            <a:off x="731520" y="1371600"/>
            <a:ext cx="4389120" cy="4389120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4" name="总体标签1"/>
          <p:cNvSpPr txBox="1"/>
          <p:nvPr/>
        </p:nvSpPr>
        <p:spPr>
          <a:xfrm>
            <a:off x="731520" y="14813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美国人口</a:t>
            </a:r>
            <a:endParaRPr lang="en-US" sz="1300" dirty="0"/>
          </a:p>
        </p:txBody>
      </p:sp>
      <p:sp>
        <p:nvSpPr>
          <p:cNvPr id="15" name="总体圈2"/>
          <p:cNvSpPr/>
          <p:nvPr/>
        </p:nvSpPr>
        <p:spPr>
          <a:xfrm>
            <a:off x="1143000" y="2011680"/>
            <a:ext cx="3566160" cy="3566160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6" name="总体标签2"/>
          <p:cNvSpPr txBox="1"/>
          <p:nvPr/>
        </p:nvSpPr>
        <p:spPr>
          <a:xfrm>
            <a:off x="1143000" y="212140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互联网用户</a:t>
            </a:r>
            <a:endParaRPr lang="en-US" sz="1300" dirty="0"/>
          </a:p>
        </p:txBody>
      </p:sp>
      <p:sp>
        <p:nvSpPr>
          <p:cNvPr id="17" name="总体圈3"/>
          <p:cNvSpPr/>
          <p:nvPr/>
        </p:nvSpPr>
        <p:spPr>
          <a:xfrm>
            <a:off x="1554480" y="2651760"/>
            <a:ext cx="2743200" cy="2743200"/>
          </a:xfrm>
          <a:prstGeom prst="ellipse">
            <a:avLst/>
          </a:prstGeom>
          <a:solidFill>
            <a:srgbClr val="A99BEA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8" name="总体标签3"/>
          <p:cNvSpPr txBox="1"/>
          <p:nvPr/>
        </p:nvSpPr>
        <p:spPr>
          <a:xfrm>
            <a:off x="1554480" y="27614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AI 聊天机器人用户</a:t>
            </a:r>
            <a:endParaRPr lang="en-US" sz="1300" dirty="0"/>
          </a:p>
        </p:txBody>
      </p:sp>
      <p:sp>
        <p:nvSpPr>
          <p:cNvPr id="19" name="总体圈4"/>
          <p:cNvSpPr/>
          <p:nvPr/>
        </p:nvSpPr>
        <p:spPr>
          <a:xfrm>
            <a:off x="2011680" y="3291840"/>
            <a:ext cx="1828800" cy="182880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0" name="样本标签"/>
          <p:cNvSpPr txBox="1"/>
          <p:nvPr/>
        </p:nvSpPr>
        <p:spPr>
          <a:xfrm>
            <a:off x="2011680" y="35661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本次样本</a:t>
            </a:r>
            <a:endParaRPr lang="en-US" sz="13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4,003</a:t>
            </a:r>
            <a:endParaRPr lang="en-US" sz="1300" dirty="0"/>
          </a:p>
        </p:txBody>
      </p:sp>
      <p:sp>
        <p:nvSpPr>
          <p:cNvPr id="21" name="事实卡"/>
          <p:cNvSpPr/>
          <p:nvPr/>
        </p:nvSpPr>
        <p:spPr>
          <a:xfrm>
            <a:off x="6172200" y="1371600"/>
            <a:ext cx="5468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事实标签"/>
          <p:cNvSpPr/>
          <p:nvPr/>
        </p:nvSpPr>
        <p:spPr>
          <a:xfrm>
            <a:off x="6355080" y="1527048"/>
            <a:ext cx="777240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事实标签文字"/>
          <p:cNvSpPr txBox="1"/>
          <p:nvPr/>
        </p:nvSpPr>
        <p:spPr>
          <a:xfrm>
            <a:off x="6355080" y="1527048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事实</a:t>
            </a:r>
            <a:endParaRPr lang="en-US" sz="1300" dirty="0"/>
          </a:p>
        </p:txBody>
      </p:sp>
      <p:sp>
        <p:nvSpPr>
          <p:cNvPr id="24" name="事实内容"/>
          <p:cNvSpPr txBox="1"/>
          <p:nvPr/>
        </p:nvSpPr>
        <p:spPr>
          <a:xfrm>
            <a:off x="6355080" y="1938528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样本仅为 AI 聊天机器人用户，报告却多处将结论表述为“美国人”；所称“Alpha 世代”仅含 13–14 岁受访者。</a:t>
            </a:r>
            <a:endParaRPr lang="en-US" sz="1400" dirty="0"/>
          </a:p>
        </p:txBody>
      </p:sp>
      <p:sp>
        <p:nvSpPr>
          <p:cNvPr id="25" name="下箭头"/>
          <p:cNvSpPr txBox="1"/>
          <p:nvPr/>
        </p:nvSpPr>
        <p:spPr>
          <a:xfrm>
            <a:off x="8686800" y="274320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↓</a:t>
            </a:r>
            <a:endParaRPr lang="en-US" sz="1000" dirty="0"/>
          </a:p>
        </p:txBody>
      </p:sp>
      <p:sp>
        <p:nvSpPr>
          <p:cNvPr id="26" name="原因卡"/>
          <p:cNvSpPr/>
          <p:nvPr/>
        </p:nvSpPr>
        <p:spPr>
          <a:xfrm>
            <a:off x="6172200" y="2880360"/>
            <a:ext cx="5468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原因标签"/>
          <p:cNvSpPr/>
          <p:nvPr/>
        </p:nvSpPr>
        <p:spPr>
          <a:xfrm>
            <a:off x="6355080" y="3035808"/>
            <a:ext cx="77724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原因标签文字"/>
          <p:cNvSpPr txBox="1"/>
          <p:nvPr/>
        </p:nvSpPr>
        <p:spPr>
          <a:xfrm>
            <a:off x="6355080" y="3035808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原因</a:t>
            </a:r>
            <a:endParaRPr lang="en-US" sz="1300" dirty="0"/>
          </a:p>
        </p:txBody>
      </p:sp>
      <p:sp>
        <p:nvSpPr>
          <p:cNvPr id="29" name="原因内容"/>
          <p:cNvSpPr txBox="1"/>
          <p:nvPr/>
        </p:nvSpPr>
        <p:spPr>
          <a:xfrm>
            <a:off x="6355080" y="3447288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线上样本以“使用 AI”为筛选条件，抽样框、加权方法与应答率均未公开，调查总体小于报告推论的总体。</a:t>
            </a:r>
            <a:endParaRPr lang="en-US" sz="1400" dirty="0"/>
          </a:p>
        </p:txBody>
      </p:sp>
      <p:sp>
        <p:nvSpPr>
          <p:cNvPr id="30" name="下箭头"/>
          <p:cNvSpPr txBox="1"/>
          <p:nvPr/>
        </p:nvSpPr>
        <p:spPr>
          <a:xfrm>
            <a:off x="8686800" y="425196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↓</a:t>
            </a:r>
            <a:endParaRPr lang="en-US" sz="1000" dirty="0"/>
          </a:p>
        </p:txBody>
      </p:sp>
      <p:sp>
        <p:nvSpPr>
          <p:cNvPr id="31" name="影响卡"/>
          <p:cNvSpPr/>
          <p:nvPr/>
        </p:nvSpPr>
        <p:spPr>
          <a:xfrm>
            <a:off x="6172200" y="4389120"/>
            <a:ext cx="5468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影响标签"/>
          <p:cNvSpPr/>
          <p:nvPr/>
        </p:nvSpPr>
        <p:spPr>
          <a:xfrm>
            <a:off x="6355080" y="4544568"/>
            <a:ext cx="77724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3" name="影响标签文字"/>
          <p:cNvSpPr txBox="1"/>
          <p:nvPr/>
        </p:nvSpPr>
        <p:spPr>
          <a:xfrm>
            <a:off x="6355080" y="4544568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影响</a:t>
            </a:r>
            <a:endParaRPr lang="en-US" sz="1300" dirty="0"/>
          </a:p>
        </p:txBody>
      </p:sp>
      <p:sp>
        <p:nvSpPr>
          <p:cNvPr id="34" name="影响内容"/>
          <p:cNvSpPr txBox="1"/>
          <p:nvPr/>
        </p:nvSpPr>
        <p:spPr>
          <a:xfrm>
            <a:off x="6355080" y="4956048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54%、75% 等数据只能解释为“美国 AI 用户中”的比例；与课上 Durex 网络调查同属覆盖偏差问题。</a:t>
            </a:r>
            <a:endParaRPr lang="en-US" sz="1400" dirty="0"/>
          </a:p>
        </p:txBody>
      </p:sp>
      <p:sp>
        <p:nvSpPr>
          <p:cNvPr id="35" name="来源说明"/>
          <p:cNvSpPr txBox="1"/>
          <p:nvPr/>
        </p:nvSpPr>
        <p:spPr>
          <a:xfrm>
            <a:off x="548640" y="59893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来源：Gracenote 报告；尼尔森新闻稿原文：“Gen Alpha findings are based on respondents ages 13 and 14”。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维度二 · 研究总体：六国均值用于美国</a:t>
            </a:r>
            <a:endParaRPr lang="en-US" sz="2800" dirty="0"/>
          </a:p>
        </p:txBody>
      </p:sp>
      <p:sp>
        <p:nvSpPr>
          <p:cNvPr id="3" name="进度1"/>
          <p:cNvSpPr/>
          <p:nvPr/>
        </p:nvSpPr>
        <p:spPr>
          <a:xfrm>
            <a:off x="8165592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进度文字1"/>
          <p:cNvSpPr txBox="1"/>
          <p:nvPr/>
        </p:nvSpPr>
        <p:spPr>
          <a:xfrm>
            <a:off x="8165592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背景</a:t>
            </a:r>
            <a:endParaRPr lang="en-US" sz="1100" dirty="0"/>
          </a:p>
        </p:txBody>
      </p:sp>
      <p:sp>
        <p:nvSpPr>
          <p:cNvPr id="5" name="进度2"/>
          <p:cNvSpPr/>
          <p:nvPr/>
        </p:nvSpPr>
        <p:spPr>
          <a:xfrm>
            <a:off x="8869680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进度文字2"/>
          <p:cNvSpPr txBox="1"/>
          <p:nvPr/>
        </p:nvSpPr>
        <p:spPr>
          <a:xfrm>
            <a:off x="8869680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设计</a:t>
            </a:r>
            <a:endParaRPr lang="en-US" sz="1100" dirty="0"/>
          </a:p>
        </p:txBody>
      </p:sp>
      <p:sp>
        <p:nvSpPr>
          <p:cNvPr id="7" name="进度3"/>
          <p:cNvSpPr/>
          <p:nvPr/>
        </p:nvSpPr>
        <p:spPr>
          <a:xfrm>
            <a:off x="9573768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进度文字3"/>
          <p:cNvSpPr txBox="1"/>
          <p:nvPr/>
        </p:nvSpPr>
        <p:spPr>
          <a:xfrm>
            <a:off x="9573768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内容</a:t>
            </a:r>
            <a:endParaRPr lang="en-US" sz="1100" dirty="0"/>
          </a:p>
        </p:txBody>
      </p:sp>
      <p:sp>
        <p:nvSpPr>
          <p:cNvPr id="9" name="进度4"/>
          <p:cNvSpPr/>
          <p:nvPr/>
        </p:nvSpPr>
        <p:spPr>
          <a:xfrm>
            <a:off x="10277856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进度文字4"/>
          <p:cNvSpPr txBox="1"/>
          <p:nvPr/>
        </p:nvSpPr>
        <p:spPr>
          <a:xfrm>
            <a:off x="10277856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评价</a:t>
            </a:r>
            <a:endParaRPr lang="en-US" sz="1100" dirty="0"/>
          </a:p>
        </p:txBody>
      </p:sp>
      <p:sp>
        <p:nvSpPr>
          <p:cNvPr id="11" name="进度5"/>
          <p:cNvSpPr/>
          <p:nvPr/>
        </p:nvSpPr>
        <p:spPr>
          <a:xfrm>
            <a:off x="10981944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进度文字5"/>
          <p:cNvSpPr txBox="1"/>
          <p:nvPr/>
        </p:nvSpPr>
        <p:spPr>
          <a:xfrm>
            <a:off x="10981944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总结</a:t>
            </a:r>
            <a:endParaRPr lang="en-US" sz="1100" dirty="0"/>
          </a:p>
        </p:txBody>
      </p:sp>
      <p:graphicFrame>
        <p:nvGraphicFramePr>
          <p:cNvPr id="13" name="分国家寻找时长图" descr=""/>
          <p:cNvGraphicFramePr/>
          <p:nvPr/>
        </p:nvGraphicFramePr>
        <p:xfrm>
          <a:off x="548640" y="1325880"/>
          <a:ext cx="530352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事实卡"/>
          <p:cNvSpPr/>
          <p:nvPr/>
        </p:nvSpPr>
        <p:spPr>
          <a:xfrm>
            <a:off x="6172200" y="1371600"/>
            <a:ext cx="5468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事实标签"/>
          <p:cNvSpPr/>
          <p:nvPr/>
        </p:nvSpPr>
        <p:spPr>
          <a:xfrm>
            <a:off x="6355080" y="1527048"/>
            <a:ext cx="777240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事实标签文字"/>
          <p:cNvSpPr txBox="1"/>
          <p:nvPr/>
        </p:nvSpPr>
        <p:spPr>
          <a:xfrm>
            <a:off x="6355080" y="1527048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事实</a:t>
            </a:r>
            <a:endParaRPr lang="en-US" sz="1300" dirty="0"/>
          </a:p>
        </p:txBody>
      </p:sp>
      <p:sp>
        <p:nvSpPr>
          <p:cNvPr id="17" name="事实内容"/>
          <p:cNvSpPr txBox="1"/>
          <p:nvPr/>
        </p:nvSpPr>
        <p:spPr>
          <a:xfrm>
            <a:off x="6355080" y="1938528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“平均 14 分钟”“54% 可能退订”均来自六国调查；报告将 14 分钟置于描述美国收视情况的图表中。</a:t>
            </a:r>
            <a:endParaRPr lang="en-US" sz="1400" dirty="0"/>
          </a:p>
        </p:txBody>
      </p:sp>
      <p:sp>
        <p:nvSpPr>
          <p:cNvPr id="18" name="下箭头"/>
          <p:cNvSpPr txBox="1"/>
          <p:nvPr/>
        </p:nvSpPr>
        <p:spPr>
          <a:xfrm>
            <a:off x="8686800" y="274320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↓</a:t>
            </a:r>
            <a:endParaRPr lang="en-US" sz="1000" dirty="0"/>
          </a:p>
        </p:txBody>
      </p:sp>
      <p:sp>
        <p:nvSpPr>
          <p:cNvPr id="19" name="原因卡"/>
          <p:cNvSpPr/>
          <p:nvPr/>
        </p:nvSpPr>
        <p:spPr>
          <a:xfrm>
            <a:off x="6172200" y="2880360"/>
            <a:ext cx="5468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原因标签"/>
          <p:cNvSpPr/>
          <p:nvPr/>
        </p:nvSpPr>
        <p:spPr>
          <a:xfrm>
            <a:off x="6355080" y="3035808"/>
            <a:ext cx="77724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原因标签文字"/>
          <p:cNvSpPr txBox="1"/>
          <p:nvPr/>
        </p:nvSpPr>
        <p:spPr>
          <a:xfrm>
            <a:off x="6355080" y="3035808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原因</a:t>
            </a:r>
            <a:endParaRPr lang="en-US" sz="1300" dirty="0"/>
          </a:p>
        </p:txBody>
      </p:sp>
      <p:sp>
        <p:nvSpPr>
          <p:cNvPr id="22" name="原因内容"/>
          <p:cNvSpPr txBox="1"/>
          <p:nvPr/>
        </p:nvSpPr>
        <p:spPr>
          <a:xfrm>
            <a:off x="6355080" y="3447288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14 分钟为六国简单平均（每国 500 人、等权）；美国为 12 分钟，法国的 26 分钟拉高了均值。报告未标明国家口径。</a:t>
            </a:r>
            <a:endParaRPr lang="en-US" sz="1400" dirty="0"/>
          </a:p>
        </p:txBody>
      </p:sp>
      <p:sp>
        <p:nvSpPr>
          <p:cNvPr id="23" name="下箭头"/>
          <p:cNvSpPr txBox="1"/>
          <p:nvPr/>
        </p:nvSpPr>
        <p:spPr>
          <a:xfrm>
            <a:off x="8686800" y="425196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↓</a:t>
            </a:r>
            <a:endParaRPr lang="en-US" sz="1000" dirty="0"/>
          </a:p>
        </p:txBody>
      </p:sp>
      <p:sp>
        <p:nvSpPr>
          <p:cNvPr id="24" name="影响卡"/>
          <p:cNvSpPr/>
          <p:nvPr/>
        </p:nvSpPr>
        <p:spPr>
          <a:xfrm>
            <a:off x="6172200" y="4389120"/>
            <a:ext cx="5468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影响标签"/>
          <p:cNvSpPr/>
          <p:nvPr/>
        </p:nvSpPr>
        <p:spPr>
          <a:xfrm>
            <a:off x="6355080" y="4544568"/>
            <a:ext cx="77724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6" name="影响标签文字"/>
          <p:cNvSpPr txBox="1"/>
          <p:nvPr/>
        </p:nvSpPr>
        <p:spPr>
          <a:xfrm>
            <a:off x="6355080" y="4544568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影响</a:t>
            </a:r>
            <a:endParaRPr lang="en-US" sz="1300" dirty="0"/>
          </a:p>
        </p:txBody>
      </p:sp>
      <p:sp>
        <p:nvSpPr>
          <p:cNvPr id="27" name="影响内容"/>
          <p:cNvSpPr txBox="1"/>
          <p:nvPr/>
        </p:nvSpPr>
        <p:spPr>
          <a:xfrm>
            <a:off x="6355080" y="4956048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读者会高估美国用户的检索困难；“50% 的美国观众考虑退订”在原始报告中仅见六国均值 49%。</a:t>
            </a:r>
            <a:endParaRPr lang="en-US" sz="1400" dirty="0"/>
          </a:p>
        </p:txBody>
      </p:sp>
      <p:sp>
        <p:nvSpPr>
          <p:cNvPr id="28" name="来源说明"/>
          <p:cNvSpPr txBox="1"/>
          <p:nvPr/>
        </p:nvSpPr>
        <p:spPr>
          <a:xfrm>
            <a:off x="548640" y="59893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来源：Gracenote 报告；Gracenote 2025 年报告《State of Play》分国家、分年龄图表（每国 500 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维度三 · 调查时间：比较口径不一致</a:t>
            </a:r>
            <a:endParaRPr lang="en-US" sz="2800" dirty="0"/>
          </a:p>
        </p:txBody>
      </p:sp>
      <p:sp>
        <p:nvSpPr>
          <p:cNvPr id="3" name="进度1"/>
          <p:cNvSpPr/>
          <p:nvPr/>
        </p:nvSpPr>
        <p:spPr>
          <a:xfrm>
            <a:off x="8165592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进度文字1"/>
          <p:cNvSpPr txBox="1"/>
          <p:nvPr/>
        </p:nvSpPr>
        <p:spPr>
          <a:xfrm>
            <a:off x="8165592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背景</a:t>
            </a:r>
            <a:endParaRPr lang="en-US" sz="1100" dirty="0"/>
          </a:p>
        </p:txBody>
      </p:sp>
      <p:sp>
        <p:nvSpPr>
          <p:cNvPr id="5" name="进度2"/>
          <p:cNvSpPr/>
          <p:nvPr/>
        </p:nvSpPr>
        <p:spPr>
          <a:xfrm>
            <a:off x="8869680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进度文字2"/>
          <p:cNvSpPr txBox="1"/>
          <p:nvPr/>
        </p:nvSpPr>
        <p:spPr>
          <a:xfrm>
            <a:off x="8869680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设计</a:t>
            </a:r>
            <a:endParaRPr lang="en-US" sz="1100" dirty="0"/>
          </a:p>
        </p:txBody>
      </p:sp>
      <p:sp>
        <p:nvSpPr>
          <p:cNvPr id="7" name="进度3"/>
          <p:cNvSpPr/>
          <p:nvPr/>
        </p:nvSpPr>
        <p:spPr>
          <a:xfrm>
            <a:off x="9573768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进度文字3"/>
          <p:cNvSpPr txBox="1"/>
          <p:nvPr/>
        </p:nvSpPr>
        <p:spPr>
          <a:xfrm>
            <a:off x="9573768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内容</a:t>
            </a:r>
            <a:endParaRPr lang="en-US" sz="1100" dirty="0"/>
          </a:p>
        </p:txBody>
      </p:sp>
      <p:sp>
        <p:nvSpPr>
          <p:cNvPr id="9" name="进度4"/>
          <p:cNvSpPr/>
          <p:nvPr/>
        </p:nvSpPr>
        <p:spPr>
          <a:xfrm>
            <a:off x="10277856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进度文字4"/>
          <p:cNvSpPr txBox="1"/>
          <p:nvPr/>
        </p:nvSpPr>
        <p:spPr>
          <a:xfrm>
            <a:off x="10277856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评价</a:t>
            </a:r>
            <a:endParaRPr lang="en-US" sz="1100" dirty="0"/>
          </a:p>
        </p:txBody>
      </p:sp>
      <p:sp>
        <p:nvSpPr>
          <p:cNvPr id="11" name="进度5"/>
          <p:cNvSpPr/>
          <p:nvPr/>
        </p:nvSpPr>
        <p:spPr>
          <a:xfrm>
            <a:off x="10981944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进度文字5"/>
          <p:cNvSpPr txBox="1"/>
          <p:nvPr/>
        </p:nvSpPr>
        <p:spPr>
          <a:xfrm>
            <a:off x="10981944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总结</a:t>
            </a:r>
            <a:endParaRPr lang="en-US" sz="1100" dirty="0"/>
          </a:p>
        </p:txBody>
      </p:sp>
      <p:sp>
        <p:nvSpPr>
          <p:cNvPr id="13" name="对比卡1"/>
          <p:cNvSpPr/>
          <p:nvPr/>
        </p:nvSpPr>
        <p:spPr>
          <a:xfrm>
            <a:off x="548640" y="1371600"/>
            <a:ext cx="53035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对比机构1"/>
          <p:cNvSpPr txBox="1"/>
          <p:nvPr/>
        </p:nvSpPr>
        <p:spPr>
          <a:xfrm>
            <a:off x="822960" y="15087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皮尤研究中心（2025 年 9–10 月）</a:t>
            </a:r>
            <a:endParaRPr lang="en-US" sz="1500" dirty="0"/>
          </a:p>
        </p:txBody>
      </p:sp>
      <p:sp>
        <p:nvSpPr>
          <p:cNvPr id="15" name="对比数字1"/>
          <p:cNvSpPr txBox="1"/>
          <p:nvPr/>
        </p:nvSpPr>
        <p:spPr>
          <a:xfrm>
            <a:off x="822960" y="19202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24%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13–14 岁每日使用 AI</a:t>
            </a:r>
            <a:endParaRPr lang="en-US" sz="4800" dirty="0"/>
          </a:p>
        </p:txBody>
      </p:sp>
      <p:sp>
        <p:nvSpPr>
          <p:cNvPr id="16" name="对比说明1"/>
          <p:cNvSpPr txBox="1"/>
          <p:nvPr/>
        </p:nvSpPr>
        <p:spPr>
          <a:xfrm>
            <a:off x="822960" y="2834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分母：全体 13–14 岁青少年 · 概率样本，经加权</a:t>
            </a:r>
            <a:endParaRPr lang="en-US" sz="1300" dirty="0"/>
          </a:p>
        </p:txBody>
      </p:sp>
      <p:sp>
        <p:nvSpPr>
          <p:cNvPr id="17" name="对比卡2"/>
          <p:cNvSpPr/>
          <p:nvPr/>
        </p:nvSpPr>
        <p:spPr>
          <a:xfrm>
            <a:off x="548640" y="3703320"/>
            <a:ext cx="53035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对比机构2"/>
          <p:cNvSpPr txBox="1"/>
          <p:nvPr/>
        </p:nvSpPr>
        <p:spPr>
          <a:xfrm>
            <a:off x="822960" y="38404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Gracenote 本报告（2026 年 1–2 月）</a:t>
            </a:r>
            <a:endParaRPr lang="en-US" sz="1500" dirty="0"/>
          </a:p>
        </p:txBody>
      </p:sp>
      <p:sp>
        <p:nvSpPr>
          <p:cNvPr id="19" name="对比数字2"/>
          <p:cNvSpPr txBox="1"/>
          <p:nvPr/>
        </p:nvSpPr>
        <p:spPr>
          <a:xfrm>
            <a:off x="822960" y="42519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13–14 岁每日使用 AI</a:t>
            </a:r>
            <a:endParaRPr lang="en-US" sz="4800" dirty="0"/>
          </a:p>
        </p:txBody>
      </p:sp>
      <p:sp>
        <p:nvSpPr>
          <p:cNvPr id="20" name="对比说明2"/>
          <p:cNvSpPr txBox="1"/>
          <p:nvPr/>
        </p:nvSpPr>
        <p:spPr>
          <a:xfrm>
            <a:off x="822960" y="51663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分母：13–14 岁 AI 用户 · 线上样本，加权未公开</a:t>
            </a:r>
            <a:endParaRPr lang="en-US" sz="1300" dirty="0"/>
          </a:p>
        </p:txBody>
      </p:sp>
      <p:sp>
        <p:nvSpPr>
          <p:cNvPr id="21" name="事实卡"/>
          <p:cNvSpPr/>
          <p:nvPr/>
        </p:nvSpPr>
        <p:spPr>
          <a:xfrm>
            <a:off x="6172200" y="1371600"/>
            <a:ext cx="5468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事实标签"/>
          <p:cNvSpPr/>
          <p:nvPr/>
        </p:nvSpPr>
        <p:spPr>
          <a:xfrm>
            <a:off x="6355080" y="1527048"/>
            <a:ext cx="777240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事实标签文字"/>
          <p:cNvSpPr txBox="1"/>
          <p:nvPr/>
        </p:nvSpPr>
        <p:spPr>
          <a:xfrm>
            <a:off x="6355080" y="1527048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事实</a:t>
            </a:r>
            <a:endParaRPr lang="en-US" sz="1300" dirty="0"/>
          </a:p>
        </p:txBody>
      </p:sp>
      <p:sp>
        <p:nvSpPr>
          <p:cNvPr id="24" name="事实内容"/>
          <p:cNvSpPr txBox="1"/>
          <p:nvPr/>
        </p:nvSpPr>
        <p:spPr>
          <a:xfrm>
            <a:off x="6355080" y="1938528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报告将皮尤 2025 年秋季的 30% 与自身 2026 年初的 54% 对比，认为使用频率“正在加速”。</a:t>
            </a:r>
            <a:endParaRPr lang="en-US" sz="1400" dirty="0"/>
          </a:p>
        </p:txBody>
      </p:sp>
      <p:sp>
        <p:nvSpPr>
          <p:cNvPr id="25" name="下箭头"/>
          <p:cNvSpPr txBox="1"/>
          <p:nvPr/>
        </p:nvSpPr>
        <p:spPr>
          <a:xfrm>
            <a:off x="8686800" y="274320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↓</a:t>
            </a:r>
            <a:endParaRPr lang="en-US" sz="1000" dirty="0"/>
          </a:p>
        </p:txBody>
      </p:sp>
      <p:sp>
        <p:nvSpPr>
          <p:cNvPr id="26" name="原因卡"/>
          <p:cNvSpPr/>
          <p:nvPr/>
        </p:nvSpPr>
        <p:spPr>
          <a:xfrm>
            <a:off x="6172200" y="2880360"/>
            <a:ext cx="5468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原因标签"/>
          <p:cNvSpPr/>
          <p:nvPr/>
        </p:nvSpPr>
        <p:spPr>
          <a:xfrm>
            <a:off x="6355080" y="3035808"/>
            <a:ext cx="77724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原因标签文字"/>
          <p:cNvSpPr txBox="1"/>
          <p:nvPr/>
        </p:nvSpPr>
        <p:spPr>
          <a:xfrm>
            <a:off x="6355080" y="3035808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原因</a:t>
            </a:r>
            <a:endParaRPr lang="en-US" sz="1300" dirty="0"/>
          </a:p>
        </p:txBody>
      </p:sp>
      <p:sp>
        <p:nvSpPr>
          <p:cNvPr id="29" name="原因内容"/>
          <p:cNvSpPr txBox="1"/>
          <p:nvPr/>
        </p:nvSpPr>
        <p:spPr>
          <a:xfrm>
            <a:off x="6355080" y="3447288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两项调查的分母不同（全体青少年 vs AI 用户），抽样方法与年龄范围也不同；同为 13–14 岁，皮尤仅为 24%。</a:t>
            </a:r>
            <a:endParaRPr lang="en-US" sz="1400" dirty="0"/>
          </a:p>
        </p:txBody>
      </p:sp>
      <p:sp>
        <p:nvSpPr>
          <p:cNvPr id="30" name="下箭头"/>
          <p:cNvSpPr txBox="1"/>
          <p:nvPr/>
        </p:nvSpPr>
        <p:spPr>
          <a:xfrm>
            <a:off x="8686800" y="425196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↓</a:t>
            </a:r>
            <a:endParaRPr lang="en-US" sz="1000" dirty="0"/>
          </a:p>
        </p:txBody>
      </p:sp>
      <p:sp>
        <p:nvSpPr>
          <p:cNvPr id="31" name="影响卡"/>
          <p:cNvSpPr/>
          <p:nvPr/>
        </p:nvSpPr>
        <p:spPr>
          <a:xfrm>
            <a:off x="6172200" y="4389120"/>
            <a:ext cx="5468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影响标签"/>
          <p:cNvSpPr/>
          <p:nvPr/>
        </p:nvSpPr>
        <p:spPr>
          <a:xfrm>
            <a:off x="6355080" y="4544568"/>
            <a:ext cx="77724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3" name="影响标签文字"/>
          <p:cNvSpPr txBox="1"/>
          <p:nvPr/>
        </p:nvSpPr>
        <p:spPr>
          <a:xfrm>
            <a:off x="6355080" y="4544568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影响</a:t>
            </a:r>
            <a:endParaRPr lang="en-US" sz="1300" dirty="0"/>
          </a:p>
        </p:txBody>
      </p:sp>
      <p:sp>
        <p:nvSpPr>
          <p:cNvPr id="34" name="影响内容"/>
          <p:cNvSpPr txBox="1"/>
          <p:nvPr/>
        </p:nvSpPr>
        <p:spPr>
          <a:xfrm>
            <a:off x="6355080" y="4956048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统一为“使用者”口径后，皮尤为 44%，差距约 10 个百分点，不足以推断使用频率上升。</a:t>
            </a:r>
            <a:endParaRPr lang="en-US" sz="1400" dirty="0"/>
          </a:p>
        </p:txBody>
      </p:sp>
      <p:sp>
        <p:nvSpPr>
          <p:cNvPr id="35" name="来源说明"/>
          <p:cNvSpPr txBox="1"/>
          <p:nvPr/>
        </p:nvSpPr>
        <p:spPr>
          <a:xfrm>
            <a:off x="548640" y="59893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来源：Gracenote 报告；皮尤《Teens, Social Media and AI Chatbots 2025》数据表（全体每日 28%，13–14 岁 24%，使用者中 44%）。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维度四 · 研究方法：因果推断依据不足</a:t>
            </a:r>
            <a:endParaRPr lang="en-US" sz="2800" dirty="0"/>
          </a:p>
        </p:txBody>
      </p:sp>
      <p:sp>
        <p:nvSpPr>
          <p:cNvPr id="3" name="进度1"/>
          <p:cNvSpPr/>
          <p:nvPr/>
        </p:nvSpPr>
        <p:spPr>
          <a:xfrm>
            <a:off x="8165592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进度文字1"/>
          <p:cNvSpPr txBox="1"/>
          <p:nvPr/>
        </p:nvSpPr>
        <p:spPr>
          <a:xfrm>
            <a:off x="8165592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背景</a:t>
            </a:r>
            <a:endParaRPr lang="en-US" sz="1100" dirty="0"/>
          </a:p>
        </p:txBody>
      </p:sp>
      <p:sp>
        <p:nvSpPr>
          <p:cNvPr id="5" name="进度2"/>
          <p:cNvSpPr/>
          <p:nvPr/>
        </p:nvSpPr>
        <p:spPr>
          <a:xfrm>
            <a:off x="8869680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进度文字2"/>
          <p:cNvSpPr txBox="1"/>
          <p:nvPr/>
        </p:nvSpPr>
        <p:spPr>
          <a:xfrm>
            <a:off x="8869680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设计</a:t>
            </a:r>
            <a:endParaRPr lang="en-US" sz="1100" dirty="0"/>
          </a:p>
        </p:txBody>
      </p:sp>
      <p:sp>
        <p:nvSpPr>
          <p:cNvPr id="7" name="进度3"/>
          <p:cNvSpPr/>
          <p:nvPr/>
        </p:nvSpPr>
        <p:spPr>
          <a:xfrm>
            <a:off x="9573768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进度文字3"/>
          <p:cNvSpPr txBox="1"/>
          <p:nvPr/>
        </p:nvSpPr>
        <p:spPr>
          <a:xfrm>
            <a:off x="9573768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内容</a:t>
            </a:r>
            <a:endParaRPr lang="en-US" sz="1100" dirty="0"/>
          </a:p>
        </p:txBody>
      </p:sp>
      <p:sp>
        <p:nvSpPr>
          <p:cNvPr id="9" name="进度4"/>
          <p:cNvSpPr/>
          <p:nvPr/>
        </p:nvSpPr>
        <p:spPr>
          <a:xfrm>
            <a:off x="10277856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进度文字4"/>
          <p:cNvSpPr txBox="1"/>
          <p:nvPr/>
        </p:nvSpPr>
        <p:spPr>
          <a:xfrm>
            <a:off x="10277856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评价</a:t>
            </a:r>
            <a:endParaRPr lang="en-US" sz="1100" dirty="0"/>
          </a:p>
        </p:txBody>
      </p:sp>
      <p:sp>
        <p:nvSpPr>
          <p:cNvPr id="11" name="进度5"/>
          <p:cNvSpPr/>
          <p:nvPr/>
        </p:nvSpPr>
        <p:spPr>
          <a:xfrm>
            <a:off x="10981944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进度文字5"/>
          <p:cNvSpPr txBox="1"/>
          <p:nvPr/>
        </p:nvSpPr>
        <p:spPr>
          <a:xfrm>
            <a:off x="10981944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总结</a:t>
            </a:r>
            <a:endParaRPr lang="en-US" sz="1100" dirty="0"/>
          </a:p>
        </p:txBody>
      </p:sp>
      <p:sp>
        <p:nvSpPr>
          <p:cNvPr id="13" name="数据类型卡1"/>
          <p:cNvSpPr/>
          <p:nvPr/>
        </p:nvSpPr>
        <p:spPr>
          <a:xfrm>
            <a:off x="548640" y="1371600"/>
            <a:ext cx="25603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数据类型1"/>
          <p:cNvSpPr txBox="1"/>
          <p:nvPr/>
        </p:nvSpPr>
        <p:spPr>
          <a:xfrm>
            <a:off x="777240" y="1508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意向 · 问卷</a:t>
            </a:r>
            <a:endParaRPr lang="en-US" sz="1300" dirty="0"/>
          </a:p>
        </p:txBody>
      </p:sp>
      <p:sp>
        <p:nvSpPr>
          <p:cNvPr id="15" name="数据类型数字1"/>
          <p:cNvSpPr txBox="1"/>
          <p:nvPr/>
        </p:nvSpPr>
        <p:spPr>
          <a:xfrm>
            <a:off x="777240" y="19202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54%</a:t>
            </a:r>
            <a:endParaRPr lang="en-US" sz="3200" dirty="0"/>
          </a:p>
        </p:txBody>
      </p:sp>
      <p:sp>
        <p:nvSpPr>
          <p:cNvPr id="16" name="数据类型说明1"/>
          <p:cNvSpPr txBox="1"/>
          <p:nvPr/>
        </p:nvSpPr>
        <p:spPr>
          <a:xfrm>
            <a:off x="777240" y="26517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18–34 岁表示可能退订（六国）</a:t>
            </a:r>
            <a:endParaRPr lang="en-US" sz="1300" dirty="0"/>
          </a:p>
        </p:txBody>
      </p:sp>
      <p:sp>
        <p:nvSpPr>
          <p:cNvPr id="17" name="数据类型卡2"/>
          <p:cNvSpPr/>
          <p:nvPr/>
        </p:nvSpPr>
        <p:spPr>
          <a:xfrm>
            <a:off x="3291840" y="1371600"/>
            <a:ext cx="25603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数据类型2"/>
          <p:cNvSpPr txBox="1"/>
          <p:nvPr/>
        </p:nvSpPr>
        <p:spPr>
          <a:xfrm>
            <a:off x="3520440" y="1508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行为 · 行业统计</a:t>
            </a:r>
            <a:endParaRPr lang="en-US" sz="1300" dirty="0"/>
          </a:p>
        </p:txBody>
      </p:sp>
      <p:sp>
        <p:nvSpPr>
          <p:cNvPr id="19" name="数据类型数字2"/>
          <p:cNvSpPr txBox="1"/>
          <p:nvPr/>
        </p:nvSpPr>
        <p:spPr>
          <a:xfrm>
            <a:off x="3520440" y="19202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5.5%</a:t>
            </a:r>
            <a:endParaRPr lang="en-US" sz="3200" dirty="0"/>
          </a:p>
        </p:txBody>
      </p:sp>
      <p:sp>
        <p:nvSpPr>
          <p:cNvPr id="20" name="数据类型说明2"/>
          <p:cNvSpPr txBox="1"/>
          <p:nvPr/>
        </p:nvSpPr>
        <p:spPr>
          <a:xfrm>
            <a:off x="3520440" y="26517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月度退订率（算法未公开）</a:t>
            </a:r>
            <a:endParaRPr lang="en-US" sz="1300" dirty="0"/>
          </a:p>
        </p:txBody>
      </p:sp>
      <p:sp>
        <p:nvSpPr>
          <p:cNvPr id="21" name="数据类型卡3"/>
          <p:cNvSpPr/>
          <p:nvPr/>
        </p:nvSpPr>
        <p:spPr>
          <a:xfrm>
            <a:off x="548640" y="3611880"/>
            <a:ext cx="25603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数据类型3"/>
          <p:cNvSpPr txBox="1"/>
          <p:nvPr/>
        </p:nvSpPr>
        <p:spPr>
          <a:xfrm>
            <a:off x="777240" y="3749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预测 · 普华永道</a:t>
            </a:r>
            <a:endParaRPr lang="en-US" sz="1300" dirty="0"/>
          </a:p>
        </p:txBody>
      </p:sp>
      <p:sp>
        <p:nvSpPr>
          <p:cNvPr id="23" name="数据类型数字3"/>
          <p:cNvSpPr txBox="1"/>
          <p:nvPr/>
        </p:nvSpPr>
        <p:spPr>
          <a:xfrm>
            <a:off x="777240" y="41605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3,185 亿美元</a:t>
            </a:r>
            <a:endParaRPr lang="en-US" sz="2200" dirty="0"/>
          </a:p>
        </p:txBody>
      </p:sp>
      <p:sp>
        <p:nvSpPr>
          <p:cNvPr id="24" name="数据类型说明3"/>
          <p:cNvSpPr txBox="1"/>
          <p:nvPr/>
        </p:nvSpPr>
        <p:spPr>
          <a:xfrm>
            <a:off x="777240" y="489204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2029 年支出（全球数据）</a:t>
            </a:r>
            <a:endParaRPr lang="en-US" sz="1300" dirty="0"/>
          </a:p>
        </p:txBody>
      </p:sp>
      <p:sp>
        <p:nvSpPr>
          <p:cNvPr id="25" name="数据类型卡4"/>
          <p:cNvSpPr/>
          <p:nvPr/>
        </p:nvSpPr>
        <p:spPr>
          <a:xfrm>
            <a:off x="3291840" y="3611880"/>
            <a:ext cx="25603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数据类型4"/>
          <p:cNvSpPr txBox="1"/>
          <p:nvPr/>
        </p:nvSpPr>
        <p:spPr>
          <a:xfrm>
            <a:off x="3520440" y="3749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测试 · AI 回答</a:t>
            </a:r>
            <a:endParaRPr lang="en-US" sz="1300" dirty="0"/>
          </a:p>
        </p:txBody>
      </p:sp>
      <p:sp>
        <p:nvSpPr>
          <p:cNvPr id="27" name="数据类型数字4"/>
          <p:cNvSpPr txBox="1"/>
          <p:nvPr/>
        </p:nvSpPr>
        <p:spPr>
          <a:xfrm>
            <a:off x="3520440" y="41605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约 2/3</a:t>
            </a:r>
            <a:endParaRPr lang="en-US" sz="3200" dirty="0"/>
          </a:p>
        </p:txBody>
      </p:sp>
      <p:sp>
        <p:nvSpPr>
          <p:cNvPr id="28" name="数据类型说明4"/>
          <p:cNvSpPr txBox="1"/>
          <p:nvPr/>
        </p:nvSpPr>
        <p:spPr>
          <a:xfrm>
            <a:off x="3520440" y="489204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答对播出平台（六国合并）</a:t>
            </a:r>
            <a:endParaRPr lang="en-US" sz="1300" dirty="0"/>
          </a:p>
        </p:txBody>
      </p:sp>
      <p:sp>
        <p:nvSpPr>
          <p:cNvPr id="29" name="事实卡"/>
          <p:cNvSpPr/>
          <p:nvPr/>
        </p:nvSpPr>
        <p:spPr>
          <a:xfrm>
            <a:off x="6172200" y="1371600"/>
            <a:ext cx="5468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事实标签"/>
          <p:cNvSpPr/>
          <p:nvPr/>
        </p:nvSpPr>
        <p:spPr>
          <a:xfrm>
            <a:off x="6355080" y="1527048"/>
            <a:ext cx="777240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1" name="事实标签文字"/>
          <p:cNvSpPr txBox="1"/>
          <p:nvPr/>
        </p:nvSpPr>
        <p:spPr>
          <a:xfrm>
            <a:off x="6355080" y="1527048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事实</a:t>
            </a:r>
            <a:endParaRPr lang="en-US" sz="1300" dirty="0"/>
          </a:p>
        </p:txBody>
      </p:sp>
      <p:sp>
        <p:nvSpPr>
          <p:cNvPr id="32" name="事实内容"/>
          <p:cNvSpPr txBox="1"/>
          <p:nvPr/>
        </p:nvSpPr>
        <p:spPr>
          <a:xfrm>
            <a:off x="6355080" y="1938528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“检索困难导致退订”由四类数据支撑：问卷中的退订意向、行业退订率、市场预测与 AI 测试。</a:t>
            </a:r>
            <a:endParaRPr lang="en-US" sz="1400" dirty="0"/>
          </a:p>
        </p:txBody>
      </p:sp>
      <p:sp>
        <p:nvSpPr>
          <p:cNvPr id="33" name="下箭头"/>
          <p:cNvSpPr txBox="1"/>
          <p:nvPr/>
        </p:nvSpPr>
        <p:spPr>
          <a:xfrm>
            <a:off x="8686800" y="274320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↓</a:t>
            </a:r>
            <a:endParaRPr lang="en-US" sz="1000" dirty="0"/>
          </a:p>
        </p:txBody>
      </p:sp>
      <p:sp>
        <p:nvSpPr>
          <p:cNvPr id="34" name="原因卡"/>
          <p:cNvSpPr/>
          <p:nvPr/>
        </p:nvSpPr>
        <p:spPr>
          <a:xfrm>
            <a:off x="6172200" y="2880360"/>
            <a:ext cx="5468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原因标签"/>
          <p:cNvSpPr/>
          <p:nvPr/>
        </p:nvSpPr>
        <p:spPr>
          <a:xfrm>
            <a:off x="6355080" y="3035808"/>
            <a:ext cx="77724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6" name="原因标签文字"/>
          <p:cNvSpPr txBox="1"/>
          <p:nvPr/>
        </p:nvSpPr>
        <p:spPr>
          <a:xfrm>
            <a:off x="6355080" y="3035808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原因</a:t>
            </a:r>
            <a:endParaRPr lang="en-US" sz="1300" dirty="0"/>
          </a:p>
        </p:txBody>
      </p:sp>
      <p:sp>
        <p:nvSpPr>
          <p:cNvPr id="37" name="原因内容"/>
          <p:cNvSpPr txBox="1"/>
          <p:nvPr/>
        </p:nvSpPr>
        <p:spPr>
          <a:xfrm>
            <a:off x="6355080" y="3447288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四类数据的对象、国家与性质各不相同（意向≠行为，预测≠测量），且缺乏追踪设计或实验设计。</a:t>
            </a:r>
            <a:endParaRPr lang="en-US" sz="1400" dirty="0"/>
          </a:p>
        </p:txBody>
      </p:sp>
      <p:sp>
        <p:nvSpPr>
          <p:cNvPr id="38" name="下箭头"/>
          <p:cNvSpPr txBox="1"/>
          <p:nvPr/>
        </p:nvSpPr>
        <p:spPr>
          <a:xfrm>
            <a:off x="8686800" y="425196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↓</a:t>
            </a:r>
            <a:endParaRPr lang="en-US" sz="1000" dirty="0"/>
          </a:p>
        </p:txBody>
      </p:sp>
      <p:sp>
        <p:nvSpPr>
          <p:cNvPr id="39" name="影响卡"/>
          <p:cNvSpPr/>
          <p:nvPr/>
        </p:nvSpPr>
        <p:spPr>
          <a:xfrm>
            <a:off x="6172200" y="4389120"/>
            <a:ext cx="5468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影响标签"/>
          <p:cNvSpPr/>
          <p:nvPr/>
        </p:nvSpPr>
        <p:spPr>
          <a:xfrm>
            <a:off x="6355080" y="4544568"/>
            <a:ext cx="77724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1" name="影响标签文字"/>
          <p:cNvSpPr txBox="1"/>
          <p:nvPr/>
        </p:nvSpPr>
        <p:spPr>
          <a:xfrm>
            <a:off x="6355080" y="4544568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影响</a:t>
            </a:r>
            <a:endParaRPr lang="en-US" sz="1300" dirty="0"/>
          </a:p>
        </p:txBody>
      </p:sp>
      <p:sp>
        <p:nvSpPr>
          <p:cNvPr id="42" name="影响内容"/>
          <p:cNvSpPr txBox="1"/>
          <p:nvPr/>
        </p:nvSpPr>
        <p:spPr>
          <a:xfrm>
            <a:off x="6355080" y="4956048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只能提示二者可能相关，不能证明因果；报告方案（AI 接入行业数据）亦未经检验。</a:t>
            </a:r>
            <a:endParaRPr lang="en-US" sz="1400" dirty="0"/>
          </a:p>
        </p:txBody>
      </p:sp>
      <p:sp>
        <p:nvSpPr>
          <p:cNvPr id="43" name="来源说明"/>
          <p:cNvSpPr txBox="1"/>
          <p:nvPr/>
        </p:nvSpPr>
        <p:spPr>
          <a:xfrm>
            <a:off x="548640" y="59893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来源：Gracenote 报告；普华永道、Veed Analytics 原文；退订率见 Broadband TV News 转述 Fabric 数据，Antenna 数据经 MediaPost 转述。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0292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五、总结与启示：逐环判断</a:t>
            </a:r>
            <a:endParaRPr lang="en-US" sz="3000" dirty="0"/>
          </a:p>
        </p:txBody>
      </p:sp>
      <p:sp>
        <p:nvSpPr>
          <p:cNvPr id="3" name="判断行1"/>
          <p:cNvSpPr/>
          <p:nvPr/>
        </p:nvSpPr>
        <p:spPr>
          <a:xfrm>
            <a:off x="731520" y="1508760"/>
            <a:ext cx="6858000" cy="868680"/>
          </a:xfrm>
          <a:prstGeom prst="roundRect">
            <a:avLst>
              <a:gd name="adj" fmla="val 1263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判断环节1"/>
          <p:cNvSpPr txBox="1"/>
          <p:nvPr/>
        </p:nvSpPr>
        <p:spPr>
          <a:xfrm>
            <a:off x="960120" y="150876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① 用户日益依赖 AI</a:t>
            </a:r>
            <a:endParaRPr lang="en-US" sz="1500" dirty="0"/>
          </a:p>
        </p:txBody>
      </p:sp>
      <p:sp>
        <p:nvSpPr>
          <p:cNvPr id="5" name="判断说明1"/>
          <p:cNvSpPr txBox="1"/>
          <p:nvPr/>
        </p:nvSpPr>
        <p:spPr>
          <a:xfrm>
            <a:off x="3337560" y="150876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仅适用于 AI 用户；“加速”不成立</a:t>
            </a:r>
            <a:endParaRPr lang="en-US" sz="1300" dirty="0"/>
          </a:p>
        </p:txBody>
      </p:sp>
      <p:sp>
        <p:nvSpPr>
          <p:cNvPr id="6" name="判断标签1"/>
          <p:cNvSpPr/>
          <p:nvPr/>
        </p:nvSpPr>
        <p:spPr>
          <a:xfrm>
            <a:off x="6309360" y="1737360"/>
            <a:ext cx="1097280" cy="41148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判断标签文字1"/>
          <p:cNvSpPr txBox="1"/>
          <p:nvPr/>
        </p:nvSpPr>
        <p:spPr>
          <a:xfrm>
            <a:off x="6309360" y="17373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部分成立</a:t>
            </a:r>
            <a:endParaRPr lang="en-US" sz="1200" dirty="0"/>
          </a:p>
        </p:txBody>
      </p:sp>
      <p:sp>
        <p:nvSpPr>
          <p:cNvPr id="8" name="判断行2"/>
          <p:cNvSpPr/>
          <p:nvPr/>
        </p:nvSpPr>
        <p:spPr>
          <a:xfrm>
            <a:off x="731520" y="2532888"/>
            <a:ext cx="6858000" cy="868680"/>
          </a:xfrm>
          <a:prstGeom prst="roundRect">
            <a:avLst>
              <a:gd name="adj" fmla="val 1263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判断环节2"/>
          <p:cNvSpPr txBox="1"/>
          <p:nvPr/>
        </p:nvSpPr>
        <p:spPr>
          <a:xfrm>
            <a:off x="960120" y="253288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② 但对 AI 信任不足</a:t>
            </a:r>
            <a:endParaRPr lang="en-US" sz="1500" dirty="0"/>
          </a:p>
        </p:txBody>
      </p:sp>
      <p:sp>
        <p:nvSpPr>
          <p:cNvPr id="10" name="判断说明2"/>
          <p:cNvSpPr txBox="1"/>
          <p:nvPr/>
        </p:nvSpPr>
        <p:spPr>
          <a:xfrm>
            <a:off x="3337560" y="2532888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仅适用于 AI 用户</a:t>
            </a:r>
            <a:endParaRPr lang="en-US" sz="1300" dirty="0"/>
          </a:p>
        </p:txBody>
      </p:sp>
      <p:sp>
        <p:nvSpPr>
          <p:cNvPr id="11" name="判断标签2"/>
          <p:cNvSpPr/>
          <p:nvPr/>
        </p:nvSpPr>
        <p:spPr>
          <a:xfrm>
            <a:off x="6309360" y="2761488"/>
            <a:ext cx="1097280" cy="41148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判断标签文字2"/>
          <p:cNvSpPr txBox="1"/>
          <p:nvPr/>
        </p:nvSpPr>
        <p:spPr>
          <a:xfrm>
            <a:off x="6309360" y="276148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部分成立</a:t>
            </a:r>
            <a:endParaRPr lang="en-US" sz="1200" dirty="0"/>
          </a:p>
        </p:txBody>
      </p:sp>
      <p:sp>
        <p:nvSpPr>
          <p:cNvPr id="13" name="判断行3"/>
          <p:cNvSpPr/>
          <p:nvPr/>
        </p:nvSpPr>
        <p:spPr>
          <a:xfrm>
            <a:off x="731520" y="3557016"/>
            <a:ext cx="6858000" cy="868680"/>
          </a:xfrm>
          <a:prstGeom prst="roundRect">
            <a:avLst>
              <a:gd name="adj" fmla="val 1263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判断环节3"/>
          <p:cNvSpPr txBox="1"/>
          <p:nvPr/>
        </p:nvSpPr>
        <p:spPr>
          <a:xfrm>
            <a:off x="960120" y="3557016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③ 检索困难导致退订</a:t>
            </a:r>
            <a:endParaRPr lang="en-US" sz="1500" dirty="0"/>
          </a:p>
        </p:txBody>
      </p:sp>
      <p:sp>
        <p:nvSpPr>
          <p:cNvPr id="15" name="判断说明3"/>
          <p:cNvSpPr txBox="1"/>
          <p:nvPr/>
        </p:nvSpPr>
        <p:spPr>
          <a:xfrm>
            <a:off x="3337560" y="3557016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六国与美国口径混用，因果未经证明</a:t>
            </a:r>
            <a:endParaRPr lang="en-US" sz="1300" dirty="0"/>
          </a:p>
        </p:txBody>
      </p:sp>
      <p:sp>
        <p:nvSpPr>
          <p:cNvPr id="16" name="判断标签3"/>
          <p:cNvSpPr/>
          <p:nvPr/>
        </p:nvSpPr>
        <p:spPr>
          <a:xfrm>
            <a:off x="6309360" y="3785616"/>
            <a:ext cx="1097280" cy="41148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判断标签文字3"/>
          <p:cNvSpPr txBox="1"/>
          <p:nvPr/>
        </p:nvSpPr>
        <p:spPr>
          <a:xfrm>
            <a:off x="6309360" y="3785616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证据不足</a:t>
            </a:r>
            <a:endParaRPr lang="en-US" sz="1200" dirty="0"/>
          </a:p>
        </p:txBody>
      </p:sp>
      <p:sp>
        <p:nvSpPr>
          <p:cNvPr id="18" name="判断行4"/>
          <p:cNvSpPr/>
          <p:nvPr/>
        </p:nvSpPr>
        <p:spPr>
          <a:xfrm>
            <a:off x="731520" y="4581144"/>
            <a:ext cx="6858000" cy="868680"/>
          </a:xfrm>
          <a:prstGeom prst="roundRect">
            <a:avLst>
              <a:gd name="adj" fmla="val 1263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判断环节4"/>
          <p:cNvSpPr txBox="1"/>
          <p:nvPr/>
        </p:nvSpPr>
        <p:spPr>
          <a:xfrm>
            <a:off x="960120" y="45811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④ AI 须接入可信数据</a:t>
            </a:r>
            <a:endParaRPr lang="en-US" sz="1500" dirty="0"/>
          </a:p>
        </p:txBody>
      </p:sp>
      <p:sp>
        <p:nvSpPr>
          <p:cNvPr id="20" name="判断说明4"/>
          <p:cNvSpPr txBox="1"/>
          <p:nvPr/>
        </p:nvSpPr>
        <p:spPr>
          <a:xfrm>
            <a:off x="3337560" y="4581144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由前三环推出，方案效果未经检验</a:t>
            </a:r>
            <a:endParaRPr lang="en-US" sz="1300" dirty="0"/>
          </a:p>
        </p:txBody>
      </p:sp>
      <p:sp>
        <p:nvSpPr>
          <p:cNvPr id="21" name="判断标签4"/>
          <p:cNvSpPr/>
          <p:nvPr/>
        </p:nvSpPr>
        <p:spPr>
          <a:xfrm>
            <a:off x="6309360" y="4809744"/>
            <a:ext cx="1097280" cy="41148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2" name="判断标签文字4"/>
          <p:cNvSpPr txBox="1"/>
          <p:nvPr/>
        </p:nvSpPr>
        <p:spPr>
          <a:xfrm>
            <a:off x="6309360" y="4809744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未经检验</a:t>
            </a:r>
            <a:endParaRPr lang="en-US" sz="1200" dirty="0"/>
          </a:p>
        </p:txBody>
      </p:sp>
      <p:sp>
        <p:nvSpPr>
          <p:cNvPr id="23" name="研究价值卡"/>
          <p:cNvSpPr/>
          <p:nvPr/>
        </p:nvSpPr>
        <p:spPr>
          <a:xfrm>
            <a:off x="7863840" y="1508760"/>
            <a:ext cx="361188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4" name="研究价值"/>
          <p:cNvSpPr txBox="1"/>
          <p:nvPr/>
        </p:nvSpPr>
        <p:spPr>
          <a:xfrm>
            <a:off x="8092440" y="1645920"/>
            <a:ext cx="3200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研究价值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公开样本量、调查时间与年龄范围；图表数据经复核基本一致，可作为行业趋势的参考。</a:t>
            </a:r>
            <a:endParaRPr lang="en-US" sz="1600" dirty="0"/>
          </a:p>
        </p:txBody>
      </p:sp>
      <p:sp>
        <p:nvSpPr>
          <p:cNvPr id="25" name="讨论卡"/>
          <p:cNvSpPr/>
          <p:nvPr/>
        </p:nvSpPr>
        <p:spPr>
          <a:xfrm>
            <a:off x="7863840" y="3611880"/>
            <a:ext cx="3611880" cy="1993392"/>
          </a:xfrm>
          <a:prstGeom prst="roundRect">
            <a:avLst>
              <a:gd name="adj" fmla="val 550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讨论问题"/>
          <p:cNvSpPr txBox="1"/>
          <p:nvPr/>
        </p:nvSpPr>
        <p:spPr>
          <a:xfrm>
            <a:off x="8092440" y="370332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讨论问题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如何设计调查，才能检验“检索困难导致退订”？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提示：追踪调查，同时测量退订意向与实际退订行为。</a:t>
            </a:r>
            <a:endParaRPr lang="en-US" sz="1600" dirty="0"/>
          </a:p>
        </p:txBody>
      </p:sp>
      <p:sp>
        <p:nvSpPr>
          <p:cNvPr id="27" name="利益关系说明"/>
          <p:cNvSpPr txBox="1"/>
          <p:nvPr/>
        </p:nvSpPr>
        <p:spPr>
          <a:xfrm>
            <a:off x="73152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注：报告主张与 Gracenote 主营业务直接相关，这构成审慎评估其方法的理由，但不能据此判定数据有误。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附录一：11 个数据来源的方法公开程度</a:t>
            </a:r>
            <a:endParaRPr lang="en-US" sz="2800" dirty="0"/>
          </a:p>
        </p:txBody>
      </p:sp>
      <p:sp>
        <p:nvSpPr>
          <p:cNvPr id="3" name="来源卡1"/>
          <p:cNvSpPr/>
          <p:nvPr/>
        </p:nvSpPr>
        <p:spPr>
          <a:xfrm>
            <a:off x="548640" y="1325880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状态点1"/>
          <p:cNvSpPr/>
          <p:nvPr/>
        </p:nvSpPr>
        <p:spPr>
          <a:xfrm>
            <a:off x="731520" y="1508760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来源类型1"/>
          <p:cNvSpPr txBox="1"/>
          <p:nvPr/>
        </p:nvSpPr>
        <p:spPr>
          <a:xfrm>
            <a:off x="1005840" y="14356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问卷 ｜ </a:t>
            </a:r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关键信息未公开</a:t>
            </a:r>
            <a:endParaRPr lang="en-US" sz="1100" dirty="0"/>
          </a:p>
        </p:txBody>
      </p:sp>
      <p:sp>
        <p:nvSpPr>
          <p:cNvPr id="6" name="来源说明1"/>
          <p:cNvSpPr txBox="1"/>
          <p:nvPr/>
        </p:nvSpPr>
        <p:spPr>
          <a:xfrm>
            <a:off x="731520" y="1783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Gracenote 2026 AI 调查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线上 · 美国 AI 用户 · 4,003 人；抽样框、加权、应答率、各组样本量未公开</a:t>
            </a:r>
            <a:endParaRPr lang="en-US" sz="1400" dirty="0"/>
          </a:p>
        </p:txBody>
      </p:sp>
      <p:sp>
        <p:nvSpPr>
          <p:cNvPr id="7" name="来源卡2"/>
          <p:cNvSpPr/>
          <p:nvPr/>
        </p:nvSpPr>
        <p:spPr>
          <a:xfrm>
            <a:off x="3360420" y="1325880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状态点2"/>
          <p:cNvSpPr/>
          <p:nvPr/>
        </p:nvSpPr>
        <p:spPr>
          <a:xfrm>
            <a:off x="3543300" y="1508760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来源类型2"/>
          <p:cNvSpPr txBox="1"/>
          <p:nvPr/>
        </p:nvSpPr>
        <p:spPr>
          <a:xfrm>
            <a:off x="3817620" y="14356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问卷 ｜ </a:t>
            </a:r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关键信息未公开</a:t>
            </a:r>
            <a:endParaRPr lang="en-US" sz="1100" dirty="0"/>
          </a:p>
        </p:txBody>
      </p:sp>
      <p:sp>
        <p:nvSpPr>
          <p:cNvPr id="10" name="来源说明2"/>
          <p:cNvSpPr txBox="1"/>
          <p:nvPr/>
        </p:nvSpPr>
        <p:spPr>
          <a:xfrm>
            <a:off x="3543300" y="1783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Gracenote 2025 流媒体调查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线上 · 六国各 500 人；抽样框、加权、应答率未公开</a:t>
            </a:r>
            <a:endParaRPr lang="en-US" sz="1400" dirty="0"/>
          </a:p>
        </p:txBody>
      </p:sp>
      <p:sp>
        <p:nvSpPr>
          <p:cNvPr id="11" name="来源卡3"/>
          <p:cNvSpPr/>
          <p:nvPr/>
        </p:nvSpPr>
        <p:spPr>
          <a:xfrm>
            <a:off x="6172200" y="1325880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状态点3"/>
          <p:cNvSpPr/>
          <p:nvPr/>
        </p:nvSpPr>
        <p:spPr>
          <a:xfrm>
            <a:off x="6355080" y="1508760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来源类型3"/>
          <p:cNvSpPr txBox="1"/>
          <p:nvPr/>
        </p:nvSpPr>
        <p:spPr>
          <a:xfrm>
            <a:off x="6629400" y="14356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问卷 ｜ </a:t>
            </a:r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方法公开</a:t>
            </a:r>
            <a:endParaRPr lang="en-US" sz="1100" dirty="0"/>
          </a:p>
        </p:txBody>
      </p:sp>
      <p:sp>
        <p:nvSpPr>
          <p:cNvPr id="14" name="来源说明3"/>
          <p:cNvSpPr txBox="1"/>
          <p:nvPr/>
        </p:nvSpPr>
        <p:spPr>
          <a:xfrm>
            <a:off x="6355080" y="1783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皮尤研究中心青少年调查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概率样本 · 1,458 人 · 加权 · 误差 ±3.3 个百分点</a:t>
            </a:r>
            <a:endParaRPr lang="en-US" sz="1400" dirty="0"/>
          </a:p>
        </p:txBody>
      </p:sp>
      <p:sp>
        <p:nvSpPr>
          <p:cNvPr id="15" name="来源卡4"/>
          <p:cNvSpPr/>
          <p:nvPr/>
        </p:nvSpPr>
        <p:spPr>
          <a:xfrm>
            <a:off x="8983980" y="1325880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状态点4"/>
          <p:cNvSpPr/>
          <p:nvPr/>
        </p:nvSpPr>
        <p:spPr>
          <a:xfrm>
            <a:off x="9166860" y="1508760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来源类型4"/>
          <p:cNvSpPr txBox="1"/>
          <p:nvPr/>
        </p:nvSpPr>
        <p:spPr>
          <a:xfrm>
            <a:off x="9441180" y="14356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问卷 ｜ </a:t>
            </a:r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方法公开</a:t>
            </a:r>
            <a:endParaRPr lang="en-US" sz="1100" dirty="0"/>
          </a:p>
        </p:txBody>
      </p:sp>
      <p:sp>
        <p:nvSpPr>
          <p:cNvPr id="18" name="来源说明4"/>
          <p:cNvSpPr txBox="1"/>
          <p:nvPr/>
        </p:nvSpPr>
        <p:spPr>
          <a:xfrm>
            <a:off x="9166860" y="1783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德勤数字媒体趋势调查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线上 · 美国 14 岁以上 3,595 人 · 按人口普查加权</a:t>
            </a:r>
            <a:endParaRPr lang="en-US" sz="1400" dirty="0"/>
          </a:p>
        </p:txBody>
      </p:sp>
      <p:sp>
        <p:nvSpPr>
          <p:cNvPr id="19" name="来源卡5"/>
          <p:cNvSpPr/>
          <p:nvPr/>
        </p:nvSpPr>
        <p:spPr>
          <a:xfrm>
            <a:off x="548640" y="2862072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状态点5"/>
          <p:cNvSpPr/>
          <p:nvPr/>
        </p:nvSpPr>
        <p:spPr>
          <a:xfrm>
            <a:off x="731520" y="3044952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来源类型5"/>
          <p:cNvSpPr txBox="1"/>
          <p:nvPr/>
        </p:nvSpPr>
        <p:spPr>
          <a:xfrm>
            <a:off x="1005840" y="2971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测量 ｜ </a:t>
            </a:r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方法公开</a:t>
            </a:r>
            <a:endParaRPr lang="en-US" sz="1100" dirty="0"/>
          </a:p>
        </p:txBody>
      </p:sp>
      <p:sp>
        <p:nvSpPr>
          <p:cNvPr id="22" name="来源说明5"/>
          <p:cNvSpPr txBox="1"/>
          <p:nvPr/>
        </p:nvSpPr>
        <p:spPr>
          <a:xfrm>
            <a:off x="731520" y="3319272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尼尔森 NPOWER / Media Impact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约 4.2 万户人员测量仪 + 4,500 万户机顶盒与智能电视数据</a:t>
            </a:r>
            <a:endParaRPr lang="en-US" sz="1400" dirty="0"/>
          </a:p>
        </p:txBody>
      </p:sp>
      <p:sp>
        <p:nvSpPr>
          <p:cNvPr id="23" name="来源卡6"/>
          <p:cNvSpPr/>
          <p:nvPr/>
        </p:nvSpPr>
        <p:spPr>
          <a:xfrm>
            <a:off x="3360420" y="2862072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状态点6"/>
          <p:cNvSpPr/>
          <p:nvPr/>
        </p:nvSpPr>
        <p:spPr>
          <a:xfrm>
            <a:off x="3543300" y="3044952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来源类型6"/>
          <p:cNvSpPr txBox="1"/>
          <p:nvPr/>
        </p:nvSpPr>
        <p:spPr>
          <a:xfrm>
            <a:off x="3817620" y="2971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测量 ｜ </a:t>
            </a:r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方法公开</a:t>
            </a:r>
            <a:endParaRPr lang="en-US" sz="1100" dirty="0"/>
          </a:p>
        </p:txBody>
      </p:sp>
      <p:sp>
        <p:nvSpPr>
          <p:cNvPr id="26" name="来源说明6"/>
          <p:cNvSpPr txBox="1"/>
          <p:nvPr/>
        </p:nvSpPr>
        <p:spPr>
          <a:xfrm>
            <a:off x="3543300" y="3319272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尼尔森流媒体收视测量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流媒体测量仪样本户，仅测电视屏幕</a:t>
            </a:r>
            <a:endParaRPr lang="en-US" sz="1400" dirty="0"/>
          </a:p>
        </p:txBody>
      </p:sp>
      <p:sp>
        <p:nvSpPr>
          <p:cNvPr id="27" name="来源卡7"/>
          <p:cNvSpPr/>
          <p:nvPr/>
        </p:nvSpPr>
        <p:spPr>
          <a:xfrm>
            <a:off x="6172200" y="2862072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状态点7"/>
          <p:cNvSpPr/>
          <p:nvPr/>
        </p:nvSpPr>
        <p:spPr>
          <a:xfrm>
            <a:off x="6355080" y="3044952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9" name="来源类型7"/>
          <p:cNvSpPr txBox="1"/>
          <p:nvPr/>
        </p:nvSpPr>
        <p:spPr>
          <a:xfrm>
            <a:off x="6629400" y="2971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数据库 ｜ </a:t>
            </a:r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关键信息未公开</a:t>
            </a:r>
            <a:endParaRPr lang="en-US" sz="1100" dirty="0"/>
          </a:p>
        </p:txBody>
      </p:sp>
      <p:sp>
        <p:nvSpPr>
          <p:cNvPr id="30" name="来源说明7"/>
          <p:cNvSpPr txBox="1"/>
          <p:nvPr/>
        </p:nvSpPr>
        <p:spPr>
          <a:xfrm>
            <a:off x="6355080" y="3319272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Gracenote 节目数据库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企业自有元数据，非抽样；采集与核验流程未公开</a:t>
            </a:r>
            <a:endParaRPr lang="en-US" sz="1400" dirty="0"/>
          </a:p>
        </p:txBody>
      </p:sp>
      <p:sp>
        <p:nvSpPr>
          <p:cNvPr id="31" name="来源卡8"/>
          <p:cNvSpPr/>
          <p:nvPr/>
        </p:nvSpPr>
        <p:spPr>
          <a:xfrm>
            <a:off x="8983980" y="2862072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状态点8"/>
          <p:cNvSpPr/>
          <p:nvPr/>
        </p:nvSpPr>
        <p:spPr>
          <a:xfrm>
            <a:off x="9166860" y="3044952"/>
            <a:ext cx="182880" cy="1828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3" name="来源类型8"/>
          <p:cNvSpPr txBox="1"/>
          <p:nvPr/>
        </p:nvSpPr>
        <p:spPr>
          <a:xfrm>
            <a:off x="9441180" y="2971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预测 ｜ </a:t>
            </a:r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部分公开</a:t>
            </a:r>
            <a:endParaRPr lang="en-US" sz="1100" dirty="0"/>
          </a:p>
        </p:txBody>
      </p:sp>
      <p:sp>
        <p:nvSpPr>
          <p:cNvPr id="34" name="来源说明8"/>
          <p:cNvSpPr txBox="1"/>
          <p:nvPr/>
        </p:nvSpPr>
        <p:spPr>
          <a:xfrm>
            <a:off x="9166860" y="3319272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普华永道娱乐与媒体展望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公开数据 + 行业访谈 + 统计建模；全球市场</a:t>
            </a:r>
            <a:endParaRPr lang="en-US" sz="1400" dirty="0"/>
          </a:p>
        </p:txBody>
      </p:sp>
      <p:sp>
        <p:nvSpPr>
          <p:cNvPr id="35" name="来源卡9"/>
          <p:cNvSpPr/>
          <p:nvPr/>
        </p:nvSpPr>
        <p:spPr>
          <a:xfrm>
            <a:off x="548640" y="4398264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状态点9"/>
          <p:cNvSpPr/>
          <p:nvPr/>
        </p:nvSpPr>
        <p:spPr>
          <a:xfrm>
            <a:off x="731520" y="4581144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7" name="来源类型9"/>
          <p:cNvSpPr txBox="1"/>
          <p:nvPr/>
        </p:nvSpPr>
        <p:spPr>
          <a:xfrm>
            <a:off x="1005840" y="450799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测试 ｜ </a:t>
            </a:r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关键信息未公开</a:t>
            </a:r>
            <a:endParaRPr lang="en-US" sz="1100" dirty="0"/>
          </a:p>
        </p:txBody>
      </p:sp>
      <p:sp>
        <p:nvSpPr>
          <p:cNvPr id="38" name="来源说明9"/>
          <p:cNvSpPr txBox="1"/>
          <p:nvPr/>
        </p:nvSpPr>
        <p:spPr>
          <a:xfrm>
            <a:off x="731520" y="4855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Veed Analytics AI 测试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六国、仅测独播剧、每题重复 3 次；题量、模型版本、评分程序未公开</a:t>
            </a:r>
            <a:endParaRPr lang="en-US" sz="1400" dirty="0"/>
          </a:p>
        </p:txBody>
      </p:sp>
      <p:sp>
        <p:nvSpPr>
          <p:cNvPr id="39" name="来源卡10"/>
          <p:cNvSpPr/>
          <p:nvPr/>
        </p:nvSpPr>
        <p:spPr>
          <a:xfrm>
            <a:off x="3360420" y="4398264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状态点10"/>
          <p:cNvSpPr/>
          <p:nvPr/>
        </p:nvSpPr>
        <p:spPr>
          <a:xfrm>
            <a:off x="3543300" y="4581144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1" name="来源类型10"/>
          <p:cNvSpPr txBox="1"/>
          <p:nvPr/>
        </p:nvSpPr>
        <p:spPr>
          <a:xfrm>
            <a:off x="3817620" y="450799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论文 ｜ </a:t>
            </a:r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方法公开</a:t>
            </a:r>
            <a:endParaRPr lang="en-US" sz="1100" dirty="0"/>
          </a:p>
        </p:txBody>
      </p:sp>
      <p:sp>
        <p:nvSpPr>
          <p:cNvPr id="42" name="来源说明10"/>
          <p:cNvSpPr txBox="1"/>
          <p:nvPr/>
        </p:nvSpPr>
        <p:spPr>
          <a:xfrm>
            <a:off x="3543300" y="4855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南加州大学知识库偏差研究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同行评审论文；自动分类器判定 + 众包抽样人工验证</a:t>
            </a:r>
            <a:endParaRPr lang="en-US" sz="1400" dirty="0"/>
          </a:p>
        </p:txBody>
      </p:sp>
      <p:sp>
        <p:nvSpPr>
          <p:cNvPr id="43" name="来源卡11"/>
          <p:cNvSpPr/>
          <p:nvPr/>
        </p:nvSpPr>
        <p:spPr>
          <a:xfrm>
            <a:off x="6172200" y="4398264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4" name="状态点11"/>
          <p:cNvSpPr/>
          <p:nvPr/>
        </p:nvSpPr>
        <p:spPr>
          <a:xfrm>
            <a:off x="6355080" y="4581144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5" name="来源类型11"/>
          <p:cNvSpPr txBox="1"/>
          <p:nvPr/>
        </p:nvSpPr>
        <p:spPr>
          <a:xfrm>
            <a:off x="6629400" y="450799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行业 ｜ </a:t>
            </a:r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关键信息未公开</a:t>
            </a:r>
            <a:endParaRPr lang="en-US" sz="1100" dirty="0"/>
          </a:p>
        </p:txBody>
      </p:sp>
      <p:sp>
        <p:nvSpPr>
          <p:cNvPr id="46" name="来源说明11"/>
          <p:cNvSpPr txBox="1"/>
          <p:nvPr/>
        </p:nvSpPr>
        <p:spPr>
          <a:xfrm>
            <a:off x="6355080" y="4855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Fabric 退订率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原始页面未见 5.5% 与 2%；计算方法未公开</a:t>
            </a:r>
            <a:endParaRPr lang="en-US" sz="1400" dirty="0"/>
          </a:p>
        </p:txBody>
      </p:sp>
      <p:sp>
        <p:nvSpPr>
          <p:cNvPr id="47" name="来源小结卡"/>
          <p:cNvSpPr/>
          <p:nvPr/>
        </p:nvSpPr>
        <p:spPr>
          <a:xfrm>
            <a:off x="8983980" y="4398264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8" name="来源小结"/>
          <p:cNvSpPr txBox="1"/>
          <p:nvPr/>
        </p:nvSpPr>
        <p:spPr>
          <a:xfrm>
            <a:off x="9166860" y="4398264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报告最核心的两项自有问卷，恰为方法最不透明的两项</a:t>
            </a:r>
            <a:endParaRPr lang="en-US" sz="1400" dirty="0"/>
          </a:p>
        </p:txBody>
      </p:sp>
      <p:sp>
        <p:nvSpPr>
          <p:cNvPr id="49" name="来源说明"/>
          <p:cNvSpPr txBox="1"/>
          <p:nvPr/>
        </p:nvSpPr>
        <p:spPr>
          <a:xfrm>
            <a:off x="548640" y="59893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详见《Gracenote报告_数据来源与采集方式核查.md》，各条结论均标注核实程度与原文链接。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附录二：引用与数据口径核对</a:t>
            </a:r>
            <a:endParaRPr lang="en-US" sz="2800" dirty="0"/>
          </a:p>
        </p:txBody>
      </p:sp>
      <p:graphicFrame>
        <p:nvGraphicFramePr>
          <p:cNvPr id="15" name="口径核对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报告表述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原始来源 / 图表本身显示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皮尤研究中心：30% 的青少年每日使用聊天机器人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精确值 28%（13–14 岁为 24%）；分母为全体青少年，使用者中为 44%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南加州大学：两个 AI 数据库中“高达 38%”的常识数据存在偏差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38.6% 仅为 GenericsKB 在 regard 指标下的比例，由自动分类器判定；另一知识库为 3.4%–4.5%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德勤：41% 的“流媒体订户”认为服务不值其价格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原文分母为“全体消费者”（美国 14 岁以上 3,595 人，2024 年 10 月）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普华永道：OTT 与付费电视支出 2029 年达 3,185 亿美元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全球数据（2024 年为 2,913 亿美元，年均增长 1.8%），报告未注明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摘要：54% 的 18–34 岁受访者“会取消订阅”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原题为“可能取消”，且为六国数据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核查图：61–79 岁 58% 会核查，83% “以搜索交叉核对”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83% 大于 58%，外圈分母应为“会核查者”，图注未说明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“26% 的美国人知道想看什么却仍找不到”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两轮核查均未找到出处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来源说明"/>
          <p:cNvSpPr txBox="1"/>
          <p:nvPr/>
        </p:nvSpPr>
        <p:spPr>
          <a:xfrm>
            <a:off x="548640" y="59893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来源：Gracenote 报告；皮尤研究中心、南加州大学、德勤、普华永道原文（第二轮外部核对）。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arch Glow">
  <a:themeElements>
    <a:clrScheme name="Search Glow">
      <a:dk1>
        <a:srgbClr val="1C1733"/>
      </a:dk1>
      <a:lt1>
        <a:srgbClr val="FFFFFF"/>
      </a:lt1>
      <a:dk2>
        <a:srgbClr val="2B1D6B"/>
      </a:dk2>
      <a:lt2>
        <a:srgbClr val="F3F1FA"/>
      </a:lt2>
      <a:accent1>
        <a:srgbClr val="5B3FD9"/>
      </a:accent1>
      <a:accent2>
        <a:srgbClr val="0F8B8D"/>
      </a:accent2>
      <a:accent3>
        <a:srgbClr val="D9480F"/>
      </a:accent3>
      <a:accent4>
        <a:srgbClr val="7CC242"/>
      </a:accent4>
      <a:accent5>
        <a:srgbClr val="6E6890"/>
      </a:accent5>
      <a:accent6>
        <a:srgbClr val="E4DFF8"/>
      </a:accent6>
      <a:hlink>
        <a:srgbClr val="5B3FD9"/>
      </a:hlink>
      <a:folHlink>
        <a:srgbClr val="6E6890"/>
      </a:folHlink>
    </a:clrScheme>
    <a:fontScheme name="Search Glow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时代的电视搜索与内容发现：Gracenote 2026 报告解读与方法评价</dc:title>
  <dc:subject>市场调研：方法与实践 课后作业汇报</dc:subject>
  <dc:creator>PptxGenJS</dc:creator>
  <cp:lastModifiedBy>PptxGenJS</cp:lastModifiedBy>
  <cp:revision>1</cp:revision>
  <dcterms:created xsi:type="dcterms:W3CDTF">2026-10-07T13:46:58Z</dcterms:created>
  <dcterms:modified xsi:type="dcterms:W3CDTF">2026-10-07T13:46:58Z</dcterms:modified>
</cp:coreProperties>
</file>