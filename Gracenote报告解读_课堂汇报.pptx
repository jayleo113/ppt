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d9f39e4-3985-8b7e-da85-a9c10d230e8f}">
          <p14:sldIdLst>
            <p14:sldId id="256"/>
            <p14:sldId id="257"/>
          </p14:sldIdLst>
        </p14:section>
        <p14:section name="报告介绍" id="{b7582475-0380-d696-5d7c-b9b9ea37b213}">
          <p14:sldIdLst>
            <p14:sldId id="258"/>
            <p14:sldId id="259"/>
            <p14:sldId id="260"/>
            <p14:sldId id="261"/>
          </p14:sldIdLst>
        </p14:section>
        <p14:section name="方法评价" id="{62a34f20-8d61-e00a-eac1-c71f4a17625f}">
          <p14:sldIdLst>
            <p14:sldId id="262"/>
            <p14:sldId id="263"/>
            <p14:sldId id="264"/>
            <p14:sldId id="265"/>
            <p14:sldId id="266"/>
          </p14:sldIdLst>
        </p14:section>
        <p14:section name="总结" id="{325d7e52-5a4a-d9d7-0464-aaca59efa6c4}">
          <p14:sldIdLst>
            <p14:sldId id="267"/>
          </p14:sldIdLst>
        </p14:section>
        <p14:section name="附录（备问）" id="{e1cc1a14-9c81-94a3-3526-d664bd9b71bc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寻找节目的平均时长（六国调查原始报告）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寻找节目时长</c:v>
                </c:pt>
              </c:strCache>
            </c:strRef>
          </c:tx>
          <c:spPr>
            <a:solidFill>
              <a:srgbClr val="A99BEA"/>
            </a:solidFill>
            <a:effectLst/>
          </c:spPr>
          <c:invertIfNegative val="0"/>
          <c:dLbls>
            <c:numFmt formatCode="0&quot; 分钟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8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0&quot; 分钟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秒】各位同学好。我汇报的是尼尔森旗下 Gracenote 公司 2026 年的报告《AI 时代的电视搜索与内容发现》。报告称 54% 的 13 至 14 岁受访者每天使用 AI。这一数据代表哪类人群，是本次汇报的出发点。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秒】汇报分为五部分。核心观点是：报告的趋势判断有参考价值，但论证链的关键环节证据不足。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秒】研究背景是：流媒体平台增多、内容分散，用户检索节目的难度上升，AI 也成为新的检索工具。报告由此提出三个问题：用户如何使用 AI、检索困难是否影响订阅、用户是否信任 AI。另需注意，Gracenote 的主营业务正是节目数据服务。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秒】报告的结论依赖两项线上问卷，且两者均未公开抽样框、加权方法和应答率。调查一于 2026 年初进行，对象是 4003 名 13 至 79 岁的美国 AI 聊天机器人用户；调查二于 2025 年夏季进行，覆盖六国，每国 500 名流媒体用户。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秒】第一组发现是 AI 使用增加、信任不足：13 至 14 岁的 AI 用户中 54% 每天使用，但 75% 的受访者会核查 AI 的回答。报告的解释是：AI 能给出直接、完整的答案，因而受到偏好；但大模型可能生成看似合理的错误信息，因而难以被完全信任。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秒】第二组发现是内容分散导致检索困难：联网电视已占美国电视时长的 54%，用户平均花 14 分钟找节目，18 至 34 岁中 54% 表示可能因此退订，而 AI 只答对约三分之二的播出平台。报告据此主张 AI 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秒】报告的论证可以整理为一条链：依赖 AI、不信任 AI、检索困难导致退订、AI 须接入可信数据。下面参照课上春晚案例的四个维度，逐环检验。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秒】维度一，调查对象：样本仅为 AI 用户，结论却推及“美国人”。原因是线上样本以使用 AI 为筛选条件，抽样方式也未公开。因此，54% 和 75% 只能理解为 AI 用户中的比例，这与课上 Durex 网络调查的问题相同。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秒】维度二，研究总体：“14 分钟”是六国均值，美国实为 12 分钟。它是六国简单平均，法国的 26 分钟拉高了均值；报告却把它放进描述美国收视的图表，会使读者高估美国用户的检索困难。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秒】维度三，调查时间：两项调查分母不同，“加速”的结论不成立。报告将皮尤 2025 年秋的 30% 与自身 2026 年初的 54% 对比；但皮尤是全体青少年，同为 13 至 14 岁仅 24%。统一为使用者口径后，差距约 10 个百分点。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秒】维度四，研究方法：四类异质数据不足以证明“检索困难导致退订”。这四类是退订意向、行业退订率、市场预测和 AI 测试，对象和性质各不相同，又无追踪或实验设计，只能提示可能相关。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秒】回到论证链：两环部分成立，两环证据不足。前两环只适用于 AI 用户；第三环口径混用、因果未证；第四环尚未检验。因此，报告可作为趋势参考，不宜作为精确估计或因果证据。最后提出一个问题：如何设计调查，才能检验“检索困难导致退订”？谢谢。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备问用，不计入汇报时间。被问及数据来源与方法公开程度时使用。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备问用，不计入汇报时间。被问及报告引用数据是否准确时使用。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6751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914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课后作业汇报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6304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年研究报告解读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680960" y="1325880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680960" y="3337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报告数据：13–14 岁受访者每日使用 AI 的比例</a:t>
            </a:r>
            <a:endParaRPr lang="en-US" sz="1300" dirty="0"/>
          </a:p>
        </p:txBody>
      </p:sp>
      <p:sp>
        <p:nvSpPr>
          <p:cNvPr id="7" name="提问框"/>
          <p:cNvSpPr/>
          <p:nvPr/>
        </p:nvSpPr>
        <p:spPr>
          <a:xfrm>
            <a:off x="8001000" y="4160520"/>
            <a:ext cx="347472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提问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370832"/>
            <a:ext cx="310896" cy="310896"/>
          </a:xfrm>
          <a:prstGeom prst="rect">
            <a:avLst/>
          </a:prstGeom>
        </p:spPr>
      </p:pic>
      <p:sp>
        <p:nvSpPr>
          <p:cNvPr id="9" name="提问框文字"/>
          <p:cNvSpPr txBox="1"/>
          <p:nvPr/>
        </p:nvSpPr>
        <p:spPr>
          <a:xfrm>
            <a:off x="8732520" y="4160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该数据代表哪类人群？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趋势可参考，但论证链关键环节证据不足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汇报框架与核心观点</a:t>
            </a:r>
            <a:endParaRPr lang="en-US" sz="1200" dirty="0"/>
          </a:p>
        </p:txBody>
      </p:sp>
      <p:sp>
        <p:nvSpPr>
          <p:cNvPr id="4" name="框架行1"/>
          <p:cNvSpPr/>
          <p:nvPr/>
        </p:nvSpPr>
        <p:spPr>
          <a:xfrm>
            <a:off x="548640" y="1371600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序号底1"/>
          <p:cNvSpPr/>
          <p:nvPr/>
        </p:nvSpPr>
        <p:spPr>
          <a:xfrm>
            <a:off x="731520" y="1490472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序号1"/>
          <p:cNvSpPr txBox="1"/>
          <p:nvPr/>
        </p:nvSpPr>
        <p:spPr>
          <a:xfrm>
            <a:off x="731520" y="14904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一</a:t>
            </a:r>
            <a:endParaRPr lang="en-US" sz="1600" dirty="0"/>
          </a:p>
        </p:txBody>
      </p:sp>
      <p:sp>
        <p:nvSpPr>
          <p:cNvPr id="7" name="框架名1"/>
          <p:cNvSpPr txBox="1"/>
          <p:nvPr/>
        </p:nvSpPr>
        <p:spPr>
          <a:xfrm>
            <a:off x="1463040" y="137160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研究背景与研究问题</a:t>
            </a:r>
            <a:endParaRPr lang="en-US" sz="1700" dirty="0"/>
          </a:p>
        </p:txBody>
      </p:sp>
      <p:sp>
        <p:nvSpPr>
          <p:cNvPr id="8" name="框架说明1"/>
          <p:cNvSpPr txBox="1"/>
          <p:nvPr/>
        </p:nvSpPr>
        <p:spPr>
          <a:xfrm>
            <a:off x="3611880" y="1371600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报告为何开展、回答哪些问题</a:t>
            </a:r>
            <a:endParaRPr lang="en-US" sz="1400" dirty="0"/>
          </a:p>
        </p:txBody>
      </p:sp>
      <p:sp>
        <p:nvSpPr>
          <p:cNvPr id="9" name="框架行2"/>
          <p:cNvSpPr/>
          <p:nvPr/>
        </p:nvSpPr>
        <p:spPr>
          <a:xfrm>
            <a:off x="548640" y="2267712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序号底2"/>
          <p:cNvSpPr/>
          <p:nvPr/>
        </p:nvSpPr>
        <p:spPr>
          <a:xfrm>
            <a:off x="731520" y="238658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序号2"/>
          <p:cNvSpPr txBox="1"/>
          <p:nvPr/>
        </p:nvSpPr>
        <p:spPr>
          <a:xfrm>
            <a:off x="731520" y="2386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二</a:t>
            </a:r>
            <a:endParaRPr lang="en-US" sz="1600" dirty="0"/>
          </a:p>
        </p:txBody>
      </p:sp>
      <p:sp>
        <p:nvSpPr>
          <p:cNvPr id="12" name="框架名2"/>
          <p:cNvSpPr txBox="1"/>
          <p:nvPr/>
        </p:nvSpPr>
        <p:spPr>
          <a:xfrm>
            <a:off x="1463040" y="2267712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研究设计</a:t>
            </a:r>
            <a:endParaRPr lang="en-US" sz="1700" dirty="0"/>
          </a:p>
        </p:txBody>
      </p:sp>
      <p:sp>
        <p:nvSpPr>
          <p:cNvPr id="13" name="框架说明2"/>
          <p:cNvSpPr txBox="1"/>
          <p:nvPr/>
        </p:nvSpPr>
        <p:spPr>
          <a:xfrm>
            <a:off x="3611880" y="226771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对象、时间、抽样方式、样本量</a:t>
            </a:r>
            <a:endParaRPr lang="en-US" sz="1400" dirty="0"/>
          </a:p>
        </p:txBody>
      </p:sp>
      <p:sp>
        <p:nvSpPr>
          <p:cNvPr id="14" name="框架行3"/>
          <p:cNvSpPr/>
          <p:nvPr/>
        </p:nvSpPr>
        <p:spPr>
          <a:xfrm>
            <a:off x="548640" y="3163824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序号底3"/>
          <p:cNvSpPr/>
          <p:nvPr/>
        </p:nvSpPr>
        <p:spPr>
          <a:xfrm>
            <a:off x="731520" y="3282696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序号3"/>
          <p:cNvSpPr txBox="1"/>
          <p:nvPr/>
        </p:nvSpPr>
        <p:spPr>
          <a:xfrm>
            <a:off x="731520" y="3282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三</a:t>
            </a:r>
            <a:endParaRPr lang="en-US" sz="1600" dirty="0"/>
          </a:p>
        </p:txBody>
      </p:sp>
      <p:sp>
        <p:nvSpPr>
          <p:cNvPr id="17" name="框架名3"/>
          <p:cNvSpPr txBox="1"/>
          <p:nvPr/>
        </p:nvSpPr>
        <p:spPr>
          <a:xfrm>
            <a:off x="1463040" y="3163824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报告内容与论证</a:t>
            </a:r>
            <a:endParaRPr lang="en-US" sz="1700" dirty="0"/>
          </a:p>
        </p:txBody>
      </p:sp>
      <p:sp>
        <p:nvSpPr>
          <p:cNvPr id="18" name="框架说明3"/>
          <p:cNvSpPr txBox="1"/>
          <p:nvPr/>
        </p:nvSpPr>
        <p:spPr>
          <a:xfrm>
            <a:off x="3611880" y="31638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两组发现及报告给出的解释</a:t>
            </a:r>
            <a:endParaRPr lang="en-US" sz="1400" dirty="0"/>
          </a:p>
        </p:txBody>
      </p:sp>
      <p:sp>
        <p:nvSpPr>
          <p:cNvPr id="19" name="框架行4"/>
          <p:cNvSpPr/>
          <p:nvPr/>
        </p:nvSpPr>
        <p:spPr>
          <a:xfrm>
            <a:off x="548640" y="4059936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序号底4"/>
          <p:cNvSpPr/>
          <p:nvPr/>
        </p:nvSpPr>
        <p:spPr>
          <a:xfrm>
            <a:off x="731520" y="41788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序号4"/>
          <p:cNvSpPr txBox="1"/>
          <p:nvPr/>
        </p:nvSpPr>
        <p:spPr>
          <a:xfrm>
            <a:off x="731520" y="4178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四</a:t>
            </a:r>
            <a:endParaRPr lang="en-US" sz="1600" dirty="0"/>
          </a:p>
        </p:txBody>
      </p:sp>
      <p:sp>
        <p:nvSpPr>
          <p:cNvPr id="22" name="框架名4"/>
          <p:cNvSpPr txBox="1"/>
          <p:nvPr/>
        </p:nvSpPr>
        <p:spPr>
          <a:xfrm>
            <a:off x="1463040" y="405993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方法评价</a:t>
            </a:r>
            <a:endParaRPr lang="en-US" sz="1700" dirty="0"/>
          </a:p>
        </p:txBody>
      </p:sp>
      <p:sp>
        <p:nvSpPr>
          <p:cNvPr id="23" name="框架说明4"/>
          <p:cNvSpPr txBox="1"/>
          <p:nvPr/>
        </p:nvSpPr>
        <p:spPr>
          <a:xfrm>
            <a:off x="3611880" y="4059936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沿论证链，从四个维度逐环检验</a:t>
            </a:r>
            <a:endParaRPr lang="en-US" sz="1400" dirty="0"/>
          </a:p>
        </p:txBody>
      </p:sp>
      <p:sp>
        <p:nvSpPr>
          <p:cNvPr id="24" name="框架行5"/>
          <p:cNvSpPr/>
          <p:nvPr/>
        </p:nvSpPr>
        <p:spPr>
          <a:xfrm>
            <a:off x="548640" y="4956048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序号底5"/>
          <p:cNvSpPr/>
          <p:nvPr/>
        </p:nvSpPr>
        <p:spPr>
          <a:xfrm>
            <a:off x="731520" y="50749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序号5"/>
          <p:cNvSpPr txBox="1"/>
          <p:nvPr/>
        </p:nvSpPr>
        <p:spPr>
          <a:xfrm>
            <a:off x="731520" y="5074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五</a:t>
            </a:r>
            <a:endParaRPr lang="en-US" sz="1600" dirty="0"/>
          </a:p>
        </p:txBody>
      </p:sp>
      <p:sp>
        <p:nvSpPr>
          <p:cNvPr id="27" name="框架名5"/>
          <p:cNvSpPr txBox="1"/>
          <p:nvPr/>
        </p:nvSpPr>
        <p:spPr>
          <a:xfrm>
            <a:off x="1463040" y="4956048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总结与启示</a:t>
            </a:r>
            <a:endParaRPr lang="en-US" sz="1700" dirty="0"/>
          </a:p>
        </p:txBody>
      </p:sp>
      <p:sp>
        <p:nvSpPr>
          <p:cNvPr id="28" name="框架说明5"/>
          <p:cNvSpPr txBox="1"/>
          <p:nvPr/>
        </p:nvSpPr>
        <p:spPr>
          <a:xfrm>
            <a:off x="3611880" y="495604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各环节判断与讨论问题</a:t>
            </a:r>
            <a:endParaRPr lang="en-US" sz="1400" dirty="0"/>
          </a:p>
        </p:txBody>
      </p:sp>
      <p:sp>
        <p:nvSpPr>
          <p:cNvPr id="29" name="核心观点卡"/>
          <p:cNvSpPr/>
          <p:nvPr/>
        </p:nvSpPr>
        <p:spPr>
          <a:xfrm>
            <a:off x="7223760" y="1371600"/>
            <a:ext cx="4389120" cy="4334256"/>
          </a:xfrm>
          <a:prstGeom prst="roundRect">
            <a:avLst>
              <a:gd name="adj" fmla="val 25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核心观点"/>
          <p:cNvSpPr txBox="1"/>
          <p:nvPr/>
        </p:nvSpPr>
        <p:spPr>
          <a:xfrm>
            <a:off x="7543800" y="1554480"/>
            <a:ext cx="37490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核心观点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报告揭示的行业趋势具有参考价值，但其论证链的关键环节证据不足，结论应限定在调查对象的范围之内。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评价重点：第四部分，沿报告的论证链逐环检验。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内容分散使检索变难，AI 能否成为新入口？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一、研究背景与研究问题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研究背景"/>
          <p:cNvSpPr txBox="1"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研究背景：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流媒体平台数量增加、内容分散，用户检索节目的难度上升；生成式 AI 聊天机器人逐渐成为新的信息检索工具。</a:t>
            </a:r>
            <a:endParaRPr lang="en-US" sz="1500" dirty="0"/>
          </a:p>
        </p:txBody>
      </p:sp>
      <p:sp>
        <p:nvSpPr>
          <p:cNvPr id="15" name="问题卡1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图标底"/>
          <p:cNvSpPr/>
          <p:nvPr/>
        </p:nvSpPr>
        <p:spPr>
          <a:xfrm>
            <a:off x="82296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5990"/>
            <a:ext cx="297180" cy="297180"/>
          </a:xfrm>
          <a:prstGeom prst="rect">
            <a:avLst/>
          </a:prstGeom>
        </p:spPr>
      </p:pic>
      <p:sp>
        <p:nvSpPr>
          <p:cNvPr id="18" name="问题标题1"/>
          <p:cNvSpPr txBox="1"/>
          <p:nvPr/>
        </p:nvSpPr>
        <p:spPr>
          <a:xfrm>
            <a:off x="155448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问题一 · 使用行为</a:t>
            </a:r>
            <a:endParaRPr lang="en-US" sz="1700" dirty="0"/>
          </a:p>
        </p:txBody>
      </p:sp>
      <p:sp>
        <p:nvSpPr>
          <p:cNvPr id="19" name="问题内容1"/>
          <p:cNvSpPr txBox="1"/>
          <p:nvPr/>
        </p:nvSpPr>
        <p:spPr>
          <a:xfrm>
            <a:off x="82296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不同年龄群体如何使用 AI 聊天机器人检索信息？</a:t>
            </a:r>
            <a:endParaRPr lang="en-US" sz="1500" dirty="0"/>
          </a:p>
        </p:txBody>
      </p:sp>
      <p:sp>
        <p:nvSpPr>
          <p:cNvPr id="20" name="问题卡2"/>
          <p:cNvSpPr/>
          <p:nvPr/>
        </p:nvSpPr>
        <p:spPr>
          <a:xfrm>
            <a:off x="429768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图标底"/>
          <p:cNvSpPr/>
          <p:nvPr/>
        </p:nvSpPr>
        <p:spPr>
          <a:xfrm>
            <a:off x="457200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2205990"/>
            <a:ext cx="297180" cy="297180"/>
          </a:xfrm>
          <a:prstGeom prst="rect">
            <a:avLst/>
          </a:prstGeom>
        </p:spPr>
      </p:pic>
      <p:sp>
        <p:nvSpPr>
          <p:cNvPr id="23" name="问题标题2"/>
          <p:cNvSpPr txBox="1"/>
          <p:nvPr/>
        </p:nvSpPr>
        <p:spPr>
          <a:xfrm>
            <a:off x="530352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问题二 · 检索困难</a:t>
            </a:r>
            <a:endParaRPr lang="en-US" sz="1700" dirty="0"/>
          </a:p>
        </p:txBody>
      </p:sp>
      <p:sp>
        <p:nvSpPr>
          <p:cNvPr id="24" name="问题内容2"/>
          <p:cNvSpPr txBox="1"/>
          <p:nvPr/>
        </p:nvSpPr>
        <p:spPr>
          <a:xfrm>
            <a:off x="457200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内容分散是否增加检索难度，并影响订阅决策？</a:t>
            </a:r>
            <a:endParaRPr lang="en-US" sz="1500" dirty="0"/>
          </a:p>
        </p:txBody>
      </p:sp>
      <p:sp>
        <p:nvSpPr>
          <p:cNvPr id="25" name="问题卡3"/>
          <p:cNvSpPr/>
          <p:nvPr/>
        </p:nvSpPr>
        <p:spPr>
          <a:xfrm>
            <a:off x="804672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图标底"/>
          <p:cNvSpPr/>
          <p:nvPr/>
        </p:nvSpPr>
        <p:spPr>
          <a:xfrm>
            <a:off x="832104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2205990"/>
            <a:ext cx="297180" cy="297180"/>
          </a:xfrm>
          <a:prstGeom prst="rect">
            <a:avLst/>
          </a:prstGeom>
        </p:spPr>
      </p:pic>
      <p:sp>
        <p:nvSpPr>
          <p:cNvPr id="28" name="问题标题3"/>
          <p:cNvSpPr txBox="1"/>
          <p:nvPr/>
        </p:nvSpPr>
        <p:spPr>
          <a:xfrm>
            <a:off x="905256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问题三 · 信任程度</a:t>
            </a:r>
            <a:endParaRPr lang="en-US" sz="1700" dirty="0"/>
          </a:p>
        </p:txBody>
      </p:sp>
      <p:sp>
        <p:nvSpPr>
          <p:cNvPr id="29" name="问题内容3"/>
          <p:cNvSpPr txBox="1"/>
          <p:nvPr/>
        </p:nvSpPr>
        <p:spPr>
          <a:xfrm>
            <a:off x="832104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用户是否信任 AI 提供的娱乐与体育信息？</a:t>
            </a:r>
            <a:endParaRPr lang="en-US" sz="1500" dirty="0"/>
          </a:p>
        </p:txBody>
      </p:sp>
      <p:sp>
        <p:nvSpPr>
          <p:cNvPr id="30" name="机构与主张"/>
          <p:cNvSpPr/>
          <p:nvPr/>
        </p:nvSpPr>
        <p:spPr>
          <a:xfrm>
            <a:off x="548640" y="3886200"/>
            <a:ext cx="110642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图标底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43400"/>
            <a:ext cx="274320" cy="274320"/>
          </a:xfrm>
          <a:prstGeom prst="rect">
            <a:avLst/>
          </a:prstGeom>
        </p:spPr>
      </p:pic>
      <p:sp>
        <p:nvSpPr>
          <p:cNvPr id="33" name="研究机构"/>
          <p:cNvSpPr txBox="1"/>
          <p:nvPr/>
        </p:nvSpPr>
        <p:spPr>
          <a:xfrm>
            <a:off x="1600200" y="402336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研究机构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Gracenote，尼尔森（Nielsen）旗下的内容数据业务，为电视与流媒体平台提供节目元数据（片名、简介、播出平台等）。</a:t>
            </a:r>
            <a:endParaRPr lang="en-US" sz="1600" dirty="0"/>
          </a:p>
        </p:txBody>
      </p:sp>
      <p:sp>
        <p:nvSpPr>
          <p:cNvPr id="34" name="图标底"/>
          <p:cNvSpPr/>
          <p:nvPr/>
        </p:nvSpPr>
        <p:spPr>
          <a:xfrm>
            <a:off x="6263640" y="42062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5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274320" cy="274320"/>
          </a:xfrm>
          <a:prstGeom prst="rect">
            <a:avLst/>
          </a:prstGeom>
        </p:spPr>
      </p:pic>
      <p:sp>
        <p:nvSpPr>
          <p:cNvPr id="36" name="报告主张"/>
          <p:cNvSpPr txBox="1"/>
          <p:nvPr/>
        </p:nvSpPr>
        <p:spPr>
          <a:xfrm>
            <a:off x="6995160" y="402336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报告主张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AI 将成为内容发现的主要入口，但须接入可信的行业数据——这与 Gracenote 的主营业务直接相关。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结论依赖两项线上问卷，抽样方式均未公开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二、研究设计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问卷卡1"/>
          <p:cNvSpPr/>
          <p:nvPr/>
        </p:nvSpPr>
        <p:spPr>
          <a:xfrm>
            <a:off x="54864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问卷名1"/>
          <p:cNvSpPr txBox="1"/>
          <p:nvPr/>
        </p:nvSpPr>
        <p:spPr>
          <a:xfrm>
            <a:off x="822960" y="15087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调查一：2026 年生成式 AI 使用调查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报告中 AI 相关数据的来源</a:t>
            </a:r>
            <a:endParaRPr lang="en-US" sz="1700" dirty="0"/>
          </a:p>
        </p:txBody>
      </p:sp>
      <p:sp>
        <p:nvSpPr>
          <p:cNvPr id="16" name="设计项1-1"/>
          <p:cNvSpPr txBox="1"/>
          <p:nvPr/>
        </p:nvSpPr>
        <p:spPr>
          <a:xfrm>
            <a:off x="82296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17" name="设计值1-1"/>
          <p:cNvSpPr txBox="1"/>
          <p:nvPr/>
        </p:nvSpPr>
        <p:spPr>
          <a:xfrm>
            <a:off x="2057400" y="23774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美国 13–79 岁 AI 聊天机器人用户</a:t>
            </a:r>
            <a:endParaRPr lang="en-US" sz="1500" dirty="0"/>
          </a:p>
        </p:txBody>
      </p:sp>
      <p:sp>
        <p:nvSpPr>
          <p:cNvPr id="18" name="设计项1-2"/>
          <p:cNvSpPr txBox="1"/>
          <p:nvPr/>
        </p:nvSpPr>
        <p:spPr>
          <a:xfrm>
            <a:off x="82296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19" name="设计值1-2"/>
          <p:cNvSpPr txBox="1"/>
          <p:nvPr/>
        </p:nvSpPr>
        <p:spPr>
          <a:xfrm>
            <a:off x="2057400" y="29443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 年 1 月 23 日—2 月 4 日</a:t>
            </a:r>
            <a:endParaRPr lang="en-US" sz="1500" dirty="0"/>
          </a:p>
        </p:txBody>
      </p:sp>
      <p:sp>
        <p:nvSpPr>
          <p:cNvPr id="20" name="设计项1-3"/>
          <p:cNvSpPr txBox="1"/>
          <p:nvPr/>
        </p:nvSpPr>
        <p:spPr>
          <a:xfrm>
            <a:off x="82296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21" name="设计值1-3"/>
          <p:cNvSpPr txBox="1"/>
          <p:nvPr/>
        </p:nvSpPr>
        <p:spPr>
          <a:xfrm>
            <a:off x="205740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22" name="设计项1-4"/>
          <p:cNvSpPr txBox="1"/>
          <p:nvPr/>
        </p:nvSpPr>
        <p:spPr>
          <a:xfrm>
            <a:off x="82296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23" name="设计值1-4"/>
          <p:cNvSpPr txBox="1"/>
          <p:nvPr/>
        </p:nvSpPr>
        <p:spPr>
          <a:xfrm>
            <a:off x="2057400" y="40782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4,003</a:t>
            </a:r>
            <a:endParaRPr lang="en-US" sz="1500" dirty="0"/>
          </a:p>
        </p:txBody>
      </p:sp>
      <p:sp>
        <p:nvSpPr>
          <p:cNvPr id="24" name="未公开底"/>
          <p:cNvSpPr/>
          <p:nvPr/>
        </p:nvSpPr>
        <p:spPr>
          <a:xfrm>
            <a:off x="68580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设计项1-5"/>
          <p:cNvSpPr txBox="1"/>
          <p:nvPr/>
        </p:nvSpPr>
        <p:spPr>
          <a:xfrm>
            <a:off x="82296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26" name="设计值1-5"/>
          <p:cNvSpPr txBox="1"/>
          <p:nvPr/>
        </p:nvSpPr>
        <p:spPr>
          <a:xfrm>
            <a:off x="2057400" y="4645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未公开：抽样框、加权方法、应答率</a:t>
            </a:r>
            <a:endParaRPr lang="en-US" sz="1500" dirty="0"/>
          </a:p>
        </p:txBody>
      </p:sp>
      <p:sp>
        <p:nvSpPr>
          <p:cNvPr id="27" name="问卷卡2"/>
          <p:cNvSpPr/>
          <p:nvPr/>
        </p:nvSpPr>
        <p:spPr>
          <a:xfrm>
            <a:off x="617220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问卷名2"/>
          <p:cNvSpPr txBox="1"/>
          <p:nvPr/>
        </p:nvSpPr>
        <p:spPr>
          <a:xfrm>
            <a:off x="6446520" y="15087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调查二：2025 年六国流媒体消费者调查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内容检索与退订相关数据的来源</a:t>
            </a:r>
            <a:endParaRPr lang="en-US" sz="1700" dirty="0"/>
          </a:p>
        </p:txBody>
      </p:sp>
      <p:sp>
        <p:nvSpPr>
          <p:cNvPr id="29" name="设计项2-1"/>
          <p:cNvSpPr txBox="1"/>
          <p:nvPr/>
        </p:nvSpPr>
        <p:spPr>
          <a:xfrm>
            <a:off x="644652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30" name="设计值2-1"/>
          <p:cNvSpPr txBox="1"/>
          <p:nvPr/>
        </p:nvSpPr>
        <p:spPr>
          <a:xfrm>
            <a:off x="7680960" y="23774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巴西、法、德、墨、美、英流媒体用户</a:t>
            </a:r>
            <a:endParaRPr lang="en-US" sz="1500" dirty="0"/>
          </a:p>
        </p:txBody>
      </p:sp>
      <p:sp>
        <p:nvSpPr>
          <p:cNvPr id="31" name="设计项2-2"/>
          <p:cNvSpPr txBox="1"/>
          <p:nvPr/>
        </p:nvSpPr>
        <p:spPr>
          <a:xfrm>
            <a:off x="644652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32" name="设计值2-2"/>
          <p:cNvSpPr txBox="1"/>
          <p:nvPr/>
        </p:nvSpPr>
        <p:spPr>
          <a:xfrm>
            <a:off x="7680960" y="29443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2025 年 7 月 28 日—8 月 1 日</a:t>
            </a:r>
            <a:endParaRPr lang="en-US" sz="1500" dirty="0"/>
          </a:p>
        </p:txBody>
      </p:sp>
      <p:sp>
        <p:nvSpPr>
          <p:cNvPr id="33" name="设计项2-3"/>
          <p:cNvSpPr txBox="1"/>
          <p:nvPr/>
        </p:nvSpPr>
        <p:spPr>
          <a:xfrm>
            <a:off x="644652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34" name="设计值2-3"/>
          <p:cNvSpPr txBox="1"/>
          <p:nvPr/>
        </p:nvSpPr>
        <p:spPr>
          <a:xfrm>
            <a:off x="768096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35" name="设计项2-4"/>
          <p:cNvSpPr txBox="1"/>
          <p:nvPr/>
        </p:nvSpPr>
        <p:spPr>
          <a:xfrm>
            <a:off x="644652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36" name="设计值2-4"/>
          <p:cNvSpPr txBox="1"/>
          <p:nvPr/>
        </p:nvSpPr>
        <p:spPr>
          <a:xfrm>
            <a:off x="7680960" y="40782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3,000（每国 500）</a:t>
            </a:r>
            <a:endParaRPr lang="en-US" sz="1500" dirty="0"/>
          </a:p>
        </p:txBody>
      </p:sp>
      <p:sp>
        <p:nvSpPr>
          <p:cNvPr id="37" name="未公开底"/>
          <p:cNvSpPr/>
          <p:nvPr/>
        </p:nvSpPr>
        <p:spPr>
          <a:xfrm>
            <a:off x="630936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设计项2-5"/>
          <p:cNvSpPr txBox="1"/>
          <p:nvPr/>
        </p:nvSpPr>
        <p:spPr>
          <a:xfrm>
            <a:off x="644652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39" name="设计值2-5"/>
          <p:cNvSpPr txBox="1"/>
          <p:nvPr/>
        </p:nvSpPr>
        <p:spPr>
          <a:xfrm>
            <a:off x="7680960" y="4645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未公开：抽样框、加权方法、应答率</a:t>
            </a:r>
            <a:endParaRPr lang="en-US" sz="1500" dirty="0"/>
          </a:p>
        </p:txBody>
      </p:sp>
      <p:sp>
        <p:nvSpPr>
          <p:cNvPr id="40" name="其他来源"/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此外引用尼尔森收视数据、Gracenote 节目数据库及皮尤研究中心、德勤、普华永道等机构研究，共 11 个数据来源（见附录一）。</a:t>
            </a:r>
            <a:endParaRPr lang="en-US" sz="1400" dirty="0"/>
          </a:p>
        </p:txBody>
      </p:sp>
      <p:sp>
        <p:nvSpPr>
          <p:cNvPr id="41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来源：报告“数据来源”说明；尼尔森新闻稿（2026 年 4 月）；Gracenote 2025 年报告《State of Play》数据说明。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报告发现：年轻用户依赖 AI，但信任不足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三、报告内容（一）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数据卡1"/>
          <p:cNvSpPr/>
          <p:nvPr/>
        </p:nvSpPr>
        <p:spPr>
          <a:xfrm>
            <a:off x="5486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数据1"/>
          <p:cNvSpPr txBox="1"/>
          <p:nvPr/>
        </p:nvSpPr>
        <p:spPr>
          <a:xfrm>
            <a:off x="7772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16" name="数据说明1"/>
          <p:cNvSpPr txBox="1"/>
          <p:nvPr/>
        </p:nvSpPr>
        <p:spPr>
          <a:xfrm>
            <a:off x="7772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13–14 岁 AI 用户每日使用（报告称“Alpha 世代”）</a:t>
            </a:r>
            <a:endParaRPr lang="en-US" sz="1300" dirty="0"/>
          </a:p>
        </p:txBody>
      </p:sp>
      <p:sp>
        <p:nvSpPr>
          <p:cNvPr id="17" name="数据卡2"/>
          <p:cNvSpPr/>
          <p:nvPr/>
        </p:nvSpPr>
        <p:spPr>
          <a:xfrm>
            <a:off x="32918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数据2"/>
          <p:cNvSpPr txBox="1"/>
          <p:nvPr/>
        </p:nvSpPr>
        <p:spPr>
          <a:xfrm>
            <a:off x="35204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600" dirty="0"/>
          </a:p>
        </p:txBody>
      </p:sp>
      <p:sp>
        <p:nvSpPr>
          <p:cNvPr id="19" name="数据说明2"/>
          <p:cNvSpPr txBox="1"/>
          <p:nvPr/>
        </p:nvSpPr>
        <p:spPr>
          <a:xfrm>
            <a:off x="35204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13–14 岁受访者表示过去 12–18 个月使用增加</a:t>
            </a:r>
            <a:endParaRPr lang="en-US" sz="1300" dirty="0"/>
          </a:p>
        </p:txBody>
      </p:sp>
      <p:sp>
        <p:nvSpPr>
          <p:cNvPr id="20" name="数据卡3"/>
          <p:cNvSpPr/>
          <p:nvPr/>
        </p:nvSpPr>
        <p:spPr>
          <a:xfrm>
            <a:off x="5486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数据3"/>
          <p:cNvSpPr txBox="1"/>
          <p:nvPr/>
        </p:nvSpPr>
        <p:spPr>
          <a:xfrm>
            <a:off x="7772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600" dirty="0"/>
          </a:p>
        </p:txBody>
      </p:sp>
      <p:sp>
        <p:nvSpPr>
          <p:cNvPr id="22" name="数据说明3"/>
          <p:cNvSpPr txBox="1"/>
          <p:nvPr/>
        </p:nvSpPr>
        <p:spPr>
          <a:xfrm>
            <a:off x="7772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受访者表示会核查 AI 的回答</a:t>
            </a:r>
            <a:endParaRPr lang="en-US" sz="1300" dirty="0"/>
          </a:p>
        </p:txBody>
      </p:sp>
      <p:sp>
        <p:nvSpPr>
          <p:cNvPr id="23" name="数据卡4"/>
          <p:cNvSpPr/>
          <p:nvPr/>
        </p:nvSpPr>
        <p:spPr>
          <a:xfrm>
            <a:off x="32918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数据4"/>
          <p:cNvSpPr txBox="1"/>
          <p:nvPr/>
        </p:nvSpPr>
        <p:spPr>
          <a:xfrm>
            <a:off x="35204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25" name="数据说明4"/>
          <p:cNvSpPr txBox="1"/>
          <p:nvPr/>
        </p:nvSpPr>
        <p:spPr>
          <a:xfrm>
            <a:off x="35204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认为 AI 的娱乐信息准确，低于传统搜索的 92%</a:t>
            </a:r>
            <a:endParaRPr lang="en-US" sz="1300" dirty="0"/>
          </a:p>
        </p:txBody>
      </p:sp>
      <p:sp>
        <p:nvSpPr>
          <p:cNvPr id="26" name="报告解释卡"/>
          <p:cNvSpPr/>
          <p:nvPr/>
        </p:nvSpPr>
        <p:spPr>
          <a:xfrm>
            <a:off x="6172200" y="1371600"/>
            <a:ext cx="5468112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解释标题"/>
          <p:cNvSpPr txBox="1"/>
          <p:nvPr/>
        </p:nvSpPr>
        <p:spPr>
          <a:xfrm>
            <a:off x="644652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报告的解释</a:t>
            </a:r>
            <a:endParaRPr lang="en-US" sz="1700" dirty="0"/>
          </a:p>
        </p:txBody>
      </p:sp>
      <p:sp>
        <p:nvSpPr>
          <p:cNvPr id="28" name="解释1"/>
          <p:cNvSpPr txBox="1"/>
          <p:nvPr/>
        </p:nvSpPr>
        <p:spPr>
          <a:xfrm>
            <a:off x="6446520" y="20116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为何偏好 AI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AI 能给出直接、完整、可追问的答案；13–14 岁受访者中 70% 在需要直接答案时更偏好 AI。</a:t>
            </a:r>
            <a:endParaRPr lang="en-US" sz="1500" dirty="0"/>
          </a:p>
        </p:txBody>
      </p:sp>
      <p:sp>
        <p:nvSpPr>
          <p:cNvPr id="29" name="解释2"/>
          <p:cNvSpPr txBox="1"/>
          <p:nvPr/>
        </p:nvSpPr>
        <p:spPr>
          <a:xfrm>
            <a:off x="6446520" y="32004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为何信任不足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大模型按概率生成内容，可能出现“幻觉”——看似合理但错误的信息；77% 的受访者对 AI 结果有顾虑。</a:t>
            </a:r>
            <a:endParaRPr lang="en-US" sz="1500" dirty="0"/>
          </a:p>
        </p:txBody>
      </p:sp>
      <p:sp>
        <p:nvSpPr>
          <p:cNvPr id="30" name="解释3"/>
          <p:cNvSpPr txBox="1"/>
          <p:nvPr/>
        </p:nvSpPr>
        <p:spPr>
          <a:xfrm>
            <a:off x="6446520" y="43891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报告的推论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用户已依赖 AI，但需要更可靠的答案来源。</a:t>
            </a:r>
            <a:endParaRPr lang="en-US" sz="1500" dirty="0"/>
          </a:p>
        </p:txBody>
      </p:sp>
      <p:sp>
        <p:nvSpPr>
          <p:cNvPr id="31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来源：调查一（2026 年生成式 AI 使用调查）；报告正文对生成式 AI 的说明。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报告认为：内容分散致退订，AI 须接入可信数据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三、报告内容（二）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数据卡1"/>
          <p:cNvSpPr/>
          <p:nvPr/>
        </p:nvSpPr>
        <p:spPr>
          <a:xfrm>
            <a:off x="5486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数据1"/>
          <p:cNvSpPr txBox="1"/>
          <p:nvPr/>
        </p:nvSpPr>
        <p:spPr>
          <a:xfrm>
            <a:off x="7772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16" name="数据说明1"/>
          <p:cNvSpPr txBox="1"/>
          <p:nvPr/>
        </p:nvSpPr>
        <p:spPr>
          <a:xfrm>
            <a:off x="7772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联网电视（CTV）占美国电视收视时长（尼尔森，2025 年第四季度）</a:t>
            </a:r>
            <a:endParaRPr lang="en-US" sz="1300" dirty="0"/>
          </a:p>
        </p:txBody>
      </p:sp>
      <p:sp>
        <p:nvSpPr>
          <p:cNvPr id="17" name="数据卡2"/>
          <p:cNvSpPr/>
          <p:nvPr/>
        </p:nvSpPr>
        <p:spPr>
          <a:xfrm>
            <a:off x="32918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数据2"/>
          <p:cNvSpPr txBox="1"/>
          <p:nvPr/>
        </p:nvSpPr>
        <p:spPr>
          <a:xfrm>
            <a:off x="35204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350+</a:t>
            </a:r>
            <a:endParaRPr lang="en-US" sz="3600" dirty="0"/>
          </a:p>
        </p:txBody>
      </p:sp>
      <p:sp>
        <p:nvSpPr>
          <p:cNvPr id="19" name="数据说明2"/>
          <p:cNvSpPr txBox="1"/>
          <p:nvPr/>
        </p:nvSpPr>
        <p:spPr>
          <a:xfrm>
            <a:off x="35204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订阅点播目录，另有约 2,100 个免费流媒体频道（Gracenote 数据库）</a:t>
            </a:r>
            <a:endParaRPr lang="en-US" sz="1300" dirty="0"/>
          </a:p>
        </p:txBody>
      </p:sp>
      <p:sp>
        <p:nvSpPr>
          <p:cNvPr id="20" name="数据卡3"/>
          <p:cNvSpPr/>
          <p:nvPr/>
        </p:nvSpPr>
        <p:spPr>
          <a:xfrm>
            <a:off x="5486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数据3"/>
          <p:cNvSpPr txBox="1"/>
          <p:nvPr/>
        </p:nvSpPr>
        <p:spPr>
          <a:xfrm>
            <a:off x="7772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22" name="数据说明3"/>
          <p:cNvSpPr txBox="1"/>
          <p:nvPr/>
        </p:nvSpPr>
        <p:spPr>
          <a:xfrm>
            <a:off x="7772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用户寻找节目的平均时长（调查二，六国）</a:t>
            </a:r>
            <a:endParaRPr lang="en-US" sz="1300" dirty="0"/>
          </a:p>
        </p:txBody>
      </p:sp>
      <p:sp>
        <p:nvSpPr>
          <p:cNvPr id="23" name="数据卡4"/>
          <p:cNvSpPr/>
          <p:nvPr/>
        </p:nvSpPr>
        <p:spPr>
          <a:xfrm>
            <a:off x="32918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数据4"/>
          <p:cNvSpPr txBox="1"/>
          <p:nvPr/>
        </p:nvSpPr>
        <p:spPr>
          <a:xfrm>
            <a:off x="35204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25" name="数据说明4"/>
          <p:cNvSpPr txBox="1"/>
          <p:nvPr/>
        </p:nvSpPr>
        <p:spPr>
          <a:xfrm>
            <a:off x="35204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岁受访者表示可能因检索困难而退订（调查二，六国）</a:t>
            </a:r>
            <a:endParaRPr lang="en-US" sz="1300" dirty="0"/>
          </a:p>
        </p:txBody>
      </p:sp>
      <p:sp>
        <p:nvSpPr>
          <p:cNvPr id="26" name="报告论证卡"/>
          <p:cNvSpPr/>
          <p:nvPr/>
        </p:nvSpPr>
        <p:spPr>
          <a:xfrm>
            <a:off x="6172200" y="1371600"/>
            <a:ext cx="5468112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论证标题"/>
          <p:cNvSpPr txBox="1"/>
          <p:nvPr/>
        </p:nvSpPr>
        <p:spPr>
          <a:xfrm>
            <a:off x="644652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报告的论证</a:t>
            </a:r>
            <a:endParaRPr lang="en-US" sz="1700" dirty="0"/>
          </a:p>
        </p:txBody>
      </p:sp>
      <p:sp>
        <p:nvSpPr>
          <p:cNvPr id="28" name="论证环1"/>
          <p:cNvSpPr/>
          <p:nvPr/>
        </p:nvSpPr>
        <p:spPr>
          <a:xfrm>
            <a:off x="6446520" y="2011680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论证环文字1"/>
          <p:cNvSpPr txBox="1"/>
          <p:nvPr/>
        </p:nvSpPr>
        <p:spPr>
          <a:xfrm>
            <a:off x="6446520" y="2011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平台与内容分散</a:t>
            </a:r>
            <a:endParaRPr lang="en-US" sz="1300" dirty="0"/>
          </a:p>
        </p:txBody>
      </p:sp>
      <p:sp>
        <p:nvSpPr>
          <p:cNvPr id="30" name="论证说明1"/>
          <p:cNvSpPr txBox="1"/>
          <p:nvPr/>
        </p:nvSpPr>
        <p:spPr>
          <a:xfrm>
            <a:off x="8686800" y="20116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节目分布在数百个目录与频道中</a:t>
            </a:r>
            <a:endParaRPr lang="en-US" sz="1300" dirty="0"/>
          </a:p>
        </p:txBody>
      </p:sp>
      <p:sp>
        <p:nvSpPr>
          <p:cNvPr id="31" name="论证箭头1"/>
          <p:cNvSpPr txBox="1"/>
          <p:nvPr/>
        </p:nvSpPr>
        <p:spPr>
          <a:xfrm>
            <a:off x="6446520" y="25786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↓</a:t>
            </a:r>
            <a:endParaRPr lang="en-US" sz="1400" dirty="0"/>
          </a:p>
        </p:txBody>
      </p:sp>
      <p:sp>
        <p:nvSpPr>
          <p:cNvPr id="32" name="论证环2"/>
          <p:cNvSpPr/>
          <p:nvPr/>
        </p:nvSpPr>
        <p:spPr>
          <a:xfrm>
            <a:off x="6446520" y="2907792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论证环文字2"/>
          <p:cNvSpPr txBox="1"/>
          <p:nvPr/>
        </p:nvSpPr>
        <p:spPr>
          <a:xfrm>
            <a:off x="6446520" y="29077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检索时间延长</a:t>
            </a:r>
            <a:endParaRPr lang="en-US" sz="1300" dirty="0"/>
          </a:p>
        </p:txBody>
      </p:sp>
      <p:sp>
        <p:nvSpPr>
          <p:cNvPr id="34" name="论证说明2"/>
          <p:cNvSpPr txBox="1"/>
          <p:nvPr/>
        </p:nvSpPr>
        <p:spPr>
          <a:xfrm>
            <a:off x="8686800" y="2907792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用户需花更多时间寻找想看的节目</a:t>
            </a:r>
            <a:endParaRPr lang="en-US" sz="1300" dirty="0"/>
          </a:p>
        </p:txBody>
      </p:sp>
      <p:sp>
        <p:nvSpPr>
          <p:cNvPr id="35" name="论证箭头2"/>
          <p:cNvSpPr txBox="1"/>
          <p:nvPr/>
        </p:nvSpPr>
        <p:spPr>
          <a:xfrm>
            <a:off x="6446520" y="3474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↓</a:t>
            </a:r>
            <a:endParaRPr lang="en-US" sz="1400" dirty="0"/>
          </a:p>
        </p:txBody>
      </p:sp>
      <p:sp>
        <p:nvSpPr>
          <p:cNvPr id="36" name="论证环3"/>
          <p:cNvSpPr/>
          <p:nvPr/>
        </p:nvSpPr>
        <p:spPr>
          <a:xfrm>
            <a:off x="6446520" y="3803904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论证环文字3"/>
          <p:cNvSpPr txBox="1"/>
          <p:nvPr/>
        </p:nvSpPr>
        <p:spPr>
          <a:xfrm>
            <a:off x="6446520" y="38039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退订风险上升</a:t>
            </a:r>
            <a:endParaRPr lang="en-US" sz="1300" dirty="0"/>
          </a:p>
        </p:txBody>
      </p:sp>
      <p:sp>
        <p:nvSpPr>
          <p:cNvPr id="38" name="论证说明3"/>
          <p:cNvSpPr txBox="1"/>
          <p:nvPr/>
        </p:nvSpPr>
        <p:spPr>
          <a:xfrm>
            <a:off x="8686800" y="3803904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找不到内容的用户可能取消订阅</a:t>
            </a:r>
            <a:endParaRPr lang="en-US" sz="1300" dirty="0"/>
          </a:p>
        </p:txBody>
      </p:sp>
      <p:sp>
        <p:nvSpPr>
          <p:cNvPr id="39" name="论证箭头3"/>
          <p:cNvSpPr txBox="1"/>
          <p:nvPr/>
        </p:nvSpPr>
        <p:spPr>
          <a:xfrm>
            <a:off x="6446520" y="43708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↓</a:t>
            </a:r>
            <a:endParaRPr lang="en-US" sz="1400" dirty="0"/>
          </a:p>
        </p:txBody>
      </p:sp>
      <p:sp>
        <p:nvSpPr>
          <p:cNvPr id="40" name="论证环4"/>
          <p:cNvSpPr/>
          <p:nvPr/>
        </p:nvSpPr>
        <p:spPr>
          <a:xfrm>
            <a:off x="6446520" y="4700016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论证环文字4"/>
          <p:cNvSpPr txBox="1"/>
          <p:nvPr/>
        </p:nvSpPr>
        <p:spPr>
          <a:xfrm>
            <a:off x="6446520" y="47000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 须接入可信数据</a:t>
            </a:r>
            <a:endParaRPr lang="en-US" sz="1300" dirty="0"/>
          </a:p>
        </p:txBody>
      </p:sp>
      <p:sp>
        <p:nvSpPr>
          <p:cNvPr id="42" name="论证说明4"/>
          <p:cNvSpPr txBox="1"/>
          <p:nvPr/>
        </p:nvSpPr>
        <p:spPr>
          <a:xfrm>
            <a:off x="8686800" y="470001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仅凭公开网络信息，AI 只答对约 2/3 的播出平台</a:t>
            </a:r>
            <a:endParaRPr lang="en-US" sz="1300" dirty="0"/>
          </a:p>
        </p:txBody>
      </p:sp>
      <p:sp>
        <p:nvSpPr>
          <p:cNvPr id="43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来源：尼尔森收视测量；Gracenote 数据库（截至 2026 年 2 月）；调查二；Veed Analytics 测试（报告引用）。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报告的四环论证，可按课上四个维度逐环检验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四、方法评价 · 总览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评价引言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依据：课上春晚满意度调查案例（央视 81.6% 与新浪网 11.5%）——调查对象、研究总体、调查时间与研究方法不同，结论必然不同。</a:t>
            </a:r>
            <a:endParaRPr lang="en-US" sz="1400" dirty="0"/>
          </a:p>
        </p:txBody>
      </p:sp>
      <p:sp>
        <p:nvSpPr>
          <p:cNvPr id="15" name="行标签1"/>
          <p:cNvSpPr txBox="1"/>
          <p:nvPr/>
        </p:nvSpPr>
        <p:spPr>
          <a:xfrm>
            <a:off x="548640" y="17830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论证环节</a:t>
            </a:r>
            <a:endParaRPr lang="en-US" sz="1300" dirty="0"/>
          </a:p>
        </p:txBody>
      </p:sp>
      <p:sp>
        <p:nvSpPr>
          <p:cNvPr id="16" name="行标签2"/>
          <p:cNvSpPr txBox="1"/>
          <p:nvPr/>
        </p:nvSpPr>
        <p:spPr>
          <a:xfrm>
            <a:off x="548640" y="274320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报告证据</a:t>
            </a:r>
            <a:endParaRPr lang="en-US" sz="1300" dirty="0"/>
          </a:p>
        </p:txBody>
      </p:sp>
      <p:sp>
        <p:nvSpPr>
          <p:cNvPr id="17" name="行标签3"/>
          <p:cNvSpPr txBox="1"/>
          <p:nvPr/>
        </p:nvSpPr>
        <p:spPr>
          <a:xfrm>
            <a:off x="548640" y="4114800"/>
            <a:ext cx="1097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检验维度</a:t>
            </a:r>
            <a:endParaRPr lang="en-US" sz="1300" dirty="0"/>
          </a:p>
        </p:txBody>
      </p:sp>
      <p:sp>
        <p:nvSpPr>
          <p:cNvPr id="18" name="环节1"/>
          <p:cNvSpPr/>
          <p:nvPr/>
        </p:nvSpPr>
        <p:spPr>
          <a:xfrm>
            <a:off x="16459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环节文字1"/>
          <p:cNvSpPr txBox="1"/>
          <p:nvPr/>
        </p:nvSpPr>
        <p:spPr>
          <a:xfrm>
            <a:off x="17373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用户日益依赖 AI</a:t>
            </a:r>
            <a:endParaRPr lang="en-US" sz="1400" dirty="0"/>
          </a:p>
        </p:txBody>
      </p:sp>
      <p:sp>
        <p:nvSpPr>
          <p:cNvPr id="20" name="环节箭头1"/>
          <p:cNvSpPr txBox="1"/>
          <p:nvPr/>
        </p:nvSpPr>
        <p:spPr>
          <a:xfrm>
            <a:off x="3931920" y="1783080"/>
            <a:ext cx="228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证据1"/>
          <p:cNvSpPr/>
          <p:nvPr/>
        </p:nvSpPr>
        <p:spPr>
          <a:xfrm>
            <a:off x="16459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证据文字1"/>
          <p:cNvSpPr txBox="1"/>
          <p:nvPr/>
        </p:nvSpPr>
        <p:spPr>
          <a:xfrm>
            <a:off x="17830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54% 每日使用；较皮尤 30% “正在加速”</a:t>
            </a:r>
            <a:endParaRPr lang="en-US" sz="1300" dirty="0"/>
          </a:p>
        </p:txBody>
      </p:sp>
      <p:sp>
        <p:nvSpPr>
          <p:cNvPr id="23" name="检验1"/>
          <p:cNvSpPr/>
          <p:nvPr/>
        </p:nvSpPr>
        <p:spPr>
          <a:xfrm>
            <a:off x="16459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检验文字1"/>
          <p:cNvSpPr txBox="1"/>
          <p:nvPr/>
        </p:nvSpPr>
        <p:spPr>
          <a:xfrm>
            <a:off x="17830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维度一 调查对象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维度三 调查时间</a:t>
            </a:r>
            <a:endParaRPr lang="en-US" sz="1400" dirty="0"/>
          </a:p>
        </p:txBody>
      </p:sp>
      <p:sp>
        <p:nvSpPr>
          <p:cNvPr id="25" name="环节2"/>
          <p:cNvSpPr/>
          <p:nvPr/>
        </p:nvSpPr>
        <p:spPr>
          <a:xfrm>
            <a:off x="41605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环节文字2"/>
          <p:cNvSpPr txBox="1"/>
          <p:nvPr/>
        </p:nvSpPr>
        <p:spPr>
          <a:xfrm>
            <a:off x="42519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但对 AI 信任不足</a:t>
            </a:r>
            <a:endParaRPr lang="en-US" sz="1400" dirty="0"/>
          </a:p>
        </p:txBody>
      </p:sp>
      <p:sp>
        <p:nvSpPr>
          <p:cNvPr id="27" name="环节箭头2"/>
          <p:cNvSpPr txBox="1"/>
          <p:nvPr/>
        </p:nvSpPr>
        <p:spPr>
          <a:xfrm>
            <a:off x="6446520" y="1783080"/>
            <a:ext cx="228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证据2"/>
          <p:cNvSpPr/>
          <p:nvPr/>
        </p:nvSpPr>
        <p:spPr>
          <a:xfrm>
            <a:off x="41605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证据文字2"/>
          <p:cNvSpPr txBox="1"/>
          <p:nvPr/>
        </p:nvSpPr>
        <p:spPr>
          <a:xfrm>
            <a:off x="42976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75% 会核查 AI 的回答</a:t>
            </a:r>
            <a:endParaRPr lang="en-US" sz="1300" dirty="0"/>
          </a:p>
        </p:txBody>
      </p:sp>
      <p:sp>
        <p:nvSpPr>
          <p:cNvPr id="30" name="检验2"/>
          <p:cNvSpPr/>
          <p:nvPr/>
        </p:nvSpPr>
        <p:spPr>
          <a:xfrm>
            <a:off x="41605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检验文字2"/>
          <p:cNvSpPr txBox="1"/>
          <p:nvPr/>
        </p:nvSpPr>
        <p:spPr>
          <a:xfrm>
            <a:off x="42976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维度一 调查对象</a:t>
            </a:r>
            <a:endParaRPr lang="en-US" sz="1400" dirty="0"/>
          </a:p>
        </p:txBody>
      </p:sp>
      <p:sp>
        <p:nvSpPr>
          <p:cNvPr id="32" name="环节3"/>
          <p:cNvSpPr/>
          <p:nvPr/>
        </p:nvSpPr>
        <p:spPr>
          <a:xfrm>
            <a:off x="66751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环节文字3"/>
          <p:cNvSpPr txBox="1"/>
          <p:nvPr/>
        </p:nvSpPr>
        <p:spPr>
          <a:xfrm>
            <a:off x="67665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检索困难导致退订</a:t>
            </a:r>
            <a:endParaRPr lang="en-US" sz="1400" dirty="0"/>
          </a:p>
        </p:txBody>
      </p:sp>
      <p:sp>
        <p:nvSpPr>
          <p:cNvPr id="34" name="环节箭头3"/>
          <p:cNvSpPr txBox="1"/>
          <p:nvPr/>
        </p:nvSpPr>
        <p:spPr>
          <a:xfrm>
            <a:off x="8961120" y="1783080"/>
            <a:ext cx="228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35" name="证据3"/>
          <p:cNvSpPr/>
          <p:nvPr/>
        </p:nvSpPr>
        <p:spPr>
          <a:xfrm>
            <a:off x="66751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证据文字3"/>
          <p:cNvSpPr txBox="1"/>
          <p:nvPr/>
        </p:nvSpPr>
        <p:spPr>
          <a:xfrm>
            <a:off x="68122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14 分钟；54% 可能退订；5.5% 月退订率</a:t>
            </a:r>
            <a:endParaRPr lang="en-US" sz="1300" dirty="0"/>
          </a:p>
        </p:txBody>
      </p:sp>
      <p:sp>
        <p:nvSpPr>
          <p:cNvPr id="37" name="检验3"/>
          <p:cNvSpPr/>
          <p:nvPr/>
        </p:nvSpPr>
        <p:spPr>
          <a:xfrm>
            <a:off x="66751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8" name="检验文字3"/>
          <p:cNvSpPr txBox="1"/>
          <p:nvPr/>
        </p:nvSpPr>
        <p:spPr>
          <a:xfrm>
            <a:off x="68122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维度二 研究总体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维度四 研究方法</a:t>
            </a:r>
            <a:endParaRPr lang="en-US" sz="1400" dirty="0"/>
          </a:p>
        </p:txBody>
      </p:sp>
      <p:sp>
        <p:nvSpPr>
          <p:cNvPr id="39" name="环节4"/>
          <p:cNvSpPr/>
          <p:nvPr/>
        </p:nvSpPr>
        <p:spPr>
          <a:xfrm>
            <a:off x="91897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环节文字4"/>
          <p:cNvSpPr txBox="1"/>
          <p:nvPr/>
        </p:nvSpPr>
        <p:spPr>
          <a:xfrm>
            <a:off x="92811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AI 须接入可信数据</a:t>
            </a:r>
            <a:endParaRPr lang="en-US" sz="1400" dirty="0"/>
          </a:p>
        </p:txBody>
      </p:sp>
      <p:sp>
        <p:nvSpPr>
          <p:cNvPr id="41" name="证据4"/>
          <p:cNvSpPr/>
          <p:nvPr/>
        </p:nvSpPr>
        <p:spPr>
          <a:xfrm>
            <a:off x="91897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证据文字4"/>
          <p:cNvSpPr txBox="1"/>
          <p:nvPr/>
        </p:nvSpPr>
        <p:spPr>
          <a:xfrm>
            <a:off x="93268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由前三环推出，无直接数据</a:t>
            </a:r>
            <a:endParaRPr lang="en-US" sz="1300" dirty="0"/>
          </a:p>
        </p:txBody>
      </p:sp>
      <p:sp>
        <p:nvSpPr>
          <p:cNvPr id="43" name="检验4"/>
          <p:cNvSpPr/>
          <p:nvPr/>
        </p:nvSpPr>
        <p:spPr>
          <a:xfrm>
            <a:off x="91897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检验文字4"/>
          <p:cNvSpPr txBox="1"/>
          <p:nvPr/>
        </p:nvSpPr>
        <p:spPr>
          <a:xfrm>
            <a:off x="93268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维度四 研究方法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（方案未经检验）</a:t>
            </a:r>
            <a:endParaRPr lang="en-US" sz="1400" dirty="0"/>
          </a:p>
        </p:txBody>
      </p:sp>
      <p:sp>
        <p:nvSpPr>
          <p:cNvPr id="45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评价框架参照课程案例：春晚满意度调查中，调查对象、研究总体、调查时间与研究方法的差异导致结论相反。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样本仅为 AI 用户，结论却推及“美国人”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四、方法评价 · 维度一  调查对象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总体圈1"/>
          <p:cNvSpPr/>
          <p:nvPr/>
        </p:nvSpPr>
        <p:spPr>
          <a:xfrm>
            <a:off x="731520" y="137160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总体标签1"/>
          <p:cNvSpPr txBox="1"/>
          <p:nvPr/>
        </p:nvSpPr>
        <p:spPr>
          <a:xfrm>
            <a:off x="731520" y="14813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16" name="总体圈2"/>
          <p:cNvSpPr/>
          <p:nvPr/>
        </p:nvSpPr>
        <p:spPr>
          <a:xfrm>
            <a:off x="1143000" y="201168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总体标签2"/>
          <p:cNvSpPr txBox="1"/>
          <p:nvPr/>
        </p:nvSpPr>
        <p:spPr>
          <a:xfrm>
            <a:off x="114300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8" name="总体圈3"/>
          <p:cNvSpPr/>
          <p:nvPr/>
        </p:nvSpPr>
        <p:spPr>
          <a:xfrm>
            <a:off x="1554480" y="265176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总体标签3"/>
          <p:cNvSpPr txBox="1"/>
          <p:nvPr/>
        </p:nvSpPr>
        <p:spPr>
          <a:xfrm>
            <a:off x="1554480" y="2761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20" name="总体圈4"/>
          <p:cNvSpPr/>
          <p:nvPr/>
        </p:nvSpPr>
        <p:spPr>
          <a:xfrm>
            <a:off x="2011680" y="329184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样本标签"/>
          <p:cNvSpPr txBox="1"/>
          <p:nvPr/>
        </p:nvSpPr>
        <p:spPr>
          <a:xfrm>
            <a:off x="2011680" y="3566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本次样本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22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25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样本仅为 AI 聊天机器人用户，结论却表述为“美国人”；“Alpha 世代”仅含 13–14 岁。</a:t>
            </a:r>
            <a:endParaRPr lang="en-US" sz="1400" dirty="0"/>
          </a:p>
        </p:txBody>
      </p:sp>
      <p:sp>
        <p:nvSpPr>
          <p:cNvPr id="26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7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30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以“使用 AI”为筛选条件的线上样本；抽样框、加权、应答率均未公开。</a:t>
            </a:r>
            <a:endParaRPr lang="en-US" sz="1400" dirty="0"/>
          </a:p>
        </p:txBody>
      </p:sp>
      <p:sp>
        <p:nvSpPr>
          <p:cNvPr id="31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2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35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54%、75% 只代表美国 AI 用户；与课上 Durex 网络调查同属覆盖偏差。</a:t>
            </a:r>
            <a:endParaRPr lang="en-US" sz="1400" dirty="0"/>
          </a:p>
        </p:txBody>
      </p:sp>
      <p:sp>
        <p:nvSpPr>
          <p:cNvPr id="36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报告；尼尔森新闻稿原文：“Gen Alpha findings are based on respondents ages 13 and 14”。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“14 分钟”是六国均值，美国实为 12 分钟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四、方法评价 · 维度二  研究总体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graphicFrame>
        <p:nvGraphicFramePr>
          <p:cNvPr id="14" name="分国家寻找时长图" descr=""/>
          <p:cNvGraphicFramePr/>
          <p:nvPr/>
        </p:nvGraphicFramePr>
        <p:xfrm>
          <a:off x="548640" y="1325880"/>
          <a:ext cx="53035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18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“14 分钟”“54% 可能退订”均为六国数据，却置于美国收视图表中。</a:t>
            </a:r>
            <a:endParaRPr lang="en-US" sz="1400" dirty="0"/>
          </a:p>
        </p:txBody>
      </p:sp>
      <p:sp>
        <p:nvSpPr>
          <p:cNvPr id="19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0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23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14 分钟为六国等权简单平均；法国 26 分钟拉高均值，美国为 12 分钟。</a:t>
            </a:r>
            <a:endParaRPr lang="en-US" sz="1400" dirty="0"/>
          </a:p>
        </p:txBody>
      </p:sp>
      <p:sp>
        <p:nvSpPr>
          <p:cNvPr id="24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5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28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高估美国用户的检索困难；“50% 美国观众考虑退订”原文仅见六国 49%。</a:t>
            </a:r>
            <a:endParaRPr lang="en-US" sz="1400" dirty="0"/>
          </a:p>
        </p:txBody>
      </p:sp>
      <p:sp>
        <p:nvSpPr>
          <p:cNvPr id="29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报告；Gracenote 2025 年报告《State of Play》分国家、分年龄图表（每国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两项调查分母不同，“加速”结论不成立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四、方法评价 · 维度三  调查时间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对比卡1"/>
          <p:cNvSpPr/>
          <p:nvPr/>
        </p:nvSpPr>
        <p:spPr>
          <a:xfrm>
            <a:off x="548640" y="137160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对比机构1"/>
          <p:cNvSpPr txBox="1"/>
          <p:nvPr/>
        </p:nvSpPr>
        <p:spPr>
          <a:xfrm>
            <a:off x="822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皮尤研究中心（2025 年 9–10 月）</a:t>
            </a:r>
            <a:endParaRPr lang="en-US" sz="1500" dirty="0"/>
          </a:p>
        </p:txBody>
      </p:sp>
      <p:sp>
        <p:nvSpPr>
          <p:cNvPr id="16" name="对比数字1"/>
          <p:cNvSpPr txBox="1"/>
          <p:nvPr/>
        </p:nvSpPr>
        <p:spPr>
          <a:xfrm>
            <a:off x="822960" y="1920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岁每日使用 AI</a:t>
            </a:r>
            <a:endParaRPr lang="en-US" sz="4800" dirty="0"/>
          </a:p>
        </p:txBody>
      </p:sp>
      <p:sp>
        <p:nvSpPr>
          <p:cNvPr id="17" name="对比说明1"/>
          <p:cNvSpPr txBox="1"/>
          <p:nvPr/>
        </p:nvSpPr>
        <p:spPr>
          <a:xfrm>
            <a:off x="822960" y="2834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分母：全体 13–14 岁青少年 · 概率样本，经加权</a:t>
            </a:r>
            <a:endParaRPr lang="en-US" sz="1300" dirty="0"/>
          </a:p>
        </p:txBody>
      </p:sp>
      <p:sp>
        <p:nvSpPr>
          <p:cNvPr id="18" name="对比卡2"/>
          <p:cNvSpPr/>
          <p:nvPr/>
        </p:nvSpPr>
        <p:spPr>
          <a:xfrm>
            <a:off x="548640" y="370332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对比机构2"/>
          <p:cNvSpPr txBox="1"/>
          <p:nvPr/>
        </p:nvSpPr>
        <p:spPr>
          <a:xfrm>
            <a:off x="822960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Gracenote 本报告（2026 年 1–2 月）</a:t>
            </a:r>
            <a:endParaRPr lang="en-US" sz="1500" dirty="0"/>
          </a:p>
        </p:txBody>
      </p:sp>
      <p:sp>
        <p:nvSpPr>
          <p:cNvPr id="20" name="对比数字2"/>
          <p:cNvSpPr txBox="1"/>
          <p:nvPr/>
        </p:nvSpPr>
        <p:spPr>
          <a:xfrm>
            <a:off x="822960" y="4251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岁每日使用 AI</a:t>
            </a:r>
            <a:endParaRPr lang="en-US" sz="4800" dirty="0"/>
          </a:p>
        </p:txBody>
      </p:sp>
      <p:sp>
        <p:nvSpPr>
          <p:cNvPr id="21" name="对比说明2"/>
          <p:cNvSpPr txBox="1"/>
          <p:nvPr/>
        </p:nvSpPr>
        <p:spPr>
          <a:xfrm>
            <a:off x="822960" y="5166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分母：13–14 岁 AI 用户 · 线上样本，加权未公开</a:t>
            </a:r>
            <a:endParaRPr lang="en-US" sz="1300" dirty="0"/>
          </a:p>
        </p:txBody>
      </p:sp>
      <p:sp>
        <p:nvSpPr>
          <p:cNvPr id="22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25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以皮尤 2025 年秋的 30% 对比本报告 2026 年初的 54%，称使用“正在加速”。</a:t>
            </a:r>
            <a:endParaRPr lang="en-US" sz="1400" dirty="0"/>
          </a:p>
        </p:txBody>
      </p:sp>
      <p:sp>
        <p:nvSpPr>
          <p:cNvPr id="26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7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30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分母不同：皮尤为全体青少年（13–14 岁仅 24%），本报告仅含 AI 用户。</a:t>
            </a:r>
            <a:endParaRPr lang="en-US" sz="1400" dirty="0"/>
          </a:p>
        </p:txBody>
      </p:sp>
      <p:sp>
        <p:nvSpPr>
          <p:cNvPr id="31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2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35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统一为使用者口径后皮尤为 44%，差距约 10 个百分点，不足以推断“加速”。</a:t>
            </a:r>
            <a:endParaRPr lang="en-US" sz="1400" dirty="0"/>
          </a:p>
        </p:txBody>
      </p:sp>
      <p:sp>
        <p:nvSpPr>
          <p:cNvPr id="36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报告；皮尤《Teens, Social Media and AI Chatbots 2025》数据表（全体每日 28%，13–14 岁 24%，使用者中 44%）。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四类异质数据不足以证明“检索困难导致退订”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四、方法评价 · 维度四  研究方法</a:t>
            </a:r>
            <a:endParaRPr lang="en-US" sz="1200" dirty="0"/>
          </a:p>
        </p:txBody>
      </p:sp>
      <p:sp>
        <p:nvSpPr>
          <p:cNvPr id="4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6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8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10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2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4" name="数据类型卡1"/>
          <p:cNvSpPr/>
          <p:nvPr/>
        </p:nvSpPr>
        <p:spPr>
          <a:xfrm>
            <a:off x="5486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数据类型1"/>
          <p:cNvSpPr txBox="1"/>
          <p:nvPr/>
        </p:nvSpPr>
        <p:spPr>
          <a:xfrm>
            <a:off x="77724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意向 · 问卷</a:t>
            </a:r>
            <a:endParaRPr lang="en-US" sz="1300" dirty="0"/>
          </a:p>
        </p:txBody>
      </p:sp>
      <p:sp>
        <p:nvSpPr>
          <p:cNvPr id="16" name="数据类型数字1"/>
          <p:cNvSpPr txBox="1"/>
          <p:nvPr/>
        </p:nvSpPr>
        <p:spPr>
          <a:xfrm>
            <a:off x="777240" y="19202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54%</a:t>
            </a:r>
            <a:endParaRPr lang="en-US" sz="3200" dirty="0"/>
          </a:p>
        </p:txBody>
      </p:sp>
      <p:sp>
        <p:nvSpPr>
          <p:cNvPr id="17" name="数据类型说明1"/>
          <p:cNvSpPr txBox="1"/>
          <p:nvPr/>
        </p:nvSpPr>
        <p:spPr>
          <a:xfrm>
            <a:off x="777240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岁表示可能退订（六国）</a:t>
            </a:r>
            <a:endParaRPr lang="en-US" sz="1300" dirty="0"/>
          </a:p>
        </p:txBody>
      </p:sp>
      <p:sp>
        <p:nvSpPr>
          <p:cNvPr id="18" name="数据类型卡2"/>
          <p:cNvSpPr/>
          <p:nvPr/>
        </p:nvSpPr>
        <p:spPr>
          <a:xfrm>
            <a:off x="32918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数据类型2"/>
          <p:cNvSpPr txBox="1"/>
          <p:nvPr/>
        </p:nvSpPr>
        <p:spPr>
          <a:xfrm>
            <a:off x="352044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行为 · 行业统计</a:t>
            </a:r>
            <a:endParaRPr lang="en-US" sz="1300" dirty="0"/>
          </a:p>
        </p:txBody>
      </p:sp>
      <p:sp>
        <p:nvSpPr>
          <p:cNvPr id="20" name="数据类型数字2"/>
          <p:cNvSpPr txBox="1"/>
          <p:nvPr/>
        </p:nvSpPr>
        <p:spPr>
          <a:xfrm>
            <a:off x="3520440" y="19202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5.5%</a:t>
            </a:r>
            <a:endParaRPr lang="en-US" sz="3200" dirty="0"/>
          </a:p>
        </p:txBody>
      </p:sp>
      <p:sp>
        <p:nvSpPr>
          <p:cNvPr id="21" name="数据类型说明2"/>
          <p:cNvSpPr txBox="1"/>
          <p:nvPr/>
        </p:nvSpPr>
        <p:spPr>
          <a:xfrm>
            <a:off x="3520440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月度退订率（算法未公开）</a:t>
            </a:r>
            <a:endParaRPr lang="en-US" sz="1300" dirty="0"/>
          </a:p>
        </p:txBody>
      </p:sp>
      <p:sp>
        <p:nvSpPr>
          <p:cNvPr id="22" name="数据类型卡3"/>
          <p:cNvSpPr/>
          <p:nvPr/>
        </p:nvSpPr>
        <p:spPr>
          <a:xfrm>
            <a:off x="5486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数据类型3"/>
          <p:cNvSpPr txBox="1"/>
          <p:nvPr/>
        </p:nvSpPr>
        <p:spPr>
          <a:xfrm>
            <a:off x="7772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预测 · 普华永道</a:t>
            </a:r>
            <a:endParaRPr lang="en-US" sz="1300" dirty="0"/>
          </a:p>
        </p:txBody>
      </p:sp>
      <p:sp>
        <p:nvSpPr>
          <p:cNvPr id="24" name="数据类型数字3"/>
          <p:cNvSpPr txBox="1"/>
          <p:nvPr/>
        </p:nvSpPr>
        <p:spPr>
          <a:xfrm>
            <a:off x="777240" y="4160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5" name="数据类型说明3"/>
          <p:cNvSpPr txBox="1"/>
          <p:nvPr/>
        </p:nvSpPr>
        <p:spPr>
          <a:xfrm>
            <a:off x="777240" y="4892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2029 年支出（全球数据）</a:t>
            </a:r>
            <a:endParaRPr lang="en-US" sz="1300" dirty="0"/>
          </a:p>
        </p:txBody>
      </p:sp>
      <p:sp>
        <p:nvSpPr>
          <p:cNvPr id="26" name="数据类型卡4"/>
          <p:cNvSpPr/>
          <p:nvPr/>
        </p:nvSpPr>
        <p:spPr>
          <a:xfrm>
            <a:off x="32918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数据类型4"/>
          <p:cNvSpPr txBox="1"/>
          <p:nvPr/>
        </p:nvSpPr>
        <p:spPr>
          <a:xfrm>
            <a:off x="35204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测试 · AI 回答</a:t>
            </a:r>
            <a:endParaRPr lang="en-US" sz="1300" dirty="0"/>
          </a:p>
        </p:txBody>
      </p:sp>
      <p:sp>
        <p:nvSpPr>
          <p:cNvPr id="28" name="数据类型数字4"/>
          <p:cNvSpPr txBox="1"/>
          <p:nvPr/>
        </p:nvSpPr>
        <p:spPr>
          <a:xfrm>
            <a:off x="3520440" y="4160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约 2/3</a:t>
            </a:r>
            <a:endParaRPr lang="en-US" sz="3200" dirty="0"/>
          </a:p>
        </p:txBody>
      </p:sp>
      <p:sp>
        <p:nvSpPr>
          <p:cNvPr id="29" name="数据类型说明4"/>
          <p:cNvSpPr txBox="1"/>
          <p:nvPr/>
        </p:nvSpPr>
        <p:spPr>
          <a:xfrm>
            <a:off x="3520440" y="4892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答对播出平台（六国合并）</a:t>
            </a:r>
            <a:endParaRPr lang="en-US" sz="1300" dirty="0"/>
          </a:p>
        </p:txBody>
      </p:sp>
      <p:sp>
        <p:nvSpPr>
          <p:cNvPr id="30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33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“检索困难导致退订”由意向、行为、预测、测试四类数据支撑。</a:t>
            </a:r>
            <a:endParaRPr lang="en-US" sz="1400" dirty="0"/>
          </a:p>
        </p:txBody>
      </p:sp>
      <p:sp>
        <p:nvSpPr>
          <p:cNvPr id="34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5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38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四类数据的对象、国家与性质不同，且缺乏追踪设计或实验设计。</a:t>
            </a:r>
            <a:endParaRPr lang="en-US" sz="1400" dirty="0"/>
          </a:p>
        </p:txBody>
      </p:sp>
      <p:sp>
        <p:nvSpPr>
          <p:cNvPr id="39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40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43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只能提示相关，不能证明因果；报告方案（AI 接入行业数据）亦未经检验。</a:t>
            </a:r>
            <a:endParaRPr lang="en-US" sz="1400" dirty="0"/>
          </a:p>
        </p:txBody>
      </p:sp>
      <p:sp>
        <p:nvSpPr>
          <p:cNvPr id="44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报告；普华永道、Veed Analytics 原文；退订率见 Broadband TV News 转述 Fabric 数据，Antenna 数据经 MediaPost 转述。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两环部分成立、两环证据不足：结论应限于 AI 用户</a:t>
            </a:r>
            <a:endParaRPr lang="en-US" sz="2800" dirty="0"/>
          </a:p>
        </p:txBody>
      </p:sp>
      <p:sp>
        <p:nvSpPr>
          <p:cNvPr id="3" name="章节标签"/>
          <p:cNvSpPr txBox="1"/>
          <p:nvPr/>
        </p:nvSpPr>
        <p:spPr>
          <a:xfrm>
            <a:off x="73152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五、总结与启示</a:t>
            </a:r>
            <a:endParaRPr lang="en-US" sz="1200" dirty="0"/>
          </a:p>
        </p:txBody>
      </p:sp>
      <p:sp>
        <p:nvSpPr>
          <p:cNvPr id="4" name="判断行1"/>
          <p:cNvSpPr/>
          <p:nvPr/>
        </p:nvSpPr>
        <p:spPr>
          <a:xfrm>
            <a:off x="731520" y="1508760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960120" y="15087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① 用户日益依赖 AI</a:t>
            </a:r>
            <a:endParaRPr lang="en-US" sz="1500" dirty="0"/>
          </a:p>
        </p:txBody>
      </p:sp>
      <p:sp>
        <p:nvSpPr>
          <p:cNvPr id="6" name="判断说明1"/>
          <p:cNvSpPr txBox="1"/>
          <p:nvPr/>
        </p:nvSpPr>
        <p:spPr>
          <a:xfrm>
            <a:off x="3337560" y="15087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仅适用于 AI 用户；“加速”不成立</a:t>
            </a:r>
            <a:endParaRPr lang="en-US" sz="1300" dirty="0"/>
          </a:p>
        </p:txBody>
      </p:sp>
      <p:sp>
        <p:nvSpPr>
          <p:cNvPr id="7" name="判断标签1"/>
          <p:cNvSpPr/>
          <p:nvPr/>
        </p:nvSpPr>
        <p:spPr>
          <a:xfrm>
            <a:off x="6309360" y="1737360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判断标签文字1"/>
          <p:cNvSpPr txBox="1"/>
          <p:nvPr/>
        </p:nvSpPr>
        <p:spPr>
          <a:xfrm>
            <a:off x="630936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部分成立</a:t>
            </a:r>
            <a:endParaRPr lang="en-US" sz="1200" dirty="0"/>
          </a:p>
        </p:txBody>
      </p:sp>
      <p:sp>
        <p:nvSpPr>
          <p:cNvPr id="9" name="判断行2"/>
          <p:cNvSpPr/>
          <p:nvPr/>
        </p:nvSpPr>
        <p:spPr>
          <a:xfrm>
            <a:off x="731520" y="2532888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判断环节2"/>
          <p:cNvSpPr txBox="1"/>
          <p:nvPr/>
        </p:nvSpPr>
        <p:spPr>
          <a:xfrm>
            <a:off x="960120" y="25328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② 但对 AI 信任不足</a:t>
            </a:r>
            <a:endParaRPr lang="en-US" sz="1500" dirty="0"/>
          </a:p>
        </p:txBody>
      </p:sp>
      <p:sp>
        <p:nvSpPr>
          <p:cNvPr id="11" name="判断说明2"/>
          <p:cNvSpPr txBox="1"/>
          <p:nvPr/>
        </p:nvSpPr>
        <p:spPr>
          <a:xfrm>
            <a:off x="3337560" y="253288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仅适用于 AI 用户</a:t>
            </a:r>
            <a:endParaRPr lang="en-US" sz="1300" dirty="0"/>
          </a:p>
        </p:txBody>
      </p:sp>
      <p:sp>
        <p:nvSpPr>
          <p:cNvPr id="12" name="判断标签2"/>
          <p:cNvSpPr/>
          <p:nvPr/>
        </p:nvSpPr>
        <p:spPr>
          <a:xfrm>
            <a:off x="6309360" y="2761488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判断标签文字2"/>
          <p:cNvSpPr txBox="1"/>
          <p:nvPr/>
        </p:nvSpPr>
        <p:spPr>
          <a:xfrm>
            <a:off x="6309360" y="27614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部分成立</a:t>
            </a:r>
            <a:endParaRPr lang="en-US" sz="1200" dirty="0"/>
          </a:p>
        </p:txBody>
      </p:sp>
      <p:sp>
        <p:nvSpPr>
          <p:cNvPr id="14" name="判断行3"/>
          <p:cNvSpPr/>
          <p:nvPr/>
        </p:nvSpPr>
        <p:spPr>
          <a:xfrm>
            <a:off x="731520" y="3557016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判断环节3"/>
          <p:cNvSpPr txBox="1"/>
          <p:nvPr/>
        </p:nvSpPr>
        <p:spPr>
          <a:xfrm>
            <a:off x="960120" y="3557016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③ 检索困难导致退订</a:t>
            </a:r>
            <a:endParaRPr lang="en-US" sz="1500" dirty="0"/>
          </a:p>
        </p:txBody>
      </p:sp>
      <p:sp>
        <p:nvSpPr>
          <p:cNvPr id="16" name="判断说明3"/>
          <p:cNvSpPr txBox="1"/>
          <p:nvPr/>
        </p:nvSpPr>
        <p:spPr>
          <a:xfrm>
            <a:off x="3337560" y="3557016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六国与美国口径混用，因果未经证明</a:t>
            </a:r>
            <a:endParaRPr lang="en-US" sz="1300" dirty="0"/>
          </a:p>
        </p:txBody>
      </p:sp>
      <p:sp>
        <p:nvSpPr>
          <p:cNvPr id="17" name="判断标签3"/>
          <p:cNvSpPr/>
          <p:nvPr/>
        </p:nvSpPr>
        <p:spPr>
          <a:xfrm>
            <a:off x="6309360" y="3785616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判断标签文字3"/>
          <p:cNvSpPr txBox="1"/>
          <p:nvPr/>
        </p:nvSpPr>
        <p:spPr>
          <a:xfrm>
            <a:off x="6309360" y="378561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证据不足</a:t>
            </a:r>
            <a:endParaRPr lang="en-US" sz="1200" dirty="0"/>
          </a:p>
        </p:txBody>
      </p:sp>
      <p:sp>
        <p:nvSpPr>
          <p:cNvPr id="19" name="判断行4"/>
          <p:cNvSpPr/>
          <p:nvPr/>
        </p:nvSpPr>
        <p:spPr>
          <a:xfrm>
            <a:off x="731520" y="4581144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判断环节4"/>
          <p:cNvSpPr txBox="1"/>
          <p:nvPr/>
        </p:nvSpPr>
        <p:spPr>
          <a:xfrm>
            <a:off x="960120" y="45811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④ AI 须接入可信数据</a:t>
            </a:r>
            <a:endParaRPr lang="en-US" sz="1500" dirty="0"/>
          </a:p>
        </p:txBody>
      </p:sp>
      <p:sp>
        <p:nvSpPr>
          <p:cNvPr id="21" name="判断说明4"/>
          <p:cNvSpPr txBox="1"/>
          <p:nvPr/>
        </p:nvSpPr>
        <p:spPr>
          <a:xfrm>
            <a:off x="3337560" y="458114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由前三环推出，方案效果未经检验</a:t>
            </a:r>
            <a:endParaRPr lang="en-US" sz="1300" dirty="0"/>
          </a:p>
        </p:txBody>
      </p:sp>
      <p:sp>
        <p:nvSpPr>
          <p:cNvPr id="22" name="判断标签4"/>
          <p:cNvSpPr/>
          <p:nvPr/>
        </p:nvSpPr>
        <p:spPr>
          <a:xfrm>
            <a:off x="6309360" y="4809744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判断标签文字4"/>
          <p:cNvSpPr txBox="1"/>
          <p:nvPr/>
        </p:nvSpPr>
        <p:spPr>
          <a:xfrm>
            <a:off x="6309360" y="48097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未经检验</a:t>
            </a:r>
            <a:endParaRPr lang="en-US" sz="1200" dirty="0"/>
          </a:p>
        </p:txBody>
      </p:sp>
      <p:sp>
        <p:nvSpPr>
          <p:cNvPr id="24" name="研究价值卡"/>
          <p:cNvSpPr/>
          <p:nvPr/>
        </p:nvSpPr>
        <p:spPr>
          <a:xfrm>
            <a:off x="7863840" y="1508760"/>
            <a:ext cx="361188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研究价值"/>
          <p:cNvSpPr txBox="1"/>
          <p:nvPr/>
        </p:nvSpPr>
        <p:spPr>
          <a:xfrm>
            <a:off x="8092440" y="16459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研究价值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公开样本量、调查时间与年龄范围；图表数据经复核基本一致，可作为行业趋势的参考。</a:t>
            </a:r>
            <a:endParaRPr lang="en-US" sz="1600" dirty="0"/>
          </a:p>
        </p:txBody>
      </p:sp>
      <p:sp>
        <p:nvSpPr>
          <p:cNvPr id="26" name="讨论卡"/>
          <p:cNvSpPr/>
          <p:nvPr/>
        </p:nvSpPr>
        <p:spPr>
          <a:xfrm>
            <a:off x="7863840" y="3611880"/>
            <a:ext cx="3611880" cy="1993392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讨论问题"/>
          <p:cNvSpPr txBox="1"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讨论问题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如何设计调查，才能检验“检索困难导致退订”？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提示：追踪调查，同时测量退订意向与实际退订行为。</a:t>
            </a:r>
            <a:endParaRPr lang="en-US" sz="1600" dirty="0"/>
          </a:p>
        </p:txBody>
      </p:sp>
      <p:sp>
        <p:nvSpPr>
          <p:cNvPr id="28" name="利益关系说明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注：报告主张与 Gracenote 主营业务直接相关，这构成审慎评估其方法的理由，但不能据此判定数据有误。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11 个数据来源中，核心两项问卷最不透明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附录（备问）</a:t>
            </a:r>
            <a:endParaRPr lang="en-US" sz="1200" dirty="0"/>
          </a:p>
        </p:txBody>
      </p:sp>
      <p:sp>
        <p:nvSpPr>
          <p:cNvPr id="4" name="来源卡1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状态点1"/>
          <p:cNvSpPr/>
          <p:nvPr/>
        </p:nvSpPr>
        <p:spPr>
          <a:xfrm>
            <a:off x="73152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来源类型1"/>
          <p:cNvSpPr txBox="1"/>
          <p:nvPr/>
        </p:nvSpPr>
        <p:spPr>
          <a:xfrm>
            <a:off x="100584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7" name="来源说明1"/>
          <p:cNvSpPr txBox="1"/>
          <p:nvPr/>
        </p:nvSpPr>
        <p:spPr>
          <a:xfrm>
            <a:off x="73152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2026 AI 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AI 用户 · 4,003 人；抽样框、加权、应答率、各组样本量未公开</a:t>
            </a:r>
            <a:endParaRPr lang="en-US" sz="1400" dirty="0"/>
          </a:p>
        </p:txBody>
      </p:sp>
      <p:sp>
        <p:nvSpPr>
          <p:cNvPr id="8" name="来源卡2"/>
          <p:cNvSpPr/>
          <p:nvPr/>
        </p:nvSpPr>
        <p:spPr>
          <a:xfrm>
            <a:off x="336042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状态点2"/>
          <p:cNvSpPr/>
          <p:nvPr/>
        </p:nvSpPr>
        <p:spPr>
          <a:xfrm>
            <a:off x="354330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来源类型2"/>
          <p:cNvSpPr txBox="1"/>
          <p:nvPr/>
        </p:nvSpPr>
        <p:spPr>
          <a:xfrm>
            <a:off x="381762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11" name="来源说明2"/>
          <p:cNvSpPr txBox="1"/>
          <p:nvPr/>
        </p:nvSpPr>
        <p:spPr>
          <a:xfrm>
            <a:off x="354330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2025 流媒体调查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六国各 500 人；抽样框、加权、应答率未公开</a:t>
            </a:r>
            <a:endParaRPr lang="en-US" sz="1400" dirty="0"/>
          </a:p>
        </p:txBody>
      </p:sp>
      <p:sp>
        <p:nvSpPr>
          <p:cNvPr id="12" name="来源卡3"/>
          <p:cNvSpPr/>
          <p:nvPr/>
        </p:nvSpPr>
        <p:spPr>
          <a:xfrm>
            <a:off x="617220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状态点3"/>
          <p:cNvSpPr/>
          <p:nvPr/>
        </p:nvSpPr>
        <p:spPr>
          <a:xfrm>
            <a:off x="635508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来源类型3"/>
          <p:cNvSpPr txBox="1"/>
          <p:nvPr/>
        </p:nvSpPr>
        <p:spPr>
          <a:xfrm>
            <a:off x="662940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5" name="来源说明3"/>
          <p:cNvSpPr txBox="1"/>
          <p:nvPr/>
        </p:nvSpPr>
        <p:spPr>
          <a:xfrm>
            <a:off x="635508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皮尤研究中心青少年调查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概率样本 · 1,458 人 · 加权 · 误差 ±3.3 个百分点</a:t>
            </a:r>
            <a:endParaRPr lang="en-US" sz="1400" dirty="0"/>
          </a:p>
        </p:txBody>
      </p:sp>
      <p:sp>
        <p:nvSpPr>
          <p:cNvPr id="16" name="来源卡4"/>
          <p:cNvSpPr/>
          <p:nvPr/>
        </p:nvSpPr>
        <p:spPr>
          <a:xfrm>
            <a:off x="898398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状态点4"/>
          <p:cNvSpPr/>
          <p:nvPr/>
        </p:nvSpPr>
        <p:spPr>
          <a:xfrm>
            <a:off x="916686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来源类型4"/>
          <p:cNvSpPr txBox="1"/>
          <p:nvPr/>
        </p:nvSpPr>
        <p:spPr>
          <a:xfrm>
            <a:off x="944118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9" name="来源说明4"/>
          <p:cNvSpPr txBox="1"/>
          <p:nvPr/>
        </p:nvSpPr>
        <p:spPr>
          <a:xfrm>
            <a:off x="916686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德勤数字媒体趋势调查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14 岁以上 3,595 人 · 按人口普查加权</a:t>
            </a:r>
            <a:endParaRPr lang="en-US" sz="1400" dirty="0"/>
          </a:p>
        </p:txBody>
      </p:sp>
      <p:sp>
        <p:nvSpPr>
          <p:cNvPr id="20" name="来源卡5"/>
          <p:cNvSpPr/>
          <p:nvPr/>
        </p:nvSpPr>
        <p:spPr>
          <a:xfrm>
            <a:off x="54864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状态点5"/>
          <p:cNvSpPr/>
          <p:nvPr/>
        </p:nvSpPr>
        <p:spPr>
          <a:xfrm>
            <a:off x="73152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来源类型5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3" name="来源说明5"/>
          <p:cNvSpPr txBox="1"/>
          <p:nvPr/>
        </p:nvSpPr>
        <p:spPr>
          <a:xfrm>
            <a:off x="73152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尼尔森 NPOWER / Media Impact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约 4.2 万户人员测量仪 + 4,500 万户机顶盒与智能电视数据</a:t>
            </a:r>
            <a:endParaRPr lang="en-US" sz="1400" dirty="0"/>
          </a:p>
        </p:txBody>
      </p:sp>
      <p:sp>
        <p:nvSpPr>
          <p:cNvPr id="24" name="来源卡6"/>
          <p:cNvSpPr/>
          <p:nvPr/>
        </p:nvSpPr>
        <p:spPr>
          <a:xfrm>
            <a:off x="336042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状态点6"/>
          <p:cNvSpPr/>
          <p:nvPr/>
        </p:nvSpPr>
        <p:spPr>
          <a:xfrm>
            <a:off x="354330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来源类型6"/>
          <p:cNvSpPr txBox="1"/>
          <p:nvPr/>
        </p:nvSpPr>
        <p:spPr>
          <a:xfrm>
            <a:off x="381762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7" name="来源说明6"/>
          <p:cNvSpPr txBox="1"/>
          <p:nvPr/>
        </p:nvSpPr>
        <p:spPr>
          <a:xfrm>
            <a:off x="354330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尼尔森流媒体收视测量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流媒体测量仪样本户，仅测电视屏幕</a:t>
            </a:r>
            <a:endParaRPr lang="en-US" sz="1400" dirty="0"/>
          </a:p>
        </p:txBody>
      </p:sp>
      <p:sp>
        <p:nvSpPr>
          <p:cNvPr id="28" name="来源卡7"/>
          <p:cNvSpPr/>
          <p:nvPr/>
        </p:nvSpPr>
        <p:spPr>
          <a:xfrm>
            <a:off x="617220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状态点7"/>
          <p:cNvSpPr/>
          <p:nvPr/>
        </p:nvSpPr>
        <p:spPr>
          <a:xfrm>
            <a:off x="6355080" y="3044952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来源类型7"/>
          <p:cNvSpPr txBox="1"/>
          <p:nvPr/>
        </p:nvSpPr>
        <p:spPr>
          <a:xfrm>
            <a:off x="66294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数据库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1" name="来源说明7"/>
          <p:cNvSpPr txBox="1"/>
          <p:nvPr/>
        </p:nvSpPr>
        <p:spPr>
          <a:xfrm>
            <a:off x="635508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节目数据库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企业自有元数据，非抽样；采集与核验流程未公开</a:t>
            </a:r>
            <a:endParaRPr lang="en-US" sz="1400" dirty="0"/>
          </a:p>
        </p:txBody>
      </p:sp>
      <p:sp>
        <p:nvSpPr>
          <p:cNvPr id="32" name="来源卡8"/>
          <p:cNvSpPr/>
          <p:nvPr/>
        </p:nvSpPr>
        <p:spPr>
          <a:xfrm>
            <a:off x="898398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状态点8"/>
          <p:cNvSpPr/>
          <p:nvPr/>
        </p:nvSpPr>
        <p:spPr>
          <a:xfrm>
            <a:off x="9166860" y="304495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来源类型8"/>
          <p:cNvSpPr txBox="1"/>
          <p:nvPr/>
        </p:nvSpPr>
        <p:spPr>
          <a:xfrm>
            <a:off x="944118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预测 ｜ </a:t>
            </a:r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部分公开</a:t>
            </a:r>
            <a:endParaRPr lang="en-US" sz="1100" dirty="0"/>
          </a:p>
        </p:txBody>
      </p:sp>
      <p:sp>
        <p:nvSpPr>
          <p:cNvPr id="35" name="来源说明8"/>
          <p:cNvSpPr txBox="1"/>
          <p:nvPr/>
        </p:nvSpPr>
        <p:spPr>
          <a:xfrm>
            <a:off x="916686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普华永道娱乐与媒体展望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公开数据 + 行业访谈 + 统计建模；全球市场</a:t>
            </a:r>
            <a:endParaRPr lang="en-US" sz="1400" dirty="0"/>
          </a:p>
        </p:txBody>
      </p:sp>
      <p:sp>
        <p:nvSpPr>
          <p:cNvPr id="36" name="来源卡9"/>
          <p:cNvSpPr/>
          <p:nvPr/>
        </p:nvSpPr>
        <p:spPr>
          <a:xfrm>
            <a:off x="54864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状态点9"/>
          <p:cNvSpPr/>
          <p:nvPr/>
        </p:nvSpPr>
        <p:spPr>
          <a:xfrm>
            <a:off x="73152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来源类型9"/>
          <p:cNvSpPr txBox="1"/>
          <p:nvPr/>
        </p:nvSpPr>
        <p:spPr>
          <a:xfrm>
            <a:off x="100584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测试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9" name="来源说明9"/>
          <p:cNvSpPr txBox="1"/>
          <p:nvPr/>
        </p:nvSpPr>
        <p:spPr>
          <a:xfrm>
            <a:off x="73152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Veed Analytics AI 测试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六国、仅测独播剧、每题重复 3 次；题量、模型版本、评分程序未公开</a:t>
            </a:r>
            <a:endParaRPr lang="en-US" sz="1400" dirty="0"/>
          </a:p>
        </p:txBody>
      </p:sp>
      <p:sp>
        <p:nvSpPr>
          <p:cNvPr id="40" name="来源卡10"/>
          <p:cNvSpPr/>
          <p:nvPr/>
        </p:nvSpPr>
        <p:spPr>
          <a:xfrm>
            <a:off x="336042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状态点10"/>
          <p:cNvSpPr/>
          <p:nvPr/>
        </p:nvSpPr>
        <p:spPr>
          <a:xfrm>
            <a:off x="3543300" y="458114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来源类型10"/>
          <p:cNvSpPr txBox="1"/>
          <p:nvPr/>
        </p:nvSpPr>
        <p:spPr>
          <a:xfrm>
            <a:off x="381762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论文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43" name="来源说明10"/>
          <p:cNvSpPr txBox="1"/>
          <p:nvPr/>
        </p:nvSpPr>
        <p:spPr>
          <a:xfrm>
            <a:off x="354330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南加州大学知识库偏差研究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同行评审论文；自动分类器判定 + 众包抽样人工验证</a:t>
            </a:r>
            <a:endParaRPr lang="en-US" sz="1400" dirty="0"/>
          </a:p>
        </p:txBody>
      </p:sp>
      <p:sp>
        <p:nvSpPr>
          <p:cNvPr id="44" name="来源卡11"/>
          <p:cNvSpPr/>
          <p:nvPr/>
        </p:nvSpPr>
        <p:spPr>
          <a:xfrm>
            <a:off x="617220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状态点11"/>
          <p:cNvSpPr/>
          <p:nvPr/>
        </p:nvSpPr>
        <p:spPr>
          <a:xfrm>
            <a:off x="635508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6" name="来源类型11"/>
          <p:cNvSpPr txBox="1"/>
          <p:nvPr/>
        </p:nvSpPr>
        <p:spPr>
          <a:xfrm>
            <a:off x="662940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行业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47" name="来源说明11"/>
          <p:cNvSpPr txBox="1"/>
          <p:nvPr/>
        </p:nvSpPr>
        <p:spPr>
          <a:xfrm>
            <a:off x="635508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Fabric 退订率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原始页面未见 5.5% 与 2%；计算方法未公开</a:t>
            </a:r>
            <a:endParaRPr lang="en-US" sz="1400" dirty="0"/>
          </a:p>
        </p:txBody>
      </p:sp>
      <p:sp>
        <p:nvSpPr>
          <p:cNvPr id="48" name="来源小结卡"/>
          <p:cNvSpPr/>
          <p:nvPr/>
        </p:nvSpPr>
        <p:spPr>
          <a:xfrm>
            <a:off x="898398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9" name="来源小结"/>
          <p:cNvSpPr txBox="1"/>
          <p:nvPr/>
        </p:nvSpPr>
        <p:spPr>
          <a:xfrm>
            <a:off x="9166860" y="4398264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报告最核心的两项自有问卷，恰为方法最不透明的两项</a:t>
            </a:r>
            <a:endParaRPr lang="en-US" sz="1400" dirty="0"/>
          </a:p>
        </p:txBody>
      </p:sp>
      <p:sp>
        <p:nvSpPr>
          <p:cNvPr id="50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详见《Gracenote报告_数据来源与采集方式核查.md》，各条结论均标注核实程度与原文链接。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多处引用与原始来源的口径不一致</a:t>
            </a:r>
            <a:endParaRPr lang="en-US" sz="2600" dirty="0"/>
          </a:p>
        </p:txBody>
      </p:sp>
      <p:sp>
        <p:nvSpPr>
          <p:cNvPr id="3" name="章节标签"/>
          <p:cNvSpPr txBox="1"/>
          <p:nvPr/>
        </p:nvSpPr>
        <p:spPr>
          <a:xfrm>
            <a:off x="548640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附录（备问）</a:t>
            </a:r>
            <a:endParaRPr lang="en-US" sz="1200" dirty="0"/>
          </a:p>
        </p:txBody>
      </p:sp>
      <p:graphicFrame>
        <p:nvGraphicFramePr>
          <p:cNvPr id="15" name="口径核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皮尤研究中心：30% 的青少年每日使用聊天机器人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精确值 28%（13–14 岁为 24%）；分母为全体青少年，使用者中为 44%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南加州大学：两个 AI 数据库中“高达 38%”的常识数据存在偏差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仅为 GenericsKB 在 regard 指标下的比例，由自动分类器判定；另一知识库为 3.4%–4.5%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德勤：41% 的“流媒体订户”认为服务不值其价格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原文分母为“全体消费者”（美国 14 岁以上 3,595 人，2024 年 10 月）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普华永道：OTT 与付费电视支出 2029 年达 3,185 亿美元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全球数据（2024 年为 2,913 亿美元，年均增长 1.8%），报告未注明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岁受访者“会取消订阅”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会核查，83% “以搜索交叉核对”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58%，外圈分母应为“会核查者”，图注未说明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“26% 的美国人知道想看什么却仍找不到”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两轮核查均未找到出处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报告；皮尤研究中心、南加州大学、德勤、普华永道原文（第二轮外部核对）。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报告解读与方法评价</dc:title>
  <dc:subject>市场调研：方法与实践 课后作业汇报</dc:subject>
  <dc:creator>PptxGenJS</dc:creator>
  <cp:lastModifiedBy>PptxGenJS</cp:lastModifiedBy>
  <cp:revision>1</cp:revision>
  <dcterms:created xsi:type="dcterms:W3CDTF">2026-10-07T14:51:37Z</dcterms:created>
  <dcterms:modified xsi:type="dcterms:W3CDTF">2026-10-07T14:51:37Z</dcterms:modified>
</cp:coreProperties>
</file>