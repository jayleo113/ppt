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4f627cb9-d809-8f6f-e1c3-1c9d89cf9fb2}">
          <p14:sldIdLst>
            <p14:sldId id="256"/>
            <p14:sldId id="257"/>
          </p14:sldIdLst>
        </p14:section>
        <p14:section name="报告介绍" id="{99f81809-54be-4ea0-971a-0082ebf230f4}">
          <p14:sldIdLst>
            <p14:sldId id="258"/>
            <p14:sldId id="259"/>
            <p14:sldId id="260"/>
            <p14:sldId id="261"/>
          </p14:sldIdLst>
        </p14:section>
        <p14:section name="方法评价" id="{416134a8-8737-1f41-7fdb-f8afd7f563e6}">
          <p14:sldIdLst>
            <p14:sldId id="262"/>
            <p14:sldId id="263"/>
            <p14:sldId id="264"/>
            <p14:sldId id="265"/>
            <p14:sldId id="266"/>
          </p14:sldIdLst>
        </p14:section>
        <p14:section name="总结" id="{e8d22a79-b18f-928f-fbe6-e4747363fd09}">
          <p14:sldIdLst>
            <p14:sldId id="267"/>
          </p14:sldIdLst>
        </p14:section>
        <p14:section name="附录（备问）" id="{9241cb5f-220d-0e2c-d48f-c6c176bc0de3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1F2A44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1F2A44"/>
                </a:solidFill>
                <a:latin typeface="+mn-lt"/>
              </a:rPr>
              <a:t>寻找节目的平均时长（分钟）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寻找节目时长</c:v>
                </c:pt>
              </c:strCache>
            </c:strRef>
          </c:tx>
          <c:spPr>
            <a:solidFill>
              <a:srgbClr val="C5CBD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F293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5CBD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5CBD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5CBD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5CBD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5CBD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F6690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E4572E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巴西</c:v>
                  </c:pt>
                  <c:pt idx="1">
                    <c:v>法国</c:v>
                  </c:pt>
                  <c:pt idx="2">
                    <c:v>德国</c:v>
                  </c:pt>
                  <c:pt idx="3">
                    <c:v>墨西哥</c:v>
                  </c:pt>
                  <c:pt idx="4">
                    <c:v>英国</c:v>
                  </c:pt>
                  <c:pt idx="5">
                    <c:v>美国</c:v>
                  </c:pt>
                  <c:pt idx="6">
                    <c:v>六国均值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</c:v>
                </c:pt>
                <c:pt idx="1">
                  <c:v>26</c:v>
                </c:pt>
                <c:pt idx="2">
                  <c:v>11</c:v>
                </c:pt>
                <c:pt idx="3">
                  <c:v>11</c:v>
                </c:pt>
                <c:pt idx="4">
                  <c:v>12</c:v>
                </c:pt>
                <c:pt idx="5">
                  <c:v>12</c:v>
                </c:pt>
                <c:pt idx="6">
                  <c:v>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500" u="none">
                  <a:solidFill>
                    <a:srgbClr val="1F293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1F293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秒】各位同学好。我汇报的是尼尔森旗下 Gracenote 公司 2026 年的报告《AI 时代的电视搜索与内容发现》。报告称 54% 的 13 至 14 岁受访者每天使用 AI。这一数据代表哪类人群，是本次汇报的出发点。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10 秒】汇报分为五部分。核心观点是：报告的趋势判断有参考价值，但论证链的关键环节证据不足。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30 秒】研究背景是：流媒体平台增多、内容分散，用户检索节目的难度上升，AI 也成为新的检索工具。报告由此提出三个问题：用户如何使用 AI、检索困难是否影响订阅、用户是否信任 AI。另需注意，Gracenote 的主营业务正是节目数据服务。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秒】报告的结论主要来自两项线上问卷。调查一于 2026 年初进行，对象是 4003 名 13 至 79 岁的美国 AI 聊天机器人用户；调查二于 2025 年夏季进行，覆盖六国，每国 500 名流媒体用户。两项调查均未公开抽样方式。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30 秒】第一组发现是 AI 使用增加、信任不足：13 至 14 岁的 AI 用户中 54% 每天使用，但 75% 的受访者会核查 AI 的回答。报告的解释是：AI 能给出直接、完整的答案，因而受到偏好；但大模型可能生成看似合理的错误信息，因而难以被完全信任。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秒】第二组发现是内容分散导致检索困难：联网电视已占美国电视时长的 54%，用户平均花 14 分钟找节目，18 至 34 岁中 54% 表示可能因此退订，而 AI 只答对约三分之二的播出平台。报告据此主张 AI 须接入可信的行业数据。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15 秒】报告的论证可以整理为一条链：依赖 AI、不信任 AI、检索困难导致退订、AI 须接入可信数据。下面参照课上春晚案例的四个维度，逐环检验。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秒】维度一，调查对象：样本仅为 AI 用户，结论却推及“美国人”。原因是样本以“使用 AI”为筛选条件。因此，54% 和 75% 只能理解为 AI 用户中的比例，这与课上 Durex 网络调查的问题相同。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20 秒】维度二，研究总体：“14 分钟”是六国均值，美国实为 12 分钟。它是六国简单平均，法国的 26 分钟拉高了均值；报告却把它放进描述美国收视的图表，会使读者高估美国用户的检索困难。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秒】维度三，调查时间：两项调查分母不同，“加速”的结论不成立。报告将皮尤 2025 年秋的 30% 与自身 2026 年初的 54% 对比；但皮尤是全体青少年，同为 13 至 14 岁仅 24%。统一为使用者口径后，差距约 10 个百分点。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20 秒】维度四，研究方法：四类异质数据不足以证明“检索困难导致退订”。这四类是退订意向、行业退订率、市场预测和 AI 测试，对象和性质各不相同，又无追踪或实验设计，只能提示可能相关。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30 秒】回到论证链：两环部分成立，两环证据不足。前两环只适用于 AI 用户；第三环口径混用、因果未证；第四环尚未检验。因此，报告可作为趋势参考，不宜作为精确估计或因果证据。最后提出一个问题：如何设计调查，才能检验“检索困难导致退订”？谢谢。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备问用，不计入汇报时间。被问及数据来源与方法公开程度时使用。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备问用，不计入汇报时间。被问及报告引用数据是否准确时使用。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67665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课程名"/>
          <p:cNvSpPr txBox="1"/>
          <p:nvPr/>
        </p:nvSpPr>
        <p:spPr>
          <a:xfrm>
            <a:off x="731520" y="10972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市场调研：方法与实践 · 课后作业汇报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7373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AI 时代的电视搜索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与内容发现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Gracenote（尼尔森旗下）2026 年报告解读</a:t>
            </a:r>
            <a:endParaRPr lang="en-US" sz="1800" dirty="0"/>
          </a:p>
        </p:txBody>
      </p:sp>
      <p:sp>
        <p:nvSpPr>
          <p:cNvPr id="5" name="封面数字"/>
          <p:cNvSpPr txBox="1"/>
          <p:nvPr/>
        </p:nvSpPr>
        <p:spPr>
          <a:xfrm>
            <a:off x="7772400" y="1463040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12000" dirty="0"/>
          </a:p>
        </p:txBody>
      </p:sp>
      <p:sp>
        <p:nvSpPr>
          <p:cNvPr id="6" name="封面数字说明"/>
          <p:cNvSpPr txBox="1"/>
          <p:nvPr/>
        </p:nvSpPr>
        <p:spPr>
          <a:xfrm>
            <a:off x="7772400" y="32918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报告：13–14 岁受访者每天使用 AI</a:t>
            </a:r>
            <a:endParaRPr lang="en-US" sz="1600" dirty="0"/>
          </a:p>
        </p:txBody>
      </p:sp>
      <p:sp>
        <p:nvSpPr>
          <p:cNvPr id="7" name="提问框"/>
          <p:cNvSpPr/>
          <p:nvPr/>
        </p:nvSpPr>
        <p:spPr>
          <a:xfrm>
            <a:off x="8092440" y="4069080"/>
            <a:ext cx="3291840" cy="73152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8" name="提问框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0" y="4279392"/>
            <a:ext cx="310896" cy="310896"/>
          </a:xfrm>
          <a:prstGeom prst="rect">
            <a:avLst/>
          </a:prstGeom>
        </p:spPr>
      </p:pic>
      <p:sp>
        <p:nvSpPr>
          <p:cNvPr id="9" name="提问框文字"/>
          <p:cNvSpPr txBox="1"/>
          <p:nvPr/>
        </p:nvSpPr>
        <p:spPr>
          <a:xfrm>
            <a:off x="8778240" y="406908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该数据代表哪类人群？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汇报框架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趋势可参考，但论证链关键环节证据不足</a:t>
            </a:r>
            <a:endParaRPr lang="en-US" sz="3000" dirty="0"/>
          </a:p>
        </p:txBody>
      </p:sp>
      <p:sp>
        <p:nvSpPr>
          <p:cNvPr id="4" name="框架行1"/>
          <p:cNvSpPr/>
          <p:nvPr/>
        </p:nvSpPr>
        <p:spPr>
          <a:xfrm>
            <a:off x="548640" y="1600200"/>
            <a:ext cx="5669280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序号1"/>
          <p:cNvSpPr txBox="1"/>
          <p:nvPr/>
        </p:nvSpPr>
        <p:spPr>
          <a:xfrm>
            <a:off x="77724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框架名1"/>
          <p:cNvSpPr txBox="1"/>
          <p:nvPr/>
        </p:nvSpPr>
        <p:spPr>
          <a:xfrm>
            <a:off x="1554480" y="160020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研究背景与问题</a:t>
            </a:r>
            <a:endParaRPr lang="en-US" sz="2000" dirty="0"/>
          </a:p>
        </p:txBody>
      </p:sp>
      <p:sp>
        <p:nvSpPr>
          <p:cNvPr id="7" name="框架行2"/>
          <p:cNvSpPr/>
          <p:nvPr/>
        </p:nvSpPr>
        <p:spPr>
          <a:xfrm>
            <a:off x="548640" y="2468880"/>
            <a:ext cx="5669280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序号2"/>
          <p:cNvSpPr txBox="1"/>
          <p:nvPr/>
        </p:nvSpPr>
        <p:spPr>
          <a:xfrm>
            <a:off x="777240" y="2468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框架名2"/>
          <p:cNvSpPr txBox="1"/>
          <p:nvPr/>
        </p:nvSpPr>
        <p:spPr>
          <a:xfrm>
            <a:off x="1554480" y="246888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研究设计</a:t>
            </a:r>
            <a:endParaRPr lang="en-US" sz="2000" dirty="0"/>
          </a:p>
        </p:txBody>
      </p:sp>
      <p:sp>
        <p:nvSpPr>
          <p:cNvPr id="10" name="框架行3"/>
          <p:cNvSpPr/>
          <p:nvPr/>
        </p:nvSpPr>
        <p:spPr>
          <a:xfrm>
            <a:off x="548640" y="3337560"/>
            <a:ext cx="5669280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序号3"/>
          <p:cNvSpPr txBox="1"/>
          <p:nvPr/>
        </p:nvSpPr>
        <p:spPr>
          <a:xfrm>
            <a:off x="777240" y="3337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2" name="框架名3"/>
          <p:cNvSpPr txBox="1"/>
          <p:nvPr/>
        </p:nvSpPr>
        <p:spPr>
          <a:xfrm>
            <a:off x="1554480" y="333756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报告内容</a:t>
            </a:r>
            <a:endParaRPr lang="en-US" sz="2000" dirty="0"/>
          </a:p>
        </p:txBody>
      </p:sp>
      <p:sp>
        <p:nvSpPr>
          <p:cNvPr id="13" name="框架行4"/>
          <p:cNvSpPr/>
          <p:nvPr/>
        </p:nvSpPr>
        <p:spPr>
          <a:xfrm>
            <a:off x="548640" y="4206240"/>
            <a:ext cx="5669280" cy="731520"/>
          </a:xfrm>
          <a:prstGeom prst="roundRect">
            <a:avLst>
              <a:gd name="adj" fmla="val 125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4" name="序号4"/>
          <p:cNvSpPr txBox="1"/>
          <p:nvPr/>
        </p:nvSpPr>
        <p:spPr>
          <a:xfrm>
            <a:off x="777240" y="42062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15" name="框架名4"/>
          <p:cNvSpPr txBox="1"/>
          <p:nvPr/>
        </p:nvSpPr>
        <p:spPr>
          <a:xfrm>
            <a:off x="1554480" y="420624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方法评价（重点）</a:t>
            </a:r>
            <a:endParaRPr lang="en-US" sz="2000" dirty="0"/>
          </a:p>
        </p:txBody>
      </p:sp>
      <p:sp>
        <p:nvSpPr>
          <p:cNvPr id="16" name="框架行5"/>
          <p:cNvSpPr/>
          <p:nvPr/>
        </p:nvSpPr>
        <p:spPr>
          <a:xfrm>
            <a:off x="548640" y="5074920"/>
            <a:ext cx="5669280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序号5"/>
          <p:cNvSpPr txBox="1"/>
          <p:nvPr/>
        </p:nvSpPr>
        <p:spPr>
          <a:xfrm>
            <a:off x="777240" y="50749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200" dirty="0"/>
          </a:p>
        </p:txBody>
      </p:sp>
      <p:sp>
        <p:nvSpPr>
          <p:cNvPr id="18" name="框架名5"/>
          <p:cNvSpPr txBox="1"/>
          <p:nvPr/>
        </p:nvSpPr>
        <p:spPr>
          <a:xfrm>
            <a:off x="1554480" y="50749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总结</a:t>
            </a:r>
            <a:endParaRPr lang="en-US" sz="2000" dirty="0"/>
          </a:p>
        </p:txBody>
      </p:sp>
      <p:sp>
        <p:nvSpPr>
          <p:cNvPr id="19" name="核心观点卡"/>
          <p:cNvSpPr/>
          <p:nvPr/>
        </p:nvSpPr>
        <p:spPr>
          <a:xfrm>
            <a:off x="6583680" y="1600200"/>
            <a:ext cx="5029200" cy="4206240"/>
          </a:xfrm>
          <a:prstGeom prst="roundRect">
            <a:avLst>
              <a:gd name="adj" fmla="val 217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核心观点"/>
          <p:cNvSpPr txBox="1"/>
          <p:nvPr/>
        </p:nvSpPr>
        <p:spPr>
          <a:xfrm>
            <a:off x="6949440" y="1783080"/>
            <a:ext cx="42976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8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核心观点</a:t>
            </a:r>
            <a:endParaRPr lang="en-US" sz="16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400" b="1" dirty="0">
                <a:solidFill>
                  <a:schemeClr val="bg1"/>
                </a:solidFill>
              </a:rPr>
              <a:t>报告的趋势判断有参考价值；但论证的关键环节证据不足，结论应限于调查对象。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01  研究背景与问题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内容分散使检索变难，AI 能否成为新入口？</a:t>
            </a:r>
            <a:endParaRPr lang="en-US" sz="3000" dirty="0"/>
          </a:p>
        </p:txBody>
      </p:sp>
      <p:sp>
        <p:nvSpPr>
          <p:cNvPr id="4" name="问题卡1"/>
          <p:cNvSpPr/>
          <p:nvPr/>
        </p:nvSpPr>
        <p:spPr>
          <a:xfrm>
            <a:off x="548640" y="1600200"/>
            <a:ext cx="3474720" cy="251460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问题编号1"/>
          <p:cNvSpPr txBox="1"/>
          <p:nvPr/>
        </p:nvSpPr>
        <p:spPr>
          <a:xfrm>
            <a:off x="868680" y="17830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问题一</a:t>
            </a:r>
            <a:endParaRPr lang="en-US" sz="1600" dirty="0"/>
          </a:p>
        </p:txBody>
      </p:sp>
      <p:sp>
        <p:nvSpPr>
          <p:cNvPr id="6" name="问题名1"/>
          <p:cNvSpPr txBox="1"/>
          <p:nvPr/>
        </p:nvSpPr>
        <p:spPr>
          <a:xfrm>
            <a:off x="868680" y="219456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使用行为</a:t>
            </a:r>
            <a:endParaRPr lang="en-US" sz="2600" dirty="0"/>
          </a:p>
        </p:txBody>
      </p:sp>
      <p:sp>
        <p:nvSpPr>
          <p:cNvPr id="7" name="问题内容1"/>
          <p:cNvSpPr txBox="1"/>
          <p:nvPr/>
        </p:nvSpPr>
        <p:spPr>
          <a:xfrm>
            <a:off x="868680" y="29260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各年龄群体如何用 AI 检索信息？</a:t>
            </a:r>
            <a:endParaRPr lang="en-US" sz="1800" dirty="0"/>
          </a:p>
        </p:txBody>
      </p:sp>
      <p:sp>
        <p:nvSpPr>
          <p:cNvPr id="8" name="问题卡2"/>
          <p:cNvSpPr/>
          <p:nvPr/>
        </p:nvSpPr>
        <p:spPr>
          <a:xfrm>
            <a:off x="4297680" y="1600200"/>
            <a:ext cx="3474720" cy="251460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问题编号2"/>
          <p:cNvSpPr txBox="1"/>
          <p:nvPr/>
        </p:nvSpPr>
        <p:spPr>
          <a:xfrm>
            <a:off x="4617720" y="17830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问题二</a:t>
            </a:r>
            <a:endParaRPr lang="en-US" sz="1600" dirty="0"/>
          </a:p>
        </p:txBody>
      </p:sp>
      <p:sp>
        <p:nvSpPr>
          <p:cNvPr id="10" name="问题名2"/>
          <p:cNvSpPr txBox="1"/>
          <p:nvPr/>
        </p:nvSpPr>
        <p:spPr>
          <a:xfrm>
            <a:off x="4617720" y="219456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检索困难</a:t>
            </a:r>
            <a:endParaRPr lang="en-US" sz="2600" dirty="0"/>
          </a:p>
        </p:txBody>
      </p:sp>
      <p:sp>
        <p:nvSpPr>
          <p:cNvPr id="11" name="问题内容2"/>
          <p:cNvSpPr txBox="1"/>
          <p:nvPr/>
        </p:nvSpPr>
        <p:spPr>
          <a:xfrm>
            <a:off x="4617720" y="29260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内容分散是否影响订阅？</a:t>
            </a:r>
            <a:endParaRPr lang="en-US" sz="1800" dirty="0"/>
          </a:p>
        </p:txBody>
      </p:sp>
      <p:sp>
        <p:nvSpPr>
          <p:cNvPr id="12" name="问题卡3"/>
          <p:cNvSpPr/>
          <p:nvPr/>
        </p:nvSpPr>
        <p:spPr>
          <a:xfrm>
            <a:off x="8046720" y="1600200"/>
            <a:ext cx="3474720" cy="251460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问题编号3"/>
          <p:cNvSpPr txBox="1"/>
          <p:nvPr/>
        </p:nvSpPr>
        <p:spPr>
          <a:xfrm>
            <a:off x="8366760" y="17830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问题三</a:t>
            </a:r>
            <a:endParaRPr lang="en-US" sz="1600" dirty="0"/>
          </a:p>
        </p:txBody>
      </p:sp>
      <p:sp>
        <p:nvSpPr>
          <p:cNvPr id="14" name="问题名3"/>
          <p:cNvSpPr txBox="1"/>
          <p:nvPr/>
        </p:nvSpPr>
        <p:spPr>
          <a:xfrm>
            <a:off x="8366760" y="219456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信任程度</a:t>
            </a:r>
            <a:endParaRPr lang="en-US" sz="2600" dirty="0"/>
          </a:p>
        </p:txBody>
      </p:sp>
      <p:sp>
        <p:nvSpPr>
          <p:cNvPr id="15" name="问题内容3"/>
          <p:cNvSpPr txBox="1"/>
          <p:nvPr/>
        </p:nvSpPr>
        <p:spPr>
          <a:xfrm>
            <a:off x="8366760" y="29260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用户是否信任 AI 的回答？</a:t>
            </a:r>
            <a:endParaRPr lang="en-US" sz="1800" dirty="0"/>
          </a:p>
        </p:txBody>
      </p:sp>
      <p:sp>
        <p:nvSpPr>
          <p:cNvPr id="16" name="机构条"/>
          <p:cNvSpPr/>
          <p:nvPr/>
        </p:nvSpPr>
        <p:spPr>
          <a:xfrm>
            <a:off x="548640" y="4434840"/>
            <a:ext cx="11064240" cy="1325880"/>
          </a:xfrm>
          <a:prstGeom prst="roundRect">
            <a:avLst>
              <a:gd name="adj" fmla="val 689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研究机构"/>
          <p:cNvSpPr txBox="1"/>
          <p:nvPr/>
        </p:nvSpPr>
        <p:spPr>
          <a:xfrm>
            <a:off x="868680" y="4434840"/>
            <a:ext cx="10515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研究机构  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Gracenote，尼尔森旗下，主营节目数据服务——与报告主张直接相关。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02  研究设计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报告结论主要来自两项线上问卷</a:t>
            </a:r>
            <a:endParaRPr lang="en-US" sz="3000" dirty="0"/>
          </a:p>
        </p:txBody>
      </p:sp>
      <p:graphicFrame>
        <p:nvGraphicFramePr>
          <p:cNvPr id="5" name="研究设计表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617720"/>
                <a:gridCol w="4617720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800" dirty="0"/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调查一：2026 年 AI 使用调查</a:t>
                      </a:r>
                      <a:endParaRPr lang="en-US" sz="1800" dirty="0"/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调查二：2025 年六国流媒体调查</a:t>
                      </a:r>
                      <a:endParaRPr lang="en-US" sz="1800" dirty="0"/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调查对象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美国 13–79 岁 AI 聊天机器人用户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六国流媒体用户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调查时间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2026 年 1–2 月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2025 年 7–8 月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样本量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4,003 人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3,000 人（每国 500）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说明条"/>
          <p:cNvSpPr txBox="1"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注：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两项调查均未公开抽样方式。另引用尼尔森、皮尤等共 11 个来源（见附录）。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03  报告内容（一）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报告发现：年轻用户依赖 AI，但信任不足</a:t>
            </a:r>
            <a:endParaRPr lang="en-US" sz="3000" dirty="0"/>
          </a:p>
        </p:txBody>
      </p:sp>
      <p:sp>
        <p:nvSpPr>
          <p:cNvPr id="4" name="大数字卡1"/>
          <p:cNvSpPr/>
          <p:nvPr/>
        </p:nvSpPr>
        <p:spPr>
          <a:xfrm>
            <a:off x="548640" y="1600200"/>
            <a:ext cx="544068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大数字1"/>
          <p:cNvSpPr txBox="1"/>
          <p:nvPr/>
        </p:nvSpPr>
        <p:spPr>
          <a:xfrm>
            <a:off x="868680" y="160020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6400" dirty="0"/>
          </a:p>
        </p:txBody>
      </p:sp>
      <p:sp>
        <p:nvSpPr>
          <p:cNvPr id="6" name="大数字说明1"/>
          <p:cNvSpPr txBox="1"/>
          <p:nvPr/>
        </p:nvSpPr>
        <p:spPr>
          <a:xfrm>
            <a:off x="3154680" y="1600200"/>
            <a:ext cx="2697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13–14 岁 AI 用户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每天使用</a:t>
            </a:r>
            <a:endParaRPr lang="en-US" sz="2000" dirty="0"/>
          </a:p>
        </p:txBody>
      </p:sp>
      <p:sp>
        <p:nvSpPr>
          <p:cNvPr id="7" name="大数字卡2"/>
          <p:cNvSpPr/>
          <p:nvPr/>
        </p:nvSpPr>
        <p:spPr>
          <a:xfrm>
            <a:off x="6172200" y="1600200"/>
            <a:ext cx="544068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大数字2"/>
          <p:cNvSpPr txBox="1"/>
          <p:nvPr/>
        </p:nvSpPr>
        <p:spPr>
          <a:xfrm>
            <a:off x="6492240" y="160020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6400" dirty="0"/>
          </a:p>
        </p:txBody>
      </p:sp>
      <p:sp>
        <p:nvSpPr>
          <p:cNvPr id="9" name="大数字说明2"/>
          <p:cNvSpPr txBox="1"/>
          <p:nvPr/>
        </p:nvSpPr>
        <p:spPr>
          <a:xfrm>
            <a:off x="8778240" y="1600200"/>
            <a:ext cx="2697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受访者会核查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AI 的回答</a:t>
            </a:r>
            <a:endParaRPr lang="en-US" sz="2000" dirty="0"/>
          </a:p>
        </p:txBody>
      </p:sp>
      <p:sp>
        <p:nvSpPr>
          <p:cNvPr id="10" name="解释标题"/>
          <p:cNvSpPr txBox="1"/>
          <p:nvPr/>
        </p:nvSpPr>
        <p:spPr>
          <a:xfrm>
            <a:off x="548640" y="3931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报告的解释</a:t>
            </a:r>
            <a:endParaRPr lang="en-US" sz="1800" dirty="0"/>
          </a:p>
        </p:txBody>
      </p:sp>
      <p:sp>
        <p:nvSpPr>
          <p:cNvPr id="11" name="原因1"/>
          <p:cNvSpPr/>
          <p:nvPr/>
        </p:nvSpPr>
        <p:spPr>
          <a:xfrm>
            <a:off x="548640" y="4434840"/>
            <a:ext cx="7223760" cy="594360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原因文字1"/>
          <p:cNvSpPr txBox="1"/>
          <p:nvPr/>
        </p:nvSpPr>
        <p:spPr>
          <a:xfrm>
            <a:off x="822960" y="443484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AI 回答直接、完整、可追问</a:t>
            </a:r>
            <a:endParaRPr lang="en-US" sz="1800" dirty="0"/>
          </a:p>
        </p:txBody>
      </p:sp>
      <p:sp>
        <p:nvSpPr>
          <p:cNvPr id="13" name="箭头"/>
          <p:cNvSpPr txBox="1"/>
          <p:nvPr/>
        </p:nvSpPr>
        <p:spPr>
          <a:xfrm>
            <a:off x="7863840" y="4434840"/>
            <a:ext cx="274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→</a:t>
            </a:r>
            <a:endParaRPr lang="en-US" sz="2200" dirty="0"/>
          </a:p>
        </p:txBody>
      </p:sp>
      <p:sp>
        <p:nvSpPr>
          <p:cNvPr id="14" name="标签：用户偏好 AI"/>
          <p:cNvSpPr/>
          <p:nvPr/>
        </p:nvSpPr>
        <p:spPr>
          <a:xfrm>
            <a:off x="8275320" y="4453128"/>
            <a:ext cx="3337560" cy="54864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标签文字：用户偏好 AI"/>
          <p:cNvSpPr txBox="1"/>
          <p:nvPr/>
        </p:nvSpPr>
        <p:spPr>
          <a:xfrm>
            <a:off x="8275320" y="4453128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用户偏好 AI</a:t>
            </a:r>
            <a:endParaRPr lang="en-US" sz="1700" dirty="0"/>
          </a:p>
        </p:txBody>
      </p:sp>
      <p:sp>
        <p:nvSpPr>
          <p:cNvPr id="16" name="原因2"/>
          <p:cNvSpPr/>
          <p:nvPr/>
        </p:nvSpPr>
        <p:spPr>
          <a:xfrm>
            <a:off x="548640" y="5166360"/>
            <a:ext cx="7223760" cy="594360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原因文字2"/>
          <p:cNvSpPr txBox="1"/>
          <p:nvPr/>
        </p:nvSpPr>
        <p:spPr>
          <a:xfrm>
            <a:off x="822960" y="516636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大模型可能生成看似合理的错误信息</a:t>
            </a:r>
            <a:endParaRPr lang="en-US" sz="1800" dirty="0"/>
          </a:p>
        </p:txBody>
      </p:sp>
      <p:sp>
        <p:nvSpPr>
          <p:cNvPr id="18" name="箭头"/>
          <p:cNvSpPr txBox="1"/>
          <p:nvPr/>
        </p:nvSpPr>
        <p:spPr>
          <a:xfrm>
            <a:off x="7863840" y="5166360"/>
            <a:ext cx="274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→</a:t>
            </a:r>
            <a:endParaRPr lang="en-US" sz="2200" dirty="0"/>
          </a:p>
        </p:txBody>
      </p:sp>
      <p:sp>
        <p:nvSpPr>
          <p:cNvPr id="19" name="标签：用户难以完全信任"/>
          <p:cNvSpPr/>
          <p:nvPr/>
        </p:nvSpPr>
        <p:spPr>
          <a:xfrm>
            <a:off x="8275320" y="5184648"/>
            <a:ext cx="3337560" cy="54864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标签文字：用户难以完全信任"/>
          <p:cNvSpPr txBox="1"/>
          <p:nvPr/>
        </p:nvSpPr>
        <p:spPr>
          <a:xfrm>
            <a:off x="8275320" y="5184648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用户难以完全信任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03  报告内容（二）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报告认为：内容分散导致退订，AI 须接入可信数据</a:t>
            </a:r>
            <a:endParaRPr lang="en-US" sz="3000" dirty="0"/>
          </a:p>
        </p:txBody>
      </p:sp>
      <p:sp>
        <p:nvSpPr>
          <p:cNvPr id="4" name="链条卡1"/>
          <p:cNvSpPr/>
          <p:nvPr/>
        </p:nvSpPr>
        <p:spPr>
          <a:xfrm>
            <a:off x="548640" y="1691640"/>
            <a:ext cx="2560320" cy="374904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步骤1"/>
          <p:cNvSpPr txBox="1"/>
          <p:nvPr/>
        </p:nvSpPr>
        <p:spPr>
          <a:xfrm>
            <a:off x="822960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第 1 步</a:t>
            </a:r>
            <a:endParaRPr lang="en-US" sz="1400" dirty="0"/>
          </a:p>
        </p:txBody>
      </p:sp>
      <p:sp>
        <p:nvSpPr>
          <p:cNvPr id="6" name="步骤名1"/>
          <p:cNvSpPr txBox="1"/>
          <p:nvPr/>
        </p:nvSpPr>
        <p:spPr>
          <a:xfrm>
            <a:off x="822960" y="228600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</a:rPr>
              <a:t>内容分散</a:t>
            </a:r>
            <a:endParaRPr lang="en-US" sz="2100" dirty="0"/>
          </a:p>
        </p:txBody>
      </p:sp>
      <p:sp>
        <p:nvSpPr>
          <p:cNvPr id="7" name="步骤数字1"/>
          <p:cNvSpPr txBox="1"/>
          <p:nvPr/>
        </p:nvSpPr>
        <p:spPr>
          <a:xfrm>
            <a:off x="822960" y="32461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4400" dirty="0"/>
          </a:p>
        </p:txBody>
      </p:sp>
      <p:sp>
        <p:nvSpPr>
          <p:cNvPr id="8" name="步骤说明1"/>
          <p:cNvSpPr txBox="1"/>
          <p:nvPr/>
        </p:nvSpPr>
        <p:spPr>
          <a:xfrm>
            <a:off x="822960" y="42519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美国电视时长来自联网电视</a:t>
            </a:r>
            <a:endParaRPr lang="en-US" sz="1600" dirty="0"/>
          </a:p>
        </p:txBody>
      </p:sp>
      <p:sp>
        <p:nvSpPr>
          <p:cNvPr id="9" name="箭头"/>
          <p:cNvSpPr txBox="1"/>
          <p:nvPr/>
        </p:nvSpPr>
        <p:spPr>
          <a:xfrm>
            <a:off x="3108960" y="1691640"/>
            <a:ext cx="2743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→</a:t>
            </a:r>
            <a:endParaRPr lang="en-US" sz="2200" dirty="0"/>
          </a:p>
        </p:txBody>
      </p:sp>
      <p:sp>
        <p:nvSpPr>
          <p:cNvPr id="10" name="链条卡2"/>
          <p:cNvSpPr/>
          <p:nvPr/>
        </p:nvSpPr>
        <p:spPr>
          <a:xfrm>
            <a:off x="3383280" y="1691640"/>
            <a:ext cx="2560320" cy="374904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步骤2"/>
          <p:cNvSpPr txBox="1"/>
          <p:nvPr/>
        </p:nvSpPr>
        <p:spPr>
          <a:xfrm>
            <a:off x="3657600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第 2 步</a:t>
            </a:r>
            <a:endParaRPr lang="en-US" sz="1400" dirty="0"/>
          </a:p>
        </p:txBody>
      </p:sp>
      <p:sp>
        <p:nvSpPr>
          <p:cNvPr id="12" name="步骤名2"/>
          <p:cNvSpPr txBox="1"/>
          <p:nvPr/>
        </p:nvSpPr>
        <p:spPr>
          <a:xfrm>
            <a:off x="3657600" y="228600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</a:rPr>
              <a:t>检索变难</a:t>
            </a:r>
            <a:endParaRPr lang="en-US" sz="2100" dirty="0"/>
          </a:p>
        </p:txBody>
      </p:sp>
      <p:sp>
        <p:nvSpPr>
          <p:cNvPr id="13" name="步骤数字2"/>
          <p:cNvSpPr txBox="1"/>
          <p:nvPr/>
        </p:nvSpPr>
        <p:spPr>
          <a:xfrm>
            <a:off x="3657600" y="32461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分钟</a:t>
            </a:r>
            <a:endParaRPr lang="en-US" sz="3600" dirty="0"/>
          </a:p>
        </p:txBody>
      </p:sp>
      <p:sp>
        <p:nvSpPr>
          <p:cNvPr id="14" name="步骤说明2"/>
          <p:cNvSpPr txBox="1"/>
          <p:nvPr/>
        </p:nvSpPr>
        <p:spPr>
          <a:xfrm>
            <a:off x="3657600" y="42519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平均寻找节目时长</a:t>
            </a:r>
            <a:endParaRPr lang="en-US" sz="1600" dirty="0"/>
          </a:p>
        </p:txBody>
      </p:sp>
      <p:sp>
        <p:nvSpPr>
          <p:cNvPr id="15" name="箭头"/>
          <p:cNvSpPr txBox="1"/>
          <p:nvPr/>
        </p:nvSpPr>
        <p:spPr>
          <a:xfrm>
            <a:off x="5943600" y="1691640"/>
            <a:ext cx="2743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→</a:t>
            </a:r>
            <a:endParaRPr lang="en-US" sz="2200" dirty="0"/>
          </a:p>
        </p:txBody>
      </p:sp>
      <p:sp>
        <p:nvSpPr>
          <p:cNvPr id="16" name="链条卡3"/>
          <p:cNvSpPr/>
          <p:nvPr/>
        </p:nvSpPr>
        <p:spPr>
          <a:xfrm>
            <a:off x="6217920" y="1691640"/>
            <a:ext cx="2560320" cy="374904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步骤3"/>
          <p:cNvSpPr txBox="1"/>
          <p:nvPr/>
        </p:nvSpPr>
        <p:spPr>
          <a:xfrm>
            <a:off x="6492240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第 3 步</a:t>
            </a:r>
            <a:endParaRPr lang="en-US" sz="1400" dirty="0"/>
          </a:p>
        </p:txBody>
      </p:sp>
      <p:sp>
        <p:nvSpPr>
          <p:cNvPr id="18" name="步骤名3"/>
          <p:cNvSpPr txBox="1"/>
          <p:nvPr/>
        </p:nvSpPr>
        <p:spPr>
          <a:xfrm>
            <a:off x="6492240" y="228600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</a:rPr>
              <a:t>退订风险</a:t>
            </a:r>
            <a:endParaRPr lang="en-US" sz="2100" dirty="0"/>
          </a:p>
        </p:txBody>
      </p:sp>
      <p:sp>
        <p:nvSpPr>
          <p:cNvPr id="19" name="步骤数字3"/>
          <p:cNvSpPr txBox="1"/>
          <p:nvPr/>
        </p:nvSpPr>
        <p:spPr>
          <a:xfrm>
            <a:off x="6492240" y="32461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4400" dirty="0"/>
          </a:p>
        </p:txBody>
      </p:sp>
      <p:sp>
        <p:nvSpPr>
          <p:cNvPr id="20" name="步骤说明3"/>
          <p:cNvSpPr txBox="1"/>
          <p:nvPr/>
        </p:nvSpPr>
        <p:spPr>
          <a:xfrm>
            <a:off x="6492240" y="42519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18–34 岁表示可能退订</a:t>
            </a:r>
            <a:endParaRPr lang="en-US" sz="1600" dirty="0"/>
          </a:p>
        </p:txBody>
      </p:sp>
      <p:sp>
        <p:nvSpPr>
          <p:cNvPr id="21" name="箭头"/>
          <p:cNvSpPr txBox="1"/>
          <p:nvPr/>
        </p:nvSpPr>
        <p:spPr>
          <a:xfrm>
            <a:off x="8778240" y="1691640"/>
            <a:ext cx="2743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→</a:t>
            </a:r>
            <a:endParaRPr lang="en-US" sz="2200" dirty="0"/>
          </a:p>
        </p:txBody>
      </p:sp>
      <p:sp>
        <p:nvSpPr>
          <p:cNvPr id="22" name="链条卡4"/>
          <p:cNvSpPr/>
          <p:nvPr/>
        </p:nvSpPr>
        <p:spPr>
          <a:xfrm>
            <a:off x="9052560" y="1691640"/>
            <a:ext cx="2560320" cy="3749040"/>
          </a:xfrm>
          <a:prstGeom prst="roundRect">
            <a:avLst>
              <a:gd name="adj" fmla="val 357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3" name="步骤4"/>
          <p:cNvSpPr txBox="1"/>
          <p:nvPr/>
        </p:nvSpPr>
        <p:spPr>
          <a:xfrm>
            <a:off x="9326880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第 4 步</a:t>
            </a:r>
            <a:endParaRPr lang="en-US" sz="1400" dirty="0"/>
          </a:p>
        </p:txBody>
      </p:sp>
      <p:sp>
        <p:nvSpPr>
          <p:cNvPr id="24" name="步骤名4"/>
          <p:cNvSpPr txBox="1"/>
          <p:nvPr/>
        </p:nvSpPr>
        <p:spPr>
          <a:xfrm>
            <a:off x="9326880" y="228600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接入可信数据</a:t>
            </a:r>
            <a:endParaRPr lang="en-US" sz="2100" dirty="0"/>
          </a:p>
        </p:txBody>
      </p:sp>
      <p:sp>
        <p:nvSpPr>
          <p:cNvPr id="25" name="步骤数字4"/>
          <p:cNvSpPr txBox="1"/>
          <p:nvPr/>
        </p:nvSpPr>
        <p:spPr>
          <a:xfrm>
            <a:off x="9326880" y="32461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约 2/3</a:t>
            </a:r>
            <a:endParaRPr lang="en-US" sz="3600" dirty="0"/>
          </a:p>
        </p:txBody>
      </p:sp>
      <p:sp>
        <p:nvSpPr>
          <p:cNvPr id="26" name="步骤说明4"/>
          <p:cNvSpPr txBox="1"/>
          <p:nvPr/>
        </p:nvSpPr>
        <p:spPr>
          <a:xfrm>
            <a:off x="9326880" y="42519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AI 答对播出平台</a:t>
            </a:r>
            <a:endParaRPr lang="en-US" sz="1600" dirty="0"/>
          </a:p>
        </p:txBody>
      </p:sp>
      <p:sp>
        <p:nvSpPr>
          <p:cNvPr id="27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数据：尼尔森收视测量；调查二（六国）；Veed Analytics 测试（报告引用）。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方法评价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用课上四个维度，逐环检验报告的论证</a:t>
            </a:r>
            <a:endParaRPr lang="en-US" sz="3000" dirty="0"/>
          </a:p>
        </p:txBody>
      </p:sp>
      <p:sp>
        <p:nvSpPr>
          <p:cNvPr id="4" name="环节1"/>
          <p:cNvSpPr/>
          <p:nvPr/>
        </p:nvSpPr>
        <p:spPr>
          <a:xfrm>
            <a:off x="548640" y="1645920"/>
            <a:ext cx="2560320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环节文字1"/>
          <p:cNvSpPr txBox="1"/>
          <p:nvPr/>
        </p:nvSpPr>
        <p:spPr>
          <a:xfrm>
            <a:off x="54864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① 依赖 AI</a:t>
            </a:r>
            <a:endParaRPr lang="en-US" sz="2000" dirty="0"/>
          </a:p>
        </p:txBody>
      </p:sp>
      <p:sp>
        <p:nvSpPr>
          <p:cNvPr id="6" name="箭头"/>
          <p:cNvSpPr txBox="1"/>
          <p:nvPr/>
        </p:nvSpPr>
        <p:spPr>
          <a:xfrm>
            <a:off x="3108960" y="164592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→</a:t>
            </a:r>
            <a:endParaRPr lang="en-US" sz="2200" dirty="0"/>
          </a:p>
        </p:txBody>
      </p:sp>
      <p:sp>
        <p:nvSpPr>
          <p:cNvPr id="7" name="下箭头1"/>
          <p:cNvSpPr txBox="1"/>
          <p:nvPr/>
        </p:nvSpPr>
        <p:spPr>
          <a:xfrm>
            <a:off x="548640" y="26060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↓</a:t>
            </a:r>
            <a:endParaRPr lang="en-US" sz="2000" dirty="0"/>
          </a:p>
        </p:txBody>
      </p:sp>
      <p:sp>
        <p:nvSpPr>
          <p:cNvPr id="8" name="检验1"/>
          <p:cNvSpPr/>
          <p:nvPr/>
        </p:nvSpPr>
        <p:spPr>
          <a:xfrm>
            <a:off x="548640" y="3063240"/>
            <a:ext cx="2560320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检验文字1"/>
          <p:cNvSpPr txBox="1"/>
          <p:nvPr/>
        </p:nvSpPr>
        <p:spPr>
          <a:xfrm>
            <a:off x="777240" y="3063240"/>
            <a:ext cx="2194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accent1"/>
                </a:solidFill>
              </a:rPr>
              <a:t>维度一  调查对象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accent1"/>
                </a:solidFill>
              </a:rPr>
              <a:t>维度三  调查时间</a:t>
            </a:r>
            <a:endParaRPr lang="en-US" sz="1800" dirty="0"/>
          </a:p>
        </p:txBody>
      </p:sp>
      <p:sp>
        <p:nvSpPr>
          <p:cNvPr id="10" name="环节2"/>
          <p:cNvSpPr/>
          <p:nvPr/>
        </p:nvSpPr>
        <p:spPr>
          <a:xfrm>
            <a:off x="3383280" y="1645920"/>
            <a:ext cx="2560320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环节文字2"/>
          <p:cNvSpPr txBox="1"/>
          <p:nvPr/>
        </p:nvSpPr>
        <p:spPr>
          <a:xfrm>
            <a:off x="338328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② 信任不足</a:t>
            </a:r>
            <a:endParaRPr lang="en-US" sz="2000" dirty="0"/>
          </a:p>
        </p:txBody>
      </p:sp>
      <p:sp>
        <p:nvSpPr>
          <p:cNvPr id="12" name="箭头"/>
          <p:cNvSpPr txBox="1"/>
          <p:nvPr/>
        </p:nvSpPr>
        <p:spPr>
          <a:xfrm>
            <a:off x="5943600" y="164592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→</a:t>
            </a:r>
            <a:endParaRPr lang="en-US" sz="2200" dirty="0"/>
          </a:p>
        </p:txBody>
      </p:sp>
      <p:sp>
        <p:nvSpPr>
          <p:cNvPr id="13" name="下箭头2"/>
          <p:cNvSpPr txBox="1"/>
          <p:nvPr/>
        </p:nvSpPr>
        <p:spPr>
          <a:xfrm>
            <a:off x="3383280" y="26060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↓</a:t>
            </a:r>
            <a:endParaRPr lang="en-US" sz="2000" dirty="0"/>
          </a:p>
        </p:txBody>
      </p:sp>
      <p:sp>
        <p:nvSpPr>
          <p:cNvPr id="14" name="检验2"/>
          <p:cNvSpPr/>
          <p:nvPr/>
        </p:nvSpPr>
        <p:spPr>
          <a:xfrm>
            <a:off x="3383280" y="3063240"/>
            <a:ext cx="2560320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检验文字2"/>
          <p:cNvSpPr txBox="1"/>
          <p:nvPr/>
        </p:nvSpPr>
        <p:spPr>
          <a:xfrm>
            <a:off x="3611880" y="3063240"/>
            <a:ext cx="2194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accent1"/>
                </a:solidFill>
              </a:rPr>
              <a:t>维度一  调查对象</a:t>
            </a:r>
            <a:endParaRPr lang="en-US" sz="1800" dirty="0"/>
          </a:p>
        </p:txBody>
      </p:sp>
      <p:sp>
        <p:nvSpPr>
          <p:cNvPr id="16" name="环节3"/>
          <p:cNvSpPr/>
          <p:nvPr/>
        </p:nvSpPr>
        <p:spPr>
          <a:xfrm>
            <a:off x="6217920" y="1645920"/>
            <a:ext cx="2560320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环节文字3"/>
          <p:cNvSpPr txBox="1"/>
          <p:nvPr/>
        </p:nvSpPr>
        <p:spPr>
          <a:xfrm>
            <a:off x="621792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③ 检索难致退订</a:t>
            </a:r>
            <a:endParaRPr lang="en-US" sz="2000" dirty="0"/>
          </a:p>
        </p:txBody>
      </p:sp>
      <p:sp>
        <p:nvSpPr>
          <p:cNvPr id="18" name="箭头"/>
          <p:cNvSpPr txBox="1"/>
          <p:nvPr/>
        </p:nvSpPr>
        <p:spPr>
          <a:xfrm>
            <a:off x="8778240" y="164592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→</a:t>
            </a:r>
            <a:endParaRPr lang="en-US" sz="2200" dirty="0"/>
          </a:p>
        </p:txBody>
      </p:sp>
      <p:sp>
        <p:nvSpPr>
          <p:cNvPr id="19" name="下箭头3"/>
          <p:cNvSpPr txBox="1"/>
          <p:nvPr/>
        </p:nvSpPr>
        <p:spPr>
          <a:xfrm>
            <a:off x="6217920" y="26060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↓</a:t>
            </a:r>
            <a:endParaRPr lang="en-US" sz="2000" dirty="0"/>
          </a:p>
        </p:txBody>
      </p:sp>
      <p:sp>
        <p:nvSpPr>
          <p:cNvPr id="20" name="检验3"/>
          <p:cNvSpPr/>
          <p:nvPr/>
        </p:nvSpPr>
        <p:spPr>
          <a:xfrm>
            <a:off x="6217920" y="3063240"/>
            <a:ext cx="2560320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检验文字3"/>
          <p:cNvSpPr txBox="1"/>
          <p:nvPr/>
        </p:nvSpPr>
        <p:spPr>
          <a:xfrm>
            <a:off x="6446520" y="3063240"/>
            <a:ext cx="2194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accent1"/>
                </a:solidFill>
              </a:rPr>
              <a:t>维度二  研究总体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accent1"/>
                </a:solidFill>
              </a:rPr>
              <a:t>维度四  研究方法</a:t>
            </a:r>
            <a:endParaRPr lang="en-US" sz="1800" dirty="0"/>
          </a:p>
        </p:txBody>
      </p:sp>
      <p:sp>
        <p:nvSpPr>
          <p:cNvPr id="22" name="环节4"/>
          <p:cNvSpPr/>
          <p:nvPr/>
        </p:nvSpPr>
        <p:spPr>
          <a:xfrm>
            <a:off x="9052560" y="1645920"/>
            <a:ext cx="2560320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3" name="环节文字4"/>
          <p:cNvSpPr txBox="1"/>
          <p:nvPr/>
        </p:nvSpPr>
        <p:spPr>
          <a:xfrm>
            <a:off x="905256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④ 接入可信数据</a:t>
            </a:r>
            <a:endParaRPr lang="en-US" sz="2000" dirty="0"/>
          </a:p>
        </p:txBody>
      </p:sp>
      <p:sp>
        <p:nvSpPr>
          <p:cNvPr id="24" name="下箭头4"/>
          <p:cNvSpPr txBox="1"/>
          <p:nvPr/>
        </p:nvSpPr>
        <p:spPr>
          <a:xfrm>
            <a:off x="9052560" y="26060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↓</a:t>
            </a:r>
            <a:endParaRPr lang="en-US" sz="2000" dirty="0"/>
          </a:p>
        </p:txBody>
      </p:sp>
      <p:sp>
        <p:nvSpPr>
          <p:cNvPr id="25" name="检验4"/>
          <p:cNvSpPr/>
          <p:nvPr/>
        </p:nvSpPr>
        <p:spPr>
          <a:xfrm>
            <a:off x="9052560" y="3063240"/>
            <a:ext cx="2560320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检验文字4"/>
          <p:cNvSpPr txBox="1"/>
          <p:nvPr/>
        </p:nvSpPr>
        <p:spPr>
          <a:xfrm>
            <a:off x="9281160" y="3063240"/>
            <a:ext cx="2194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accent1"/>
                </a:solidFill>
              </a:rPr>
              <a:t>维度四  研究方法</a:t>
            </a:r>
            <a:endParaRPr lang="en-US" sz="1800" dirty="0"/>
          </a:p>
        </p:txBody>
      </p:sp>
      <p:sp>
        <p:nvSpPr>
          <p:cNvPr id="27" name="依据条"/>
          <p:cNvSpPr/>
          <p:nvPr/>
        </p:nvSpPr>
        <p:spPr>
          <a:xfrm>
            <a:off x="548640" y="4983480"/>
            <a:ext cx="1106424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评价依据"/>
          <p:cNvSpPr txBox="1"/>
          <p:nvPr/>
        </p:nvSpPr>
        <p:spPr>
          <a:xfrm>
            <a:off x="822960" y="49834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依据：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课上春晚满意度调查案例——对象、总体、时间、方法不同，结论不同。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方法评价 · 维度一  调查对象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样本仅为 AI 用户，结论却推及“美国人”</a:t>
            </a:r>
            <a:endParaRPr lang="en-US" sz="3000" dirty="0"/>
          </a:p>
        </p:txBody>
      </p:sp>
      <p:sp>
        <p:nvSpPr>
          <p:cNvPr id="4" name="总体圈1"/>
          <p:cNvSpPr/>
          <p:nvPr/>
        </p:nvSpPr>
        <p:spPr>
          <a:xfrm>
            <a:off x="822960" y="1554480"/>
            <a:ext cx="4389120" cy="4389120"/>
          </a:xfrm>
          <a:prstGeom prst="ellipse">
            <a:avLst/>
          </a:prstGeom>
          <a:solidFill>
            <a:schemeClr val="bg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5" name="总体标签1"/>
          <p:cNvSpPr txBox="1"/>
          <p:nvPr/>
        </p:nvSpPr>
        <p:spPr>
          <a:xfrm>
            <a:off x="822960" y="16459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美国人口</a:t>
            </a:r>
            <a:endParaRPr lang="en-US" sz="1500" dirty="0"/>
          </a:p>
        </p:txBody>
      </p:sp>
      <p:sp>
        <p:nvSpPr>
          <p:cNvPr id="6" name="总体圈2"/>
          <p:cNvSpPr/>
          <p:nvPr/>
        </p:nvSpPr>
        <p:spPr>
          <a:xfrm>
            <a:off x="1234440" y="2194560"/>
            <a:ext cx="3566160" cy="3566160"/>
          </a:xfrm>
          <a:prstGeom prst="ellipse">
            <a:avLst/>
          </a:prstGeom>
          <a:solidFill>
            <a:schemeClr val="accent6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总体标签2"/>
          <p:cNvSpPr txBox="1"/>
          <p:nvPr/>
        </p:nvSpPr>
        <p:spPr>
          <a:xfrm>
            <a:off x="1234440" y="22860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互联网用户</a:t>
            </a:r>
            <a:endParaRPr lang="en-US" sz="1500" dirty="0"/>
          </a:p>
        </p:txBody>
      </p:sp>
      <p:sp>
        <p:nvSpPr>
          <p:cNvPr id="8" name="总体圈3"/>
          <p:cNvSpPr/>
          <p:nvPr/>
        </p:nvSpPr>
        <p:spPr>
          <a:xfrm>
            <a:off x="1645920" y="2834640"/>
            <a:ext cx="2743200" cy="2743200"/>
          </a:xfrm>
          <a:prstGeom prst="ellipse">
            <a:avLst/>
          </a:prstGeom>
          <a:solidFill>
            <a:srgbClr val="A9C3DA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总体标签3"/>
          <p:cNvSpPr txBox="1"/>
          <p:nvPr/>
        </p:nvSpPr>
        <p:spPr>
          <a:xfrm>
            <a:off x="1645920" y="2926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AI 聊天机器人用户</a:t>
            </a:r>
            <a:endParaRPr lang="en-US" sz="1500" dirty="0"/>
          </a:p>
        </p:txBody>
      </p:sp>
      <p:sp>
        <p:nvSpPr>
          <p:cNvPr id="10" name="总体圈4"/>
          <p:cNvSpPr/>
          <p:nvPr/>
        </p:nvSpPr>
        <p:spPr>
          <a:xfrm>
            <a:off x="2103120" y="3474720"/>
            <a:ext cx="1828800" cy="182880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1" name="样本标签"/>
          <p:cNvSpPr txBox="1"/>
          <p:nvPr/>
        </p:nvSpPr>
        <p:spPr>
          <a:xfrm>
            <a:off x="2103120" y="37490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本次样本</a:t>
            </a:r>
            <a:endParaRPr lang="en-US" sz="1400" dirty="0"/>
          </a:p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4,003</a:t>
            </a:r>
            <a:endParaRPr lang="en-US" sz="1400" dirty="0"/>
          </a:p>
        </p:txBody>
      </p:sp>
      <p:sp>
        <p:nvSpPr>
          <p:cNvPr id="12" name="事实卡"/>
          <p:cNvSpPr/>
          <p:nvPr/>
        </p:nvSpPr>
        <p:spPr>
          <a:xfrm>
            <a:off x="6309360" y="1600200"/>
            <a:ext cx="530352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标签：事实"/>
          <p:cNvSpPr/>
          <p:nvPr/>
        </p:nvSpPr>
        <p:spPr>
          <a:xfrm>
            <a:off x="6537960" y="1984248"/>
            <a:ext cx="86868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标签文字：事实"/>
          <p:cNvSpPr txBox="1"/>
          <p:nvPr/>
        </p:nvSpPr>
        <p:spPr>
          <a:xfrm>
            <a:off x="6537960" y="198424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事实</a:t>
            </a:r>
            <a:endParaRPr lang="en-US" sz="1500" dirty="0"/>
          </a:p>
        </p:txBody>
      </p:sp>
      <p:sp>
        <p:nvSpPr>
          <p:cNvPr id="15" name="事实内容"/>
          <p:cNvSpPr txBox="1"/>
          <p:nvPr/>
        </p:nvSpPr>
        <p:spPr>
          <a:xfrm>
            <a:off x="7589520" y="1600200"/>
            <a:ext cx="3886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样本是 4,003 名 AI 聊天机器人用户</a:t>
            </a:r>
            <a:endParaRPr lang="en-US" sz="1800" dirty="0"/>
          </a:p>
        </p:txBody>
      </p:sp>
      <p:sp>
        <p:nvSpPr>
          <p:cNvPr id="16" name="原因卡"/>
          <p:cNvSpPr/>
          <p:nvPr/>
        </p:nvSpPr>
        <p:spPr>
          <a:xfrm>
            <a:off x="6309360" y="3017520"/>
            <a:ext cx="530352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标签：原因"/>
          <p:cNvSpPr/>
          <p:nvPr/>
        </p:nvSpPr>
        <p:spPr>
          <a:xfrm>
            <a:off x="6537960" y="3401568"/>
            <a:ext cx="868680" cy="4572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8" name="标签文字：原因"/>
          <p:cNvSpPr txBox="1"/>
          <p:nvPr/>
        </p:nvSpPr>
        <p:spPr>
          <a:xfrm>
            <a:off x="6537960" y="340156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原因</a:t>
            </a:r>
            <a:endParaRPr lang="en-US" sz="1500" dirty="0"/>
          </a:p>
        </p:txBody>
      </p:sp>
      <p:sp>
        <p:nvSpPr>
          <p:cNvPr id="19" name="原因内容"/>
          <p:cNvSpPr txBox="1"/>
          <p:nvPr/>
        </p:nvSpPr>
        <p:spPr>
          <a:xfrm>
            <a:off x="7589520" y="3017520"/>
            <a:ext cx="3886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以“使用 AI”为条件筛选的线上样本</a:t>
            </a:r>
            <a:endParaRPr lang="en-US" sz="1800" dirty="0"/>
          </a:p>
        </p:txBody>
      </p:sp>
      <p:sp>
        <p:nvSpPr>
          <p:cNvPr id="20" name="影响卡"/>
          <p:cNvSpPr/>
          <p:nvPr/>
        </p:nvSpPr>
        <p:spPr>
          <a:xfrm>
            <a:off x="6309360" y="4434840"/>
            <a:ext cx="530352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标签：影响"/>
          <p:cNvSpPr/>
          <p:nvPr/>
        </p:nvSpPr>
        <p:spPr>
          <a:xfrm>
            <a:off x="6537960" y="4818888"/>
            <a:ext cx="868680" cy="4572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2" name="标签文字：影响"/>
          <p:cNvSpPr txBox="1"/>
          <p:nvPr/>
        </p:nvSpPr>
        <p:spPr>
          <a:xfrm>
            <a:off x="6537960" y="481888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影响</a:t>
            </a:r>
            <a:endParaRPr lang="en-US" sz="1500" dirty="0"/>
          </a:p>
        </p:txBody>
      </p:sp>
      <p:sp>
        <p:nvSpPr>
          <p:cNvPr id="23" name="影响内容"/>
          <p:cNvSpPr txBox="1"/>
          <p:nvPr/>
        </p:nvSpPr>
        <p:spPr>
          <a:xfrm>
            <a:off x="7589520" y="4434840"/>
            <a:ext cx="3886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结论只适用于 AI 用户，与课上 Durex 案例同类</a:t>
            </a:r>
            <a:endParaRPr lang="en-US" sz="1800" dirty="0"/>
          </a:p>
        </p:txBody>
      </p:sp>
      <p:sp>
        <p:nvSpPr>
          <p:cNvPr id="24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来源：Gracenote 报告；尼尔森新闻稿。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方法评价 · 维度二  研究总体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“14 分钟”是六国均值，美国实为 12 分钟</a:t>
            </a:r>
            <a:endParaRPr lang="en-US" sz="3000" dirty="0"/>
          </a:p>
        </p:txBody>
      </p:sp>
      <p:graphicFrame>
        <p:nvGraphicFramePr>
          <p:cNvPr id="4" name="分国家寻找时长图" descr=""/>
          <p:cNvGraphicFramePr/>
          <p:nvPr/>
        </p:nvGraphicFramePr>
        <p:xfrm>
          <a:off x="548640" y="1508760"/>
          <a:ext cx="548640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事实卡"/>
          <p:cNvSpPr/>
          <p:nvPr/>
        </p:nvSpPr>
        <p:spPr>
          <a:xfrm>
            <a:off x="6309360" y="1600200"/>
            <a:ext cx="530352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标签：事实"/>
          <p:cNvSpPr/>
          <p:nvPr/>
        </p:nvSpPr>
        <p:spPr>
          <a:xfrm>
            <a:off x="6537960" y="1984248"/>
            <a:ext cx="86868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标签文字：事实"/>
          <p:cNvSpPr txBox="1"/>
          <p:nvPr/>
        </p:nvSpPr>
        <p:spPr>
          <a:xfrm>
            <a:off x="6537960" y="198424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事实</a:t>
            </a:r>
            <a:endParaRPr lang="en-US" sz="1500" dirty="0"/>
          </a:p>
        </p:txBody>
      </p:sp>
      <p:sp>
        <p:nvSpPr>
          <p:cNvPr id="8" name="事实内容"/>
          <p:cNvSpPr txBox="1"/>
          <p:nvPr/>
        </p:nvSpPr>
        <p:spPr>
          <a:xfrm>
            <a:off x="7589520" y="1600200"/>
            <a:ext cx="3886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六国均值被放进美国收视图表</a:t>
            </a:r>
            <a:endParaRPr lang="en-US" sz="1800" dirty="0"/>
          </a:p>
        </p:txBody>
      </p:sp>
      <p:sp>
        <p:nvSpPr>
          <p:cNvPr id="9" name="原因卡"/>
          <p:cNvSpPr/>
          <p:nvPr/>
        </p:nvSpPr>
        <p:spPr>
          <a:xfrm>
            <a:off x="6309360" y="3017520"/>
            <a:ext cx="530352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标签：原因"/>
          <p:cNvSpPr/>
          <p:nvPr/>
        </p:nvSpPr>
        <p:spPr>
          <a:xfrm>
            <a:off x="6537960" y="3401568"/>
            <a:ext cx="868680" cy="4572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标签文字：原因"/>
          <p:cNvSpPr txBox="1"/>
          <p:nvPr/>
        </p:nvSpPr>
        <p:spPr>
          <a:xfrm>
            <a:off x="6537960" y="340156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原因</a:t>
            </a:r>
            <a:endParaRPr lang="en-US" sz="1500" dirty="0"/>
          </a:p>
        </p:txBody>
      </p:sp>
      <p:sp>
        <p:nvSpPr>
          <p:cNvPr id="12" name="原因内容"/>
          <p:cNvSpPr txBox="1"/>
          <p:nvPr/>
        </p:nvSpPr>
        <p:spPr>
          <a:xfrm>
            <a:off x="7589520" y="3017520"/>
            <a:ext cx="3886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法国 26 分钟拉高了等权均值</a:t>
            </a:r>
            <a:endParaRPr lang="en-US" sz="1800" dirty="0"/>
          </a:p>
        </p:txBody>
      </p:sp>
      <p:sp>
        <p:nvSpPr>
          <p:cNvPr id="13" name="影响卡"/>
          <p:cNvSpPr/>
          <p:nvPr/>
        </p:nvSpPr>
        <p:spPr>
          <a:xfrm>
            <a:off x="6309360" y="4434840"/>
            <a:ext cx="530352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标签：影响"/>
          <p:cNvSpPr/>
          <p:nvPr/>
        </p:nvSpPr>
        <p:spPr>
          <a:xfrm>
            <a:off x="6537960" y="4818888"/>
            <a:ext cx="868680" cy="4572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标签文字：影响"/>
          <p:cNvSpPr txBox="1"/>
          <p:nvPr/>
        </p:nvSpPr>
        <p:spPr>
          <a:xfrm>
            <a:off x="6537960" y="481888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影响</a:t>
            </a:r>
            <a:endParaRPr lang="en-US" sz="1500" dirty="0"/>
          </a:p>
        </p:txBody>
      </p:sp>
      <p:sp>
        <p:nvSpPr>
          <p:cNvPr id="16" name="影响内容"/>
          <p:cNvSpPr txBox="1"/>
          <p:nvPr/>
        </p:nvSpPr>
        <p:spPr>
          <a:xfrm>
            <a:off x="7589520" y="4434840"/>
            <a:ext cx="3886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高估美国用户的检索困难</a:t>
            </a:r>
            <a:endParaRPr lang="en-US" sz="1800" dirty="0"/>
          </a:p>
        </p:txBody>
      </p:sp>
      <p:sp>
        <p:nvSpPr>
          <p:cNvPr id="17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来源：Gracenote 2025 年报告《State of Play》分国家数据（每国 500 人）。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方法评价 · 维度三  调查时间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两项调查分母不同，“加速”结论不成立</a:t>
            </a:r>
            <a:endParaRPr lang="en-US" sz="3000" dirty="0"/>
          </a:p>
        </p:txBody>
      </p:sp>
      <p:sp>
        <p:nvSpPr>
          <p:cNvPr id="4" name="对比卡1"/>
          <p:cNvSpPr/>
          <p:nvPr/>
        </p:nvSpPr>
        <p:spPr>
          <a:xfrm>
            <a:off x="548640" y="1600200"/>
            <a:ext cx="5486400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对比机构1"/>
          <p:cNvSpPr txBox="1"/>
          <p:nvPr/>
        </p:nvSpPr>
        <p:spPr>
          <a:xfrm>
            <a:off x="868680" y="17830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皮尤研究中心（2025 年秋）</a:t>
            </a:r>
            <a:endParaRPr lang="en-US" sz="1700" dirty="0"/>
          </a:p>
        </p:txBody>
      </p:sp>
      <p:sp>
        <p:nvSpPr>
          <p:cNvPr id="6" name="对比数字1"/>
          <p:cNvSpPr txBox="1"/>
          <p:nvPr/>
        </p:nvSpPr>
        <p:spPr>
          <a:xfrm>
            <a:off x="868680" y="2240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24%</a:t>
            </a:r>
            <a:endParaRPr lang="en-US" sz="6000" dirty="0"/>
          </a:p>
        </p:txBody>
      </p:sp>
      <p:sp>
        <p:nvSpPr>
          <p:cNvPr id="7" name="对比分母1"/>
          <p:cNvSpPr txBox="1"/>
          <p:nvPr/>
        </p:nvSpPr>
        <p:spPr>
          <a:xfrm>
            <a:off x="3108960" y="224028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分母</a:t>
            </a:r>
            <a:endParaRPr lang="en-US" sz="1400" dirty="0"/>
          </a:p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全体 13–14 岁青少年</a:t>
            </a:r>
            <a:endParaRPr lang="en-US" sz="1400" dirty="0"/>
          </a:p>
        </p:txBody>
      </p:sp>
      <p:sp>
        <p:nvSpPr>
          <p:cNvPr id="8" name="对比卡2"/>
          <p:cNvSpPr/>
          <p:nvPr/>
        </p:nvSpPr>
        <p:spPr>
          <a:xfrm>
            <a:off x="548640" y="3794760"/>
            <a:ext cx="5486400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对比机构2"/>
          <p:cNvSpPr txBox="1"/>
          <p:nvPr/>
        </p:nvSpPr>
        <p:spPr>
          <a:xfrm>
            <a:off x="868680" y="39776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本报告（2026 年初）</a:t>
            </a:r>
            <a:endParaRPr lang="en-US" sz="1700" dirty="0"/>
          </a:p>
        </p:txBody>
      </p:sp>
      <p:sp>
        <p:nvSpPr>
          <p:cNvPr id="10" name="对比数字2"/>
          <p:cNvSpPr txBox="1"/>
          <p:nvPr/>
        </p:nvSpPr>
        <p:spPr>
          <a:xfrm>
            <a:off x="868680" y="443484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6000" dirty="0"/>
          </a:p>
        </p:txBody>
      </p:sp>
      <p:sp>
        <p:nvSpPr>
          <p:cNvPr id="11" name="对比分母2"/>
          <p:cNvSpPr txBox="1"/>
          <p:nvPr/>
        </p:nvSpPr>
        <p:spPr>
          <a:xfrm>
            <a:off x="3108960" y="443484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分母</a:t>
            </a:r>
            <a:endParaRPr lang="en-US" sz="1400" dirty="0"/>
          </a:p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13–14 岁 AI 用户</a:t>
            </a:r>
            <a:endParaRPr lang="en-US" sz="1400" dirty="0"/>
          </a:p>
        </p:txBody>
      </p:sp>
      <p:sp>
        <p:nvSpPr>
          <p:cNvPr id="12" name="事实卡"/>
          <p:cNvSpPr/>
          <p:nvPr/>
        </p:nvSpPr>
        <p:spPr>
          <a:xfrm>
            <a:off x="6309360" y="1600200"/>
            <a:ext cx="530352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标签：事实"/>
          <p:cNvSpPr/>
          <p:nvPr/>
        </p:nvSpPr>
        <p:spPr>
          <a:xfrm>
            <a:off x="6537960" y="1984248"/>
            <a:ext cx="86868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标签文字：事实"/>
          <p:cNvSpPr txBox="1"/>
          <p:nvPr/>
        </p:nvSpPr>
        <p:spPr>
          <a:xfrm>
            <a:off x="6537960" y="198424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事实</a:t>
            </a:r>
            <a:endParaRPr lang="en-US" sz="1500" dirty="0"/>
          </a:p>
        </p:txBody>
      </p:sp>
      <p:sp>
        <p:nvSpPr>
          <p:cNvPr id="15" name="事实内容"/>
          <p:cNvSpPr txBox="1"/>
          <p:nvPr/>
        </p:nvSpPr>
        <p:spPr>
          <a:xfrm>
            <a:off x="7589520" y="1600200"/>
            <a:ext cx="3886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以皮尤 30% 对比本报告 54%，称使用“加速”</a:t>
            </a:r>
            <a:endParaRPr lang="en-US" sz="1800" dirty="0"/>
          </a:p>
        </p:txBody>
      </p:sp>
      <p:sp>
        <p:nvSpPr>
          <p:cNvPr id="16" name="原因卡"/>
          <p:cNvSpPr/>
          <p:nvPr/>
        </p:nvSpPr>
        <p:spPr>
          <a:xfrm>
            <a:off x="6309360" y="3017520"/>
            <a:ext cx="530352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标签：原因"/>
          <p:cNvSpPr/>
          <p:nvPr/>
        </p:nvSpPr>
        <p:spPr>
          <a:xfrm>
            <a:off x="6537960" y="3401568"/>
            <a:ext cx="868680" cy="4572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8" name="标签文字：原因"/>
          <p:cNvSpPr txBox="1"/>
          <p:nvPr/>
        </p:nvSpPr>
        <p:spPr>
          <a:xfrm>
            <a:off x="6537960" y="340156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原因</a:t>
            </a:r>
            <a:endParaRPr lang="en-US" sz="1500" dirty="0"/>
          </a:p>
        </p:txBody>
      </p:sp>
      <p:sp>
        <p:nvSpPr>
          <p:cNvPr id="19" name="原因内容"/>
          <p:cNvSpPr txBox="1"/>
          <p:nvPr/>
        </p:nvSpPr>
        <p:spPr>
          <a:xfrm>
            <a:off x="7589520" y="3017520"/>
            <a:ext cx="3886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分母不同：全体青少年 vs AI 用户</a:t>
            </a:r>
            <a:endParaRPr lang="en-US" sz="1800" dirty="0"/>
          </a:p>
        </p:txBody>
      </p:sp>
      <p:sp>
        <p:nvSpPr>
          <p:cNvPr id="20" name="影响卡"/>
          <p:cNvSpPr/>
          <p:nvPr/>
        </p:nvSpPr>
        <p:spPr>
          <a:xfrm>
            <a:off x="6309360" y="4434840"/>
            <a:ext cx="530352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标签：影响"/>
          <p:cNvSpPr/>
          <p:nvPr/>
        </p:nvSpPr>
        <p:spPr>
          <a:xfrm>
            <a:off x="6537960" y="4818888"/>
            <a:ext cx="868680" cy="4572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2" name="标签文字：影响"/>
          <p:cNvSpPr txBox="1"/>
          <p:nvPr/>
        </p:nvSpPr>
        <p:spPr>
          <a:xfrm>
            <a:off x="6537960" y="481888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影响</a:t>
            </a:r>
            <a:endParaRPr lang="en-US" sz="1500" dirty="0"/>
          </a:p>
        </p:txBody>
      </p:sp>
      <p:sp>
        <p:nvSpPr>
          <p:cNvPr id="23" name="影响内容"/>
          <p:cNvSpPr txBox="1"/>
          <p:nvPr/>
        </p:nvSpPr>
        <p:spPr>
          <a:xfrm>
            <a:off x="7589520" y="4434840"/>
            <a:ext cx="3886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同一口径下差距仅约 10 个百分点</a:t>
            </a:r>
            <a:endParaRPr lang="en-US" sz="1800" dirty="0"/>
          </a:p>
        </p:txBody>
      </p:sp>
      <p:sp>
        <p:nvSpPr>
          <p:cNvPr id="24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来源：皮尤《Teens, Social Media and AI Chatbots 2025》数据表（使用者中每日使用 44%）。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方法评价 · 维度四  研究方法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四类数据不足以证明“检索困难导致退订”</a:t>
            </a:r>
            <a:endParaRPr lang="en-US" sz="3000" dirty="0"/>
          </a:p>
        </p:txBody>
      </p:sp>
      <p:sp>
        <p:nvSpPr>
          <p:cNvPr id="4" name="数据类型卡1"/>
          <p:cNvSpPr/>
          <p:nvPr/>
        </p:nvSpPr>
        <p:spPr>
          <a:xfrm>
            <a:off x="548640" y="1600200"/>
            <a:ext cx="2651760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数据类型1"/>
          <p:cNvSpPr txBox="1"/>
          <p:nvPr/>
        </p:nvSpPr>
        <p:spPr>
          <a:xfrm>
            <a:off x="822960" y="1828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意向 · 问卷</a:t>
            </a:r>
            <a:endParaRPr lang="en-US" sz="1700" dirty="0"/>
          </a:p>
        </p:txBody>
      </p:sp>
      <p:sp>
        <p:nvSpPr>
          <p:cNvPr id="6" name="数据类型数字1"/>
          <p:cNvSpPr txBox="1"/>
          <p:nvPr/>
        </p:nvSpPr>
        <p:spPr>
          <a:xfrm>
            <a:off x="822960" y="2331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4000" dirty="0"/>
          </a:p>
        </p:txBody>
      </p:sp>
      <p:sp>
        <p:nvSpPr>
          <p:cNvPr id="7" name="数据类型卡2"/>
          <p:cNvSpPr/>
          <p:nvPr/>
        </p:nvSpPr>
        <p:spPr>
          <a:xfrm>
            <a:off x="3383280" y="1600200"/>
            <a:ext cx="2651760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数据类型2"/>
          <p:cNvSpPr txBox="1"/>
          <p:nvPr/>
        </p:nvSpPr>
        <p:spPr>
          <a:xfrm>
            <a:off x="3657600" y="1828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行为 · 退订率</a:t>
            </a:r>
            <a:endParaRPr lang="en-US" sz="1700" dirty="0"/>
          </a:p>
        </p:txBody>
      </p:sp>
      <p:sp>
        <p:nvSpPr>
          <p:cNvPr id="9" name="数据类型数字2"/>
          <p:cNvSpPr txBox="1"/>
          <p:nvPr/>
        </p:nvSpPr>
        <p:spPr>
          <a:xfrm>
            <a:off x="3657600" y="2331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5.5%</a:t>
            </a:r>
            <a:endParaRPr lang="en-US" sz="4000" dirty="0"/>
          </a:p>
        </p:txBody>
      </p:sp>
      <p:sp>
        <p:nvSpPr>
          <p:cNvPr id="10" name="数据类型卡3"/>
          <p:cNvSpPr/>
          <p:nvPr/>
        </p:nvSpPr>
        <p:spPr>
          <a:xfrm>
            <a:off x="548640" y="3794760"/>
            <a:ext cx="2651760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数据类型3"/>
          <p:cNvSpPr txBox="1"/>
          <p:nvPr/>
        </p:nvSpPr>
        <p:spPr>
          <a:xfrm>
            <a:off x="822960" y="4023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预测 · 普华永道</a:t>
            </a:r>
            <a:endParaRPr lang="en-US" sz="1700" dirty="0"/>
          </a:p>
        </p:txBody>
      </p:sp>
      <p:sp>
        <p:nvSpPr>
          <p:cNvPr id="12" name="数据类型数字3"/>
          <p:cNvSpPr txBox="1"/>
          <p:nvPr/>
        </p:nvSpPr>
        <p:spPr>
          <a:xfrm>
            <a:off x="822960" y="452628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3,185 亿美元</a:t>
            </a:r>
            <a:endParaRPr lang="en-US" sz="2600" dirty="0"/>
          </a:p>
        </p:txBody>
      </p:sp>
      <p:sp>
        <p:nvSpPr>
          <p:cNvPr id="13" name="数据类型卡4"/>
          <p:cNvSpPr/>
          <p:nvPr/>
        </p:nvSpPr>
        <p:spPr>
          <a:xfrm>
            <a:off x="3383280" y="3794760"/>
            <a:ext cx="2651760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数据类型4"/>
          <p:cNvSpPr txBox="1"/>
          <p:nvPr/>
        </p:nvSpPr>
        <p:spPr>
          <a:xfrm>
            <a:off x="3657600" y="4023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测试 · AI 答题</a:t>
            </a:r>
            <a:endParaRPr lang="en-US" sz="1700" dirty="0"/>
          </a:p>
        </p:txBody>
      </p:sp>
      <p:sp>
        <p:nvSpPr>
          <p:cNvPr id="15" name="数据类型数字4"/>
          <p:cNvSpPr txBox="1"/>
          <p:nvPr/>
        </p:nvSpPr>
        <p:spPr>
          <a:xfrm>
            <a:off x="3657600" y="452628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约 2/3</a:t>
            </a:r>
            <a:endParaRPr lang="en-US" sz="4000" dirty="0"/>
          </a:p>
        </p:txBody>
      </p:sp>
      <p:sp>
        <p:nvSpPr>
          <p:cNvPr id="16" name="事实卡"/>
          <p:cNvSpPr/>
          <p:nvPr/>
        </p:nvSpPr>
        <p:spPr>
          <a:xfrm>
            <a:off x="6309360" y="1600200"/>
            <a:ext cx="530352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标签：事实"/>
          <p:cNvSpPr/>
          <p:nvPr/>
        </p:nvSpPr>
        <p:spPr>
          <a:xfrm>
            <a:off x="6537960" y="1984248"/>
            <a:ext cx="86868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标签文字：事实"/>
          <p:cNvSpPr txBox="1"/>
          <p:nvPr/>
        </p:nvSpPr>
        <p:spPr>
          <a:xfrm>
            <a:off x="6537960" y="198424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事实</a:t>
            </a:r>
            <a:endParaRPr lang="en-US" sz="1500" dirty="0"/>
          </a:p>
        </p:txBody>
      </p:sp>
      <p:sp>
        <p:nvSpPr>
          <p:cNvPr id="19" name="事实内容"/>
          <p:cNvSpPr txBox="1"/>
          <p:nvPr/>
        </p:nvSpPr>
        <p:spPr>
          <a:xfrm>
            <a:off x="7589520" y="1600200"/>
            <a:ext cx="3886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因果链由四类不同数据拼接而成</a:t>
            </a:r>
            <a:endParaRPr lang="en-US" sz="1800" dirty="0"/>
          </a:p>
        </p:txBody>
      </p:sp>
      <p:sp>
        <p:nvSpPr>
          <p:cNvPr id="20" name="原因卡"/>
          <p:cNvSpPr/>
          <p:nvPr/>
        </p:nvSpPr>
        <p:spPr>
          <a:xfrm>
            <a:off x="6309360" y="3017520"/>
            <a:ext cx="530352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标签：原因"/>
          <p:cNvSpPr/>
          <p:nvPr/>
        </p:nvSpPr>
        <p:spPr>
          <a:xfrm>
            <a:off x="6537960" y="3401568"/>
            <a:ext cx="868680" cy="4572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2" name="标签文字：原因"/>
          <p:cNvSpPr txBox="1"/>
          <p:nvPr/>
        </p:nvSpPr>
        <p:spPr>
          <a:xfrm>
            <a:off x="6537960" y="340156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原因</a:t>
            </a:r>
            <a:endParaRPr lang="en-US" sz="1500" dirty="0"/>
          </a:p>
        </p:txBody>
      </p:sp>
      <p:sp>
        <p:nvSpPr>
          <p:cNvPr id="23" name="原因内容"/>
          <p:cNvSpPr txBox="1"/>
          <p:nvPr/>
        </p:nvSpPr>
        <p:spPr>
          <a:xfrm>
            <a:off x="7589520" y="3017520"/>
            <a:ext cx="3886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数据性质不同，且无追踪或实验</a:t>
            </a:r>
            <a:endParaRPr lang="en-US" sz="1800" dirty="0"/>
          </a:p>
        </p:txBody>
      </p:sp>
      <p:sp>
        <p:nvSpPr>
          <p:cNvPr id="24" name="影响卡"/>
          <p:cNvSpPr/>
          <p:nvPr/>
        </p:nvSpPr>
        <p:spPr>
          <a:xfrm>
            <a:off x="6309360" y="4434840"/>
            <a:ext cx="530352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标签：影响"/>
          <p:cNvSpPr/>
          <p:nvPr/>
        </p:nvSpPr>
        <p:spPr>
          <a:xfrm>
            <a:off x="6537960" y="4818888"/>
            <a:ext cx="868680" cy="4572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6" name="标签文字：影响"/>
          <p:cNvSpPr txBox="1"/>
          <p:nvPr/>
        </p:nvSpPr>
        <p:spPr>
          <a:xfrm>
            <a:off x="6537960" y="481888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影响</a:t>
            </a:r>
            <a:endParaRPr lang="en-US" sz="1500" dirty="0"/>
          </a:p>
        </p:txBody>
      </p:sp>
      <p:sp>
        <p:nvSpPr>
          <p:cNvPr id="27" name="影响内容"/>
          <p:cNvSpPr txBox="1"/>
          <p:nvPr/>
        </p:nvSpPr>
        <p:spPr>
          <a:xfrm>
            <a:off x="7589520" y="4434840"/>
            <a:ext cx="3886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只能提示相关，不能证明因果</a:t>
            </a:r>
            <a:endParaRPr lang="en-US" sz="1800" dirty="0"/>
          </a:p>
        </p:txBody>
      </p:sp>
      <p:sp>
        <p:nvSpPr>
          <p:cNvPr id="28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来源：Gracenote 报告；普华永道、Veed Analytics 原文；Fabric 数据经 Broadband TV News 转述。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73152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05  总结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两环部分成立、两环证据不足：结论应限于 AI 用户</a:t>
            </a:r>
            <a:endParaRPr lang="en-US" sz="3000" dirty="0"/>
          </a:p>
        </p:txBody>
      </p:sp>
      <p:sp>
        <p:nvSpPr>
          <p:cNvPr id="4" name="判断行1"/>
          <p:cNvSpPr/>
          <p:nvPr/>
        </p:nvSpPr>
        <p:spPr>
          <a:xfrm>
            <a:off x="731520" y="1783080"/>
            <a:ext cx="6766560" cy="749808"/>
          </a:xfrm>
          <a:prstGeom prst="roundRect">
            <a:avLst>
              <a:gd name="adj" fmla="val 12195"/>
            </a:avLst>
          </a:prstGeom>
          <a:solidFill>
            <a:srgbClr val="2C3A5C"/>
          </a:solidFill>
          <a:ln w="12700">
            <a:solidFill>
              <a:srgbClr val="2C3A5C"/>
            </a:solidFill>
            <a:prstDash val="solid"/>
          </a:ln>
        </p:spPr>
      </p:sp>
      <p:sp>
        <p:nvSpPr>
          <p:cNvPr id="5" name="判断环节1"/>
          <p:cNvSpPr txBox="1"/>
          <p:nvPr/>
        </p:nvSpPr>
        <p:spPr>
          <a:xfrm>
            <a:off x="1005840" y="1783080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① 依赖 AI</a:t>
            </a:r>
            <a:endParaRPr lang="en-US" sz="2000" dirty="0"/>
          </a:p>
        </p:txBody>
      </p:sp>
      <p:sp>
        <p:nvSpPr>
          <p:cNvPr id="6" name="标签：部分成立"/>
          <p:cNvSpPr/>
          <p:nvPr/>
        </p:nvSpPr>
        <p:spPr>
          <a:xfrm>
            <a:off x="5669280" y="1938528"/>
            <a:ext cx="1600200" cy="43891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标签文字：部分成立"/>
          <p:cNvSpPr txBox="1"/>
          <p:nvPr/>
        </p:nvSpPr>
        <p:spPr>
          <a:xfrm>
            <a:off x="5669280" y="1938528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部分成立</a:t>
            </a:r>
            <a:endParaRPr lang="en-US" sz="1500" dirty="0"/>
          </a:p>
        </p:txBody>
      </p:sp>
      <p:sp>
        <p:nvSpPr>
          <p:cNvPr id="8" name="判断行2"/>
          <p:cNvSpPr/>
          <p:nvPr/>
        </p:nvSpPr>
        <p:spPr>
          <a:xfrm>
            <a:off x="731520" y="2697480"/>
            <a:ext cx="6766560" cy="749808"/>
          </a:xfrm>
          <a:prstGeom prst="roundRect">
            <a:avLst>
              <a:gd name="adj" fmla="val 12195"/>
            </a:avLst>
          </a:prstGeom>
          <a:solidFill>
            <a:srgbClr val="2C3A5C"/>
          </a:solidFill>
          <a:ln w="12700">
            <a:solidFill>
              <a:srgbClr val="2C3A5C"/>
            </a:solidFill>
            <a:prstDash val="solid"/>
          </a:ln>
        </p:spPr>
      </p:sp>
      <p:sp>
        <p:nvSpPr>
          <p:cNvPr id="9" name="判断环节2"/>
          <p:cNvSpPr txBox="1"/>
          <p:nvPr/>
        </p:nvSpPr>
        <p:spPr>
          <a:xfrm>
            <a:off x="1005840" y="2697480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② 信任不足</a:t>
            </a:r>
            <a:endParaRPr lang="en-US" sz="2000" dirty="0"/>
          </a:p>
        </p:txBody>
      </p:sp>
      <p:sp>
        <p:nvSpPr>
          <p:cNvPr id="10" name="标签：部分成立"/>
          <p:cNvSpPr/>
          <p:nvPr/>
        </p:nvSpPr>
        <p:spPr>
          <a:xfrm>
            <a:off x="5669280" y="2852928"/>
            <a:ext cx="1600200" cy="43891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标签文字：部分成立"/>
          <p:cNvSpPr txBox="1"/>
          <p:nvPr/>
        </p:nvSpPr>
        <p:spPr>
          <a:xfrm>
            <a:off x="5669280" y="2852928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部分成立</a:t>
            </a:r>
            <a:endParaRPr lang="en-US" sz="1500" dirty="0"/>
          </a:p>
        </p:txBody>
      </p:sp>
      <p:sp>
        <p:nvSpPr>
          <p:cNvPr id="12" name="判断行3"/>
          <p:cNvSpPr/>
          <p:nvPr/>
        </p:nvSpPr>
        <p:spPr>
          <a:xfrm>
            <a:off x="731520" y="3611880"/>
            <a:ext cx="6766560" cy="749808"/>
          </a:xfrm>
          <a:prstGeom prst="roundRect">
            <a:avLst>
              <a:gd name="adj" fmla="val 12195"/>
            </a:avLst>
          </a:prstGeom>
          <a:solidFill>
            <a:srgbClr val="2C3A5C"/>
          </a:solidFill>
          <a:ln w="12700">
            <a:solidFill>
              <a:srgbClr val="2C3A5C"/>
            </a:solidFill>
            <a:prstDash val="solid"/>
          </a:ln>
        </p:spPr>
      </p:sp>
      <p:sp>
        <p:nvSpPr>
          <p:cNvPr id="13" name="判断环节3"/>
          <p:cNvSpPr txBox="1"/>
          <p:nvPr/>
        </p:nvSpPr>
        <p:spPr>
          <a:xfrm>
            <a:off x="1005840" y="3611880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③ 检索难致退订</a:t>
            </a:r>
            <a:endParaRPr lang="en-US" sz="2000" dirty="0"/>
          </a:p>
        </p:txBody>
      </p:sp>
      <p:sp>
        <p:nvSpPr>
          <p:cNvPr id="14" name="标签：证据不足"/>
          <p:cNvSpPr/>
          <p:nvPr/>
        </p:nvSpPr>
        <p:spPr>
          <a:xfrm>
            <a:off x="5669280" y="3767328"/>
            <a:ext cx="1600200" cy="43891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标签文字：证据不足"/>
          <p:cNvSpPr txBox="1"/>
          <p:nvPr/>
        </p:nvSpPr>
        <p:spPr>
          <a:xfrm>
            <a:off x="5669280" y="3767328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证据不足</a:t>
            </a:r>
            <a:endParaRPr lang="en-US" sz="1500" dirty="0"/>
          </a:p>
        </p:txBody>
      </p:sp>
      <p:sp>
        <p:nvSpPr>
          <p:cNvPr id="16" name="判断行4"/>
          <p:cNvSpPr/>
          <p:nvPr/>
        </p:nvSpPr>
        <p:spPr>
          <a:xfrm>
            <a:off x="731520" y="4526280"/>
            <a:ext cx="6766560" cy="749808"/>
          </a:xfrm>
          <a:prstGeom prst="roundRect">
            <a:avLst>
              <a:gd name="adj" fmla="val 12195"/>
            </a:avLst>
          </a:prstGeom>
          <a:solidFill>
            <a:srgbClr val="2C3A5C"/>
          </a:solidFill>
          <a:ln w="12700">
            <a:solidFill>
              <a:srgbClr val="2C3A5C"/>
            </a:solidFill>
            <a:prstDash val="solid"/>
          </a:ln>
        </p:spPr>
      </p:sp>
      <p:sp>
        <p:nvSpPr>
          <p:cNvPr id="17" name="判断环节4"/>
          <p:cNvSpPr txBox="1"/>
          <p:nvPr/>
        </p:nvSpPr>
        <p:spPr>
          <a:xfrm>
            <a:off x="1005840" y="4526280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④ 接入可信数据</a:t>
            </a:r>
            <a:endParaRPr lang="en-US" sz="2000" dirty="0"/>
          </a:p>
        </p:txBody>
      </p:sp>
      <p:sp>
        <p:nvSpPr>
          <p:cNvPr id="18" name="标签：未经检验"/>
          <p:cNvSpPr/>
          <p:nvPr/>
        </p:nvSpPr>
        <p:spPr>
          <a:xfrm>
            <a:off x="5669280" y="4681728"/>
            <a:ext cx="1600200" cy="43891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9" name="标签文字：未经检验"/>
          <p:cNvSpPr txBox="1"/>
          <p:nvPr/>
        </p:nvSpPr>
        <p:spPr>
          <a:xfrm>
            <a:off x="5669280" y="4681728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未经检验</a:t>
            </a:r>
            <a:endParaRPr lang="en-US" sz="1500" dirty="0"/>
          </a:p>
        </p:txBody>
      </p:sp>
      <p:sp>
        <p:nvSpPr>
          <p:cNvPr id="20" name="优点"/>
          <p:cNvSpPr txBox="1"/>
          <p:nvPr/>
        </p:nvSpPr>
        <p:spPr>
          <a:xfrm>
            <a:off x="731520" y="55321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优点：</a:t>
            </a:r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公开了样本量、时间与年龄范围，图表数据经复核基本一致。</a:t>
            </a:r>
            <a:endParaRPr lang="en-US" sz="1600" dirty="0"/>
          </a:p>
        </p:txBody>
      </p:sp>
      <p:sp>
        <p:nvSpPr>
          <p:cNvPr id="21" name="讨论卡"/>
          <p:cNvSpPr/>
          <p:nvPr/>
        </p:nvSpPr>
        <p:spPr>
          <a:xfrm>
            <a:off x="7955280" y="1783080"/>
            <a:ext cx="3520440" cy="3493008"/>
          </a:xfrm>
          <a:prstGeom prst="roundRect">
            <a:avLst>
              <a:gd name="adj" fmla="val 2618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讨论问题"/>
          <p:cNvSpPr txBox="1"/>
          <p:nvPr/>
        </p:nvSpPr>
        <p:spPr>
          <a:xfrm>
            <a:off x="8275320" y="1920240"/>
            <a:ext cx="2926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4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讨论问题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如何设计调查，才能检验“检索困难导致退订”？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附录（备问）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11 个数据来源中，核心两项问卷最不透明</a:t>
            </a:r>
            <a:endParaRPr lang="en-US" sz="3000" dirty="0"/>
          </a:p>
        </p:txBody>
      </p:sp>
      <p:sp>
        <p:nvSpPr>
          <p:cNvPr id="4" name="来源卡1"/>
          <p:cNvSpPr/>
          <p:nvPr/>
        </p:nvSpPr>
        <p:spPr>
          <a:xfrm>
            <a:off x="548640" y="1554480"/>
            <a:ext cx="2651760" cy="1298448"/>
          </a:xfrm>
          <a:prstGeom prst="roundRect">
            <a:avLst>
              <a:gd name="adj" fmla="val 70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来源状态1"/>
          <p:cNvSpPr txBox="1"/>
          <p:nvPr/>
        </p:nvSpPr>
        <p:spPr>
          <a:xfrm>
            <a:off x="731520" y="1664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关键信息未公开</a:t>
            </a:r>
            <a:endParaRPr lang="en-US" sz="1200" dirty="0"/>
          </a:p>
        </p:txBody>
      </p:sp>
      <p:sp>
        <p:nvSpPr>
          <p:cNvPr id="6" name="来源说明1"/>
          <p:cNvSpPr txBox="1"/>
          <p:nvPr/>
        </p:nvSpPr>
        <p:spPr>
          <a:xfrm>
            <a:off x="731520" y="199339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Gracenote 2026 AI 调查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线上 · 美国 AI 用户 4,003 人</a:t>
            </a:r>
            <a:endParaRPr lang="en-US" sz="1500" dirty="0"/>
          </a:p>
        </p:txBody>
      </p:sp>
      <p:sp>
        <p:nvSpPr>
          <p:cNvPr id="7" name="来源卡2"/>
          <p:cNvSpPr/>
          <p:nvPr/>
        </p:nvSpPr>
        <p:spPr>
          <a:xfrm>
            <a:off x="3360420" y="1554480"/>
            <a:ext cx="2651760" cy="1298448"/>
          </a:xfrm>
          <a:prstGeom prst="roundRect">
            <a:avLst>
              <a:gd name="adj" fmla="val 70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来源状态2"/>
          <p:cNvSpPr txBox="1"/>
          <p:nvPr/>
        </p:nvSpPr>
        <p:spPr>
          <a:xfrm>
            <a:off x="3543300" y="1664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关键信息未公开</a:t>
            </a:r>
            <a:endParaRPr lang="en-US" sz="1200" dirty="0"/>
          </a:p>
        </p:txBody>
      </p:sp>
      <p:sp>
        <p:nvSpPr>
          <p:cNvPr id="9" name="来源说明2"/>
          <p:cNvSpPr txBox="1"/>
          <p:nvPr/>
        </p:nvSpPr>
        <p:spPr>
          <a:xfrm>
            <a:off x="3543300" y="199339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Gracenote 2025 流媒体调查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线上 · 六国各 500 人</a:t>
            </a:r>
            <a:endParaRPr lang="en-US" sz="1500" dirty="0"/>
          </a:p>
        </p:txBody>
      </p:sp>
      <p:sp>
        <p:nvSpPr>
          <p:cNvPr id="10" name="来源卡3"/>
          <p:cNvSpPr/>
          <p:nvPr/>
        </p:nvSpPr>
        <p:spPr>
          <a:xfrm>
            <a:off x="6172200" y="1554480"/>
            <a:ext cx="2651760" cy="1298448"/>
          </a:xfrm>
          <a:prstGeom prst="roundRect">
            <a:avLst>
              <a:gd name="adj" fmla="val 70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来源状态3"/>
          <p:cNvSpPr txBox="1"/>
          <p:nvPr/>
        </p:nvSpPr>
        <p:spPr>
          <a:xfrm>
            <a:off x="6355080" y="1664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方法公开</a:t>
            </a:r>
            <a:endParaRPr lang="en-US" sz="1200" dirty="0"/>
          </a:p>
        </p:txBody>
      </p:sp>
      <p:sp>
        <p:nvSpPr>
          <p:cNvPr id="12" name="来源说明3"/>
          <p:cNvSpPr txBox="1"/>
          <p:nvPr/>
        </p:nvSpPr>
        <p:spPr>
          <a:xfrm>
            <a:off x="6355080" y="199339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皮尤研究中心青少年调查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概率样本 1,458 人 · 加权</a:t>
            </a:r>
            <a:endParaRPr lang="en-US" sz="1500" dirty="0"/>
          </a:p>
        </p:txBody>
      </p:sp>
      <p:sp>
        <p:nvSpPr>
          <p:cNvPr id="13" name="来源卡4"/>
          <p:cNvSpPr/>
          <p:nvPr/>
        </p:nvSpPr>
        <p:spPr>
          <a:xfrm>
            <a:off x="8983980" y="1554480"/>
            <a:ext cx="2651760" cy="1298448"/>
          </a:xfrm>
          <a:prstGeom prst="roundRect">
            <a:avLst>
              <a:gd name="adj" fmla="val 70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来源状态4"/>
          <p:cNvSpPr txBox="1"/>
          <p:nvPr/>
        </p:nvSpPr>
        <p:spPr>
          <a:xfrm>
            <a:off x="9166860" y="1664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方法公开</a:t>
            </a:r>
            <a:endParaRPr lang="en-US" sz="1200" dirty="0"/>
          </a:p>
        </p:txBody>
      </p:sp>
      <p:sp>
        <p:nvSpPr>
          <p:cNvPr id="15" name="来源说明4"/>
          <p:cNvSpPr txBox="1"/>
          <p:nvPr/>
        </p:nvSpPr>
        <p:spPr>
          <a:xfrm>
            <a:off x="9166860" y="199339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德勤数字媒体趋势调查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美国 3,595 人 · 人口普查加权</a:t>
            </a:r>
            <a:endParaRPr lang="en-US" sz="1500" dirty="0"/>
          </a:p>
        </p:txBody>
      </p:sp>
      <p:sp>
        <p:nvSpPr>
          <p:cNvPr id="16" name="来源卡5"/>
          <p:cNvSpPr/>
          <p:nvPr/>
        </p:nvSpPr>
        <p:spPr>
          <a:xfrm>
            <a:off x="548640" y="3017520"/>
            <a:ext cx="2651760" cy="1298448"/>
          </a:xfrm>
          <a:prstGeom prst="roundRect">
            <a:avLst>
              <a:gd name="adj" fmla="val 70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来源状态5"/>
          <p:cNvSpPr txBox="1"/>
          <p:nvPr/>
        </p:nvSpPr>
        <p:spPr>
          <a:xfrm>
            <a:off x="73152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方法公开</a:t>
            </a:r>
            <a:endParaRPr lang="en-US" sz="1200" dirty="0"/>
          </a:p>
        </p:txBody>
      </p:sp>
      <p:sp>
        <p:nvSpPr>
          <p:cNvPr id="18" name="来源说明5"/>
          <p:cNvSpPr txBox="1"/>
          <p:nvPr/>
        </p:nvSpPr>
        <p:spPr>
          <a:xfrm>
            <a:off x="731520" y="345643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尼尔森 NPOWER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测量仪样本户 + 机顶盒数据</a:t>
            </a:r>
            <a:endParaRPr lang="en-US" sz="1500" dirty="0"/>
          </a:p>
        </p:txBody>
      </p:sp>
      <p:sp>
        <p:nvSpPr>
          <p:cNvPr id="19" name="来源卡6"/>
          <p:cNvSpPr/>
          <p:nvPr/>
        </p:nvSpPr>
        <p:spPr>
          <a:xfrm>
            <a:off x="3360420" y="3017520"/>
            <a:ext cx="2651760" cy="1298448"/>
          </a:xfrm>
          <a:prstGeom prst="roundRect">
            <a:avLst>
              <a:gd name="adj" fmla="val 70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来源状态6"/>
          <p:cNvSpPr txBox="1"/>
          <p:nvPr/>
        </p:nvSpPr>
        <p:spPr>
          <a:xfrm>
            <a:off x="354330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方法公开</a:t>
            </a:r>
            <a:endParaRPr lang="en-US" sz="1200" dirty="0"/>
          </a:p>
        </p:txBody>
      </p:sp>
      <p:sp>
        <p:nvSpPr>
          <p:cNvPr id="21" name="来源说明6"/>
          <p:cNvSpPr txBox="1"/>
          <p:nvPr/>
        </p:nvSpPr>
        <p:spPr>
          <a:xfrm>
            <a:off x="3543300" y="345643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尼尔森流媒体收视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测量仪样本户，仅电视屏幕</a:t>
            </a:r>
            <a:endParaRPr lang="en-US" sz="1500" dirty="0"/>
          </a:p>
        </p:txBody>
      </p:sp>
      <p:sp>
        <p:nvSpPr>
          <p:cNvPr id="22" name="来源卡7"/>
          <p:cNvSpPr/>
          <p:nvPr/>
        </p:nvSpPr>
        <p:spPr>
          <a:xfrm>
            <a:off x="6172200" y="3017520"/>
            <a:ext cx="2651760" cy="1298448"/>
          </a:xfrm>
          <a:prstGeom prst="roundRect">
            <a:avLst>
              <a:gd name="adj" fmla="val 70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来源状态7"/>
          <p:cNvSpPr txBox="1"/>
          <p:nvPr/>
        </p:nvSpPr>
        <p:spPr>
          <a:xfrm>
            <a:off x="635508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关键信息未公开</a:t>
            </a:r>
            <a:endParaRPr lang="en-US" sz="1200" dirty="0"/>
          </a:p>
        </p:txBody>
      </p:sp>
      <p:sp>
        <p:nvSpPr>
          <p:cNvPr id="24" name="来源说明7"/>
          <p:cNvSpPr txBox="1"/>
          <p:nvPr/>
        </p:nvSpPr>
        <p:spPr>
          <a:xfrm>
            <a:off x="6355080" y="345643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Gracenote 节目数据库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企业自有数据，非抽样</a:t>
            </a:r>
            <a:endParaRPr lang="en-US" sz="1500" dirty="0"/>
          </a:p>
        </p:txBody>
      </p:sp>
      <p:sp>
        <p:nvSpPr>
          <p:cNvPr id="25" name="来源卡8"/>
          <p:cNvSpPr/>
          <p:nvPr/>
        </p:nvSpPr>
        <p:spPr>
          <a:xfrm>
            <a:off x="8983980" y="3017520"/>
            <a:ext cx="2651760" cy="1298448"/>
          </a:xfrm>
          <a:prstGeom prst="roundRect">
            <a:avLst>
              <a:gd name="adj" fmla="val 70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来源状态8"/>
          <p:cNvSpPr txBox="1"/>
          <p:nvPr/>
        </p:nvSpPr>
        <p:spPr>
          <a:xfrm>
            <a:off x="916686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部分公开</a:t>
            </a:r>
            <a:endParaRPr lang="en-US" sz="1200" dirty="0"/>
          </a:p>
        </p:txBody>
      </p:sp>
      <p:sp>
        <p:nvSpPr>
          <p:cNvPr id="27" name="来源说明8"/>
          <p:cNvSpPr txBox="1"/>
          <p:nvPr/>
        </p:nvSpPr>
        <p:spPr>
          <a:xfrm>
            <a:off x="9166860" y="345643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普华永道展望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公开数据 + 访谈 + 建模</a:t>
            </a:r>
            <a:endParaRPr lang="en-US" sz="1500" dirty="0"/>
          </a:p>
        </p:txBody>
      </p:sp>
      <p:sp>
        <p:nvSpPr>
          <p:cNvPr id="28" name="来源卡9"/>
          <p:cNvSpPr/>
          <p:nvPr/>
        </p:nvSpPr>
        <p:spPr>
          <a:xfrm>
            <a:off x="548640" y="4480560"/>
            <a:ext cx="2651760" cy="1298448"/>
          </a:xfrm>
          <a:prstGeom prst="roundRect">
            <a:avLst>
              <a:gd name="adj" fmla="val 70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来源状态9"/>
          <p:cNvSpPr txBox="1"/>
          <p:nvPr/>
        </p:nvSpPr>
        <p:spPr>
          <a:xfrm>
            <a:off x="731520" y="45902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关键信息未公开</a:t>
            </a:r>
            <a:endParaRPr lang="en-US" sz="1200" dirty="0"/>
          </a:p>
        </p:txBody>
      </p:sp>
      <p:sp>
        <p:nvSpPr>
          <p:cNvPr id="30" name="来源说明9"/>
          <p:cNvSpPr txBox="1"/>
          <p:nvPr/>
        </p:nvSpPr>
        <p:spPr>
          <a:xfrm>
            <a:off x="731520" y="491947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Veed Analytics 测试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六国、独播剧；题量未公开</a:t>
            </a:r>
            <a:endParaRPr lang="en-US" sz="1500" dirty="0"/>
          </a:p>
        </p:txBody>
      </p:sp>
      <p:sp>
        <p:nvSpPr>
          <p:cNvPr id="31" name="来源卡10"/>
          <p:cNvSpPr/>
          <p:nvPr/>
        </p:nvSpPr>
        <p:spPr>
          <a:xfrm>
            <a:off x="3360420" y="4480560"/>
            <a:ext cx="2651760" cy="1298448"/>
          </a:xfrm>
          <a:prstGeom prst="roundRect">
            <a:avLst>
              <a:gd name="adj" fmla="val 70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来源状态10"/>
          <p:cNvSpPr txBox="1"/>
          <p:nvPr/>
        </p:nvSpPr>
        <p:spPr>
          <a:xfrm>
            <a:off x="3543300" y="45902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方法公开</a:t>
            </a:r>
            <a:endParaRPr lang="en-US" sz="1200" dirty="0"/>
          </a:p>
        </p:txBody>
      </p:sp>
      <p:sp>
        <p:nvSpPr>
          <p:cNvPr id="33" name="来源说明10"/>
          <p:cNvSpPr txBox="1"/>
          <p:nvPr/>
        </p:nvSpPr>
        <p:spPr>
          <a:xfrm>
            <a:off x="3543300" y="491947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南加州大学论文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同行评审，自动分类器</a:t>
            </a:r>
            <a:endParaRPr lang="en-US" sz="1500" dirty="0"/>
          </a:p>
        </p:txBody>
      </p:sp>
      <p:sp>
        <p:nvSpPr>
          <p:cNvPr id="34" name="来源卡11"/>
          <p:cNvSpPr/>
          <p:nvPr/>
        </p:nvSpPr>
        <p:spPr>
          <a:xfrm>
            <a:off x="6172200" y="4480560"/>
            <a:ext cx="2651760" cy="1298448"/>
          </a:xfrm>
          <a:prstGeom prst="roundRect">
            <a:avLst>
              <a:gd name="adj" fmla="val 70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5" name="来源状态11"/>
          <p:cNvSpPr txBox="1"/>
          <p:nvPr/>
        </p:nvSpPr>
        <p:spPr>
          <a:xfrm>
            <a:off x="6355080" y="45902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关键信息未公开</a:t>
            </a:r>
            <a:endParaRPr lang="en-US" sz="1200" dirty="0"/>
          </a:p>
        </p:txBody>
      </p:sp>
      <p:sp>
        <p:nvSpPr>
          <p:cNvPr id="36" name="来源说明11"/>
          <p:cNvSpPr txBox="1"/>
          <p:nvPr/>
        </p:nvSpPr>
        <p:spPr>
          <a:xfrm>
            <a:off x="6355080" y="491947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Fabric 退订率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计算方法未公开</a:t>
            </a:r>
            <a:endParaRPr lang="en-US" sz="1500" dirty="0"/>
          </a:p>
        </p:txBody>
      </p:sp>
      <p:sp>
        <p:nvSpPr>
          <p:cNvPr id="37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详见《Gracenote报告_数据来源与采集方式核查.md》。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附录（备问）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多处引用与原始来源的口径不一致</a:t>
            </a:r>
            <a:endParaRPr lang="en-US" sz="3000" dirty="0"/>
          </a:p>
        </p:txBody>
      </p:sp>
      <p:graphicFrame>
        <p:nvGraphicFramePr>
          <p:cNvPr id="15" name="口径核对表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4360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报告表述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原始来源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皮尤：30% 的青少年每日使用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精确值 28%；13–14 岁为 24%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南加州大学：“高达 38%”数据有偏差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仅一个知识库、一个自动指标的结果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德勤：41% 的“订户”认为不值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原文分母为全体消费者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普华永道：2029 年支出 3,185 亿美元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全球数据，非美国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摘要：54% 的 18–34 岁“会取消”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原题为“可能取消”，且为六国数据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“26% 的美国人找不到想看的”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未找到出处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来源：Gracenote 报告；皮尤、南加州大学、德勤、普华永道原文。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avy Brief">
  <a:themeElements>
    <a:clrScheme name="Navy Brief">
      <a:dk1>
        <a:srgbClr val="1F2937"/>
      </a:dk1>
      <a:lt1>
        <a:srgbClr val="FFFFFF"/>
      </a:lt1>
      <a:dk2>
        <a:srgbClr val="1F2A44"/>
      </a:dk2>
      <a:lt2>
        <a:srgbClr val="F3F4F6"/>
      </a:lt2>
      <a:accent1>
        <a:srgbClr val="2F6690"/>
      </a:accent1>
      <a:accent2>
        <a:srgbClr val="3A7D44"/>
      </a:accent2>
      <a:accent3>
        <a:srgbClr val="E4572E"/>
      </a:accent3>
      <a:accent4>
        <a:srgbClr val="F4A259"/>
      </a:accent4>
      <a:accent5>
        <a:srgbClr val="6B7280"/>
      </a:accent5>
      <a:accent6>
        <a:srgbClr val="DCE6F0"/>
      </a:accent6>
      <a:hlink>
        <a:srgbClr val="2F6690"/>
      </a:hlink>
      <a:folHlink>
        <a:srgbClr val="6B7280"/>
      </a:folHlink>
    </a:clrScheme>
    <a:fontScheme name="Navy Brief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时代的电视搜索与内容发现：Gracenote 2026 报告解读与方法评价</dc:title>
  <dc:subject>市场调研：方法与实践 课后作业汇报</dc:subject>
  <dc:creator>PptxGenJS</dc:creator>
  <cp:lastModifiedBy>PptxGenJS</cp:lastModifiedBy>
  <cp:revision>1</cp:revision>
  <dcterms:created xsi:type="dcterms:W3CDTF">2026-10-07T15:24:19Z</dcterms:created>
  <dcterms:modified xsi:type="dcterms:W3CDTF">2026-10-07T15:24:19Z</dcterms:modified>
</cp:coreProperties>
</file>