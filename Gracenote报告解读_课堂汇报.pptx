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c892c26f-4b4b-8b7e-bf4a-fb5385dde84f}">
          <p14:sldIdLst>
            <p14:sldId id="256"/>
            <p14:sldId id="257"/>
          </p14:sldIdLst>
        </p14:section>
        <p14:section name="报告介绍" id="{91f5d4b1-a4fa-f640-ec0d-7248451a6e94}">
          <p14:sldIdLst>
            <p14:sldId id="258"/>
            <p14:sldId id="259"/>
            <p14:sldId id="260"/>
            <p14:sldId id="261"/>
          </p14:sldIdLst>
        </p14:section>
        <p14:section name="方法评价" id="{ecbb5f43-c550-a8f2-a0b5-15443df5637c}">
          <p14:sldIdLst>
            <p14:sldId id="262"/>
            <p14:sldId id="263"/>
            <p14:sldId id="264"/>
            <p14:sldId id="265"/>
            <p14:sldId id="266"/>
          </p14:sldIdLst>
        </p14:section>
        <p14:section name="结论" id="{ba61914e-0c3e-33a6-af83-3deca6273388}">
          <p14:sldIdLst>
            <p14:sldId id="267"/>
          </p14:sldIdLst>
        </p14:section>
        <p14:section name="附录（备问）" id="{731cea85-a95c-b0bd-b126-1304bf6657ac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秒】各位好。本次评析尼尔森旗下 Gracenote 2026 年 4 月发布的报告《AI 时代的电视搜索与内容发现》。报告称，13 至 14 岁受访者中 54% 每日使用 AI。评析从这一数据的样本构成入手。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秒】我的结论是：报告反映了 AI 用户的变化，具有参考价值；但样本仅限 AI 用户，结论不宜推及美国整体人群。汇报分五部分。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秒】研究背景是流媒体平台增多、节目分散，用户检索成本上升，AI 成为新的检索工具。报告考察三个问题：AI 使用频率、检索难度与退订意向、对 AI 的信任。需说明，Gracenote 的主营业务即节目数据。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秒】报告的数据主要来自两项线上问卷。调查一于 2026 年 1 至 2 月进行，样本为 4003 名 13 至 79 岁的美国 AI 聊天机器人用户；调查二于 2025 年夏季进行，覆盖六国，每国 500 名流媒体用户。两项调查均未说明抽样方法。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秒】报告的第一项结论：13 至 14 岁 AI 用户中 54% 每日使用，75% 的受访者会核对 AI 的回答。报告的解释是，AI 回答直接、可追问，使用因此增加；但可能生成错误信息，用户仍需核对。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秒】第二项结论：用户平均需 14 分钟检索节目，18 至 34 岁受访者中 54% 表示可能因此退订，AI 仅能正确回答约三分之二的播出平台。报告据此主张 AI 应接入可靠的行业数据。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秒】报告的推论可分为四个环节：年轻人依赖 AI，对 AI 信任不足，检索困难导致退订，AI 应接入行业数据。调查对象、范围、时间与方法的差异都会影响结果，以下逐项检验。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秒】调查对象。4003 名受访者均为 AI 聊天机器人用户，样本以使用 AI 为筛选条件，不含非用户。线上样本的结构与总体不同，因此 54% 与 75% 仅代表 AI 用户，不能推及全体美国人。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秒】调查范围。“平均 14 分钟”来自六国调查，为六国等权平均，法国的 26 分钟抬高了均值；美国实际为 12 分钟。报告将其置于美国收视图表中，容易造成高估。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秒】调查时间与比较基准。报告以皮尤 2025 年秋的 30% 对比自身 2026 年初的 54%，称使用正在加速。但皮尤的分母是全体青少年，同为 13 至 14 岁仅 24%；本报告仅含 AI 用户。统一分母后，差距约 10 个百分点，不足以支持“加速”的判断。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秒】研究方法。“检索困难导致退订”依赖退订意向、退订率、市场预测与 AI 测试四类数据，性质不一，且缺乏追踪设计，只能说明相关，不能证明因果。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秒】综上，前两个环节在 AI 用户范围内基本成立，后两个环节证据不足。报告公开了样本量、调查时间与年龄范围，数据可复核；其方向性判断也与皮尤等独立来源一致，这是可取之处，但引用精确数字时需注明口径。最后提出一个问题：如何设计调查，才能检验检索困难与退订之间的因果关系？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备问用，不计入汇报时间。被问及数据来源与方法披露时使用。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备问用，不计入汇报时间。被问及引用数据是否准确时使用。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封面图" descr="/home/user/ppt/build/assets/cover_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3" name="课程名"/>
          <p:cNvSpPr txBox="1"/>
          <p:nvPr/>
        </p:nvSpPr>
        <p:spPr>
          <a:xfrm>
            <a:off x="731520" y="8686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市场调研：方法与实践 · 课后作业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年研究报告评析</a:t>
            </a:r>
            <a:endParaRPr lang="en-US" sz="1800" dirty="0"/>
          </a:p>
        </p:txBody>
      </p:sp>
      <p:sp>
        <p:nvSpPr>
          <p:cNvPr id="6" name="封面分隔线"/>
          <p:cNvSpPr/>
          <p:nvPr/>
        </p:nvSpPr>
        <p:spPr>
          <a:xfrm>
            <a:off x="731520" y="4160520"/>
            <a:ext cx="512064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7" name="封面数字"/>
          <p:cNvSpPr txBox="1"/>
          <p:nvPr/>
        </p:nvSpPr>
        <p:spPr>
          <a:xfrm>
            <a:off x="731520" y="43434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800" dirty="0"/>
          </a:p>
        </p:txBody>
      </p:sp>
      <p:sp>
        <p:nvSpPr>
          <p:cNvPr id="8" name="封面问题"/>
          <p:cNvSpPr txBox="1"/>
          <p:nvPr/>
        </p:nvSpPr>
        <p:spPr>
          <a:xfrm>
            <a:off x="265176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13–14 岁受访者每日使用 AI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该比例来自哪类样本？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汇报框架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报告结论的适用范围小于其表述</a:t>
            </a:r>
            <a:endParaRPr lang="en-US" sz="3000" dirty="0"/>
          </a:p>
        </p:txBody>
      </p:sp>
      <p:sp>
        <p:nvSpPr>
          <p:cNvPr id="4" name="分隔线"/>
          <p:cNvSpPr/>
          <p:nvPr/>
        </p:nvSpPr>
        <p:spPr>
          <a:xfrm>
            <a:off x="548640" y="164592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5" name="序号1"/>
          <p:cNvSpPr txBox="1"/>
          <p:nvPr/>
        </p:nvSpPr>
        <p:spPr>
          <a:xfrm>
            <a:off x="54864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框架名1"/>
          <p:cNvSpPr txBox="1"/>
          <p:nvPr/>
        </p:nvSpPr>
        <p:spPr>
          <a:xfrm>
            <a:off x="1371600" y="1645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研究背景与问题</a:t>
            </a:r>
            <a:endParaRPr lang="en-US" sz="2000" dirty="0"/>
          </a:p>
        </p:txBody>
      </p:sp>
      <p:sp>
        <p:nvSpPr>
          <p:cNvPr id="7" name="分隔线"/>
          <p:cNvSpPr/>
          <p:nvPr/>
        </p:nvSpPr>
        <p:spPr>
          <a:xfrm>
            <a:off x="548640" y="246888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8" name="序号2"/>
          <p:cNvSpPr txBox="1"/>
          <p:nvPr/>
        </p:nvSpPr>
        <p:spPr>
          <a:xfrm>
            <a:off x="54864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框架名2"/>
          <p:cNvSpPr txBox="1"/>
          <p:nvPr/>
        </p:nvSpPr>
        <p:spPr>
          <a:xfrm>
            <a:off x="1371600" y="2468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329184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序号3"/>
          <p:cNvSpPr txBox="1"/>
          <p:nvPr/>
        </p:nvSpPr>
        <p:spPr>
          <a:xfrm>
            <a:off x="548640" y="3291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框架名3"/>
          <p:cNvSpPr txBox="1"/>
          <p:nvPr/>
        </p:nvSpPr>
        <p:spPr>
          <a:xfrm>
            <a:off x="1371600" y="32918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研究结论</a:t>
            </a:r>
            <a:endParaRPr lang="en-US" sz="2000" dirty="0"/>
          </a:p>
        </p:txBody>
      </p:sp>
      <p:sp>
        <p:nvSpPr>
          <p:cNvPr id="13" name="分隔线"/>
          <p:cNvSpPr/>
          <p:nvPr/>
        </p:nvSpPr>
        <p:spPr>
          <a:xfrm>
            <a:off x="548640" y="411480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序号4"/>
          <p:cNvSpPr txBox="1"/>
          <p:nvPr/>
        </p:nvSpPr>
        <p:spPr>
          <a:xfrm>
            <a:off x="548640" y="4114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5" name="框架名4"/>
          <p:cNvSpPr txBox="1"/>
          <p:nvPr/>
        </p:nvSpPr>
        <p:spPr>
          <a:xfrm>
            <a:off x="1371600" y="41148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思考与评价</a:t>
            </a:r>
            <a:endParaRPr lang="en-US" sz="2000" dirty="0"/>
          </a:p>
        </p:txBody>
      </p:sp>
      <p:sp>
        <p:nvSpPr>
          <p:cNvPr id="16" name="分隔线"/>
          <p:cNvSpPr/>
          <p:nvPr/>
        </p:nvSpPr>
        <p:spPr>
          <a:xfrm>
            <a:off x="548640" y="493776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序号5"/>
          <p:cNvSpPr txBox="1"/>
          <p:nvPr/>
        </p:nvSpPr>
        <p:spPr>
          <a:xfrm>
            <a:off x="548640" y="4937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8" name="框架名5"/>
          <p:cNvSpPr txBox="1"/>
          <p:nvPr/>
        </p:nvSpPr>
        <p:spPr>
          <a:xfrm>
            <a:off x="1371600" y="4937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总体判断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76072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结论卡"/>
          <p:cNvSpPr/>
          <p:nvPr/>
        </p:nvSpPr>
        <p:spPr>
          <a:xfrm>
            <a:off x="6583680" y="1645920"/>
            <a:ext cx="5029200" cy="4114800"/>
          </a:xfrm>
          <a:prstGeom prst="roundRect">
            <a:avLst>
              <a:gd name="adj" fmla="val 11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结论"/>
          <p:cNvSpPr txBox="1"/>
          <p:nvPr/>
        </p:nvSpPr>
        <p:spPr>
          <a:xfrm>
            <a:off x="6949440" y="1828800"/>
            <a:ext cx="42976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结论</a:t>
            </a:r>
            <a:endParaRPr lang="en-US" sz="15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报告反映了 AI 用户的变化，具有参考价值；但样本仅限 AI 用户，结论不宜推及美国整体人群。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研究问题：AI 如何改变节目检索</a:t>
            </a:r>
            <a:endParaRPr lang="en-US" sz="3000" dirty="0"/>
          </a:p>
        </p:txBody>
      </p:sp>
      <p:sp>
        <p:nvSpPr>
          <p:cNvPr id="4" name="背景"/>
          <p:cNvSpPr txBox="1"/>
          <p:nvPr/>
        </p:nvSpPr>
        <p:spPr>
          <a:xfrm>
            <a:off x="548640" y="1554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背景：流媒体平台增多，节目分散，检索成本上升；AI 聊天机器人成为新的检索工具。</a:t>
            </a:r>
            <a:endParaRPr lang="en-US" sz="1800" dirty="0"/>
          </a:p>
        </p:txBody>
      </p:sp>
      <p:sp>
        <p:nvSpPr>
          <p:cNvPr id="5" name="分隔线"/>
          <p:cNvSpPr/>
          <p:nvPr/>
        </p:nvSpPr>
        <p:spPr>
          <a:xfrm>
            <a:off x="548640" y="251460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6" name="问题编号1"/>
          <p:cNvSpPr txBox="1"/>
          <p:nvPr/>
        </p:nvSpPr>
        <p:spPr>
          <a:xfrm>
            <a:off x="548640" y="25146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问题一</a:t>
            </a:r>
            <a:endParaRPr lang="en-US" sz="1400" dirty="0"/>
          </a:p>
        </p:txBody>
      </p:sp>
      <p:sp>
        <p:nvSpPr>
          <p:cNvPr id="7" name="问题名1"/>
          <p:cNvSpPr txBox="1"/>
          <p:nvPr/>
        </p:nvSpPr>
        <p:spPr>
          <a:xfrm>
            <a:off x="1508760" y="25146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使用频率</a:t>
            </a:r>
            <a:endParaRPr lang="en-US" sz="2100" dirty="0"/>
          </a:p>
        </p:txBody>
      </p:sp>
      <p:sp>
        <p:nvSpPr>
          <p:cNvPr id="8" name="问题内容1"/>
          <p:cNvSpPr txBox="1"/>
          <p:nvPr/>
        </p:nvSpPr>
        <p:spPr>
          <a:xfrm>
            <a:off x="3611880" y="25146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各年龄层 AI 使用频率</a:t>
            </a:r>
            <a:endParaRPr lang="en-US" sz="1800" dirty="0"/>
          </a:p>
        </p:txBody>
      </p:sp>
      <p:sp>
        <p:nvSpPr>
          <p:cNvPr id="9" name="分隔线"/>
          <p:cNvSpPr/>
          <p:nvPr/>
        </p:nvSpPr>
        <p:spPr>
          <a:xfrm>
            <a:off x="548640" y="329184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0" name="问题编号2"/>
          <p:cNvSpPr txBox="1"/>
          <p:nvPr/>
        </p:nvSpPr>
        <p:spPr>
          <a:xfrm>
            <a:off x="548640" y="329184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问题二</a:t>
            </a:r>
            <a:endParaRPr lang="en-US" sz="1400" dirty="0"/>
          </a:p>
        </p:txBody>
      </p:sp>
      <p:sp>
        <p:nvSpPr>
          <p:cNvPr id="11" name="问题名2"/>
          <p:cNvSpPr txBox="1"/>
          <p:nvPr/>
        </p:nvSpPr>
        <p:spPr>
          <a:xfrm>
            <a:off x="1508760" y="3291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检索难度</a:t>
            </a:r>
            <a:endParaRPr lang="en-US" sz="2100" dirty="0"/>
          </a:p>
        </p:txBody>
      </p:sp>
      <p:sp>
        <p:nvSpPr>
          <p:cNvPr id="12" name="问题内容2"/>
          <p:cNvSpPr txBox="1"/>
          <p:nvPr/>
        </p:nvSpPr>
        <p:spPr>
          <a:xfrm>
            <a:off x="3611880" y="32918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检索耗时与退订意向</a:t>
            </a:r>
            <a:endParaRPr lang="en-US" sz="1800" dirty="0"/>
          </a:p>
        </p:txBody>
      </p:sp>
      <p:sp>
        <p:nvSpPr>
          <p:cNvPr id="13" name="分隔线"/>
          <p:cNvSpPr/>
          <p:nvPr/>
        </p:nvSpPr>
        <p:spPr>
          <a:xfrm>
            <a:off x="548640" y="406908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问题编号3"/>
          <p:cNvSpPr txBox="1"/>
          <p:nvPr/>
        </p:nvSpPr>
        <p:spPr>
          <a:xfrm>
            <a:off x="548640" y="406908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问题三</a:t>
            </a:r>
            <a:endParaRPr lang="en-US" sz="1400" dirty="0"/>
          </a:p>
        </p:txBody>
      </p:sp>
      <p:sp>
        <p:nvSpPr>
          <p:cNvPr id="15" name="问题名3"/>
          <p:cNvSpPr txBox="1"/>
          <p:nvPr/>
        </p:nvSpPr>
        <p:spPr>
          <a:xfrm>
            <a:off x="1508760" y="40690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信任程度</a:t>
            </a:r>
            <a:endParaRPr lang="en-US" sz="2100" dirty="0"/>
          </a:p>
        </p:txBody>
      </p:sp>
      <p:sp>
        <p:nvSpPr>
          <p:cNvPr id="16" name="问题内容3"/>
          <p:cNvSpPr txBox="1"/>
          <p:nvPr/>
        </p:nvSpPr>
        <p:spPr>
          <a:xfrm>
            <a:off x="3611880" y="40690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对 AI 回答的核查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548640" y="484632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研究机构"/>
          <p:cNvSpPr txBox="1"/>
          <p:nvPr/>
        </p:nvSpPr>
        <p:spPr>
          <a:xfrm>
            <a:off x="548640" y="498348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研究机构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Gracenote，尼尔森旗下节目数据公司。报告建议接入的行业数据，即其主营业务。</a:t>
            </a:r>
            <a:endParaRPr lang="en-US" sz="1700" dirty="0"/>
          </a:p>
        </p:txBody>
      </p:sp>
      <p:sp>
        <p:nvSpPr>
          <p:cNvPr id="19" name="报告封面阴影"/>
          <p:cNvSpPr/>
          <p:nvPr/>
        </p:nvSpPr>
        <p:spPr>
          <a:xfrm>
            <a:off x="7635240" y="2514600"/>
            <a:ext cx="3977640" cy="241401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20" name="报告封面" descr="/home/user/ppt/build/assets/report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2514600"/>
            <a:ext cx="3977640" cy="2414016"/>
          </a:xfrm>
          <a:prstGeom prst="rect">
            <a:avLst/>
          </a:prstGeom>
        </p:spPr>
      </p:pic>
      <p:sp>
        <p:nvSpPr>
          <p:cNvPr id="21" name="封面图注"/>
          <p:cNvSpPr txBox="1"/>
          <p:nvPr/>
        </p:nvSpPr>
        <p:spPr>
          <a:xfrm>
            <a:off x="7635240" y="50749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报告封面 · Gracenote，2026 年 4 月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9" grpId="0" animBg="1"/>
      <p:bldP spid="21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研究方法：两项线上问卷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抽样方式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说明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报告另引用 11 个外部来源，其方法披露情况见附录一。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结论一：AI 使用普遍，信任有限</a:t>
            </a:r>
            <a:endParaRPr lang="en-US" sz="3000" dirty="0"/>
          </a:p>
        </p:txBody>
      </p:sp>
      <p:sp>
        <p:nvSpPr>
          <p:cNvPr id="4" name="数据卡1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1"/>
          <p:cNvSpPr txBox="1"/>
          <p:nvPr/>
        </p:nvSpPr>
        <p:spPr>
          <a:xfrm>
            <a:off x="91440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6" name="数据说明1"/>
          <p:cNvSpPr txBox="1"/>
          <p:nvPr/>
        </p:nvSpPr>
        <p:spPr>
          <a:xfrm>
            <a:off x="329184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 AI 用户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每日使用</a:t>
            </a:r>
            <a:endParaRPr lang="en-US" sz="2000" dirty="0"/>
          </a:p>
        </p:txBody>
      </p:sp>
      <p:sp>
        <p:nvSpPr>
          <p:cNvPr id="7" name="数据卡2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2"/>
          <p:cNvSpPr txBox="1"/>
          <p:nvPr/>
        </p:nvSpPr>
        <p:spPr>
          <a:xfrm>
            <a:off x="653796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000" dirty="0"/>
          </a:p>
        </p:txBody>
      </p:sp>
      <p:sp>
        <p:nvSpPr>
          <p:cNvPr id="9" name="数据说明2"/>
          <p:cNvSpPr txBox="1"/>
          <p:nvPr/>
        </p:nvSpPr>
        <p:spPr>
          <a:xfrm>
            <a:off x="891540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核对 AI 回答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77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报告的解释</a:t>
            </a:r>
            <a:endParaRPr lang="en-US" sz="1600" dirty="0"/>
          </a:p>
        </p:txBody>
      </p:sp>
      <p:sp>
        <p:nvSpPr>
          <p:cNvPr id="11" name="分隔线"/>
          <p:cNvSpPr/>
          <p:nvPr/>
        </p:nvSpPr>
        <p:spPr>
          <a:xfrm>
            <a:off x="548640" y="44348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1"/>
          <p:cNvSpPr txBox="1"/>
          <p:nvPr/>
        </p:nvSpPr>
        <p:spPr>
          <a:xfrm>
            <a:off x="548640" y="4434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回答直接、可追问</a:t>
            </a:r>
            <a:endParaRPr lang="en-US" sz="2000" dirty="0"/>
          </a:p>
        </p:txBody>
      </p:sp>
      <p:sp>
        <p:nvSpPr>
          <p:cNvPr id="13" name="箭头1"/>
          <p:cNvSpPr txBox="1"/>
          <p:nvPr/>
        </p:nvSpPr>
        <p:spPr>
          <a:xfrm>
            <a:off x="6583680" y="44348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结果1"/>
          <p:cNvSpPr txBox="1"/>
          <p:nvPr/>
        </p:nvSpPr>
        <p:spPr>
          <a:xfrm>
            <a:off x="7040880" y="4434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使用增加</a:t>
            </a:r>
            <a:endParaRPr lang="en-US" sz="2000" dirty="0"/>
          </a:p>
        </p:txBody>
      </p:sp>
      <p:sp>
        <p:nvSpPr>
          <p:cNvPr id="15" name="分隔线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2"/>
          <p:cNvSpPr txBox="1"/>
          <p:nvPr/>
        </p:nvSpPr>
        <p:spPr>
          <a:xfrm>
            <a:off x="548640" y="5120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可能生成错误信息</a:t>
            </a:r>
            <a:endParaRPr lang="en-US" sz="2000" dirty="0"/>
          </a:p>
        </p:txBody>
      </p:sp>
      <p:sp>
        <p:nvSpPr>
          <p:cNvPr id="17" name="箭头2"/>
          <p:cNvSpPr txBox="1"/>
          <p:nvPr/>
        </p:nvSpPr>
        <p:spPr>
          <a:xfrm>
            <a:off x="6583680" y="51206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结果2"/>
          <p:cNvSpPr txBox="1"/>
          <p:nvPr/>
        </p:nvSpPr>
        <p:spPr>
          <a:xfrm>
            <a:off x="704088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需要核对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结论二：检索困难与退订风险</a:t>
            </a:r>
            <a:endParaRPr lang="en-US" sz="3000" dirty="0"/>
          </a:p>
        </p:txBody>
      </p:sp>
      <p:sp>
        <p:nvSpPr>
          <p:cNvPr id="4" name="步骤卡1"/>
          <p:cNvSpPr/>
          <p:nvPr/>
        </p:nvSpPr>
        <p:spPr>
          <a:xfrm>
            <a:off x="54864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步骤名1"/>
          <p:cNvSpPr txBox="1"/>
          <p:nvPr/>
        </p:nvSpPr>
        <p:spPr>
          <a:xfrm>
            <a:off x="82296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内容分散</a:t>
            </a:r>
            <a:endParaRPr lang="en-US" sz="2000" dirty="0"/>
          </a:p>
        </p:txBody>
      </p:sp>
      <p:sp>
        <p:nvSpPr>
          <p:cNvPr id="6" name="步骤数字1"/>
          <p:cNvSpPr txBox="1"/>
          <p:nvPr/>
        </p:nvSpPr>
        <p:spPr>
          <a:xfrm>
            <a:off x="82296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7" name="步骤说明1"/>
          <p:cNvSpPr txBox="1"/>
          <p:nvPr/>
        </p:nvSpPr>
        <p:spPr>
          <a:xfrm>
            <a:off x="82296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联网电视占美国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电视时长</a:t>
            </a:r>
            <a:endParaRPr lang="en-US" sz="1600" dirty="0"/>
          </a:p>
        </p:txBody>
      </p:sp>
      <p:sp>
        <p:nvSpPr>
          <p:cNvPr id="8" name="链箭头1"/>
          <p:cNvSpPr txBox="1"/>
          <p:nvPr/>
        </p:nvSpPr>
        <p:spPr>
          <a:xfrm>
            <a:off x="310896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步骤卡2"/>
          <p:cNvSpPr/>
          <p:nvPr/>
        </p:nvSpPr>
        <p:spPr>
          <a:xfrm>
            <a:off x="338328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步骤名2"/>
          <p:cNvSpPr txBox="1"/>
          <p:nvPr/>
        </p:nvSpPr>
        <p:spPr>
          <a:xfrm>
            <a:off x="36576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检索耗时</a:t>
            </a:r>
            <a:endParaRPr lang="en-US" sz="2000" dirty="0"/>
          </a:p>
        </p:txBody>
      </p:sp>
      <p:sp>
        <p:nvSpPr>
          <p:cNvPr id="11" name="步骤数字2"/>
          <p:cNvSpPr txBox="1"/>
          <p:nvPr/>
        </p:nvSpPr>
        <p:spPr>
          <a:xfrm>
            <a:off x="365760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2" name="步骤说明2"/>
          <p:cNvSpPr txBox="1"/>
          <p:nvPr/>
        </p:nvSpPr>
        <p:spPr>
          <a:xfrm>
            <a:off x="365760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平均检索时长</a:t>
            </a:r>
            <a:endParaRPr lang="en-US" sz="1600" dirty="0"/>
          </a:p>
        </p:txBody>
      </p:sp>
      <p:sp>
        <p:nvSpPr>
          <p:cNvPr id="13" name="链箭头2"/>
          <p:cNvSpPr txBox="1"/>
          <p:nvPr/>
        </p:nvSpPr>
        <p:spPr>
          <a:xfrm>
            <a:off x="594360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步骤卡3"/>
          <p:cNvSpPr/>
          <p:nvPr/>
        </p:nvSpPr>
        <p:spPr>
          <a:xfrm>
            <a:off x="621792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步骤名3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退订意向</a:t>
            </a:r>
            <a:endParaRPr lang="en-US" sz="2000" dirty="0"/>
          </a:p>
        </p:txBody>
      </p:sp>
      <p:sp>
        <p:nvSpPr>
          <p:cNvPr id="16" name="步骤数字3"/>
          <p:cNvSpPr txBox="1"/>
          <p:nvPr/>
        </p:nvSpPr>
        <p:spPr>
          <a:xfrm>
            <a:off x="649224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7" name="步骤说明3"/>
          <p:cNvSpPr txBox="1"/>
          <p:nvPr/>
        </p:nvSpPr>
        <p:spPr>
          <a:xfrm>
            <a:off x="649224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岁表示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可能退订</a:t>
            </a:r>
            <a:endParaRPr lang="en-US" sz="1600" dirty="0"/>
          </a:p>
        </p:txBody>
      </p:sp>
      <p:sp>
        <p:nvSpPr>
          <p:cNvPr id="18" name="链箭头3"/>
          <p:cNvSpPr txBox="1"/>
          <p:nvPr/>
        </p:nvSpPr>
        <p:spPr>
          <a:xfrm>
            <a:off x="877824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步骤卡4"/>
          <p:cNvSpPr/>
          <p:nvPr/>
        </p:nvSpPr>
        <p:spPr>
          <a:xfrm>
            <a:off x="905256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步骤名4"/>
          <p:cNvSpPr txBox="1"/>
          <p:nvPr/>
        </p:nvSpPr>
        <p:spPr>
          <a:xfrm>
            <a:off x="932688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接入行业数据</a:t>
            </a:r>
            <a:endParaRPr lang="en-US" sz="2000" dirty="0"/>
          </a:p>
        </p:txBody>
      </p:sp>
      <p:sp>
        <p:nvSpPr>
          <p:cNvPr id="21" name="步骤数字4"/>
          <p:cNvSpPr txBox="1"/>
          <p:nvPr/>
        </p:nvSpPr>
        <p:spPr>
          <a:xfrm>
            <a:off x="932688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2" name="步骤说明4"/>
          <p:cNvSpPr txBox="1"/>
          <p:nvPr/>
        </p:nvSpPr>
        <p:spPr>
          <a:xfrm>
            <a:off x="932688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AI 正确回答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播出平台的比例</a:t>
            </a:r>
            <a:endParaRPr lang="en-US" sz="1600" dirty="0"/>
          </a:p>
        </p:txBody>
      </p:sp>
      <p:sp>
        <p:nvSpPr>
          <p:cNvPr id="23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8" grpId="0" animBg="1"/>
      <p:bldP spid="14" grpId="0" animBg="1"/>
      <p:bldP spid="15" grpId="0" animBg="1"/>
      <p:bldP spid="16" grpId="0" animBg="1"/>
      <p:bldP spid="17" grpId="0" animBg="1"/>
      <p:bldP spid="13" grpId="0" animBg="1"/>
      <p:bldP spid="19" grpId="0" animBg="1"/>
      <p:bldP spid="20" grpId="0" animBg="1"/>
      <p:bldP spid="21" grpId="0" animBg="1"/>
      <p:bldP spid="22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评价：逐项检验四个推论环节</a:t>
            </a:r>
            <a:endParaRPr lang="en-US" sz="3000" dirty="0"/>
          </a:p>
        </p:txBody>
      </p:sp>
      <p:sp>
        <p:nvSpPr>
          <p:cNvPr id="4" name="环节1"/>
          <p:cNvSpPr/>
          <p:nvPr/>
        </p:nvSpPr>
        <p:spPr>
          <a:xfrm>
            <a:off x="54864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环节文字1"/>
          <p:cNvSpPr txBox="1"/>
          <p:nvPr/>
        </p:nvSpPr>
        <p:spPr>
          <a:xfrm>
            <a:off x="54864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① 依赖 AI</a:t>
            </a:r>
            <a:endParaRPr lang="en-US" sz="1900" dirty="0"/>
          </a:p>
        </p:txBody>
      </p:sp>
      <p:sp>
        <p:nvSpPr>
          <p:cNvPr id="6" name="环节箭头1"/>
          <p:cNvSpPr txBox="1"/>
          <p:nvPr/>
        </p:nvSpPr>
        <p:spPr>
          <a:xfrm>
            <a:off x="310896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检验标签1"/>
          <p:cNvSpPr txBox="1"/>
          <p:nvPr/>
        </p:nvSpPr>
        <p:spPr>
          <a:xfrm>
            <a:off x="54864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8" name="分隔线"/>
          <p:cNvSpPr/>
          <p:nvPr/>
        </p:nvSpPr>
        <p:spPr>
          <a:xfrm>
            <a:off x="54864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检验文字1"/>
          <p:cNvSpPr txBox="1"/>
          <p:nvPr/>
        </p:nvSpPr>
        <p:spPr>
          <a:xfrm>
            <a:off x="54864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调查时间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环节2"/>
          <p:cNvSpPr/>
          <p:nvPr/>
        </p:nvSpPr>
        <p:spPr>
          <a:xfrm>
            <a:off x="338328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环节文字2"/>
          <p:cNvSpPr txBox="1"/>
          <p:nvPr/>
        </p:nvSpPr>
        <p:spPr>
          <a:xfrm>
            <a:off x="338328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② 信任不足</a:t>
            </a:r>
            <a:endParaRPr lang="en-US" sz="1900" dirty="0"/>
          </a:p>
        </p:txBody>
      </p:sp>
      <p:sp>
        <p:nvSpPr>
          <p:cNvPr id="13" name="环节箭头2"/>
          <p:cNvSpPr txBox="1"/>
          <p:nvPr/>
        </p:nvSpPr>
        <p:spPr>
          <a:xfrm>
            <a:off x="594360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检验标签2"/>
          <p:cNvSpPr txBox="1"/>
          <p:nvPr/>
        </p:nvSpPr>
        <p:spPr>
          <a:xfrm>
            <a:off x="338328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15" name="分隔线"/>
          <p:cNvSpPr/>
          <p:nvPr/>
        </p:nvSpPr>
        <p:spPr>
          <a:xfrm>
            <a:off x="338328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检验文字2"/>
          <p:cNvSpPr txBox="1"/>
          <p:nvPr/>
        </p:nvSpPr>
        <p:spPr>
          <a:xfrm>
            <a:off x="338328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</p:txBody>
      </p:sp>
      <p:sp>
        <p:nvSpPr>
          <p:cNvPr id="17" name="分隔线"/>
          <p:cNvSpPr/>
          <p:nvPr/>
        </p:nvSpPr>
        <p:spPr>
          <a:xfrm>
            <a:off x="338328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环节3"/>
          <p:cNvSpPr/>
          <p:nvPr/>
        </p:nvSpPr>
        <p:spPr>
          <a:xfrm>
            <a:off x="621792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环节文字3"/>
          <p:cNvSpPr txBox="1"/>
          <p:nvPr/>
        </p:nvSpPr>
        <p:spPr>
          <a:xfrm>
            <a:off x="621792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③ 难找导致退订</a:t>
            </a:r>
            <a:endParaRPr lang="en-US" sz="1900" dirty="0"/>
          </a:p>
        </p:txBody>
      </p:sp>
      <p:sp>
        <p:nvSpPr>
          <p:cNvPr id="20" name="环节箭头3"/>
          <p:cNvSpPr txBox="1"/>
          <p:nvPr/>
        </p:nvSpPr>
        <p:spPr>
          <a:xfrm>
            <a:off x="877824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检验标签3"/>
          <p:cNvSpPr txBox="1"/>
          <p:nvPr/>
        </p:nvSpPr>
        <p:spPr>
          <a:xfrm>
            <a:off x="621792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2" name="分隔线"/>
          <p:cNvSpPr/>
          <p:nvPr/>
        </p:nvSpPr>
        <p:spPr>
          <a:xfrm>
            <a:off x="621792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检验文字3"/>
          <p:cNvSpPr txBox="1"/>
          <p:nvPr/>
        </p:nvSpPr>
        <p:spPr>
          <a:xfrm>
            <a:off x="621792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调查范围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24" name="分隔线"/>
          <p:cNvSpPr/>
          <p:nvPr/>
        </p:nvSpPr>
        <p:spPr>
          <a:xfrm>
            <a:off x="621792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环节4"/>
          <p:cNvSpPr/>
          <p:nvPr/>
        </p:nvSpPr>
        <p:spPr>
          <a:xfrm>
            <a:off x="905256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环节文字4"/>
          <p:cNvSpPr txBox="1"/>
          <p:nvPr/>
        </p:nvSpPr>
        <p:spPr>
          <a:xfrm>
            <a:off x="905256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④ 接入行业数据</a:t>
            </a:r>
            <a:endParaRPr lang="en-US" sz="1900" dirty="0"/>
          </a:p>
        </p:txBody>
      </p:sp>
      <p:sp>
        <p:nvSpPr>
          <p:cNvPr id="27" name="检验标签4"/>
          <p:cNvSpPr txBox="1"/>
          <p:nvPr/>
        </p:nvSpPr>
        <p:spPr>
          <a:xfrm>
            <a:off x="905256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8" name="分隔线"/>
          <p:cNvSpPr/>
          <p:nvPr/>
        </p:nvSpPr>
        <p:spPr>
          <a:xfrm>
            <a:off x="905256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9" name="检验文字4"/>
          <p:cNvSpPr txBox="1"/>
          <p:nvPr/>
        </p:nvSpPr>
        <p:spPr>
          <a:xfrm>
            <a:off x="905256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30" name="分隔线"/>
          <p:cNvSpPr/>
          <p:nvPr/>
        </p:nvSpPr>
        <p:spPr>
          <a:xfrm>
            <a:off x="905256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31" name="评价说明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调查对象、范围、时间与方法的差异均会影响结果，以下逐项检验。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2" grpId="0" animBg="1"/>
      <p:bldP spid="6" grpId="0" animBg="1"/>
      <p:bldP spid="14" grpId="0" animBg="1"/>
      <p:bldP spid="16" grpId="0" animBg="1"/>
      <p:bldP spid="18" grpId="0" animBg="1"/>
      <p:bldP spid="19" grpId="0" animBg="1"/>
      <p:bldP spid="13" grpId="0" animBg="1"/>
      <p:bldP spid="21" grpId="0" animBg="1"/>
      <p:bldP spid="23" grpId="0" animBg="1"/>
      <p:bldP spid="25" grpId="0" animBg="1"/>
      <p:bldP spid="26" grpId="0" animBg="1"/>
      <p:bldP spid="20" grpId="0" animBg="1"/>
      <p:bldP spid="27" grpId="0" animBg="1"/>
      <p:bldP spid="29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调查对象：样本仅为 AI 用户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914400" y="1554480"/>
            <a:ext cx="4297680" cy="429768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914400" y="1664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美国人口</a:t>
            </a:r>
            <a:endParaRPr lang="en-US" sz="1400" dirty="0"/>
          </a:p>
        </p:txBody>
      </p:sp>
      <p:sp>
        <p:nvSpPr>
          <p:cNvPr id="6" name="总体圈2"/>
          <p:cNvSpPr/>
          <p:nvPr/>
        </p:nvSpPr>
        <p:spPr>
          <a:xfrm>
            <a:off x="1325880" y="2194560"/>
            <a:ext cx="3474720" cy="347472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325880" y="23042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互联网用户</a:t>
            </a:r>
            <a:endParaRPr lang="en-US" sz="1400" dirty="0"/>
          </a:p>
        </p:txBody>
      </p:sp>
      <p:sp>
        <p:nvSpPr>
          <p:cNvPr id="8" name="总体圈3"/>
          <p:cNvSpPr/>
          <p:nvPr/>
        </p:nvSpPr>
        <p:spPr>
          <a:xfrm>
            <a:off x="1737360" y="2834640"/>
            <a:ext cx="2651760" cy="2651760"/>
          </a:xfrm>
          <a:prstGeom prst="ellipse">
            <a:avLst/>
          </a:prstGeom>
          <a:solidFill>
            <a:srgbClr val="AFC3D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737360" y="29443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聊天机器人用户</a:t>
            </a:r>
            <a:endParaRPr lang="en-US" sz="1400" dirty="0"/>
          </a:p>
        </p:txBody>
      </p:sp>
      <p:sp>
        <p:nvSpPr>
          <p:cNvPr id="10" name="总体圈4"/>
          <p:cNvSpPr/>
          <p:nvPr/>
        </p:nvSpPr>
        <p:spPr>
          <a:xfrm>
            <a:off x="2194560" y="3474720"/>
            <a:ext cx="1737360" cy="173736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94560" y="37947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受访者 4,003 人，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均为 AI 聊天机器人用户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以使用 AI 为筛选条件，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不含非用户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结果仅代表 AI 用户，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不能推及全体美国人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报告；尼尔森新闻稿。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调查范围：“14 分钟”为六国均值</a:t>
            </a:r>
            <a:endParaRPr lang="en-US" sz="3000" dirty="0"/>
          </a:p>
        </p:txBody>
      </p:sp>
      <p:sp>
        <p:nvSpPr>
          <p:cNvPr id="4" name="原图阴影"/>
          <p:cNvSpPr/>
          <p:nvPr/>
        </p:nvSpPr>
        <p:spPr>
          <a:xfrm>
            <a:off x="548640" y="1645920"/>
            <a:ext cx="5486400" cy="319125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5" name="原图" descr="/home/user/ppt/build/assets/daily_tv_usage_mark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486400" cy="3191256"/>
          </a:xfrm>
          <a:prstGeom prst="rect">
            <a:avLst/>
          </a:prstGeom>
        </p:spPr>
      </p:pic>
      <p:sp>
        <p:nvSpPr>
          <p:cNvPr id="6" name="原图说明"/>
          <p:cNvSpPr txBox="1"/>
          <p:nvPr/>
        </p:nvSpPr>
        <p:spPr>
          <a:xfrm>
            <a:off x="54864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报告原图：橙框为六国均值，与尼尔森美国收视数据并列</a:t>
            </a:r>
            <a:endParaRPr lang="en-US" sz="1300" dirty="0"/>
          </a:p>
        </p:txBody>
      </p:sp>
      <p:sp>
        <p:nvSpPr>
          <p:cNvPr id="7" name="对比条"/>
          <p:cNvSpPr txBox="1"/>
          <p:nvPr/>
        </p:nvSpPr>
        <p:spPr>
          <a:xfrm>
            <a:off x="548640" y="5303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法国 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26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六国均值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14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</a:t>
            </a:r>
            <a:endParaRPr lang="en-US" sz="1800" dirty="0"/>
          </a:p>
        </p:txBody>
      </p:sp>
      <p:sp>
        <p:nvSpPr>
          <p:cNvPr id="8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0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六国均值被置于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美国收视图表中</a:t>
            </a:r>
            <a:endParaRPr lang="en-US" sz="1800" dirty="0"/>
          </a:p>
        </p:txBody>
      </p:sp>
      <p:sp>
        <p:nvSpPr>
          <p:cNvPr id="11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3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六国等权平均，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 26 分钟抬高均值</a:t>
            </a:r>
            <a:endParaRPr lang="en-US" sz="1800" dirty="0"/>
          </a:p>
        </p:txBody>
      </p:sp>
      <p:sp>
        <p:nvSpPr>
          <p:cNvPr id="14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5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16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美国实际为 12 分钟，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易被高估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调查时间：比较基准不一致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4592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皮尤研究中心 · 2025 年秋</a:t>
            </a:r>
            <a:endParaRPr lang="en-US" sz="16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2402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56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24028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本报告 · 2026 年初</a:t>
            </a:r>
            <a:endParaRPr lang="en-US" sz="16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389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56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38912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以皮尤 30% 对比本报告 54%，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称使用正在加速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皮尤为全体青少年，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本报告仅为 AI 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统一分母后差距约 10 个百分点，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“加速”不成立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2025》数据表（使用者中每日使用 44%）。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研究方法：因果关系未经检验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意向 · 问卷</a:t>
            </a:r>
            <a:endParaRPr lang="en-US" sz="1600" dirty="0"/>
          </a:p>
        </p:txBody>
      </p:sp>
      <p:sp>
        <p:nvSpPr>
          <p:cNvPr id="6" name="数据类型数字1"/>
          <p:cNvSpPr txBox="1"/>
          <p:nvPr/>
        </p:nvSpPr>
        <p:spPr>
          <a:xfrm>
            <a:off x="82296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800" dirty="0"/>
          </a:p>
        </p:txBody>
      </p:sp>
      <p:sp>
        <p:nvSpPr>
          <p:cNvPr id="7" name="数据类型卡2"/>
          <p:cNvSpPr/>
          <p:nvPr/>
        </p:nvSpPr>
        <p:spPr>
          <a:xfrm>
            <a:off x="338328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类型2"/>
          <p:cNvSpPr txBox="1"/>
          <p:nvPr/>
        </p:nvSpPr>
        <p:spPr>
          <a:xfrm>
            <a:off x="36576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行为 · 退订率</a:t>
            </a:r>
            <a:endParaRPr lang="en-US" sz="1600" dirty="0"/>
          </a:p>
        </p:txBody>
      </p:sp>
      <p:sp>
        <p:nvSpPr>
          <p:cNvPr id="9" name="数据类型数字2"/>
          <p:cNvSpPr txBox="1"/>
          <p:nvPr/>
        </p:nvSpPr>
        <p:spPr>
          <a:xfrm>
            <a:off x="365760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3800" dirty="0"/>
          </a:p>
        </p:txBody>
      </p:sp>
      <p:sp>
        <p:nvSpPr>
          <p:cNvPr id="10" name="数据类型卡3"/>
          <p:cNvSpPr/>
          <p:nvPr/>
        </p:nvSpPr>
        <p:spPr>
          <a:xfrm>
            <a:off x="54864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数据类型3"/>
          <p:cNvSpPr txBox="1"/>
          <p:nvPr/>
        </p:nvSpPr>
        <p:spPr>
          <a:xfrm>
            <a:off x="82296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预测 · 普华永道</a:t>
            </a:r>
            <a:endParaRPr lang="en-US" sz="1600" dirty="0"/>
          </a:p>
        </p:txBody>
      </p:sp>
      <p:sp>
        <p:nvSpPr>
          <p:cNvPr id="12" name="数据类型数字3"/>
          <p:cNvSpPr txBox="1"/>
          <p:nvPr/>
        </p:nvSpPr>
        <p:spPr>
          <a:xfrm>
            <a:off x="82296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3" name="数据类型卡4"/>
          <p:cNvSpPr/>
          <p:nvPr/>
        </p:nvSpPr>
        <p:spPr>
          <a:xfrm>
            <a:off x="338328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类型4"/>
          <p:cNvSpPr txBox="1"/>
          <p:nvPr/>
        </p:nvSpPr>
        <p:spPr>
          <a:xfrm>
            <a:off x="365760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测试 · AI 答题</a:t>
            </a:r>
            <a:endParaRPr lang="en-US" sz="1600" dirty="0"/>
          </a:p>
        </p:txBody>
      </p:sp>
      <p:sp>
        <p:nvSpPr>
          <p:cNvPr id="15" name="数据类型数字4"/>
          <p:cNvSpPr txBox="1"/>
          <p:nvPr/>
        </p:nvSpPr>
        <p:spPr>
          <a:xfrm>
            <a:off x="365760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800" dirty="0"/>
          </a:p>
        </p:txBody>
      </p:sp>
      <p:sp>
        <p:nvSpPr>
          <p:cNvPr id="16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8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退订意向、退订率、预测与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测试数据并列使用</a:t>
            </a:r>
            <a:endParaRPr lang="en-US" sz="1800" dirty="0"/>
          </a:p>
        </p:txBody>
      </p:sp>
      <p:sp>
        <p:nvSpPr>
          <p:cNvPr id="19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21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数据性质不一，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且无追踪设计</a:t>
            </a:r>
            <a:endParaRPr lang="en-US" sz="1800" dirty="0"/>
          </a:p>
        </p:txBody>
      </p:sp>
      <p:sp>
        <p:nvSpPr>
          <p:cNvPr id="22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4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仅能说明相关，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不能证明因果</a:t>
            </a:r>
            <a:endParaRPr lang="en-US" sz="1800" dirty="0"/>
          </a:p>
        </p:txBody>
      </p:sp>
      <p:sp>
        <p:nvSpPr>
          <p:cNvPr id="25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6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0" grpId="0" animBg="1"/>
      <p:bldP spid="13" grpId="0" animBg="1"/>
      <p:bldP spid="5" grpId="0" animBg="1"/>
      <p:bldP spid="8" grpId="0" animBg="1"/>
      <p:bldP spid="11" grpId="0" animBg="1"/>
      <p:bldP spid="14" grpId="0" animBg="1"/>
      <p:bldP spid="6" grpId="0" animBg="1"/>
      <p:bldP spid="9" grpId="0" animBg="1"/>
      <p:bldP spid="12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总体判断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结论适用于 AI 用户，不宜外推</a:t>
            </a:r>
            <a:endParaRPr lang="en-US" sz="3000" dirty="0"/>
          </a:p>
        </p:txBody>
      </p:sp>
      <p:sp>
        <p:nvSpPr>
          <p:cNvPr id="4" name="结论分隔线"/>
          <p:cNvSpPr/>
          <p:nvPr/>
        </p:nvSpPr>
        <p:spPr>
          <a:xfrm>
            <a:off x="731520" y="178308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731520" y="17830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依赖 AI</a:t>
            </a:r>
            <a:endParaRPr lang="en-US" sz="2000" dirty="0"/>
          </a:p>
        </p:txBody>
      </p:sp>
      <p:sp>
        <p:nvSpPr>
          <p:cNvPr id="6" name="判断标签1"/>
          <p:cNvSpPr/>
          <p:nvPr/>
        </p:nvSpPr>
        <p:spPr>
          <a:xfrm>
            <a:off x="5806440" y="200253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判断标签文字1"/>
          <p:cNvSpPr txBox="1"/>
          <p:nvPr/>
        </p:nvSpPr>
        <p:spPr>
          <a:xfrm>
            <a:off x="5806440" y="200253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8" name="结论分隔线"/>
          <p:cNvSpPr/>
          <p:nvPr/>
        </p:nvSpPr>
        <p:spPr>
          <a:xfrm>
            <a:off x="731520" y="265176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731520" y="26517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信任不足</a:t>
            </a:r>
            <a:endParaRPr lang="en-US" sz="2000" dirty="0"/>
          </a:p>
        </p:txBody>
      </p:sp>
      <p:sp>
        <p:nvSpPr>
          <p:cNvPr id="10" name="判断标签2"/>
          <p:cNvSpPr/>
          <p:nvPr/>
        </p:nvSpPr>
        <p:spPr>
          <a:xfrm>
            <a:off x="5806440" y="287121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判断标签文字2"/>
          <p:cNvSpPr txBox="1"/>
          <p:nvPr/>
        </p:nvSpPr>
        <p:spPr>
          <a:xfrm>
            <a:off x="5806440" y="287121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12" name="结论分隔线"/>
          <p:cNvSpPr/>
          <p:nvPr/>
        </p:nvSpPr>
        <p:spPr>
          <a:xfrm>
            <a:off x="731520" y="352044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731520" y="352044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难找导致退订</a:t>
            </a:r>
            <a:endParaRPr lang="en-US" sz="2000" dirty="0"/>
          </a:p>
        </p:txBody>
      </p:sp>
      <p:sp>
        <p:nvSpPr>
          <p:cNvPr id="14" name="判断标签3"/>
          <p:cNvSpPr/>
          <p:nvPr/>
        </p:nvSpPr>
        <p:spPr>
          <a:xfrm>
            <a:off x="5806440" y="373989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判断标签文字3"/>
          <p:cNvSpPr txBox="1"/>
          <p:nvPr/>
        </p:nvSpPr>
        <p:spPr>
          <a:xfrm>
            <a:off x="5806440" y="373989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证据不足</a:t>
            </a:r>
            <a:endParaRPr lang="en-US" sz="1500" dirty="0"/>
          </a:p>
        </p:txBody>
      </p:sp>
      <p:sp>
        <p:nvSpPr>
          <p:cNvPr id="16" name="结论分隔线"/>
          <p:cNvSpPr/>
          <p:nvPr/>
        </p:nvSpPr>
        <p:spPr>
          <a:xfrm>
            <a:off x="731520" y="438912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7" name="判断环节4"/>
          <p:cNvSpPr txBox="1"/>
          <p:nvPr/>
        </p:nvSpPr>
        <p:spPr>
          <a:xfrm>
            <a:off x="731520" y="4389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接入行业数据</a:t>
            </a:r>
            <a:endParaRPr lang="en-US" sz="2000" dirty="0"/>
          </a:p>
        </p:txBody>
      </p:sp>
      <p:sp>
        <p:nvSpPr>
          <p:cNvPr id="18" name="判断标签4"/>
          <p:cNvSpPr/>
          <p:nvPr/>
        </p:nvSpPr>
        <p:spPr>
          <a:xfrm>
            <a:off x="5806440" y="460857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判断标签文字4"/>
          <p:cNvSpPr txBox="1"/>
          <p:nvPr/>
        </p:nvSpPr>
        <p:spPr>
          <a:xfrm>
            <a:off x="5806440" y="460857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未经检验</a:t>
            </a:r>
            <a:endParaRPr lang="en-US" sz="1500" dirty="0"/>
          </a:p>
        </p:txBody>
      </p:sp>
      <p:sp>
        <p:nvSpPr>
          <p:cNvPr id="20" name="结论分隔线"/>
          <p:cNvSpPr/>
          <p:nvPr/>
        </p:nvSpPr>
        <p:spPr>
          <a:xfrm>
            <a:off x="731520" y="525780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21" name="可取之处"/>
          <p:cNvSpPr txBox="1"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报告公开了样本量、调查时间与年龄范围，数据可复核。</a:t>
            </a:r>
            <a:endParaRPr lang="en-US" sz="1600" dirty="0"/>
          </a:p>
        </p:txBody>
      </p:sp>
      <p:sp>
        <p:nvSpPr>
          <p:cNvPr id="22" name="讨论卡"/>
          <p:cNvSpPr/>
          <p:nvPr/>
        </p:nvSpPr>
        <p:spPr>
          <a:xfrm>
            <a:off x="7955280" y="1783080"/>
            <a:ext cx="3520440" cy="3474720"/>
          </a:xfrm>
          <a:prstGeom prst="roundRect">
            <a:avLst>
              <a:gd name="adj" fmla="val 131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讨论问题"/>
          <p:cNvSpPr txBox="1"/>
          <p:nvPr/>
        </p:nvSpPr>
        <p:spPr>
          <a:xfrm>
            <a:off x="8275320" y="192024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讨论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如何设计调查，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检验检索困难与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退订的因果关系？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附录一：数据来源的方法披露</a:t>
            </a:r>
            <a:endParaRPr lang="en-US" sz="3000" dirty="0"/>
          </a:p>
        </p:txBody>
      </p:sp>
      <p:sp>
        <p:nvSpPr>
          <p:cNvPr id="4" name="来源卡1"/>
          <p:cNvSpPr/>
          <p:nvPr/>
        </p:nvSpPr>
        <p:spPr>
          <a:xfrm>
            <a:off x="54864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来源状态1"/>
          <p:cNvSpPr txBox="1"/>
          <p:nvPr/>
        </p:nvSpPr>
        <p:spPr>
          <a:xfrm>
            <a:off x="73152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2026 AI 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美国 AI 用户 4,003 人</a:t>
            </a:r>
            <a:endParaRPr lang="en-US" sz="1500" dirty="0"/>
          </a:p>
        </p:txBody>
      </p:sp>
      <p:sp>
        <p:nvSpPr>
          <p:cNvPr id="7" name="来源卡2"/>
          <p:cNvSpPr/>
          <p:nvPr/>
        </p:nvSpPr>
        <p:spPr>
          <a:xfrm>
            <a:off x="336042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来源状态2"/>
          <p:cNvSpPr txBox="1"/>
          <p:nvPr/>
        </p:nvSpPr>
        <p:spPr>
          <a:xfrm>
            <a:off x="35433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9" name="来源说明2"/>
          <p:cNvSpPr txBox="1"/>
          <p:nvPr/>
        </p:nvSpPr>
        <p:spPr>
          <a:xfrm>
            <a:off x="354330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2025 流媒体调查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六国各 500 人</a:t>
            </a:r>
            <a:endParaRPr lang="en-US" sz="1500" dirty="0"/>
          </a:p>
        </p:txBody>
      </p:sp>
      <p:sp>
        <p:nvSpPr>
          <p:cNvPr id="10" name="来源卡3"/>
          <p:cNvSpPr/>
          <p:nvPr/>
        </p:nvSpPr>
        <p:spPr>
          <a:xfrm>
            <a:off x="617220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来源状态3"/>
          <p:cNvSpPr txBox="1"/>
          <p:nvPr/>
        </p:nvSpPr>
        <p:spPr>
          <a:xfrm>
            <a:off x="635508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2" name="来源说明3"/>
          <p:cNvSpPr txBox="1"/>
          <p:nvPr/>
        </p:nvSpPr>
        <p:spPr>
          <a:xfrm>
            <a:off x="635508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皮尤研究中心青少年调查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概率样本 1,458 人 · 加权</a:t>
            </a:r>
            <a:endParaRPr lang="en-US" sz="1500" dirty="0"/>
          </a:p>
        </p:txBody>
      </p:sp>
      <p:sp>
        <p:nvSpPr>
          <p:cNvPr id="13" name="来源卡4"/>
          <p:cNvSpPr/>
          <p:nvPr/>
        </p:nvSpPr>
        <p:spPr>
          <a:xfrm>
            <a:off x="898398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来源状态4"/>
          <p:cNvSpPr txBox="1"/>
          <p:nvPr/>
        </p:nvSpPr>
        <p:spPr>
          <a:xfrm>
            <a:off x="916686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5" name="来源说明4"/>
          <p:cNvSpPr txBox="1"/>
          <p:nvPr/>
        </p:nvSpPr>
        <p:spPr>
          <a:xfrm>
            <a:off x="916686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德勤数字媒体趋势调查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美国 3,595 人 · 人口普查加权</a:t>
            </a:r>
            <a:endParaRPr lang="en-US" sz="1500" dirty="0"/>
          </a:p>
        </p:txBody>
      </p:sp>
      <p:sp>
        <p:nvSpPr>
          <p:cNvPr id="16" name="来源卡5"/>
          <p:cNvSpPr/>
          <p:nvPr/>
        </p:nvSpPr>
        <p:spPr>
          <a:xfrm>
            <a:off x="54864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来源状态5"/>
          <p:cNvSpPr txBox="1"/>
          <p:nvPr/>
        </p:nvSpPr>
        <p:spPr>
          <a:xfrm>
            <a:off x="73152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8" name="来源说明5"/>
          <p:cNvSpPr txBox="1"/>
          <p:nvPr/>
        </p:nvSpPr>
        <p:spPr>
          <a:xfrm>
            <a:off x="73152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 NPOWER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 + 机顶盒数据</a:t>
            </a:r>
            <a:endParaRPr lang="en-US" sz="1500" dirty="0"/>
          </a:p>
        </p:txBody>
      </p:sp>
      <p:sp>
        <p:nvSpPr>
          <p:cNvPr id="19" name="来源卡6"/>
          <p:cNvSpPr/>
          <p:nvPr/>
        </p:nvSpPr>
        <p:spPr>
          <a:xfrm>
            <a:off x="336042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来源状态6"/>
          <p:cNvSpPr txBox="1"/>
          <p:nvPr/>
        </p:nvSpPr>
        <p:spPr>
          <a:xfrm>
            <a:off x="35433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21" name="来源说明6"/>
          <p:cNvSpPr txBox="1"/>
          <p:nvPr/>
        </p:nvSpPr>
        <p:spPr>
          <a:xfrm>
            <a:off x="354330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尼尔森流媒体收视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测量仪样本户，仅电视屏幕</a:t>
            </a:r>
            <a:endParaRPr lang="en-US" sz="1500" dirty="0"/>
          </a:p>
        </p:txBody>
      </p:sp>
      <p:sp>
        <p:nvSpPr>
          <p:cNvPr id="22" name="来源卡7"/>
          <p:cNvSpPr/>
          <p:nvPr/>
        </p:nvSpPr>
        <p:spPr>
          <a:xfrm>
            <a:off x="617220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来源状态7"/>
          <p:cNvSpPr txBox="1"/>
          <p:nvPr/>
        </p:nvSpPr>
        <p:spPr>
          <a:xfrm>
            <a:off x="635508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24" name="来源说明7"/>
          <p:cNvSpPr txBox="1"/>
          <p:nvPr/>
        </p:nvSpPr>
        <p:spPr>
          <a:xfrm>
            <a:off x="635508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节目数据库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企业自有数据，非抽样</a:t>
            </a:r>
            <a:endParaRPr lang="en-US" sz="1500" dirty="0"/>
          </a:p>
        </p:txBody>
      </p:sp>
      <p:sp>
        <p:nvSpPr>
          <p:cNvPr id="25" name="来源卡8"/>
          <p:cNvSpPr/>
          <p:nvPr/>
        </p:nvSpPr>
        <p:spPr>
          <a:xfrm>
            <a:off x="898398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来源状态8"/>
          <p:cNvSpPr txBox="1"/>
          <p:nvPr/>
        </p:nvSpPr>
        <p:spPr>
          <a:xfrm>
            <a:off x="91668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部分公开</a:t>
            </a:r>
            <a:endParaRPr lang="en-US" sz="1200" dirty="0"/>
          </a:p>
        </p:txBody>
      </p:sp>
      <p:sp>
        <p:nvSpPr>
          <p:cNvPr id="27" name="来源说明8"/>
          <p:cNvSpPr txBox="1"/>
          <p:nvPr/>
        </p:nvSpPr>
        <p:spPr>
          <a:xfrm>
            <a:off x="916686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普华永道展望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公开数据 + 访谈 + 建模</a:t>
            </a:r>
            <a:endParaRPr lang="en-US" sz="1500" dirty="0"/>
          </a:p>
        </p:txBody>
      </p:sp>
      <p:sp>
        <p:nvSpPr>
          <p:cNvPr id="28" name="来源卡9"/>
          <p:cNvSpPr/>
          <p:nvPr/>
        </p:nvSpPr>
        <p:spPr>
          <a:xfrm>
            <a:off x="54864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来源状态9"/>
          <p:cNvSpPr txBox="1"/>
          <p:nvPr/>
        </p:nvSpPr>
        <p:spPr>
          <a:xfrm>
            <a:off x="73152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0" name="来源说明9"/>
          <p:cNvSpPr txBox="1"/>
          <p:nvPr/>
        </p:nvSpPr>
        <p:spPr>
          <a:xfrm>
            <a:off x="73152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Veed Analytics 测试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六国、独播剧；题量未公开</a:t>
            </a:r>
            <a:endParaRPr lang="en-US" sz="1500" dirty="0"/>
          </a:p>
        </p:txBody>
      </p:sp>
      <p:sp>
        <p:nvSpPr>
          <p:cNvPr id="31" name="来源卡10"/>
          <p:cNvSpPr/>
          <p:nvPr/>
        </p:nvSpPr>
        <p:spPr>
          <a:xfrm>
            <a:off x="336042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来源状态10"/>
          <p:cNvSpPr txBox="1"/>
          <p:nvPr/>
        </p:nvSpPr>
        <p:spPr>
          <a:xfrm>
            <a:off x="354330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33" name="来源说明10"/>
          <p:cNvSpPr txBox="1"/>
          <p:nvPr/>
        </p:nvSpPr>
        <p:spPr>
          <a:xfrm>
            <a:off x="354330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南加州大学论文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同行评审，自动分类器</a:t>
            </a:r>
            <a:endParaRPr lang="en-US" sz="1500" dirty="0"/>
          </a:p>
        </p:txBody>
      </p:sp>
      <p:sp>
        <p:nvSpPr>
          <p:cNvPr id="34" name="来源卡11"/>
          <p:cNvSpPr/>
          <p:nvPr/>
        </p:nvSpPr>
        <p:spPr>
          <a:xfrm>
            <a:off x="617220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来源状态11"/>
          <p:cNvSpPr txBox="1"/>
          <p:nvPr/>
        </p:nvSpPr>
        <p:spPr>
          <a:xfrm>
            <a:off x="635508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6" name="来源说明11"/>
          <p:cNvSpPr txBox="1"/>
          <p:nvPr/>
        </p:nvSpPr>
        <p:spPr>
          <a:xfrm>
            <a:off x="635508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Fabric 退订率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计算方法未公开</a:t>
            </a:r>
            <a:endParaRPr lang="en-US" sz="1500" dirty="0"/>
          </a:p>
        </p:txBody>
      </p:sp>
      <p:sp>
        <p:nvSpPr>
          <p:cNvPr id="3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详见《Gracenote报告_数据来源与采集方式核查.md》。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附录二：引用与原始来源比对</a:t>
            </a:r>
            <a:endParaRPr lang="en-US" sz="3000" dirty="0"/>
          </a:p>
        </p:txBody>
      </p:sp>
      <p:graphicFrame>
        <p:nvGraphicFramePr>
          <p:cNvPr id="15" name="引用比对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报告表述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原始来源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皮尤：30% 的青少年每日使用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精确值 28%；13–14 岁为 24%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南加州大学：“高达 38%”数据有偏差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仅为单一知识库、单一自动指标的结果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德勤：41% 的“订户”认为不值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原文分母为全体消费者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普华永道：2029 年支出 3,185 亿美元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全球数据，非美国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摘要：54% 的 18–34 岁“会取消”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原题为“可能取消”，且为六国数据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“26% 的美国人找不到想看的”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未找到出处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报告；皮尤、南加州大学、德勤、普华永道原文。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4F5F7"/>
      </a:lt2>
      <a:accent1>
        <a:srgbClr val="2F6690"/>
      </a:accent1>
      <a:accent2>
        <a:srgbClr val="3A7D44"/>
      </a:accent2>
      <a:accent3>
        <a:srgbClr val="D9542B"/>
      </a:accent3>
      <a:accent4>
        <a:srgbClr val="F2A65A"/>
      </a:accent4>
      <a:accent5>
        <a:srgbClr val="6B7280"/>
      </a:accent5>
      <a:accent6>
        <a:srgbClr val="DCE3EC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报告评析</dc:title>
  <dc:subject>市场调研：方法与实践 课后作业</dc:subject>
  <dc:creator>PptxGenJS</dc:creator>
  <cp:lastModifiedBy>PptxGenJS</cp:lastModifiedBy>
  <cp:revision>1</cp:revision>
  <dcterms:created xsi:type="dcterms:W3CDTF">2026-10-10T18:47:36Z</dcterms:created>
  <dcterms:modified xsi:type="dcterms:W3CDTF">2026-10-10T18:47:36Z</dcterms:modified>
</cp:coreProperties>
</file>