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94db13f3-0593-2a6b-693c-9705bf2815c2}">
          <p14:sldIdLst>
            <p14:sldId id="256"/>
            <p14:sldId id="257"/>
          </p14:sldIdLst>
        </p14:section>
        <p14:section name="报告介绍" id="{21aa9757-3d37-cd3c-3088-c804428fc8a8}">
          <p14:sldIdLst>
            <p14:sldId id="258"/>
            <p14:sldId id="259"/>
            <p14:sldId id="260"/>
          </p14:sldIdLst>
        </p14:section>
        <p14:section name="方法评价" id="{54944975-dffa-3abf-c4ba-53081e635407}">
          <p14:sldIdLst>
            <p14:sldId id="261"/>
            <p14:sldId id="262"/>
            <p14:sldId id="263"/>
            <p14:sldId id="264"/>
            <p14:sldId id="265"/>
          </p14:sldIdLst>
        </p14:section>
        <p14:section name="总结" id="{9ecabbe9-e2f9-35ff-b778-d9e8584e62a8}">
          <p14:sldIdLst>
            <p14:sldId id="266"/>
          </p14:sldIdLst>
        </p14:section>
        <p14:section name="附录（备问）" id="{9c8beb9c-fef1-49b1-fede-651a268082cd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1D6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B1D6B"/>
                </a:solidFill>
                <a:latin typeface="+mn-lt"/>
              </a:rPr>
              <a:t>寻找节目的平均时长（六国调查原始报告）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A99BEA"/>
            </a:solidFill>
            <a:effectLst/>
          </c:spPr>
          <c:invertIfNegative val="0"/>
          <c:dLbls>
            <c:numFmt formatCode="0&quot; 分钟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7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9BE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B3F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80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0&quot; 分钟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C17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C17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秒】各位同学好。我汇报的是尼尔森旗下 Gracenote 公司 2026 年发布的报告《AI 时代的电视搜索与内容发现》。报告称，54% 的 13 至 14 岁受访者每天使用 AI 聊天机器人。这一数据代表哪类人群，是本次汇报关注的问题。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秒】汇报分为五部分：研究背景与问题、研究设计、主要结论、方法评价和总结。核心观点是：报告揭示的趋势有参考价值，但其结论应限定在调查对象的范围之内。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秒】研究背景是：流媒体平台增多、内容分散，用户检索节目的难度上升，生成式 AI 也开始成为新的检索工具。报告据此提出三个问题：用户如何使用 AI 检索信息；检索困难是否影响订阅；用户是否信任 AI 的回答。值得注意的是，Gracenote 的主营业务正是节目数据服务。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秒】报告主要依据两项线上问卷。调查一于 2026 年 1 至 2 月进行，对象是 4003 名 13 至 79 岁的美国 AI 聊天机器人用户；调查二于 2025 年夏季进行，覆盖六个国家，每国 500 名流媒体用户。两项调查均未公开抽样框、加权方法和应答率。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秒】报告的主要结论是：13 至 14 岁的 AI 用户中 54% 每日使用；75% 的受访者会核查 AI 的回答；用户平均需要 14 分钟寻找节目；18 至 34 岁受访者中 54% 表示可能因此退订。并据此论证 AI 须接入可信的行业数据。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秒】评价部分参照课上春晚满意度调查的案例：调查对象、研究总体、调查时间和研究方法不同，结论就会不同。下面从这四个维度逐一分析。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秒】第一，调查对象。样本是 AI 聊天机器人用户这一特定群体，报告却多处将结论表述为“美国人”；所称的“Alpha 世代”也仅包含 13 至 14 岁受访者。与课上 Durex 网络调查的案例类似，在抽样方式未公开的情况下，无法判断样本的代表性。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秒】第二，研究总体。“平均 14 分钟”来自 Gracenote 2025 年的六国调查。其原始报告显示，美国受访者为 12 分钟，14 分钟是六国的简单平均，但本报告将其置于描述美国收视情况的图表中。“54% 可能退订”同样是六国数据。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30 秒】第三，调查时间。报告将皮尤研究中心 2025 年秋季的 30% 与自身 2026 年初的 54% 对比，认为使用频率在上升。但皮尤数据中，同为 13 至 14 岁的比例是 24%，分母是全体青少年；Gracenote 的分母是 AI 用户。统一口径后，差距约为 10 个百分点。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秒】第四，研究方法。报告的因果论证组合了四类数据：问卷中的退订意向、行业退订率、普华永道的市场预测和 AI 回答准确性测试。这些数据的对象和性质不同，又缺乏追踪或实验设计，不足以证明检索困难导致退订。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总结来看，报告公开了样本量、调查时间和年龄范围，图表数据经复核基本一致，可作为行业趋势的参考；但不宜作为对美国人群的精确估计，也不构成因果证据。最后提出一个讨论问题：如何设计调查，才能检验“检索困难导致退订”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914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市场调研：方法与实践 ｜ 课后作业汇报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6304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0332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年研究报告解读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《TV Search and Discovery in the AI Era》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680960" y="132588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680960" y="3337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报告数据：13–14 岁受访者每日使用 AI 的比例</a:t>
            </a:r>
            <a:endParaRPr lang="en-US" sz="1300" dirty="0"/>
          </a:p>
        </p:txBody>
      </p:sp>
      <p:sp>
        <p:nvSpPr>
          <p:cNvPr id="7" name="提问框"/>
          <p:cNvSpPr/>
          <p:nvPr/>
        </p:nvSpPr>
        <p:spPr>
          <a:xfrm>
            <a:off x="8001000" y="4160520"/>
            <a:ext cx="347472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437083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32520" y="4160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该数据代表哪类人群？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汇报框架与核心观点</a:t>
            </a:r>
            <a:endParaRPr lang="en-US" sz="2800" dirty="0"/>
          </a:p>
        </p:txBody>
      </p:sp>
      <p:sp>
        <p:nvSpPr>
          <p:cNvPr id="3" name="框架行1"/>
          <p:cNvSpPr/>
          <p:nvPr/>
        </p:nvSpPr>
        <p:spPr>
          <a:xfrm>
            <a:off x="548640" y="1371600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序号底1"/>
          <p:cNvSpPr/>
          <p:nvPr/>
        </p:nvSpPr>
        <p:spPr>
          <a:xfrm>
            <a:off x="731520" y="1490472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731520" y="14904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一</a:t>
            </a:r>
            <a:endParaRPr lang="en-US" sz="1600" dirty="0"/>
          </a:p>
        </p:txBody>
      </p:sp>
      <p:sp>
        <p:nvSpPr>
          <p:cNvPr id="6" name="框架名1"/>
          <p:cNvSpPr txBox="1"/>
          <p:nvPr/>
        </p:nvSpPr>
        <p:spPr>
          <a:xfrm>
            <a:off x="1463040" y="1371600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研究背景与研究问题</a:t>
            </a:r>
            <a:endParaRPr lang="en-US" sz="1700" dirty="0"/>
          </a:p>
        </p:txBody>
      </p:sp>
      <p:sp>
        <p:nvSpPr>
          <p:cNvPr id="7" name="框架说明1"/>
          <p:cNvSpPr txBox="1"/>
          <p:nvPr/>
        </p:nvSpPr>
        <p:spPr>
          <a:xfrm>
            <a:off x="3611880" y="13716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报告为何开展、回答哪些问题</a:t>
            </a:r>
            <a:endParaRPr lang="en-US" sz="1400" dirty="0"/>
          </a:p>
        </p:txBody>
      </p:sp>
      <p:sp>
        <p:nvSpPr>
          <p:cNvPr id="8" name="框架行2"/>
          <p:cNvSpPr/>
          <p:nvPr/>
        </p:nvSpPr>
        <p:spPr>
          <a:xfrm>
            <a:off x="548640" y="2267712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序号底2"/>
          <p:cNvSpPr/>
          <p:nvPr/>
        </p:nvSpPr>
        <p:spPr>
          <a:xfrm>
            <a:off x="731520" y="238658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序号2"/>
          <p:cNvSpPr txBox="1"/>
          <p:nvPr/>
        </p:nvSpPr>
        <p:spPr>
          <a:xfrm>
            <a:off x="731520" y="2386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二</a:t>
            </a:r>
            <a:endParaRPr lang="en-US" sz="1600" dirty="0"/>
          </a:p>
        </p:txBody>
      </p:sp>
      <p:sp>
        <p:nvSpPr>
          <p:cNvPr id="11" name="框架名2"/>
          <p:cNvSpPr txBox="1"/>
          <p:nvPr/>
        </p:nvSpPr>
        <p:spPr>
          <a:xfrm>
            <a:off x="1463040" y="2267712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研究设计</a:t>
            </a:r>
            <a:endParaRPr lang="en-US" sz="1700" dirty="0"/>
          </a:p>
        </p:txBody>
      </p:sp>
      <p:sp>
        <p:nvSpPr>
          <p:cNvPr id="12" name="框架说明2"/>
          <p:cNvSpPr txBox="1"/>
          <p:nvPr/>
        </p:nvSpPr>
        <p:spPr>
          <a:xfrm>
            <a:off x="3611880" y="2267712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对象、时间、抽样方式、样本量</a:t>
            </a:r>
            <a:endParaRPr lang="en-US" sz="1400" dirty="0"/>
          </a:p>
        </p:txBody>
      </p:sp>
      <p:sp>
        <p:nvSpPr>
          <p:cNvPr id="13" name="框架行3"/>
          <p:cNvSpPr/>
          <p:nvPr/>
        </p:nvSpPr>
        <p:spPr>
          <a:xfrm>
            <a:off x="548640" y="3163824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序号底3"/>
          <p:cNvSpPr/>
          <p:nvPr/>
        </p:nvSpPr>
        <p:spPr>
          <a:xfrm>
            <a:off x="731520" y="3282696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序号3"/>
          <p:cNvSpPr txBox="1"/>
          <p:nvPr/>
        </p:nvSpPr>
        <p:spPr>
          <a:xfrm>
            <a:off x="731520" y="3282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三</a:t>
            </a:r>
            <a:endParaRPr lang="en-US" sz="1600" dirty="0"/>
          </a:p>
        </p:txBody>
      </p:sp>
      <p:sp>
        <p:nvSpPr>
          <p:cNvPr id="16" name="框架名3"/>
          <p:cNvSpPr txBox="1"/>
          <p:nvPr/>
        </p:nvSpPr>
        <p:spPr>
          <a:xfrm>
            <a:off x="1463040" y="3163824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主要研究结论</a:t>
            </a:r>
            <a:endParaRPr lang="en-US" sz="1700" dirty="0"/>
          </a:p>
        </p:txBody>
      </p:sp>
      <p:sp>
        <p:nvSpPr>
          <p:cNvPr id="17" name="框架说明3"/>
          <p:cNvSpPr txBox="1"/>
          <p:nvPr/>
        </p:nvSpPr>
        <p:spPr>
          <a:xfrm>
            <a:off x="3611880" y="316382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核心数据与论证逻辑</a:t>
            </a:r>
            <a:endParaRPr lang="en-US" sz="1400" dirty="0"/>
          </a:p>
        </p:txBody>
      </p:sp>
      <p:sp>
        <p:nvSpPr>
          <p:cNvPr id="18" name="框架行4"/>
          <p:cNvSpPr/>
          <p:nvPr/>
        </p:nvSpPr>
        <p:spPr>
          <a:xfrm>
            <a:off x="548640" y="4059936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序号底4"/>
          <p:cNvSpPr/>
          <p:nvPr/>
        </p:nvSpPr>
        <p:spPr>
          <a:xfrm>
            <a:off x="731520" y="41788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序号4"/>
          <p:cNvSpPr txBox="1"/>
          <p:nvPr/>
        </p:nvSpPr>
        <p:spPr>
          <a:xfrm>
            <a:off x="731520" y="4178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四</a:t>
            </a:r>
            <a:endParaRPr lang="en-US" sz="1600" dirty="0"/>
          </a:p>
        </p:txBody>
      </p:sp>
      <p:sp>
        <p:nvSpPr>
          <p:cNvPr id="21" name="框架名4"/>
          <p:cNvSpPr txBox="1"/>
          <p:nvPr/>
        </p:nvSpPr>
        <p:spPr>
          <a:xfrm>
            <a:off x="1463040" y="4059936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方法评价</a:t>
            </a:r>
            <a:endParaRPr lang="en-US" sz="1700" dirty="0"/>
          </a:p>
        </p:txBody>
      </p:sp>
      <p:sp>
        <p:nvSpPr>
          <p:cNvPr id="22" name="框架说明4"/>
          <p:cNvSpPr txBox="1"/>
          <p:nvPr/>
        </p:nvSpPr>
        <p:spPr>
          <a:xfrm>
            <a:off x="3611880" y="4059936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对象、总体、时间、方法四个维度</a:t>
            </a:r>
            <a:endParaRPr lang="en-US" sz="1400" dirty="0"/>
          </a:p>
        </p:txBody>
      </p:sp>
      <p:sp>
        <p:nvSpPr>
          <p:cNvPr id="23" name="框架行5"/>
          <p:cNvSpPr/>
          <p:nvPr/>
        </p:nvSpPr>
        <p:spPr>
          <a:xfrm>
            <a:off x="548640" y="4956048"/>
            <a:ext cx="63093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序号底5"/>
          <p:cNvSpPr/>
          <p:nvPr/>
        </p:nvSpPr>
        <p:spPr>
          <a:xfrm>
            <a:off x="731520" y="50749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序号5"/>
          <p:cNvSpPr txBox="1"/>
          <p:nvPr/>
        </p:nvSpPr>
        <p:spPr>
          <a:xfrm>
            <a:off x="731520" y="50749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五</a:t>
            </a:r>
            <a:endParaRPr lang="en-US" sz="1600" dirty="0"/>
          </a:p>
        </p:txBody>
      </p:sp>
      <p:sp>
        <p:nvSpPr>
          <p:cNvPr id="26" name="框架名5"/>
          <p:cNvSpPr txBox="1"/>
          <p:nvPr/>
        </p:nvSpPr>
        <p:spPr>
          <a:xfrm>
            <a:off x="1463040" y="4956048"/>
            <a:ext cx="2103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总结与启示</a:t>
            </a:r>
            <a:endParaRPr lang="en-US" sz="1700" dirty="0"/>
          </a:p>
        </p:txBody>
      </p:sp>
      <p:sp>
        <p:nvSpPr>
          <p:cNvPr id="27" name="框架说明5"/>
          <p:cNvSpPr txBox="1"/>
          <p:nvPr/>
        </p:nvSpPr>
        <p:spPr>
          <a:xfrm>
            <a:off x="3611880" y="495604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研究价值、使用限制与讨论问题</a:t>
            </a:r>
            <a:endParaRPr lang="en-US" sz="1400" dirty="0"/>
          </a:p>
        </p:txBody>
      </p:sp>
      <p:sp>
        <p:nvSpPr>
          <p:cNvPr id="28" name="核心观点卡"/>
          <p:cNvSpPr/>
          <p:nvPr/>
        </p:nvSpPr>
        <p:spPr>
          <a:xfrm>
            <a:off x="7223760" y="1371600"/>
            <a:ext cx="4389120" cy="4334256"/>
          </a:xfrm>
          <a:prstGeom prst="roundRect">
            <a:avLst>
              <a:gd name="adj" fmla="val 25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核心观点"/>
          <p:cNvSpPr txBox="1"/>
          <p:nvPr/>
        </p:nvSpPr>
        <p:spPr>
          <a:xfrm>
            <a:off x="7543800" y="1554480"/>
            <a:ext cx="3749040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核心观点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报告揭示的行业趋势具有参考价值，但其样本代表性、数据口径与因果推断存在局限，结论应限定在调查对象的范围之内。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评价重点：第四部分的四个维度。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一、研究背景与研究问题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研究背景"/>
          <p:cNvSpPr txBox="1"/>
          <p:nvPr/>
        </p:nvSpPr>
        <p:spPr>
          <a:xfrm>
            <a:off x="548640" y="1234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研究背景：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流媒体平台数量增加、内容分散，用户检索节目的难度上升；生成式 AI 聊天机器人逐渐成为新的信息检索工具。</a:t>
            </a:r>
            <a:endParaRPr lang="en-US" sz="1500" dirty="0"/>
          </a:p>
        </p:txBody>
      </p:sp>
      <p:sp>
        <p:nvSpPr>
          <p:cNvPr id="14" name="问题卡1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82296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205990"/>
            <a:ext cx="297180" cy="297180"/>
          </a:xfrm>
          <a:prstGeom prst="rect">
            <a:avLst/>
          </a:prstGeom>
        </p:spPr>
      </p:pic>
      <p:sp>
        <p:nvSpPr>
          <p:cNvPr id="17" name="问题标题1"/>
          <p:cNvSpPr txBox="1"/>
          <p:nvPr/>
        </p:nvSpPr>
        <p:spPr>
          <a:xfrm>
            <a:off x="155448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问题一 · 使用行为</a:t>
            </a:r>
            <a:endParaRPr lang="en-US" sz="1700" dirty="0"/>
          </a:p>
        </p:txBody>
      </p:sp>
      <p:sp>
        <p:nvSpPr>
          <p:cNvPr id="18" name="问题内容1"/>
          <p:cNvSpPr txBox="1"/>
          <p:nvPr/>
        </p:nvSpPr>
        <p:spPr>
          <a:xfrm>
            <a:off x="82296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不同年龄群体如何使用 AI 聊天机器人检索信息？</a:t>
            </a:r>
            <a:endParaRPr lang="en-US" sz="1500" dirty="0"/>
          </a:p>
        </p:txBody>
      </p:sp>
      <p:sp>
        <p:nvSpPr>
          <p:cNvPr id="19" name="问题卡2"/>
          <p:cNvSpPr/>
          <p:nvPr/>
        </p:nvSpPr>
        <p:spPr>
          <a:xfrm>
            <a:off x="429768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457200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590" y="2205990"/>
            <a:ext cx="297180" cy="297180"/>
          </a:xfrm>
          <a:prstGeom prst="rect">
            <a:avLst/>
          </a:prstGeom>
        </p:spPr>
      </p:pic>
      <p:sp>
        <p:nvSpPr>
          <p:cNvPr id="22" name="问题标题2"/>
          <p:cNvSpPr txBox="1"/>
          <p:nvPr/>
        </p:nvSpPr>
        <p:spPr>
          <a:xfrm>
            <a:off x="530352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问题二 · 检索困难</a:t>
            </a:r>
            <a:endParaRPr lang="en-US" sz="1700" dirty="0"/>
          </a:p>
        </p:txBody>
      </p:sp>
      <p:sp>
        <p:nvSpPr>
          <p:cNvPr id="23" name="问题内容2"/>
          <p:cNvSpPr txBox="1"/>
          <p:nvPr/>
        </p:nvSpPr>
        <p:spPr>
          <a:xfrm>
            <a:off x="457200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内容分散是否增加检索难度，并影响订阅决策？</a:t>
            </a:r>
            <a:endParaRPr lang="en-US" sz="1500" dirty="0"/>
          </a:p>
        </p:txBody>
      </p:sp>
      <p:sp>
        <p:nvSpPr>
          <p:cNvPr id="24" name="问题卡3"/>
          <p:cNvSpPr/>
          <p:nvPr/>
        </p:nvSpPr>
        <p:spPr>
          <a:xfrm>
            <a:off x="8046720" y="1874520"/>
            <a:ext cx="347472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图标底"/>
          <p:cNvSpPr/>
          <p:nvPr/>
        </p:nvSpPr>
        <p:spPr>
          <a:xfrm>
            <a:off x="832104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630" y="2205990"/>
            <a:ext cx="297180" cy="297180"/>
          </a:xfrm>
          <a:prstGeom prst="rect">
            <a:avLst/>
          </a:prstGeom>
        </p:spPr>
      </p:pic>
      <p:sp>
        <p:nvSpPr>
          <p:cNvPr id="27" name="问题标题3"/>
          <p:cNvSpPr txBox="1"/>
          <p:nvPr/>
        </p:nvSpPr>
        <p:spPr>
          <a:xfrm>
            <a:off x="9052560" y="20574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问题三 · 信任程度</a:t>
            </a:r>
            <a:endParaRPr lang="en-US" sz="1700" dirty="0"/>
          </a:p>
        </p:txBody>
      </p:sp>
      <p:sp>
        <p:nvSpPr>
          <p:cNvPr id="28" name="问题内容3"/>
          <p:cNvSpPr txBox="1"/>
          <p:nvPr/>
        </p:nvSpPr>
        <p:spPr>
          <a:xfrm>
            <a:off x="8321040" y="27432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用户是否信任 AI 提供的娱乐与体育信息？</a:t>
            </a:r>
            <a:endParaRPr lang="en-US" sz="1500" dirty="0"/>
          </a:p>
        </p:txBody>
      </p:sp>
      <p:sp>
        <p:nvSpPr>
          <p:cNvPr id="29" name="机构与主张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0" name="图标底"/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43400"/>
            <a:ext cx="274320" cy="274320"/>
          </a:xfrm>
          <a:prstGeom prst="rect">
            <a:avLst/>
          </a:prstGeom>
        </p:spPr>
      </p:pic>
      <p:sp>
        <p:nvSpPr>
          <p:cNvPr id="32" name="研究机构"/>
          <p:cNvSpPr txBox="1"/>
          <p:nvPr/>
        </p:nvSpPr>
        <p:spPr>
          <a:xfrm>
            <a:off x="1600200" y="4023360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研究机构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Gracenote，尼尔森（Nielsen）旗下的内容数据业务，为电视与流媒体平台提供节目元数据（片名、简介、播出平台等）。</a:t>
            </a:r>
            <a:endParaRPr lang="en-US" sz="1600" dirty="0"/>
          </a:p>
        </p:txBody>
      </p:sp>
      <p:sp>
        <p:nvSpPr>
          <p:cNvPr id="33" name="图标底"/>
          <p:cNvSpPr/>
          <p:nvPr/>
        </p:nvSpPr>
        <p:spPr>
          <a:xfrm>
            <a:off x="6263640" y="42062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4" name="图标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343400"/>
            <a:ext cx="274320" cy="274320"/>
          </a:xfrm>
          <a:prstGeom prst="rect">
            <a:avLst/>
          </a:prstGeom>
        </p:spPr>
      </p:pic>
      <p:sp>
        <p:nvSpPr>
          <p:cNvPr id="35" name="报告主张"/>
          <p:cNvSpPr txBox="1"/>
          <p:nvPr/>
        </p:nvSpPr>
        <p:spPr>
          <a:xfrm>
            <a:off x="6995160" y="402336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报告主张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AI 将成为内容发现的主要入口，但须接入可信的行业数据——这与 Gracenote 的主营业务直接相关。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二、研究设计：两项核心问卷调查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问卷卡1"/>
          <p:cNvSpPr/>
          <p:nvPr/>
        </p:nvSpPr>
        <p:spPr>
          <a:xfrm>
            <a:off x="54864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问卷名1"/>
          <p:cNvSpPr txBox="1"/>
          <p:nvPr/>
        </p:nvSpPr>
        <p:spPr>
          <a:xfrm>
            <a:off x="82296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调查一：2026 年生成式 AI 使用调查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报告中 AI 相关数据的来源</a:t>
            </a:r>
            <a:endParaRPr lang="en-US" sz="1700" dirty="0"/>
          </a:p>
        </p:txBody>
      </p:sp>
      <p:sp>
        <p:nvSpPr>
          <p:cNvPr id="15" name="设计项1-1"/>
          <p:cNvSpPr txBox="1"/>
          <p:nvPr/>
        </p:nvSpPr>
        <p:spPr>
          <a:xfrm>
            <a:off x="82296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16" name="设计值1-1"/>
          <p:cNvSpPr txBox="1"/>
          <p:nvPr/>
        </p:nvSpPr>
        <p:spPr>
          <a:xfrm>
            <a:off x="205740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美国 13–79 岁 AI 聊天机器人用户</a:t>
            </a:r>
            <a:endParaRPr lang="en-US" sz="1500" dirty="0"/>
          </a:p>
        </p:txBody>
      </p:sp>
      <p:sp>
        <p:nvSpPr>
          <p:cNvPr id="17" name="设计项1-2"/>
          <p:cNvSpPr txBox="1"/>
          <p:nvPr/>
        </p:nvSpPr>
        <p:spPr>
          <a:xfrm>
            <a:off x="82296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18" name="设计值1-2"/>
          <p:cNvSpPr txBox="1"/>
          <p:nvPr/>
        </p:nvSpPr>
        <p:spPr>
          <a:xfrm>
            <a:off x="205740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2026 年 1 月 23 日—2 月 4 日</a:t>
            </a:r>
            <a:endParaRPr lang="en-US" sz="1500" dirty="0"/>
          </a:p>
        </p:txBody>
      </p:sp>
      <p:sp>
        <p:nvSpPr>
          <p:cNvPr id="19" name="设计项1-3"/>
          <p:cNvSpPr txBox="1"/>
          <p:nvPr/>
        </p:nvSpPr>
        <p:spPr>
          <a:xfrm>
            <a:off x="82296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20" name="设计值1-3"/>
          <p:cNvSpPr txBox="1"/>
          <p:nvPr/>
        </p:nvSpPr>
        <p:spPr>
          <a:xfrm>
            <a:off x="205740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21" name="设计项1-4"/>
          <p:cNvSpPr txBox="1"/>
          <p:nvPr/>
        </p:nvSpPr>
        <p:spPr>
          <a:xfrm>
            <a:off x="82296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22" name="设计值1-4"/>
          <p:cNvSpPr txBox="1"/>
          <p:nvPr/>
        </p:nvSpPr>
        <p:spPr>
          <a:xfrm>
            <a:off x="205740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4,003</a:t>
            </a:r>
            <a:endParaRPr lang="en-US" sz="1500" dirty="0"/>
          </a:p>
        </p:txBody>
      </p:sp>
      <p:sp>
        <p:nvSpPr>
          <p:cNvPr id="23" name="未公开底"/>
          <p:cNvSpPr/>
          <p:nvPr/>
        </p:nvSpPr>
        <p:spPr>
          <a:xfrm>
            <a:off x="68580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设计项1-5"/>
          <p:cNvSpPr txBox="1"/>
          <p:nvPr/>
        </p:nvSpPr>
        <p:spPr>
          <a:xfrm>
            <a:off x="82296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25" name="设计值1-5"/>
          <p:cNvSpPr txBox="1"/>
          <p:nvPr/>
        </p:nvSpPr>
        <p:spPr>
          <a:xfrm>
            <a:off x="205740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26" name="问卷卡2"/>
          <p:cNvSpPr/>
          <p:nvPr/>
        </p:nvSpPr>
        <p:spPr>
          <a:xfrm>
            <a:off x="6172200" y="1371600"/>
            <a:ext cx="544068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问卷名2"/>
          <p:cNvSpPr txBox="1"/>
          <p:nvPr/>
        </p:nvSpPr>
        <p:spPr>
          <a:xfrm>
            <a:off x="6446520" y="15087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调查二：2025 年六国流媒体消费者调查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内容检索与退订相关数据的来源</a:t>
            </a:r>
            <a:endParaRPr lang="en-US" sz="1700" dirty="0"/>
          </a:p>
        </p:txBody>
      </p:sp>
      <p:sp>
        <p:nvSpPr>
          <p:cNvPr id="28" name="设计项2-1"/>
          <p:cNvSpPr txBox="1"/>
          <p:nvPr/>
        </p:nvSpPr>
        <p:spPr>
          <a:xfrm>
            <a:off x="644652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调查对象</a:t>
            </a:r>
            <a:endParaRPr lang="en-US" sz="1300" dirty="0"/>
          </a:p>
        </p:txBody>
      </p:sp>
      <p:sp>
        <p:nvSpPr>
          <p:cNvPr id="29" name="设计值2-1"/>
          <p:cNvSpPr txBox="1"/>
          <p:nvPr/>
        </p:nvSpPr>
        <p:spPr>
          <a:xfrm>
            <a:off x="7680960" y="23774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巴西、法、德、墨、美、英流媒体用户</a:t>
            </a:r>
            <a:endParaRPr lang="en-US" sz="1500" dirty="0"/>
          </a:p>
        </p:txBody>
      </p:sp>
      <p:sp>
        <p:nvSpPr>
          <p:cNvPr id="30" name="设计项2-2"/>
          <p:cNvSpPr txBox="1"/>
          <p:nvPr/>
        </p:nvSpPr>
        <p:spPr>
          <a:xfrm>
            <a:off x="6446520" y="29443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调查时间</a:t>
            </a:r>
            <a:endParaRPr lang="en-US" sz="1300" dirty="0"/>
          </a:p>
        </p:txBody>
      </p:sp>
      <p:sp>
        <p:nvSpPr>
          <p:cNvPr id="31" name="设计值2-2"/>
          <p:cNvSpPr txBox="1"/>
          <p:nvPr/>
        </p:nvSpPr>
        <p:spPr>
          <a:xfrm>
            <a:off x="7680960" y="29443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2025 年 7 月 28 日—8 月 1 日</a:t>
            </a:r>
            <a:endParaRPr lang="en-US" sz="1500" dirty="0"/>
          </a:p>
        </p:txBody>
      </p:sp>
      <p:sp>
        <p:nvSpPr>
          <p:cNvPr id="32" name="设计项2-3"/>
          <p:cNvSpPr txBox="1"/>
          <p:nvPr/>
        </p:nvSpPr>
        <p:spPr>
          <a:xfrm>
            <a:off x="6446520" y="35112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调查方式</a:t>
            </a:r>
            <a:endParaRPr lang="en-US" sz="1300" dirty="0"/>
          </a:p>
        </p:txBody>
      </p:sp>
      <p:sp>
        <p:nvSpPr>
          <p:cNvPr id="33" name="设计值2-3"/>
          <p:cNvSpPr txBox="1"/>
          <p:nvPr/>
        </p:nvSpPr>
        <p:spPr>
          <a:xfrm>
            <a:off x="7680960" y="3511296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线上问卷</a:t>
            </a:r>
            <a:endParaRPr lang="en-US" sz="1500" dirty="0"/>
          </a:p>
        </p:txBody>
      </p:sp>
      <p:sp>
        <p:nvSpPr>
          <p:cNvPr id="34" name="设计项2-4"/>
          <p:cNvSpPr txBox="1"/>
          <p:nvPr/>
        </p:nvSpPr>
        <p:spPr>
          <a:xfrm>
            <a:off x="6446520" y="40782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样本量</a:t>
            </a:r>
            <a:endParaRPr lang="en-US" sz="1300" dirty="0"/>
          </a:p>
        </p:txBody>
      </p:sp>
      <p:sp>
        <p:nvSpPr>
          <p:cNvPr id="35" name="设计值2-4"/>
          <p:cNvSpPr txBox="1"/>
          <p:nvPr/>
        </p:nvSpPr>
        <p:spPr>
          <a:xfrm>
            <a:off x="7680960" y="407822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3,000（每国 500）</a:t>
            </a:r>
            <a:endParaRPr lang="en-US" sz="1500" dirty="0"/>
          </a:p>
        </p:txBody>
      </p:sp>
      <p:sp>
        <p:nvSpPr>
          <p:cNvPr id="36" name="未公开底"/>
          <p:cNvSpPr/>
          <p:nvPr/>
        </p:nvSpPr>
        <p:spPr>
          <a:xfrm>
            <a:off x="6309360" y="4608576"/>
            <a:ext cx="5166360" cy="530352"/>
          </a:xfrm>
          <a:prstGeom prst="roundRect">
            <a:avLst>
              <a:gd name="adj" fmla="val 2069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7" name="设计项2-5"/>
          <p:cNvSpPr txBox="1"/>
          <p:nvPr/>
        </p:nvSpPr>
        <p:spPr>
          <a:xfrm>
            <a:off x="6446520" y="46451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抽样方式</a:t>
            </a:r>
            <a:endParaRPr lang="en-US" sz="1300" dirty="0"/>
          </a:p>
        </p:txBody>
      </p:sp>
      <p:sp>
        <p:nvSpPr>
          <p:cNvPr id="38" name="设计值2-5"/>
          <p:cNvSpPr txBox="1"/>
          <p:nvPr/>
        </p:nvSpPr>
        <p:spPr>
          <a:xfrm>
            <a:off x="7680960" y="464515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未公开：抽样框、加权方法、应答率</a:t>
            </a:r>
            <a:endParaRPr lang="en-US" sz="1500" dirty="0"/>
          </a:p>
        </p:txBody>
      </p:sp>
      <p:sp>
        <p:nvSpPr>
          <p:cNvPr id="39" name="其他来源"/>
          <p:cNvSpPr txBox="1"/>
          <p:nvPr/>
        </p:nvSpPr>
        <p:spPr>
          <a:xfrm>
            <a:off x="548640" y="54864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此外引用尼尔森收视数据、Gracenote 节目数据库及皮尤研究中心、德勤、普华永道等机构研究，共 11 个数据来源（见附录一）。</a:t>
            </a:r>
            <a:endParaRPr lang="en-US" sz="1400" dirty="0"/>
          </a:p>
        </p:txBody>
      </p:sp>
      <p:sp>
        <p:nvSpPr>
          <p:cNvPr id="40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来源：报告“数据来源”说明；尼尔森新闻稿（2026 年 4 月）；Gracenote 2025 年报告《State of Play》数据说明。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三、主要研究结论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结论卡1"/>
          <p:cNvSpPr/>
          <p:nvPr/>
        </p:nvSpPr>
        <p:spPr>
          <a:xfrm>
            <a:off x="54864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结论数字1"/>
          <p:cNvSpPr txBox="1"/>
          <p:nvPr/>
        </p:nvSpPr>
        <p:spPr>
          <a:xfrm>
            <a:off x="77724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15" name="结论说明1"/>
          <p:cNvSpPr txBox="1"/>
          <p:nvPr/>
        </p:nvSpPr>
        <p:spPr>
          <a:xfrm>
            <a:off x="7772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13–14 岁 AI 用户每日使用（报告称“Alpha 世代”）</a:t>
            </a:r>
            <a:endParaRPr lang="en-US" sz="1500" dirty="0"/>
          </a:p>
        </p:txBody>
      </p:sp>
      <p:sp>
        <p:nvSpPr>
          <p:cNvPr id="16" name="结论来源1"/>
          <p:cNvSpPr txBox="1"/>
          <p:nvPr/>
        </p:nvSpPr>
        <p:spPr>
          <a:xfrm>
            <a:off x="77724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调查一</a:t>
            </a:r>
            <a:endParaRPr lang="en-US" sz="1100" dirty="0"/>
          </a:p>
        </p:txBody>
      </p:sp>
      <p:sp>
        <p:nvSpPr>
          <p:cNvPr id="17" name="结论卡2"/>
          <p:cNvSpPr/>
          <p:nvPr/>
        </p:nvSpPr>
        <p:spPr>
          <a:xfrm>
            <a:off x="336042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结论数字2"/>
          <p:cNvSpPr txBox="1"/>
          <p:nvPr/>
        </p:nvSpPr>
        <p:spPr>
          <a:xfrm>
            <a:off x="358902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4400" dirty="0"/>
          </a:p>
        </p:txBody>
      </p:sp>
      <p:sp>
        <p:nvSpPr>
          <p:cNvPr id="19" name="结论说明2"/>
          <p:cNvSpPr txBox="1"/>
          <p:nvPr/>
        </p:nvSpPr>
        <p:spPr>
          <a:xfrm>
            <a:off x="35890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受访者表示会核查 AI 的回答</a:t>
            </a:r>
            <a:endParaRPr lang="en-US" sz="1500" dirty="0"/>
          </a:p>
        </p:txBody>
      </p:sp>
      <p:sp>
        <p:nvSpPr>
          <p:cNvPr id="20" name="结论来源2"/>
          <p:cNvSpPr txBox="1"/>
          <p:nvPr/>
        </p:nvSpPr>
        <p:spPr>
          <a:xfrm>
            <a:off x="358902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调查一</a:t>
            </a:r>
            <a:endParaRPr lang="en-US" sz="1100" dirty="0"/>
          </a:p>
        </p:txBody>
      </p:sp>
      <p:sp>
        <p:nvSpPr>
          <p:cNvPr id="21" name="结论卡3"/>
          <p:cNvSpPr/>
          <p:nvPr/>
        </p:nvSpPr>
        <p:spPr>
          <a:xfrm>
            <a:off x="617220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结论数字3"/>
          <p:cNvSpPr txBox="1"/>
          <p:nvPr/>
        </p:nvSpPr>
        <p:spPr>
          <a:xfrm>
            <a:off x="640080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400" dirty="0"/>
          </a:p>
        </p:txBody>
      </p:sp>
      <p:sp>
        <p:nvSpPr>
          <p:cNvPr id="23" name="结论说明3"/>
          <p:cNvSpPr txBox="1"/>
          <p:nvPr/>
        </p:nvSpPr>
        <p:spPr>
          <a:xfrm>
            <a:off x="6400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用户寻找节目的平均时长</a:t>
            </a:r>
            <a:endParaRPr lang="en-US" sz="1500" dirty="0"/>
          </a:p>
        </p:txBody>
      </p:sp>
      <p:sp>
        <p:nvSpPr>
          <p:cNvPr id="24" name="结论来源3"/>
          <p:cNvSpPr txBox="1"/>
          <p:nvPr/>
        </p:nvSpPr>
        <p:spPr>
          <a:xfrm>
            <a:off x="640080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调查二（六国）</a:t>
            </a:r>
            <a:endParaRPr lang="en-US" sz="1100" dirty="0"/>
          </a:p>
        </p:txBody>
      </p:sp>
      <p:sp>
        <p:nvSpPr>
          <p:cNvPr id="25" name="结论卡4"/>
          <p:cNvSpPr/>
          <p:nvPr/>
        </p:nvSpPr>
        <p:spPr>
          <a:xfrm>
            <a:off x="8983980" y="137160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结论数字4"/>
          <p:cNvSpPr txBox="1"/>
          <p:nvPr/>
        </p:nvSpPr>
        <p:spPr>
          <a:xfrm>
            <a:off x="9212580" y="155448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27" name="结论说明4"/>
          <p:cNvSpPr txBox="1"/>
          <p:nvPr/>
        </p:nvSpPr>
        <p:spPr>
          <a:xfrm>
            <a:off x="921258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18–34 岁受访者表示可能因检索困难而退订</a:t>
            </a:r>
            <a:endParaRPr lang="en-US" sz="1500" dirty="0"/>
          </a:p>
        </p:txBody>
      </p:sp>
      <p:sp>
        <p:nvSpPr>
          <p:cNvPr id="28" name="结论来源4"/>
          <p:cNvSpPr txBox="1"/>
          <p:nvPr/>
        </p:nvSpPr>
        <p:spPr>
          <a:xfrm>
            <a:off x="9212580" y="3474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调查二（六国）</a:t>
            </a:r>
            <a:endParaRPr lang="en-US" sz="1100" dirty="0"/>
          </a:p>
        </p:txBody>
      </p:sp>
      <p:sp>
        <p:nvSpPr>
          <p:cNvPr id="29" name="论证逻辑标题"/>
          <p:cNvSpPr txBox="1"/>
          <p:nvPr/>
        </p:nvSpPr>
        <p:spPr>
          <a:xfrm>
            <a:off x="548640" y="4251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报告的论证逻辑</a:t>
            </a:r>
            <a:endParaRPr lang="en-US" sz="1500" dirty="0"/>
          </a:p>
        </p:txBody>
      </p:sp>
      <p:sp>
        <p:nvSpPr>
          <p:cNvPr id="30" name="论证1"/>
          <p:cNvSpPr/>
          <p:nvPr/>
        </p:nvSpPr>
        <p:spPr>
          <a:xfrm>
            <a:off x="548640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论证文字1"/>
          <p:cNvSpPr txBox="1"/>
          <p:nvPr/>
        </p:nvSpPr>
        <p:spPr>
          <a:xfrm>
            <a:off x="548640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用户日益依赖 AI</a:t>
            </a:r>
            <a:endParaRPr lang="en-US" sz="1400" dirty="0"/>
          </a:p>
        </p:txBody>
      </p:sp>
      <p:sp>
        <p:nvSpPr>
          <p:cNvPr id="32" name="箭头1"/>
          <p:cNvSpPr txBox="1"/>
          <p:nvPr/>
        </p:nvSpPr>
        <p:spPr>
          <a:xfrm>
            <a:off x="3017520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3" name="论证2"/>
          <p:cNvSpPr/>
          <p:nvPr/>
        </p:nvSpPr>
        <p:spPr>
          <a:xfrm>
            <a:off x="3410712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论证文字2"/>
          <p:cNvSpPr txBox="1"/>
          <p:nvPr/>
        </p:nvSpPr>
        <p:spPr>
          <a:xfrm>
            <a:off x="3410712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但对 AI 信任不足</a:t>
            </a:r>
            <a:endParaRPr lang="en-US" sz="1400" dirty="0"/>
          </a:p>
        </p:txBody>
      </p:sp>
      <p:sp>
        <p:nvSpPr>
          <p:cNvPr id="35" name="箭头2"/>
          <p:cNvSpPr txBox="1"/>
          <p:nvPr/>
        </p:nvSpPr>
        <p:spPr>
          <a:xfrm>
            <a:off x="5879592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6" name="论证3"/>
          <p:cNvSpPr/>
          <p:nvPr/>
        </p:nvSpPr>
        <p:spPr>
          <a:xfrm>
            <a:off x="6272784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7" name="论证文字3"/>
          <p:cNvSpPr txBox="1"/>
          <p:nvPr/>
        </p:nvSpPr>
        <p:spPr>
          <a:xfrm>
            <a:off x="6272784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检索困难导致退订</a:t>
            </a:r>
            <a:endParaRPr lang="en-US" sz="1400" dirty="0"/>
          </a:p>
        </p:txBody>
      </p:sp>
      <p:sp>
        <p:nvSpPr>
          <p:cNvPr id="38" name="箭头3"/>
          <p:cNvSpPr txBox="1"/>
          <p:nvPr/>
        </p:nvSpPr>
        <p:spPr>
          <a:xfrm>
            <a:off x="8741664" y="4709160"/>
            <a:ext cx="3931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9" name="论证4"/>
          <p:cNvSpPr/>
          <p:nvPr/>
        </p:nvSpPr>
        <p:spPr>
          <a:xfrm>
            <a:off x="9134856" y="4709160"/>
            <a:ext cx="2468880" cy="7315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论证文字4"/>
          <p:cNvSpPr txBox="1"/>
          <p:nvPr/>
        </p:nvSpPr>
        <p:spPr>
          <a:xfrm>
            <a:off x="9134856" y="47091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 须接入可信数据</a:t>
            </a:r>
            <a:endParaRPr lang="en-US" sz="1400" dirty="0"/>
          </a:p>
        </p:txBody>
      </p:sp>
      <p:sp>
        <p:nvSpPr>
          <p:cNvPr id="41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报告正文与图表。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四、方法评价：四个分析维度</a:t>
            </a:r>
            <a:endParaRPr lang="en-US" sz="3000" dirty="0"/>
          </a:p>
        </p:txBody>
      </p:sp>
      <p:sp>
        <p:nvSpPr>
          <p:cNvPr id="3" name="框架引言"/>
          <p:cNvSpPr txBox="1"/>
          <p:nvPr/>
        </p:nvSpPr>
        <p:spPr>
          <a:xfrm>
            <a:off x="731520" y="1463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参照课上春晚满意度调查案例（央视 81.6% 与新浪网 11.5%）：调查对象、研究总体、调查时间与研究方法不同，结论必然不同。</a:t>
            </a:r>
            <a:endParaRPr lang="en-US" sz="1600" dirty="0"/>
          </a:p>
        </p:txBody>
      </p:sp>
      <p:sp>
        <p:nvSpPr>
          <p:cNvPr id="4" name="维度卡1"/>
          <p:cNvSpPr/>
          <p:nvPr/>
        </p:nvSpPr>
        <p:spPr>
          <a:xfrm>
            <a:off x="731520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图标底"/>
          <p:cNvSpPr/>
          <p:nvPr/>
        </p:nvSpPr>
        <p:spPr>
          <a:xfrm>
            <a:off x="1005840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960370"/>
            <a:ext cx="342900" cy="342900"/>
          </a:xfrm>
          <a:prstGeom prst="rect">
            <a:avLst/>
          </a:prstGeom>
        </p:spPr>
      </p:pic>
      <p:sp>
        <p:nvSpPr>
          <p:cNvPr id="7" name="维度名1"/>
          <p:cNvSpPr txBox="1"/>
          <p:nvPr/>
        </p:nvSpPr>
        <p:spPr>
          <a:xfrm>
            <a:off x="1005840" y="3611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维度一 · 调查对象</a:t>
            </a:r>
            <a:endParaRPr lang="en-US" sz="1700" dirty="0"/>
          </a:p>
        </p:txBody>
      </p:sp>
      <p:sp>
        <p:nvSpPr>
          <p:cNvPr id="8" name="维度问题1"/>
          <p:cNvSpPr txBox="1"/>
          <p:nvPr/>
        </p:nvSpPr>
        <p:spPr>
          <a:xfrm>
            <a:off x="1005840" y="4114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样本为 AI 用户，结论却表述为“美国人”</a:t>
            </a:r>
            <a:endParaRPr lang="en-US" sz="1500" dirty="0"/>
          </a:p>
        </p:txBody>
      </p:sp>
      <p:sp>
        <p:nvSpPr>
          <p:cNvPr id="9" name="维度卡2"/>
          <p:cNvSpPr/>
          <p:nvPr/>
        </p:nvSpPr>
        <p:spPr>
          <a:xfrm>
            <a:off x="3456432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图标底"/>
          <p:cNvSpPr/>
          <p:nvPr/>
        </p:nvSpPr>
        <p:spPr>
          <a:xfrm>
            <a:off x="3730752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202" y="2960370"/>
            <a:ext cx="342900" cy="342900"/>
          </a:xfrm>
          <a:prstGeom prst="rect">
            <a:avLst/>
          </a:prstGeom>
        </p:spPr>
      </p:pic>
      <p:sp>
        <p:nvSpPr>
          <p:cNvPr id="12" name="维度名2"/>
          <p:cNvSpPr txBox="1"/>
          <p:nvPr/>
        </p:nvSpPr>
        <p:spPr>
          <a:xfrm>
            <a:off x="3730752" y="3611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维度二 · 研究总体</a:t>
            </a:r>
            <a:endParaRPr lang="en-US" sz="1700" dirty="0"/>
          </a:p>
        </p:txBody>
      </p:sp>
      <p:sp>
        <p:nvSpPr>
          <p:cNvPr id="13" name="维度问题2"/>
          <p:cNvSpPr txBox="1"/>
          <p:nvPr/>
        </p:nvSpPr>
        <p:spPr>
          <a:xfrm>
            <a:off x="3730752" y="4114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六国均值被用于美国语境</a:t>
            </a:r>
            <a:endParaRPr lang="en-US" sz="1500" dirty="0"/>
          </a:p>
        </p:txBody>
      </p:sp>
      <p:sp>
        <p:nvSpPr>
          <p:cNvPr id="14" name="维度卡3"/>
          <p:cNvSpPr/>
          <p:nvPr/>
        </p:nvSpPr>
        <p:spPr>
          <a:xfrm>
            <a:off x="6181344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图标底"/>
          <p:cNvSpPr/>
          <p:nvPr/>
        </p:nvSpPr>
        <p:spPr>
          <a:xfrm>
            <a:off x="6455664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6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114" y="2960370"/>
            <a:ext cx="342900" cy="342900"/>
          </a:xfrm>
          <a:prstGeom prst="rect">
            <a:avLst/>
          </a:prstGeom>
        </p:spPr>
      </p:pic>
      <p:sp>
        <p:nvSpPr>
          <p:cNvPr id="17" name="维度名3"/>
          <p:cNvSpPr txBox="1"/>
          <p:nvPr/>
        </p:nvSpPr>
        <p:spPr>
          <a:xfrm>
            <a:off x="6455664" y="3611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维度三 · 调查时间</a:t>
            </a:r>
            <a:endParaRPr lang="en-US" sz="1700" dirty="0"/>
          </a:p>
        </p:txBody>
      </p:sp>
      <p:sp>
        <p:nvSpPr>
          <p:cNvPr id="18" name="维度问题3"/>
          <p:cNvSpPr txBox="1"/>
          <p:nvPr/>
        </p:nvSpPr>
        <p:spPr>
          <a:xfrm>
            <a:off x="6455664" y="4114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跨调查、跨时间比较，口径不一致</a:t>
            </a:r>
            <a:endParaRPr lang="en-US" sz="1500" dirty="0"/>
          </a:p>
        </p:txBody>
      </p:sp>
      <p:sp>
        <p:nvSpPr>
          <p:cNvPr id="19" name="维度卡4"/>
          <p:cNvSpPr/>
          <p:nvPr/>
        </p:nvSpPr>
        <p:spPr>
          <a:xfrm>
            <a:off x="8906256" y="2514600"/>
            <a:ext cx="2542032" cy="2743200"/>
          </a:xfrm>
          <a:prstGeom prst="roundRect">
            <a:avLst>
              <a:gd name="adj" fmla="val 431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图标底"/>
          <p:cNvSpPr/>
          <p:nvPr/>
        </p:nvSpPr>
        <p:spPr>
          <a:xfrm>
            <a:off x="9180576" y="278892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图标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026" y="2960370"/>
            <a:ext cx="342900" cy="342900"/>
          </a:xfrm>
          <a:prstGeom prst="rect">
            <a:avLst/>
          </a:prstGeom>
        </p:spPr>
      </p:pic>
      <p:sp>
        <p:nvSpPr>
          <p:cNvPr id="22" name="维度名4"/>
          <p:cNvSpPr txBox="1"/>
          <p:nvPr/>
        </p:nvSpPr>
        <p:spPr>
          <a:xfrm>
            <a:off x="9180576" y="36118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维度四 · 研究方法</a:t>
            </a:r>
            <a:endParaRPr lang="en-US" sz="1700" dirty="0"/>
          </a:p>
        </p:txBody>
      </p:sp>
      <p:sp>
        <p:nvSpPr>
          <p:cNvPr id="23" name="维度问题4"/>
          <p:cNvSpPr txBox="1"/>
          <p:nvPr/>
        </p:nvSpPr>
        <p:spPr>
          <a:xfrm>
            <a:off x="9180576" y="4114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异质数据难以支撑因果结论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维度一 · 调查对象：样本代表性存疑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总体圈1"/>
          <p:cNvSpPr/>
          <p:nvPr/>
        </p:nvSpPr>
        <p:spPr>
          <a:xfrm>
            <a:off x="548640" y="137160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总体标签1"/>
          <p:cNvSpPr txBox="1"/>
          <p:nvPr/>
        </p:nvSpPr>
        <p:spPr>
          <a:xfrm>
            <a:off x="548640" y="14813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美国人口</a:t>
            </a:r>
            <a:endParaRPr lang="en-US" sz="1300" dirty="0"/>
          </a:p>
        </p:txBody>
      </p:sp>
      <p:sp>
        <p:nvSpPr>
          <p:cNvPr id="15" name="总体圈2"/>
          <p:cNvSpPr/>
          <p:nvPr/>
        </p:nvSpPr>
        <p:spPr>
          <a:xfrm>
            <a:off x="960120" y="201168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6" name="总体标签2"/>
          <p:cNvSpPr txBox="1"/>
          <p:nvPr/>
        </p:nvSpPr>
        <p:spPr>
          <a:xfrm>
            <a:off x="960120" y="21214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互联网用户</a:t>
            </a:r>
            <a:endParaRPr lang="en-US" sz="1300" dirty="0"/>
          </a:p>
        </p:txBody>
      </p:sp>
      <p:sp>
        <p:nvSpPr>
          <p:cNvPr id="17" name="总体圈3"/>
          <p:cNvSpPr/>
          <p:nvPr/>
        </p:nvSpPr>
        <p:spPr>
          <a:xfrm>
            <a:off x="1371600" y="2651760"/>
            <a:ext cx="2743200" cy="2743200"/>
          </a:xfrm>
          <a:prstGeom prst="ellipse">
            <a:avLst/>
          </a:prstGeom>
          <a:solidFill>
            <a:srgbClr val="A99BE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总体标签3"/>
          <p:cNvSpPr txBox="1"/>
          <p:nvPr/>
        </p:nvSpPr>
        <p:spPr>
          <a:xfrm>
            <a:off x="1371600" y="2761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聊天机器人用户</a:t>
            </a:r>
            <a:endParaRPr lang="en-US" sz="1300" dirty="0"/>
          </a:p>
        </p:txBody>
      </p:sp>
      <p:sp>
        <p:nvSpPr>
          <p:cNvPr id="19" name="总体圈4"/>
          <p:cNvSpPr/>
          <p:nvPr/>
        </p:nvSpPr>
        <p:spPr>
          <a:xfrm>
            <a:off x="1828800" y="3291840"/>
            <a:ext cx="1828800" cy="18288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0" name="样本标签"/>
          <p:cNvSpPr txBox="1"/>
          <p:nvPr/>
        </p:nvSpPr>
        <p:spPr>
          <a:xfrm>
            <a:off x="1828800" y="3566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本次样本</a:t>
            </a:r>
            <a:endParaRPr lang="en-US" sz="1300" dirty="0"/>
          </a:p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300" dirty="0"/>
          </a:p>
        </p:txBody>
      </p:sp>
      <p:sp>
        <p:nvSpPr>
          <p:cNvPr id="21" name="对象要点1"/>
          <p:cNvSpPr txBox="1"/>
          <p:nvPr/>
        </p:nvSpPr>
        <p:spPr>
          <a:xfrm>
            <a:off x="5486400" y="14173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报告表述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调查对象为 AI 聊天机器人用户，正文多处将结论表述为“美国人”（Americans）。</a:t>
            </a:r>
            <a:endParaRPr lang="en-US" sz="1600" dirty="0"/>
          </a:p>
        </p:txBody>
      </p:sp>
      <p:sp>
        <p:nvSpPr>
          <p:cNvPr id="22" name="对象要点2"/>
          <p:cNvSpPr txBox="1"/>
          <p:nvPr/>
        </p:nvSpPr>
        <p:spPr>
          <a:xfrm>
            <a:off x="5486400" y="260604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“Alpha 世代”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该世代指 2010–2024 年出生人群，样本仅包含 13–14 岁受访者。</a:t>
            </a:r>
            <a:endParaRPr lang="en-US" sz="1600" dirty="0"/>
          </a:p>
        </p:txBody>
      </p:sp>
      <p:sp>
        <p:nvSpPr>
          <p:cNvPr id="23" name="对象要点3"/>
          <p:cNvSpPr txBox="1"/>
          <p:nvPr/>
        </p:nvSpPr>
        <p:spPr>
          <a:xfrm>
            <a:off x="5486400" y="379476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未公开信息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抽样框、是否为概率抽样、加权方法、应答率、各年龄组样本量。</a:t>
            </a:r>
            <a:endParaRPr lang="en-US" sz="1600" dirty="0"/>
          </a:p>
        </p:txBody>
      </p:sp>
      <p:sp>
        <p:nvSpPr>
          <p:cNvPr id="24" name="Durex卡"/>
          <p:cNvSpPr/>
          <p:nvPr/>
        </p:nvSpPr>
        <p:spPr>
          <a:xfrm>
            <a:off x="5486400" y="5074920"/>
            <a:ext cx="612648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Durex联系"/>
          <p:cNvSpPr txBox="1"/>
          <p:nvPr/>
        </p:nvSpPr>
        <p:spPr>
          <a:xfrm>
            <a:off x="5715000" y="50749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与课上 Durex 网络调查案例类似：网络样本能否反映总体结构？</a:t>
            </a:r>
            <a:endParaRPr lang="en-US" sz="1500" dirty="0"/>
          </a:p>
        </p:txBody>
      </p:sp>
      <p:sp>
        <p:nvSpPr>
          <p:cNvPr id="26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报告；尼尔森新闻稿原文：“Gen Alpha findings are based on respondents ages 13 and 14”。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维度二 · 研究总体：六国均值用于美国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graphicFrame>
        <p:nvGraphicFramePr>
          <p:cNvPr id="13" name="分国家寻找时长图" descr=""/>
          <p:cNvGraphicFramePr/>
          <p:nvPr/>
        </p:nvGraphicFramePr>
        <p:xfrm>
          <a:off x="548640" y="1325880"/>
          <a:ext cx="51206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口径卡1"/>
          <p:cNvSpPr/>
          <p:nvPr/>
        </p:nvSpPr>
        <p:spPr>
          <a:xfrm>
            <a:off x="6035040" y="137160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口径数字1"/>
          <p:cNvSpPr txBox="1"/>
          <p:nvPr/>
        </p:nvSpPr>
        <p:spPr>
          <a:xfrm>
            <a:off x="6263640" y="137160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14 分钟</a:t>
            </a:r>
            <a:endParaRPr lang="en-US" sz="2200" dirty="0"/>
          </a:p>
        </p:txBody>
      </p:sp>
      <p:sp>
        <p:nvSpPr>
          <p:cNvPr id="16" name="口径说明1"/>
          <p:cNvSpPr txBox="1"/>
          <p:nvPr/>
        </p:nvSpPr>
        <p:spPr>
          <a:xfrm>
            <a:off x="7680960" y="144475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来自 Gracenote 2025 年六国调查，为六国简单平均；美国受访者为 12 分钟。本报告将其置于描述美国收视情况的图表中。</a:t>
            </a:r>
            <a:endParaRPr lang="en-US" sz="1400" dirty="0"/>
          </a:p>
        </p:txBody>
      </p:sp>
      <p:sp>
        <p:nvSpPr>
          <p:cNvPr id="17" name="口径卡2"/>
          <p:cNvSpPr/>
          <p:nvPr/>
        </p:nvSpPr>
        <p:spPr>
          <a:xfrm>
            <a:off x="6035040" y="288036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口径数字2"/>
          <p:cNvSpPr txBox="1"/>
          <p:nvPr/>
        </p:nvSpPr>
        <p:spPr>
          <a:xfrm>
            <a:off x="6263640" y="288036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54%</a:t>
            </a:r>
            <a:endParaRPr lang="en-US" sz="2200" dirty="0"/>
          </a:p>
        </p:txBody>
      </p:sp>
      <p:sp>
        <p:nvSpPr>
          <p:cNvPr id="19" name="口径说明2"/>
          <p:cNvSpPr txBox="1"/>
          <p:nvPr/>
        </p:nvSpPr>
        <p:spPr>
          <a:xfrm>
            <a:off x="7680960" y="295351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“18–34 岁可能退订”同为六国数据；报告所称“50% 的美国观众考虑退订”，原始报告中仅见六国均值 49%。</a:t>
            </a:r>
            <a:endParaRPr lang="en-US" sz="1400" dirty="0"/>
          </a:p>
        </p:txBody>
      </p:sp>
      <p:sp>
        <p:nvSpPr>
          <p:cNvPr id="20" name="口径卡3"/>
          <p:cNvSpPr/>
          <p:nvPr/>
        </p:nvSpPr>
        <p:spPr>
          <a:xfrm>
            <a:off x="6035040" y="4389120"/>
            <a:ext cx="55778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口径数字3"/>
          <p:cNvSpPr txBox="1"/>
          <p:nvPr/>
        </p:nvSpPr>
        <p:spPr>
          <a:xfrm>
            <a:off x="6263640" y="438912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32%</a:t>
            </a:r>
            <a:endParaRPr lang="en-US" sz="2200" dirty="0"/>
          </a:p>
        </p:txBody>
      </p:sp>
      <p:sp>
        <p:nvSpPr>
          <p:cNvPr id="22" name="口径说明3"/>
          <p:cNvSpPr txBox="1"/>
          <p:nvPr/>
        </p:nvSpPr>
        <p:spPr>
          <a:xfrm>
            <a:off x="7680960" y="4462272"/>
            <a:ext cx="3794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同一题项，报告一处为 32%（六国均值），另一处表述为“34% 的美国人”。</a:t>
            </a:r>
            <a:endParaRPr lang="en-US" sz="1400" dirty="0"/>
          </a:p>
        </p:txBody>
      </p:sp>
      <p:sp>
        <p:nvSpPr>
          <p:cNvPr id="23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报告；Gracenote 2025 年报告《State of Play》分国家、分年龄图表（每国 500 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维度三 · 调查时间：比较口径不一致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报告原文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报告原文：皮尤研究中心 2025 年秋季发现 30% 的青少年每日使用 AI 聊天机器人，“仅数月之后”Gracenote 调查显示这一比例超过一半，表明使用频率“正在加速”。</a:t>
            </a:r>
            <a:endParaRPr lang="en-US" sz="1500" dirty="0"/>
          </a:p>
        </p:txBody>
      </p:sp>
      <p:sp>
        <p:nvSpPr>
          <p:cNvPr id="14" name="对比卡1"/>
          <p:cNvSpPr/>
          <p:nvPr/>
        </p:nvSpPr>
        <p:spPr>
          <a:xfrm>
            <a:off x="548640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对比机构1"/>
          <p:cNvSpPr txBox="1"/>
          <p:nvPr/>
        </p:nvSpPr>
        <p:spPr>
          <a:xfrm>
            <a:off x="822960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皮尤研究中心（Pew Research Center）</a:t>
            </a:r>
            <a:endParaRPr lang="en-US" sz="1600" dirty="0"/>
          </a:p>
        </p:txBody>
      </p:sp>
      <p:sp>
        <p:nvSpPr>
          <p:cNvPr id="16" name="对比数字1"/>
          <p:cNvSpPr txBox="1"/>
          <p:nvPr/>
        </p:nvSpPr>
        <p:spPr>
          <a:xfrm>
            <a:off x="822960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</a:t>
            </a:r>
            <a:endParaRPr lang="en-US" sz="5400" dirty="0"/>
          </a:p>
        </p:txBody>
      </p:sp>
      <p:sp>
        <p:nvSpPr>
          <p:cNvPr id="17" name="对比说明1"/>
          <p:cNvSpPr txBox="1"/>
          <p:nvPr/>
        </p:nvSpPr>
        <p:spPr>
          <a:xfrm>
            <a:off x="822960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分母：全体 13–14 岁青少年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概率样本，经加权；2025 年 9–10 月</a:t>
            </a:r>
            <a:endParaRPr lang="en-US" sz="1300" dirty="0"/>
          </a:p>
        </p:txBody>
      </p:sp>
      <p:sp>
        <p:nvSpPr>
          <p:cNvPr id="18" name="对比卡2"/>
          <p:cNvSpPr/>
          <p:nvPr/>
        </p:nvSpPr>
        <p:spPr>
          <a:xfrm>
            <a:off x="6611112" y="2057400"/>
            <a:ext cx="502920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对比机构2"/>
          <p:cNvSpPr txBox="1"/>
          <p:nvPr/>
        </p:nvSpPr>
        <p:spPr>
          <a:xfrm>
            <a:off x="6885432" y="21945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Gracenote（本报告）</a:t>
            </a:r>
            <a:endParaRPr lang="en-US" sz="1600" dirty="0"/>
          </a:p>
        </p:txBody>
      </p:sp>
      <p:sp>
        <p:nvSpPr>
          <p:cNvPr id="20" name="对比数字2"/>
          <p:cNvSpPr txBox="1"/>
          <p:nvPr/>
        </p:nvSpPr>
        <p:spPr>
          <a:xfrm>
            <a:off x="6885432" y="26060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13–14 岁每日使用</a:t>
            </a:r>
            <a:endParaRPr lang="en-US" sz="5400" dirty="0"/>
          </a:p>
        </p:txBody>
      </p:sp>
      <p:sp>
        <p:nvSpPr>
          <p:cNvPr id="21" name="对比说明2"/>
          <p:cNvSpPr txBox="1"/>
          <p:nvPr/>
        </p:nvSpPr>
        <p:spPr>
          <a:xfrm>
            <a:off x="6885432" y="35661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分母：13–14 岁 AI 聊天机器人用户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线上样本，加权方法未公开；2026 年 1–2 月</a:t>
            </a:r>
            <a:endParaRPr lang="en-US" sz="1300" dirty="0"/>
          </a:p>
        </p:txBody>
      </p:sp>
      <p:sp>
        <p:nvSpPr>
          <p:cNvPr id="22" name="不等号"/>
          <p:cNvSpPr txBox="1"/>
          <p:nvPr/>
        </p:nvSpPr>
        <p:spPr>
          <a:xfrm>
            <a:off x="5577840" y="2057400"/>
            <a:ext cx="103327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≠</a:t>
            </a:r>
            <a:endParaRPr lang="en-US" sz="4800" dirty="0"/>
          </a:p>
        </p:txBody>
      </p:sp>
      <p:sp>
        <p:nvSpPr>
          <p:cNvPr id="23" name="统一口径条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统一口径结论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统一为“使用者”口径后：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皮尤 44%，Gracenote 54%，差距约 10 个百分点；其余差异还可能源于年龄范围、抽样方法与调查时间，不能据此推断使用频率上升。</a:t>
            </a:r>
            <a:endParaRPr lang="en-US" sz="1500" dirty="0"/>
          </a:p>
        </p:txBody>
      </p:sp>
      <p:sp>
        <p:nvSpPr>
          <p:cNvPr id="25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报告；皮尤《Teens, Social Media and AI Chatbots 2025》数据表（全体每日 28%，13–14 岁 24%，使用者中 44%）。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维度四 · 研究方法：因果推断依据不足</a:t>
            </a:r>
            <a:endParaRPr lang="en-US" sz="2800" dirty="0"/>
          </a:p>
        </p:txBody>
      </p:sp>
      <p:sp>
        <p:nvSpPr>
          <p:cNvPr id="3" name="进度1"/>
          <p:cNvSpPr/>
          <p:nvPr/>
        </p:nvSpPr>
        <p:spPr>
          <a:xfrm>
            <a:off x="8165592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进度文字1"/>
          <p:cNvSpPr txBox="1"/>
          <p:nvPr/>
        </p:nvSpPr>
        <p:spPr>
          <a:xfrm>
            <a:off x="8165592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背景</a:t>
            </a:r>
            <a:endParaRPr lang="en-US" sz="1100" dirty="0"/>
          </a:p>
        </p:txBody>
      </p:sp>
      <p:sp>
        <p:nvSpPr>
          <p:cNvPr id="5" name="进度2"/>
          <p:cNvSpPr/>
          <p:nvPr/>
        </p:nvSpPr>
        <p:spPr>
          <a:xfrm>
            <a:off x="8869680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进度文字2"/>
          <p:cNvSpPr txBox="1"/>
          <p:nvPr/>
        </p:nvSpPr>
        <p:spPr>
          <a:xfrm>
            <a:off x="8869680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设计</a:t>
            </a:r>
            <a:endParaRPr lang="en-US" sz="1100" dirty="0"/>
          </a:p>
        </p:txBody>
      </p:sp>
      <p:sp>
        <p:nvSpPr>
          <p:cNvPr id="7" name="进度3"/>
          <p:cNvSpPr/>
          <p:nvPr/>
        </p:nvSpPr>
        <p:spPr>
          <a:xfrm>
            <a:off x="9573768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进度文字3"/>
          <p:cNvSpPr txBox="1"/>
          <p:nvPr/>
        </p:nvSpPr>
        <p:spPr>
          <a:xfrm>
            <a:off x="9573768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结论</a:t>
            </a:r>
            <a:endParaRPr lang="en-US" sz="1100" dirty="0"/>
          </a:p>
        </p:txBody>
      </p:sp>
      <p:sp>
        <p:nvSpPr>
          <p:cNvPr id="9" name="进度4"/>
          <p:cNvSpPr/>
          <p:nvPr/>
        </p:nvSpPr>
        <p:spPr>
          <a:xfrm>
            <a:off x="10277856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进度文字4"/>
          <p:cNvSpPr txBox="1"/>
          <p:nvPr/>
        </p:nvSpPr>
        <p:spPr>
          <a:xfrm>
            <a:off x="10277856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评价</a:t>
            </a:r>
            <a:endParaRPr lang="en-US" sz="1100" dirty="0"/>
          </a:p>
        </p:txBody>
      </p:sp>
      <p:sp>
        <p:nvSpPr>
          <p:cNvPr id="11" name="进度5"/>
          <p:cNvSpPr/>
          <p:nvPr/>
        </p:nvSpPr>
        <p:spPr>
          <a:xfrm>
            <a:off x="10981944" y="566928"/>
            <a:ext cx="65836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进度文字5"/>
          <p:cNvSpPr txBox="1"/>
          <p:nvPr/>
        </p:nvSpPr>
        <p:spPr>
          <a:xfrm>
            <a:off x="10981944" y="5669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总结</a:t>
            </a:r>
            <a:endParaRPr lang="en-US" sz="1100" dirty="0"/>
          </a:p>
        </p:txBody>
      </p:sp>
      <p:sp>
        <p:nvSpPr>
          <p:cNvPr id="13" name="数据卡1"/>
          <p:cNvSpPr/>
          <p:nvPr/>
        </p:nvSpPr>
        <p:spPr>
          <a:xfrm>
            <a:off x="548640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1"/>
          <p:cNvSpPr txBox="1"/>
          <p:nvPr/>
        </p:nvSpPr>
        <p:spPr>
          <a:xfrm>
            <a:off x="777240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意向 · 问卷调查</a:t>
            </a:r>
            <a:endParaRPr lang="en-US" sz="1400" dirty="0"/>
          </a:p>
        </p:txBody>
      </p:sp>
      <p:sp>
        <p:nvSpPr>
          <p:cNvPr id="15" name="数据数字1"/>
          <p:cNvSpPr txBox="1"/>
          <p:nvPr/>
        </p:nvSpPr>
        <p:spPr>
          <a:xfrm>
            <a:off x="777240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54%</a:t>
            </a:r>
            <a:endParaRPr lang="en-US" sz="3200" dirty="0"/>
          </a:p>
        </p:txBody>
      </p:sp>
      <p:sp>
        <p:nvSpPr>
          <p:cNvPr id="16" name="数据说明1"/>
          <p:cNvSpPr txBox="1"/>
          <p:nvPr/>
        </p:nvSpPr>
        <p:spPr>
          <a:xfrm>
            <a:off x="777240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18–34 岁受访者表示可能退订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六国数据</a:t>
            </a:r>
            <a:endParaRPr lang="en-US" sz="1400" dirty="0"/>
          </a:p>
        </p:txBody>
      </p:sp>
      <p:sp>
        <p:nvSpPr>
          <p:cNvPr id="17" name="箭头1"/>
          <p:cNvSpPr txBox="1"/>
          <p:nvPr/>
        </p:nvSpPr>
        <p:spPr>
          <a:xfrm>
            <a:off x="3063240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数据卡2"/>
          <p:cNvSpPr/>
          <p:nvPr/>
        </p:nvSpPr>
        <p:spPr>
          <a:xfrm>
            <a:off x="3401568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数据类型2"/>
          <p:cNvSpPr txBox="1"/>
          <p:nvPr/>
        </p:nvSpPr>
        <p:spPr>
          <a:xfrm>
            <a:off x="3630168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行为 · 行业统计</a:t>
            </a:r>
            <a:endParaRPr lang="en-US" sz="1400" dirty="0"/>
          </a:p>
        </p:txBody>
      </p:sp>
      <p:sp>
        <p:nvSpPr>
          <p:cNvPr id="20" name="数据数字2"/>
          <p:cNvSpPr txBox="1"/>
          <p:nvPr/>
        </p:nvSpPr>
        <p:spPr>
          <a:xfrm>
            <a:off x="3630168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5.5%</a:t>
            </a:r>
            <a:endParaRPr lang="en-US" sz="3200" dirty="0"/>
          </a:p>
        </p:txBody>
      </p:sp>
      <p:sp>
        <p:nvSpPr>
          <p:cNvPr id="21" name="数据说明2"/>
          <p:cNvSpPr txBox="1"/>
          <p:nvPr/>
        </p:nvSpPr>
        <p:spPr>
          <a:xfrm>
            <a:off x="3630168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流媒体平台月度退订率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计算方法未公开；另一机构测得 2019 年已为 4.1%</a:t>
            </a:r>
            <a:endParaRPr lang="en-US" sz="1400" dirty="0"/>
          </a:p>
        </p:txBody>
      </p:sp>
      <p:sp>
        <p:nvSpPr>
          <p:cNvPr id="22" name="箭头2"/>
          <p:cNvSpPr txBox="1"/>
          <p:nvPr/>
        </p:nvSpPr>
        <p:spPr>
          <a:xfrm>
            <a:off x="5916168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数据卡3"/>
          <p:cNvSpPr/>
          <p:nvPr/>
        </p:nvSpPr>
        <p:spPr>
          <a:xfrm>
            <a:off x="6254496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数据类型3"/>
          <p:cNvSpPr txBox="1"/>
          <p:nvPr/>
        </p:nvSpPr>
        <p:spPr>
          <a:xfrm>
            <a:off x="6483096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预测 · 普华永道</a:t>
            </a:r>
            <a:endParaRPr lang="en-US" sz="1400" dirty="0"/>
          </a:p>
        </p:txBody>
      </p:sp>
      <p:sp>
        <p:nvSpPr>
          <p:cNvPr id="25" name="数据数字3"/>
          <p:cNvSpPr txBox="1"/>
          <p:nvPr/>
        </p:nvSpPr>
        <p:spPr>
          <a:xfrm>
            <a:off x="6483096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3,185 亿美元</a:t>
            </a:r>
            <a:endParaRPr lang="en-US" sz="2200" dirty="0"/>
          </a:p>
        </p:txBody>
      </p:sp>
      <p:sp>
        <p:nvSpPr>
          <p:cNvPr id="26" name="数据说明3"/>
          <p:cNvSpPr txBox="1"/>
          <p:nvPr/>
        </p:nvSpPr>
        <p:spPr>
          <a:xfrm>
            <a:off x="6483096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网络视频与付费电视 2029 年消费支出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全球数据，非美国数据</a:t>
            </a:r>
            <a:endParaRPr lang="en-US" sz="1400" dirty="0"/>
          </a:p>
        </p:txBody>
      </p:sp>
      <p:sp>
        <p:nvSpPr>
          <p:cNvPr id="27" name="箭头3"/>
          <p:cNvSpPr txBox="1"/>
          <p:nvPr/>
        </p:nvSpPr>
        <p:spPr>
          <a:xfrm>
            <a:off x="8769096" y="1371600"/>
            <a:ext cx="33832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数据卡4"/>
          <p:cNvSpPr/>
          <p:nvPr/>
        </p:nvSpPr>
        <p:spPr>
          <a:xfrm>
            <a:off x="9107424" y="137160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数据类型4"/>
          <p:cNvSpPr txBox="1"/>
          <p:nvPr/>
        </p:nvSpPr>
        <p:spPr>
          <a:xfrm>
            <a:off x="9336024" y="15087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测试 · AI 回答</a:t>
            </a:r>
            <a:endParaRPr lang="en-US" sz="1400" dirty="0"/>
          </a:p>
        </p:txBody>
      </p:sp>
      <p:sp>
        <p:nvSpPr>
          <p:cNvPr id="30" name="数据数字4"/>
          <p:cNvSpPr txBox="1"/>
          <p:nvPr/>
        </p:nvSpPr>
        <p:spPr>
          <a:xfrm>
            <a:off x="9336024" y="18745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约 2/3</a:t>
            </a:r>
            <a:endParaRPr lang="en-US" sz="3200" dirty="0"/>
          </a:p>
        </p:txBody>
      </p:sp>
      <p:sp>
        <p:nvSpPr>
          <p:cNvPr id="31" name="数据说明4"/>
          <p:cNvSpPr txBox="1"/>
          <p:nvPr/>
        </p:nvSpPr>
        <p:spPr>
          <a:xfrm>
            <a:off x="9336024" y="2560320"/>
            <a:ext cx="2148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AI 正确回答节目播出平台的比例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六国合并：美英德约 80%，法意西低于 30%</a:t>
            </a:r>
            <a:endParaRPr lang="en-US" sz="1400" dirty="0"/>
          </a:p>
        </p:txBody>
      </p:sp>
      <p:sp>
        <p:nvSpPr>
          <p:cNvPr id="32" name="方法结论卡1"/>
          <p:cNvSpPr/>
          <p:nvPr/>
        </p:nvSpPr>
        <p:spPr>
          <a:xfrm>
            <a:off x="54864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方法结论1"/>
          <p:cNvSpPr txBox="1"/>
          <p:nvPr/>
        </p:nvSpPr>
        <p:spPr>
          <a:xfrm>
            <a:off x="82296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因果推断不成立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四类数据的对象与性质不同，且缺乏追踪设计或实验设计，不足以证明“检索困难导致退订”；报告提出的方案（AI 接入行业数据库）亦未经检验。</a:t>
            </a:r>
            <a:endParaRPr lang="en-US" sz="1600" dirty="0"/>
          </a:p>
        </p:txBody>
      </p:sp>
      <p:sp>
        <p:nvSpPr>
          <p:cNvPr id="34" name="方法结论卡2"/>
          <p:cNvSpPr/>
          <p:nvPr/>
        </p:nvSpPr>
        <p:spPr>
          <a:xfrm>
            <a:off x="6172200" y="4114800"/>
            <a:ext cx="54406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方法结论2"/>
          <p:cNvSpPr txBox="1"/>
          <p:nvPr/>
        </p:nvSpPr>
        <p:spPr>
          <a:xfrm>
            <a:off x="6446520" y="4206240"/>
            <a:ext cx="49377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引用存在放大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南加州大学研究中的 38% 仅为单一知识库、单一自动指标的结果；德勤 41% 的分母为全体消费者，报告表述为“订户”。</a:t>
            </a:r>
            <a:endParaRPr lang="en-US" sz="1600" dirty="0"/>
          </a:p>
        </p:txBody>
      </p:sp>
      <p:sp>
        <p:nvSpPr>
          <p:cNvPr id="36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报告；普华永道、Veed Analytics、南加州大学（EMNLP 2021）、德勤原文；Antenna 数据经 MediaPost 转述。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029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五、总结与启示</a:t>
            </a:r>
            <a:endParaRPr lang="en-US" sz="3000" dirty="0"/>
          </a:p>
        </p:txBody>
      </p:sp>
      <p:sp>
        <p:nvSpPr>
          <p:cNvPr id="3" name="研究价值卡"/>
          <p:cNvSpPr/>
          <p:nvPr/>
        </p:nvSpPr>
        <p:spPr>
          <a:xfrm>
            <a:off x="731520" y="1508760"/>
            <a:ext cx="3429000" cy="420624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研究价值标题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研究价值</a:t>
            </a:r>
            <a:endParaRPr lang="en-US" sz="1800" dirty="0"/>
          </a:p>
        </p:txBody>
      </p:sp>
      <p:sp>
        <p:nvSpPr>
          <p:cNvPr id="5" name="图标底"/>
          <p:cNvSpPr/>
          <p:nvPr/>
        </p:nvSpPr>
        <p:spPr>
          <a:xfrm>
            <a:off x="1005840" y="2331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228600" cy="228600"/>
          </a:xfrm>
          <a:prstGeom prst="rect">
            <a:avLst/>
          </a:prstGeom>
        </p:spPr>
      </p:pic>
      <p:sp>
        <p:nvSpPr>
          <p:cNvPr id="7" name="研究价值1"/>
          <p:cNvSpPr txBox="1"/>
          <p:nvPr/>
        </p:nvSpPr>
        <p:spPr>
          <a:xfrm>
            <a:off x="1600200" y="2286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公开样本量、调查时间与年龄范围</a:t>
            </a:r>
            <a:endParaRPr lang="en-US" sz="1500" dirty="0"/>
          </a:p>
        </p:txBody>
      </p:sp>
      <p:sp>
        <p:nvSpPr>
          <p:cNvPr id="8" name="图标底"/>
          <p:cNvSpPr/>
          <p:nvPr/>
        </p:nvSpPr>
        <p:spPr>
          <a:xfrm>
            <a:off x="1005840" y="33832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图标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3497580"/>
            <a:ext cx="228600" cy="228600"/>
          </a:xfrm>
          <a:prstGeom prst="rect">
            <a:avLst/>
          </a:prstGeom>
        </p:spPr>
      </p:pic>
      <p:sp>
        <p:nvSpPr>
          <p:cNvPr id="10" name="研究价值2"/>
          <p:cNvSpPr txBox="1"/>
          <p:nvPr/>
        </p:nvSpPr>
        <p:spPr>
          <a:xfrm>
            <a:off x="1600200" y="33375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图表均附读法说明与数据来源</a:t>
            </a:r>
            <a:endParaRPr lang="en-US" sz="1500" dirty="0"/>
          </a:p>
        </p:txBody>
      </p:sp>
      <p:sp>
        <p:nvSpPr>
          <p:cNvPr id="11" name="图标底"/>
          <p:cNvSpPr/>
          <p:nvPr/>
        </p:nvSpPr>
        <p:spPr>
          <a:xfrm>
            <a:off x="10058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图标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549140"/>
            <a:ext cx="228600" cy="228600"/>
          </a:xfrm>
          <a:prstGeom prst="rect">
            <a:avLst/>
          </a:prstGeom>
        </p:spPr>
      </p:pic>
      <p:sp>
        <p:nvSpPr>
          <p:cNvPr id="13" name="研究价值3"/>
          <p:cNvSpPr txBox="1"/>
          <p:nvPr/>
        </p:nvSpPr>
        <p:spPr>
          <a:xfrm>
            <a:off x="1600200" y="43891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图表数据经复核基本一致</a:t>
            </a:r>
            <a:endParaRPr lang="en-US" sz="1500" dirty="0"/>
          </a:p>
        </p:txBody>
      </p:sp>
      <p:sp>
        <p:nvSpPr>
          <p:cNvPr id="14" name="判断卡1"/>
          <p:cNvSpPr/>
          <p:nvPr/>
        </p:nvSpPr>
        <p:spPr>
          <a:xfrm>
            <a:off x="4389120" y="150876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判断1"/>
          <p:cNvSpPr txBox="1"/>
          <p:nvPr/>
        </p:nvSpPr>
        <p:spPr>
          <a:xfrm>
            <a:off x="4663440" y="164592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适用范围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可作为行业趋势的参考：年轻用户正以 AI 检索内容，但信任不足。</a:t>
            </a:r>
            <a:endParaRPr lang="en-US" sz="1800" dirty="0"/>
          </a:p>
        </p:txBody>
      </p:sp>
      <p:sp>
        <p:nvSpPr>
          <p:cNvPr id="16" name="判断卡2"/>
          <p:cNvSpPr/>
          <p:nvPr/>
        </p:nvSpPr>
        <p:spPr>
          <a:xfrm>
            <a:off x="4389120" y="365760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判断2"/>
          <p:cNvSpPr txBox="1"/>
          <p:nvPr/>
        </p:nvSpPr>
        <p:spPr>
          <a:xfrm>
            <a:off x="4663440" y="3794760"/>
            <a:ext cx="3063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使用限制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不宜作为美国人群的精确估计，也不构成“检索困难导致退订”的因果证据。</a:t>
            </a:r>
            <a:endParaRPr lang="en-US" sz="1800" dirty="0"/>
          </a:p>
        </p:txBody>
      </p:sp>
      <p:sp>
        <p:nvSpPr>
          <p:cNvPr id="18" name="讨论卡"/>
          <p:cNvSpPr/>
          <p:nvPr/>
        </p:nvSpPr>
        <p:spPr>
          <a:xfrm>
            <a:off x="8183880" y="1508760"/>
            <a:ext cx="3291840" cy="42062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讨论问题"/>
          <p:cNvSpPr txBox="1"/>
          <p:nvPr/>
        </p:nvSpPr>
        <p:spPr>
          <a:xfrm>
            <a:off x="8458200" y="1691640"/>
            <a:ext cx="2788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讨论问题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b="1" dirty="0">
                <a:solidFill>
                  <a:schemeClr val="tx1"/>
                </a:solidFill>
              </a:rPr>
              <a:t>如何设计调查，才能检验“检索困难导致退订”？</a:t>
            </a:r>
            <a:endParaRPr lang="en-US" sz="16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提示：可采用追踪调查，同时测量退订意向与实际退订行为。</a:t>
            </a:r>
            <a:endParaRPr lang="en-US" sz="1600" dirty="0"/>
          </a:p>
        </p:txBody>
      </p:sp>
      <p:sp>
        <p:nvSpPr>
          <p:cNvPr id="20" name="利益关系说明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注：报告主张与 Gracenote 主营业务直接相关，这构成审慎评估其方法的理由，但不能据此判定数据有误。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附录一：11 个数据来源的方法公开程度</a:t>
            </a:r>
            <a:endParaRPr lang="en-US" sz="2800" dirty="0"/>
          </a:p>
        </p:txBody>
      </p:sp>
      <p:sp>
        <p:nvSpPr>
          <p:cNvPr id="3" name="来源卡1"/>
          <p:cNvSpPr/>
          <p:nvPr/>
        </p:nvSpPr>
        <p:spPr>
          <a:xfrm>
            <a:off x="54864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状态点1"/>
          <p:cNvSpPr/>
          <p:nvPr/>
        </p:nvSpPr>
        <p:spPr>
          <a:xfrm>
            <a:off x="73152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来源类型1"/>
          <p:cNvSpPr txBox="1"/>
          <p:nvPr/>
        </p:nvSpPr>
        <p:spPr>
          <a:xfrm>
            <a:off x="100584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2026 AI 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AI 用户 · 4,003 人；抽样框、加权、应答率、各组样本量未公开</a:t>
            </a:r>
            <a:endParaRPr lang="en-US" sz="1400" dirty="0"/>
          </a:p>
        </p:txBody>
      </p:sp>
      <p:sp>
        <p:nvSpPr>
          <p:cNvPr id="7" name="来源卡2"/>
          <p:cNvSpPr/>
          <p:nvPr/>
        </p:nvSpPr>
        <p:spPr>
          <a:xfrm>
            <a:off x="336042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状态点2"/>
          <p:cNvSpPr/>
          <p:nvPr/>
        </p:nvSpPr>
        <p:spPr>
          <a:xfrm>
            <a:off x="3543300" y="15087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来源类型2"/>
          <p:cNvSpPr txBox="1"/>
          <p:nvPr/>
        </p:nvSpPr>
        <p:spPr>
          <a:xfrm>
            <a:off x="381762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10" name="来源说明2"/>
          <p:cNvSpPr txBox="1"/>
          <p:nvPr/>
        </p:nvSpPr>
        <p:spPr>
          <a:xfrm>
            <a:off x="354330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2025 流媒体调查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六国各 500 人；抽样框、加权、应答率未公开</a:t>
            </a:r>
            <a:endParaRPr lang="en-US" sz="1400" dirty="0"/>
          </a:p>
        </p:txBody>
      </p:sp>
      <p:sp>
        <p:nvSpPr>
          <p:cNvPr id="11" name="来源卡3"/>
          <p:cNvSpPr/>
          <p:nvPr/>
        </p:nvSpPr>
        <p:spPr>
          <a:xfrm>
            <a:off x="617220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状态点3"/>
          <p:cNvSpPr/>
          <p:nvPr/>
        </p:nvSpPr>
        <p:spPr>
          <a:xfrm>
            <a:off x="635508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来源类型3"/>
          <p:cNvSpPr txBox="1"/>
          <p:nvPr/>
        </p:nvSpPr>
        <p:spPr>
          <a:xfrm>
            <a:off x="662940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4" name="来源说明3"/>
          <p:cNvSpPr txBox="1"/>
          <p:nvPr/>
        </p:nvSpPr>
        <p:spPr>
          <a:xfrm>
            <a:off x="635508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皮尤研究中心青少年调查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概率样本 · 1,458 人 · 加权 · 误差 ±3.3 个百分点</a:t>
            </a:r>
            <a:endParaRPr lang="en-US" sz="1400" dirty="0"/>
          </a:p>
        </p:txBody>
      </p:sp>
      <p:sp>
        <p:nvSpPr>
          <p:cNvPr id="15" name="来源卡4"/>
          <p:cNvSpPr/>
          <p:nvPr/>
        </p:nvSpPr>
        <p:spPr>
          <a:xfrm>
            <a:off x="8983980" y="1325880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状态点4"/>
          <p:cNvSpPr/>
          <p:nvPr/>
        </p:nvSpPr>
        <p:spPr>
          <a:xfrm>
            <a:off x="9166860" y="15087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来源类型4"/>
          <p:cNvSpPr txBox="1"/>
          <p:nvPr/>
        </p:nvSpPr>
        <p:spPr>
          <a:xfrm>
            <a:off x="9441180" y="14356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问卷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18" name="来源说明4"/>
          <p:cNvSpPr txBox="1"/>
          <p:nvPr/>
        </p:nvSpPr>
        <p:spPr>
          <a:xfrm>
            <a:off x="9166860" y="178308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德勤数字媒体趋势调查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线上 · 美国 14 岁以上 3,595 人 · 按人口普查加权</a:t>
            </a:r>
            <a:endParaRPr lang="en-US" sz="1400" dirty="0"/>
          </a:p>
        </p:txBody>
      </p:sp>
      <p:sp>
        <p:nvSpPr>
          <p:cNvPr id="19" name="来源卡5"/>
          <p:cNvSpPr/>
          <p:nvPr/>
        </p:nvSpPr>
        <p:spPr>
          <a:xfrm>
            <a:off x="54864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状态点5"/>
          <p:cNvSpPr/>
          <p:nvPr/>
        </p:nvSpPr>
        <p:spPr>
          <a:xfrm>
            <a:off x="73152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来源类型5"/>
          <p:cNvSpPr txBox="1"/>
          <p:nvPr/>
        </p:nvSpPr>
        <p:spPr>
          <a:xfrm>
            <a:off x="100584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2" name="来源说明5"/>
          <p:cNvSpPr txBox="1"/>
          <p:nvPr/>
        </p:nvSpPr>
        <p:spPr>
          <a:xfrm>
            <a:off x="73152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 NPOWER / Media Impact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约 4.2 万户人员测量仪 + 4,500 万户机顶盒与智能电视数据</a:t>
            </a:r>
            <a:endParaRPr lang="en-US" sz="1400" dirty="0"/>
          </a:p>
        </p:txBody>
      </p:sp>
      <p:sp>
        <p:nvSpPr>
          <p:cNvPr id="23" name="来源卡6"/>
          <p:cNvSpPr/>
          <p:nvPr/>
        </p:nvSpPr>
        <p:spPr>
          <a:xfrm>
            <a:off x="336042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状态点6"/>
          <p:cNvSpPr/>
          <p:nvPr/>
        </p:nvSpPr>
        <p:spPr>
          <a:xfrm>
            <a:off x="3543300" y="3044952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来源类型6"/>
          <p:cNvSpPr txBox="1"/>
          <p:nvPr/>
        </p:nvSpPr>
        <p:spPr>
          <a:xfrm>
            <a:off x="381762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测量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26" name="来源说明6"/>
          <p:cNvSpPr txBox="1"/>
          <p:nvPr/>
        </p:nvSpPr>
        <p:spPr>
          <a:xfrm>
            <a:off x="354330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尼尔森流媒体收视测量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流媒体测量仪样本户，仅测电视屏幕</a:t>
            </a:r>
            <a:endParaRPr lang="en-US" sz="1400" dirty="0"/>
          </a:p>
        </p:txBody>
      </p:sp>
      <p:sp>
        <p:nvSpPr>
          <p:cNvPr id="27" name="来源卡7"/>
          <p:cNvSpPr/>
          <p:nvPr/>
        </p:nvSpPr>
        <p:spPr>
          <a:xfrm>
            <a:off x="617220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状态点7"/>
          <p:cNvSpPr/>
          <p:nvPr/>
        </p:nvSpPr>
        <p:spPr>
          <a:xfrm>
            <a:off x="6355080" y="3044952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来源类型7"/>
          <p:cNvSpPr txBox="1"/>
          <p:nvPr/>
        </p:nvSpPr>
        <p:spPr>
          <a:xfrm>
            <a:off x="66294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数据库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0" name="来源说明7"/>
          <p:cNvSpPr txBox="1"/>
          <p:nvPr/>
        </p:nvSpPr>
        <p:spPr>
          <a:xfrm>
            <a:off x="635508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Gracenote 节目数据库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企业自有元数据，非抽样；采集与核验流程未公开</a:t>
            </a:r>
            <a:endParaRPr lang="en-US" sz="1400" dirty="0"/>
          </a:p>
        </p:txBody>
      </p:sp>
      <p:sp>
        <p:nvSpPr>
          <p:cNvPr id="31" name="来源卡8"/>
          <p:cNvSpPr/>
          <p:nvPr/>
        </p:nvSpPr>
        <p:spPr>
          <a:xfrm>
            <a:off x="8983980" y="2862072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状态点8"/>
          <p:cNvSpPr/>
          <p:nvPr/>
        </p:nvSpPr>
        <p:spPr>
          <a:xfrm>
            <a:off x="9166860" y="3044952"/>
            <a:ext cx="182880" cy="1828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来源类型8"/>
          <p:cNvSpPr txBox="1"/>
          <p:nvPr/>
        </p:nvSpPr>
        <p:spPr>
          <a:xfrm>
            <a:off x="944118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预测 ｜ </a:t>
            </a:r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部分公开</a:t>
            </a:r>
            <a:endParaRPr lang="en-US" sz="1100" dirty="0"/>
          </a:p>
        </p:txBody>
      </p:sp>
      <p:sp>
        <p:nvSpPr>
          <p:cNvPr id="34" name="来源说明8"/>
          <p:cNvSpPr txBox="1"/>
          <p:nvPr/>
        </p:nvSpPr>
        <p:spPr>
          <a:xfrm>
            <a:off x="9166860" y="3319272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普华永道娱乐与媒体展望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公开数据 + 行业访谈 + 统计建模；全球市场</a:t>
            </a:r>
            <a:endParaRPr lang="en-US" sz="1400" dirty="0"/>
          </a:p>
        </p:txBody>
      </p:sp>
      <p:sp>
        <p:nvSpPr>
          <p:cNvPr id="35" name="来源卡9"/>
          <p:cNvSpPr/>
          <p:nvPr/>
        </p:nvSpPr>
        <p:spPr>
          <a:xfrm>
            <a:off x="54864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状态点9"/>
          <p:cNvSpPr/>
          <p:nvPr/>
        </p:nvSpPr>
        <p:spPr>
          <a:xfrm>
            <a:off x="73152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7" name="来源类型9"/>
          <p:cNvSpPr txBox="1"/>
          <p:nvPr/>
        </p:nvSpPr>
        <p:spPr>
          <a:xfrm>
            <a:off x="100584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测试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38" name="来源说明9"/>
          <p:cNvSpPr txBox="1"/>
          <p:nvPr/>
        </p:nvSpPr>
        <p:spPr>
          <a:xfrm>
            <a:off x="73152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Veed Analytics AI 测试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六国、仅测独播剧、每题重复 3 次；题量、模型版本、评分程序未公开</a:t>
            </a:r>
            <a:endParaRPr lang="en-US" sz="1400" dirty="0"/>
          </a:p>
        </p:txBody>
      </p:sp>
      <p:sp>
        <p:nvSpPr>
          <p:cNvPr id="39" name="来源卡10"/>
          <p:cNvSpPr/>
          <p:nvPr/>
        </p:nvSpPr>
        <p:spPr>
          <a:xfrm>
            <a:off x="336042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状态点10"/>
          <p:cNvSpPr/>
          <p:nvPr/>
        </p:nvSpPr>
        <p:spPr>
          <a:xfrm>
            <a:off x="3543300" y="4581144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来源类型10"/>
          <p:cNvSpPr txBox="1"/>
          <p:nvPr/>
        </p:nvSpPr>
        <p:spPr>
          <a:xfrm>
            <a:off x="381762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论文 ｜ </a:t>
            </a:r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方法公开</a:t>
            </a:r>
            <a:endParaRPr lang="en-US" sz="1100" dirty="0"/>
          </a:p>
        </p:txBody>
      </p:sp>
      <p:sp>
        <p:nvSpPr>
          <p:cNvPr id="42" name="来源说明10"/>
          <p:cNvSpPr txBox="1"/>
          <p:nvPr/>
        </p:nvSpPr>
        <p:spPr>
          <a:xfrm>
            <a:off x="354330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南加州大学知识库偏差研究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同行评审论文；自动分类器判定 + 众包抽样人工验证</a:t>
            </a:r>
            <a:endParaRPr lang="en-US" sz="1400" dirty="0"/>
          </a:p>
        </p:txBody>
      </p:sp>
      <p:sp>
        <p:nvSpPr>
          <p:cNvPr id="43" name="来源卡11"/>
          <p:cNvSpPr/>
          <p:nvPr/>
        </p:nvSpPr>
        <p:spPr>
          <a:xfrm>
            <a:off x="617220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状态点11"/>
          <p:cNvSpPr/>
          <p:nvPr/>
        </p:nvSpPr>
        <p:spPr>
          <a:xfrm>
            <a:off x="6355080" y="4581144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5" name="来源类型11"/>
          <p:cNvSpPr txBox="1"/>
          <p:nvPr/>
        </p:nvSpPr>
        <p:spPr>
          <a:xfrm>
            <a:off x="6629400" y="450799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行业 ｜ </a:t>
            </a:r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关键信息未公开</a:t>
            </a:r>
            <a:endParaRPr lang="en-US" sz="1100" dirty="0"/>
          </a:p>
        </p:txBody>
      </p:sp>
      <p:sp>
        <p:nvSpPr>
          <p:cNvPr id="46" name="来源说明11"/>
          <p:cNvSpPr txBox="1"/>
          <p:nvPr/>
        </p:nvSpPr>
        <p:spPr>
          <a:xfrm>
            <a:off x="6355080" y="48554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Fabric 退订率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原始页面未见 5.5% 与 2%；计算方法未公开</a:t>
            </a:r>
            <a:endParaRPr lang="en-US" sz="1400" dirty="0"/>
          </a:p>
        </p:txBody>
      </p:sp>
      <p:sp>
        <p:nvSpPr>
          <p:cNvPr id="47" name="来源小结卡"/>
          <p:cNvSpPr/>
          <p:nvPr/>
        </p:nvSpPr>
        <p:spPr>
          <a:xfrm>
            <a:off x="8983980" y="4398264"/>
            <a:ext cx="265176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来源小结"/>
          <p:cNvSpPr txBox="1"/>
          <p:nvPr/>
        </p:nvSpPr>
        <p:spPr>
          <a:xfrm>
            <a:off x="9166860" y="4398264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报告最核心的两项自有问卷，恰为方法最不透明的两项</a:t>
            </a:r>
            <a:endParaRPr lang="en-US" sz="1400" dirty="0"/>
          </a:p>
        </p:txBody>
      </p:sp>
      <p:sp>
        <p:nvSpPr>
          <p:cNvPr id="49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详见《Gracenote报告_数据来源与采集方式核查.md》，各条结论均标注核实程度与原文链接。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附录二：引用与数据口径核对</a:t>
            </a:r>
            <a:endParaRPr lang="en-US" sz="2800" dirty="0"/>
          </a:p>
        </p:txBody>
      </p:sp>
      <p:graphicFrame>
        <p:nvGraphicFramePr>
          <p:cNvPr id="14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原始来源 / 图表本身显示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皮尤研究中心：30% 的青少年每日使用聊天机器人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精确值 28%（13–14 岁为 24%）；分母为全体青少年，使用者中为 44%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南加州大学：两个 AI 数据库中“高达 38%”的常识数据存在偏差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38.6% 仅为 GenericsKB 在 regard 指标下的比例，由自动分类器判定；另一知识库为 3.4%–4.5%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德勤：41% 的“流媒体订户”认为服务不值其价格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原文分母为“全体消费者”（美国 14 岁以上 3,595 人，2024 年 10 月）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普华永道：OTT 与付费电视支出 2029 年达 3,185 亿美元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全球数据（2024 年为 2,913 亿美元，年均增长 1.8%），报告未注明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摘要：54% 的 18–34 岁受访者“会取消订阅”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核查图：61–79 岁 58% 会核查，83% “以搜索交叉核对”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83% 大于 58%，外圈分母应为“会核查者”，图注未说明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“26% 的美国人知道想看什么却仍找不到”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两轮核查均未找到出处</a:t>
                      </a:r>
                      <a:endParaRPr lang="en-US" sz="1300" dirty="0"/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来源说明"/>
          <p:cNvSpPr txBox="1"/>
          <p:nvPr/>
        </p:nvSpPr>
        <p:spPr>
          <a:xfrm>
            <a:off x="548640" y="598932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来源：Gracenote 报告；皮尤研究中心、南加州大学、德勤、普华永道原文（第二轮外部核对）。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rch Glow">
  <a:themeElements>
    <a:clrScheme name="Search Glow">
      <a:dk1>
        <a:srgbClr val="1C1733"/>
      </a:dk1>
      <a:lt1>
        <a:srgbClr val="FFFFFF"/>
      </a:lt1>
      <a:dk2>
        <a:srgbClr val="2B1D6B"/>
      </a:dk2>
      <a:lt2>
        <a:srgbClr val="F3F1FA"/>
      </a:lt2>
      <a:accent1>
        <a:srgbClr val="5B3FD9"/>
      </a:accent1>
      <a:accent2>
        <a:srgbClr val="0F8B8D"/>
      </a:accent2>
      <a:accent3>
        <a:srgbClr val="D9480F"/>
      </a:accent3>
      <a:accent4>
        <a:srgbClr val="7CC242"/>
      </a:accent4>
      <a:accent5>
        <a:srgbClr val="6E6890"/>
      </a:accent5>
      <a:accent6>
        <a:srgbClr val="E4DFF8"/>
      </a:accent6>
      <a:hlink>
        <a:srgbClr val="5B3FD9"/>
      </a:hlink>
      <a:folHlink>
        <a:srgbClr val="6E6890"/>
      </a:folHlink>
    </a:clrScheme>
    <a:fontScheme name="Search Glow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2026-10-07T12:36:23Z</dcterms:created>
  <dcterms:modified xsi:type="dcterms:W3CDTF">2026-10-07T12:36:23Z</dcterms:modified>
</cp:coreProperties>
</file>