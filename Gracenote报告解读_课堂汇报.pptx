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6b90280c-50a2-84b1-b96d-1a5442407bf3}">
          <p14:sldIdLst>
            <p14:sldId id="256"/>
            <p14:sldId id="257"/>
          </p14:sldIdLst>
        </p14:section>
        <p14:section name="报告介绍" id="{ba01e77e-7d49-cbf6-6f8c-4d515afc8221}">
          <p14:sldIdLst>
            <p14:sldId id="258"/>
            <p14:sldId id="259"/>
            <p14:sldId id="260"/>
            <p14:sldId id="261"/>
          </p14:sldIdLst>
        </p14:section>
        <p14:section name="方法评价" id="{ff142c74-d010-69cc-84df-5afdd49daaed}">
          <p14:sldIdLst>
            <p14:sldId id="262"/>
            <p14:sldId id="263"/>
            <p14:sldId id="264"/>
            <p14:sldId id="265"/>
            <p14:sldId id="266"/>
          </p14:sldIdLst>
        </p14:section>
        <p14:section name="总结" id="{5b630b38-04a5-d9e6-d77d-ee5366493c2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秒】各位老师、同学好，我是黄广润。今天评析 Gracenote 的报告《AI 时代的电视搜索与内容发现》，分四部分：研究背景与问题、研究方法、研究结论，以及思考与评价。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秒】选取的是 Gracenote 2026 年 4 月的报告。Gracenote 是尼尔森旗下的公司，做电视和流媒体的节目数据，包括名称、简介、播出平台和节目表。视频软件里的节目指南，背后常常就是这类数据。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40 秒】流媒体平台增多，节目分散。截至 2026 年 2 月，Gracenote 记录了近 350 个点播片库、约 180 万个节目、近 2,100 个免费频道。找节目更费劲，AI 聊天机器人成了新的方式。报告提出三个问题：各年龄段使用 AI 的频率，找节目的难度与退订意向，以及对 AI 回答的信任。留意：报告建议 AI 接入行业数据，这正是 Gracenote 的业务。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秒】数据主要来自两项线上问卷。调查一在 2026 年 1 至 2 月进行，对象是美国 13 至 79 岁的 AI 聊天机器人用户，4003 人。调查二在 2025 年 7 至 8 月进行，对象是六国流媒体用户，每国 500 人。两项调查，报告都没有说明抽样方法。另外引用了 11 个外部来源。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秒】研究结论共四项。结论一，13 至 14 岁受访者中，80% 说近 18 个月使用增加，54% 每天使用 AI。结论二，75% 的受访者会核对 AI 的结果。报告的解释是，AI 回答直接、可以追问，所以使用增加；但可能生成错误信息，所以需要核对。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秒】结论三，联网电视已占美国电视时长的 54%，用户平均要花 14 分钟找节目，18 至 34 岁受访者中 54% 表示可能因此退订。结论四，测试显示 AI 只能正确回答约三分之二的播出平台，所以报告提出，AI 需要接入可靠的行业数据。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10 秒】报告的四项结论是一条推论链。下面从调查对象、调查范围、调查时间和研究方法四个方面，逐项检验。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秒】调查对象。4003 名受访者均为 AI 聊天机器人用户，以使用 AI 为筛选条件，不包括非用户。所以结果只代表 AI 用户，不能推及全体美国人。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秒】调查范围。图中橙框里的 14 分钟，被放在美国收视图表中。它其实是六国的简单平均，法国的 26 分钟抬高了均值，美国实际是 12 分钟，容易被高估。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秒】调查时间。报告以皮尤 2025 年秋的 30%，对比自己 2026 年初的 54%，称使用在加速。但皮尤以全体青少年为分母，13 至 14 岁是 24%，本报告只统计 AI 用户。皮尤使用者中的比例是 44%，仍差约 10 个百分点，还不能判断“加速”。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秒】研究方法。支撑“难找导致退订”的，是退订意向、退订率、市场预测和 AI 测试四类数据，并列使用。它们性质不同，没有追踪同一批人，也没有对照，只能说明几件事同时存在，不足以证明因果。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秒】总结。报告有参考价值，皮尤、Veed 等独立来源也指向同样的两个方向。但结论超出了样本所能支持的范围：前两项仅限 AI 用户，第三项只能说相关，第四项未经检验。改进方向有三点：采用概率样本并纳入非 AI 用户；同一问卷询问困难与退订，追踪同一批人；公开招募、配额、加权和回收率。谢谢大家。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封面图" descr="/home/user/ppt/build/assets/cover_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3" name="课程名"/>
          <p:cNvSpPr txBox="1"/>
          <p:nvPr/>
        </p:nvSpPr>
        <p:spPr>
          <a:xfrm>
            <a:off x="731520" y="8686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市场调研：方法与实践 · 课后作业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年研究报告评析</a:t>
            </a:r>
            <a:endParaRPr lang="en-US" sz="1800" dirty="0"/>
          </a:p>
        </p:txBody>
      </p:sp>
      <p:sp>
        <p:nvSpPr>
          <p:cNvPr id="6" name="汇报人"/>
          <p:cNvSpPr txBox="1"/>
          <p:nvPr/>
        </p:nvSpPr>
        <p:spPr>
          <a:xfrm>
            <a:off x="731520" y="5989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黄广润　524031910373</a:t>
            </a:r>
            <a:endParaRPr lang="en-US" sz="1500" dirty="0"/>
          </a:p>
        </p:txBody>
      </p:sp>
      <p:sp>
        <p:nvSpPr>
          <p:cNvPr id="7" name="封面分隔线"/>
          <p:cNvSpPr/>
          <p:nvPr/>
        </p:nvSpPr>
        <p:spPr>
          <a:xfrm>
            <a:off x="731520" y="4160520"/>
            <a:ext cx="512064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8" name="封面目录"/>
          <p:cNvSpPr txBox="1"/>
          <p:nvPr/>
        </p:nvSpPr>
        <p:spPr>
          <a:xfrm>
            <a:off x="731520" y="438912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01  研究背景与问题　　02  研究方法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03  研究结论　　　　　04  思考与评价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选题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选取对象：Gracenote 2026 年 4 月的报告</a:t>
            </a:r>
            <a:endParaRPr lang="en-US" sz="3000" dirty="0"/>
          </a:p>
        </p:txBody>
      </p:sp>
      <p:sp>
        <p:nvSpPr>
          <p:cNvPr id="4" name="分隔线"/>
          <p:cNvSpPr/>
          <p:nvPr/>
        </p:nvSpPr>
        <p:spPr>
          <a:xfrm>
            <a:off x="548640" y="164592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5" name="选题标签1"/>
          <p:cNvSpPr txBox="1"/>
          <p:nvPr/>
        </p:nvSpPr>
        <p:spPr>
          <a:xfrm>
            <a:off x="548640" y="1645920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报告</a:t>
            </a:r>
            <a:endParaRPr lang="en-US" sz="1500" dirty="0"/>
          </a:p>
        </p:txBody>
      </p:sp>
      <p:sp>
        <p:nvSpPr>
          <p:cNvPr id="6" name="选题内容1"/>
          <p:cNvSpPr txBox="1"/>
          <p:nvPr/>
        </p:nvSpPr>
        <p:spPr>
          <a:xfrm>
            <a:off x="1554480" y="1645920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AI 时代的电视搜索与内容发现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TV Search and Discovery in the AI Era，2026 年 4 月</a:t>
            </a:r>
            <a:endParaRPr lang="en-US" sz="2200" dirty="0"/>
          </a:p>
        </p:txBody>
      </p:sp>
      <p:sp>
        <p:nvSpPr>
          <p:cNvPr id="7" name="分隔线"/>
          <p:cNvSpPr/>
          <p:nvPr/>
        </p:nvSpPr>
        <p:spPr>
          <a:xfrm>
            <a:off x="548640" y="2670048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8" name="选题标签2"/>
          <p:cNvSpPr txBox="1"/>
          <p:nvPr/>
        </p:nvSpPr>
        <p:spPr>
          <a:xfrm>
            <a:off x="548640" y="2670048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机构</a:t>
            </a:r>
            <a:endParaRPr lang="en-US" sz="1500" dirty="0"/>
          </a:p>
        </p:txBody>
      </p:sp>
      <p:sp>
        <p:nvSpPr>
          <p:cNvPr id="9" name="选题内容2"/>
          <p:cNvSpPr txBox="1"/>
          <p:nvPr/>
        </p:nvSpPr>
        <p:spPr>
          <a:xfrm>
            <a:off x="1554480" y="2670048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Gracenote，尼尔森旗下公司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3694176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选题标签3"/>
          <p:cNvSpPr txBox="1"/>
          <p:nvPr/>
        </p:nvSpPr>
        <p:spPr>
          <a:xfrm>
            <a:off x="548640" y="3694176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业务</a:t>
            </a:r>
            <a:endParaRPr lang="en-US" sz="1500" dirty="0"/>
          </a:p>
        </p:txBody>
      </p:sp>
      <p:sp>
        <p:nvSpPr>
          <p:cNvPr id="12" name="选题内容3"/>
          <p:cNvSpPr txBox="1"/>
          <p:nvPr/>
        </p:nvSpPr>
        <p:spPr>
          <a:xfrm>
            <a:off x="1554480" y="3694176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电视与流媒体的节目数据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名称、简介、播出平台、节目表</a:t>
            </a:r>
            <a:endParaRPr lang="en-US" sz="2000" dirty="0"/>
          </a:p>
        </p:txBody>
      </p:sp>
      <p:sp>
        <p:nvSpPr>
          <p:cNvPr id="13" name="分隔线"/>
          <p:cNvSpPr/>
          <p:nvPr/>
        </p:nvSpPr>
        <p:spPr>
          <a:xfrm>
            <a:off x="548640" y="4718304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4" name="选题标签4"/>
          <p:cNvSpPr txBox="1"/>
          <p:nvPr/>
        </p:nvSpPr>
        <p:spPr>
          <a:xfrm>
            <a:off x="548640" y="4718304"/>
            <a:ext cx="914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关联</a:t>
            </a:r>
            <a:endParaRPr lang="en-US" sz="1500" dirty="0"/>
          </a:p>
        </p:txBody>
      </p:sp>
      <p:sp>
        <p:nvSpPr>
          <p:cNvPr id="15" name="选题内容4"/>
          <p:cNvSpPr txBox="1"/>
          <p:nvPr/>
        </p:nvSpPr>
        <p:spPr>
          <a:xfrm>
            <a:off x="1554480" y="4718304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视频软件里的节目指南，背后常常就是这类数据</a:t>
            </a:r>
            <a:endParaRPr lang="en-US" sz="2000" dirty="0"/>
          </a:p>
        </p:txBody>
      </p:sp>
      <p:sp>
        <p:nvSpPr>
          <p:cNvPr id="16" name="分隔线"/>
          <p:cNvSpPr/>
          <p:nvPr/>
        </p:nvSpPr>
        <p:spPr>
          <a:xfrm>
            <a:off x="548640" y="5742432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报告封面阴影"/>
          <p:cNvSpPr/>
          <p:nvPr/>
        </p:nvSpPr>
        <p:spPr>
          <a:xfrm>
            <a:off x="7635240" y="2240280"/>
            <a:ext cx="3977640" cy="241401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18" name="报告封面" descr="/home/user/ppt/build/assets/report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2240280"/>
            <a:ext cx="3977640" cy="2414016"/>
          </a:xfrm>
          <a:prstGeom prst="rect">
            <a:avLst/>
          </a:prstGeom>
        </p:spPr>
      </p:pic>
      <p:sp>
        <p:nvSpPr>
          <p:cNvPr id="19" name="封面图注"/>
          <p:cNvSpPr txBox="1"/>
          <p:nvPr/>
        </p:nvSpPr>
        <p:spPr>
          <a:xfrm>
            <a:off x="7635240" y="48006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报告封面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01  研究背景与问题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研究背景：节目分散，找节目更费劲</a:t>
            </a:r>
            <a:endParaRPr lang="en-US" sz="3000" dirty="0"/>
          </a:p>
        </p:txBody>
      </p:sp>
      <p:sp>
        <p:nvSpPr>
          <p:cNvPr id="4" name="背景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流媒体平台增多，节目分散；AI 聊天机器人成为新的找节目方式。</a:t>
            </a:r>
            <a:endParaRPr lang="en-US" sz="1800" dirty="0"/>
          </a:p>
        </p:txBody>
      </p:sp>
      <p:sp>
        <p:nvSpPr>
          <p:cNvPr id="5" name="背景卡1"/>
          <p:cNvSpPr/>
          <p:nvPr/>
        </p:nvSpPr>
        <p:spPr>
          <a:xfrm>
            <a:off x="548640" y="2103120"/>
            <a:ext cx="3566160" cy="10972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背景数字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 350 个</a:t>
            </a:r>
            <a:endParaRPr lang="en-US" sz="2400" dirty="0"/>
          </a:p>
        </p:txBody>
      </p:sp>
      <p:sp>
        <p:nvSpPr>
          <p:cNvPr id="7" name="背景说明1"/>
          <p:cNvSpPr txBox="1"/>
          <p:nvPr/>
        </p:nvSpPr>
        <p:spPr>
          <a:xfrm>
            <a:off x="2926080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点播片库</a:t>
            </a:r>
            <a:endParaRPr lang="en-US" sz="1500" dirty="0"/>
          </a:p>
        </p:txBody>
      </p:sp>
      <p:sp>
        <p:nvSpPr>
          <p:cNvPr id="8" name="背景卡2"/>
          <p:cNvSpPr/>
          <p:nvPr/>
        </p:nvSpPr>
        <p:spPr>
          <a:xfrm>
            <a:off x="4297680" y="2103120"/>
            <a:ext cx="3566160" cy="10972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背景数字2"/>
          <p:cNvSpPr txBox="1"/>
          <p:nvPr/>
        </p:nvSpPr>
        <p:spPr>
          <a:xfrm>
            <a:off x="457200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180 万个</a:t>
            </a:r>
            <a:endParaRPr lang="en-US" sz="2400" dirty="0"/>
          </a:p>
        </p:txBody>
      </p:sp>
      <p:sp>
        <p:nvSpPr>
          <p:cNvPr id="10" name="背景说明2"/>
          <p:cNvSpPr txBox="1"/>
          <p:nvPr/>
        </p:nvSpPr>
        <p:spPr>
          <a:xfrm>
            <a:off x="6675120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节目</a:t>
            </a:r>
            <a:endParaRPr lang="en-US" sz="1500" dirty="0"/>
          </a:p>
        </p:txBody>
      </p:sp>
      <p:sp>
        <p:nvSpPr>
          <p:cNvPr id="11" name="背景卡3"/>
          <p:cNvSpPr/>
          <p:nvPr/>
        </p:nvSpPr>
        <p:spPr>
          <a:xfrm>
            <a:off x="8046720" y="2103120"/>
            <a:ext cx="3566160" cy="10972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背景数字3"/>
          <p:cNvSpPr txBox="1"/>
          <p:nvPr/>
        </p:nvSpPr>
        <p:spPr>
          <a:xfrm>
            <a:off x="832104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 2,100 个</a:t>
            </a:r>
            <a:endParaRPr lang="en-US" sz="2400" dirty="0"/>
          </a:p>
        </p:txBody>
      </p:sp>
      <p:sp>
        <p:nvSpPr>
          <p:cNvPr id="13" name="背景说明3"/>
          <p:cNvSpPr txBox="1"/>
          <p:nvPr/>
        </p:nvSpPr>
        <p:spPr>
          <a:xfrm>
            <a:off x="10424160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免费频道</a:t>
            </a:r>
            <a:endParaRPr lang="en-US" sz="1500" dirty="0"/>
          </a:p>
        </p:txBody>
      </p:sp>
      <p:sp>
        <p:nvSpPr>
          <p:cNvPr id="14" name="背景注"/>
          <p:cNvSpPr txBox="1"/>
          <p:nvPr/>
        </p:nvSpPr>
        <p:spPr>
          <a:xfrm>
            <a:off x="54864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截至 2026 年 2 月，Gracenote 记录的数量（点播指 SVOD，免费频道指 FAST）</a:t>
            </a:r>
            <a:endParaRPr lang="en-US" sz="1200" dirty="0"/>
          </a:p>
        </p:txBody>
      </p:sp>
      <p:sp>
        <p:nvSpPr>
          <p:cNvPr id="15" name="分隔线"/>
          <p:cNvSpPr/>
          <p:nvPr/>
        </p:nvSpPr>
        <p:spPr>
          <a:xfrm>
            <a:off x="548640" y="365760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问题编号1"/>
          <p:cNvSpPr txBox="1"/>
          <p:nvPr/>
        </p:nvSpPr>
        <p:spPr>
          <a:xfrm>
            <a:off x="548640" y="365760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问题一</a:t>
            </a:r>
            <a:endParaRPr lang="en-US" sz="1400" dirty="0"/>
          </a:p>
        </p:txBody>
      </p:sp>
      <p:sp>
        <p:nvSpPr>
          <p:cNvPr id="17" name="问题名1"/>
          <p:cNvSpPr txBox="1"/>
          <p:nvPr/>
        </p:nvSpPr>
        <p:spPr>
          <a:xfrm>
            <a:off x="1737360" y="36576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使用频率</a:t>
            </a:r>
            <a:endParaRPr lang="en-US" sz="2000" dirty="0"/>
          </a:p>
        </p:txBody>
      </p:sp>
      <p:sp>
        <p:nvSpPr>
          <p:cNvPr id="18" name="问题内容1"/>
          <p:cNvSpPr txBox="1"/>
          <p:nvPr/>
        </p:nvSpPr>
        <p:spPr>
          <a:xfrm>
            <a:off x="4114800" y="36576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各年龄段使用 AI 的频率</a:t>
            </a:r>
            <a:endParaRPr lang="en-US" sz="1800" dirty="0"/>
          </a:p>
        </p:txBody>
      </p:sp>
      <p:sp>
        <p:nvSpPr>
          <p:cNvPr id="19" name="分隔线"/>
          <p:cNvSpPr/>
          <p:nvPr/>
        </p:nvSpPr>
        <p:spPr>
          <a:xfrm>
            <a:off x="548640" y="4224528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问题编号2"/>
          <p:cNvSpPr txBox="1"/>
          <p:nvPr/>
        </p:nvSpPr>
        <p:spPr>
          <a:xfrm>
            <a:off x="548640" y="422452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问题二</a:t>
            </a:r>
            <a:endParaRPr lang="en-US" sz="1400" dirty="0"/>
          </a:p>
        </p:txBody>
      </p:sp>
      <p:sp>
        <p:nvSpPr>
          <p:cNvPr id="21" name="问题名2"/>
          <p:cNvSpPr txBox="1"/>
          <p:nvPr/>
        </p:nvSpPr>
        <p:spPr>
          <a:xfrm>
            <a:off x="1737360" y="422452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检索难度</a:t>
            </a:r>
            <a:endParaRPr lang="en-US" sz="2000" dirty="0"/>
          </a:p>
        </p:txBody>
      </p:sp>
      <p:sp>
        <p:nvSpPr>
          <p:cNvPr id="22" name="问题内容2"/>
          <p:cNvSpPr txBox="1"/>
          <p:nvPr/>
        </p:nvSpPr>
        <p:spPr>
          <a:xfrm>
            <a:off x="4114800" y="422452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找节目的难度与退订意向</a:t>
            </a:r>
            <a:endParaRPr lang="en-US" sz="1800" dirty="0"/>
          </a:p>
        </p:txBody>
      </p:sp>
      <p:sp>
        <p:nvSpPr>
          <p:cNvPr id="23" name="分隔线"/>
          <p:cNvSpPr/>
          <p:nvPr/>
        </p:nvSpPr>
        <p:spPr>
          <a:xfrm>
            <a:off x="548640" y="4791456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4" name="问题编号3"/>
          <p:cNvSpPr txBox="1"/>
          <p:nvPr/>
        </p:nvSpPr>
        <p:spPr>
          <a:xfrm>
            <a:off x="548640" y="479145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问题三</a:t>
            </a:r>
            <a:endParaRPr lang="en-US" sz="1400" dirty="0"/>
          </a:p>
        </p:txBody>
      </p:sp>
      <p:sp>
        <p:nvSpPr>
          <p:cNvPr id="25" name="问题名3"/>
          <p:cNvSpPr txBox="1"/>
          <p:nvPr/>
        </p:nvSpPr>
        <p:spPr>
          <a:xfrm>
            <a:off x="1737360" y="479145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信任程度</a:t>
            </a:r>
            <a:endParaRPr lang="en-US" sz="2000" dirty="0"/>
          </a:p>
        </p:txBody>
      </p:sp>
      <p:sp>
        <p:nvSpPr>
          <p:cNvPr id="26" name="问题内容3"/>
          <p:cNvSpPr txBox="1"/>
          <p:nvPr/>
        </p:nvSpPr>
        <p:spPr>
          <a:xfrm>
            <a:off x="4114800" y="479145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对 AI 回答的信任</a:t>
            </a:r>
            <a:endParaRPr lang="en-US" sz="1800" dirty="0"/>
          </a:p>
        </p:txBody>
      </p:sp>
      <p:sp>
        <p:nvSpPr>
          <p:cNvPr id="27" name="分隔线"/>
          <p:cNvSpPr/>
          <p:nvPr/>
        </p:nvSpPr>
        <p:spPr>
          <a:xfrm>
            <a:off x="548640" y="5358384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8" name="建议说明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留意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报告建议 AI 接入行业数据，而提供行业数据正是 Gracenote 的业务。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02  研究方法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研究方法：两项线上问卷</a:t>
            </a:r>
            <a:endParaRPr lang="en-US" sz="3000" dirty="0"/>
          </a:p>
        </p:txBody>
      </p:sp>
      <p:graphicFrame>
        <p:nvGraphicFramePr>
          <p:cNvPr id="5" name="研究设计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6177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调查一：2026 年 AI 使用调查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调查二：2025 年六国流媒体调查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调查对象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美国 13–79 岁 AI 聊天机器人用户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六国流媒体用户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调查时间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2026 年 1–2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2025 年 7–8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抽样方式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报告未说明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报告未说明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样本量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4,003 人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3,000 人（每国 500）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说明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注：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报告另引用尼尔森、皮尤、德勤、普华永道等 11 个外部来源。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研究结论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结论一、二：年轻人依赖 AI，但信任有限</a:t>
            </a:r>
            <a:endParaRPr lang="en-US" sz="3000" dirty="0"/>
          </a:p>
        </p:txBody>
      </p:sp>
      <p:sp>
        <p:nvSpPr>
          <p:cNvPr id="4" name="数据卡1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1"/>
          <p:cNvSpPr txBox="1"/>
          <p:nvPr/>
        </p:nvSpPr>
        <p:spPr>
          <a:xfrm>
            <a:off x="91440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000" dirty="0"/>
          </a:p>
        </p:txBody>
      </p:sp>
      <p:sp>
        <p:nvSpPr>
          <p:cNvPr id="6" name="数据说明1"/>
          <p:cNvSpPr txBox="1"/>
          <p:nvPr/>
        </p:nvSpPr>
        <p:spPr>
          <a:xfrm>
            <a:off x="329184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13–14 岁受访者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每日使用 AI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80% 称近 18 个月使用增加</a:t>
            </a:r>
            <a:endParaRPr lang="en-US" sz="2000" dirty="0"/>
          </a:p>
        </p:txBody>
      </p:sp>
      <p:sp>
        <p:nvSpPr>
          <p:cNvPr id="7" name="数据卡2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2"/>
          <p:cNvSpPr txBox="1"/>
          <p:nvPr/>
        </p:nvSpPr>
        <p:spPr>
          <a:xfrm>
            <a:off x="653796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6000" dirty="0"/>
          </a:p>
        </p:txBody>
      </p:sp>
      <p:sp>
        <p:nvSpPr>
          <p:cNvPr id="9" name="数据说明2"/>
          <p:cNvSpPr txBox="1"/>
          <p:nvPr/>
        </p:nvSpPr>
        <p:spPr>
          <a:xfrm>
            <a:off x="891540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受访者表示会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核对 AI 的结果</a:t>
            </a:r>
            <a:endParaRPr lang="en-US" sz="2000" dirty="0"/>
          </a:p>
        </p:txBody>
      </p:sp>
      <p:sp>
        <p:nvSpPr>
          <p:cNvPr id="10" name="解释标题"/>
          <p:cNvSpPr txBox="1"/>
          <p:nvPr/>
        </p:nvSpPr>
        <p:spPr>
          <a:xfrm>
            <a:off x="548640" y="3977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报告的解释</a:t>
            </a:r>
            <a:endParaRPr lang="en-US" sz="1600" dirty="0"/>
          </a:p>
        </p:txBody>
      </p:sp>
      <p:sp>
        <p:nvSpPr>
          <p:cNvPr id="11" name="分隔线"/>
          <p:cNvSpPr/>
          <p:nvPr/>
        </p:nvSpPr>
        <p:spPr>
          <a:xfrm>
            <a:off x="548640" y="44348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1"/>
          <p:cNvSpPr txBox="1"/>
          <p:nvPr/>
        </p:nvSpPr>
        <p:spPr>
          <a:xfrm>
            <a:off x="548640" y="4434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回答直接、可追问</a:t>
            </a:r>
            <a:endParaRPr lang="en-US" sz="2000" dirty="0"/>
          </a:p>
        </p:txBody>
      </p:sp>
      <p:sp>
        <p:nvSpPr>
          <p:cNvPr id="13" name="箭头1"/>
          <p:cNvSpPr txBox="1"/>
          <p:nvPr/>
        </p:nvSpPr>
        <p:spPr>
          <a:xfrm>
            <a:off x="6583680" y="44348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结果1"/>
          <p:cNvSpPr txBox="1"/>
          <p:nvPr/>
        </p:nvSpPr>
        <p:spPr>
          <a:xfrm>
            <a:off x="7040880" y="4434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使用增加</a:t>
            </a:r>
            <a:endParaRPr lang="en-US" sz="2000" dirty="0"/>
          </a:p>
        </p:txBody>
      </p:sp>
      <p:sp>
        <p:nvSpPr>
          <p:cNvPr id="15" name="分隔线"/>
          <p:cNvSpPr/>
          <p:nvPr/>
        </p:nvSpPr>
        <p:spPr>
          <a:xfrm>
            <a:off x="548640" y="51206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2"/>
          <p:cNvSpPr txBox="1"/>
          <p:nvPr/>
        </p:nvSpPr>
        <p:spPr>
          <a:xfrm>
            <a:off x="548640" y="5120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可能生成错误信息</a:t>
            </a:r>
            <a:endParaRPr lang="en-US" sz="2000" dirty="0"/>
          </a:p>
        </p:txBody>
      </p:sp>
      <p:sp>
        <p:nvSpPr>
          <p:cNvPr id="17" name="箭头2"/>
          <p:cNvSpPr txBox="1"/>
          <p:nvPr/>
        </p:nvSpPr>
        <p:spPr>
          <a:xfrm>
            <a:off x="6583680" y="51206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结果2"/>
          <p:cNvSpPr txBox="1"/>
          <p:nvPr/>
        </p:nvSpPr>
        <p:spPr>
          <a:xfrm>
            <a:off x="7040880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需要核对</a:t>
            </a:r>
            <a:endParaRPr lang="en-US" sz="2000" dirty="0"/>
          </a:p>
        </p:txBody>
      </p:sp>
      <p:sp>
        <p:nvSpPr>
          <p:cNvPr id="19" name="分隔线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研究结论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结论三、四：难找导致退订，需接入行业数据</a:t>
            </a:r>
            <a:endParaRPr lang="en-US" sz="3000" dirty="0"/>
          </a:p>
        </p:txBody>
      </p:sp>
      <p:sp>
        <p:nvSpPr>
          <p:cNvPr id="4" name="步骤卡1"/>
          <p:cNvSpPr/>
          <p:nvPr/>
        </p:nvSpPr>
        <p:spPr>
          <a:xfrm>
            <a:off x="54864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步骤名1"/>
          <p:cNvSpPr txBox="1"/>
          <p:nvPr/>
        </p:nvSpPr>
        <p:spPr>
          <a:xfrm>
            <a:off x="82296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内容分散</a:t>
            </a:r>
            <a:endParaRPr lang="en-US" sz="2000" dirty="0"/>
          </a:p>
        </p:txBody>
      </p:sp>
      <p:sp>
        <p:nvSpPr>
          <p:cNvPr id="6" name="步骤数字1"/>
          <p:cNvSpPr txBox="1"/>
          <p:nvPr/>
        </p:nvSpPr>
        <p:spPr>
          <a:xfrm>
            <a:off x="82296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7" name="步骤说明1"/>
          <p:cNvSpPr txBox="1"/>
          <p:nvPr/>
        </p:nvSpPr>
        <p:spPr>
          <a:xfrm>
            <a:off x="82296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联网电视占美国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电视时长</a:t>
            </a:r>
            <a:endParaRPr lang="en-US" sz="1600" dirty="0"/>
          </a:p>
        </p:txBody>
      </p:sp>
      <p:sp>
        <p:nvSpPr>
          <p:cNvPr id="8" name="链箭头1"/>
          <p:cNvSpPr txBox="1"/>
          <p:nvPr/>
        </p:nvSpPr>
        <p:spPr>
          <a:xfrm>
            <a:off x="310896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步骤卡2"/>
          <p:cNvSpPr/>
          <p:nvPr/>
        </p:nvSpPr>
        <p:spPr>
          <a:xfrm>
            <a:off x="338328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步骤名2"/>
          <p:cNvSpPr txBox="1"/>
          <p:nvPr/>
        </p:nvSpPr>
        <p:spPr>
          <a:xfrm>
            <a:off x="365760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检索耗时</a:t>
            </a:r>
            <a:endParaRPr lang="en-US" sz="2000" dirty="0"/>
          </a:p>
        </p:txBody>
      </p:sp>
      <p:sp>
        <p:nvSpPr>
          <p:cNvPr id="11" name="步骤数字2"/>
          <p:cNvSpPr txBox="1"/>
          <p:nvPr/>
        </p:nvSpPr>
        <p:spPr>
          <a:xfrm>
            <a:off x="365760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600" dirty="0"/>
          </a:p>
        </p:txBody>
      </p:sp>
      <p:sp>
        <p:nvSpPr>
          <p:cNvPr id="12" name="步骤说明2"/>
          <p:cNvSpPr txBox="1"/>
          <p:nvPr/>
        </p:nvSpPr>
        <p:spPr>
          <a:xfrm>
            <a:off x="365760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平均检索时长</a:t>
            </a:r>
            <a:endParaRPr lang="en-US" sz="1600" dirty="0"/>
          </a:p>
        </p:txBody>
      </p:sp>
      <p:sp>
        <p:nvSpPr>
          <p:cNvPr id="13" name="链箭头2"/>
          <p:cNvSpPr txBox="1"/>
          <p:nvPr/>
        </p:nvSpPr>
        <p:spPr>
          <a:xfrm>
            <a:off x="594360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步骤卡3"/>
          <p:cNvSpPr/>
          <p:nvPr/>
        </p:nvSpPr>
        <p:spPr>
          <a:xfrm>
            <a:off x="621792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步骤名3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退订意向</a:t>
            </a:r>
            <a:endParaRPr lang="en-US" sz="2000" dirty="0"/>
          </a:p>
        </p:txBody>
      </p:sp>
      <p:sp>
        <p:nvSpPr>
          <p:cNvPr id="16" name="步骤数字3"/>
          <p:cNvSpPr txBox="1"/>
          <p:nvPr/>
        </p:nvSpPr>
        <p:spPr>
          <a:xfrm>
            <a:off x="649224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17" name="步骤说明3"/>
          <p:cNvSpPr txBox="1"/>
          <p:nvPr/>
        </p:nvSpPr>
        <p:spPr>
          <a:xfrm>
            <a:off x="649224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18–34 岁表示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可能退订</a:t>
            </a:r>
            <a:endParaRPr lang="en-US" sz="1600" dirty="0"/>
          </a:p>
        </p:txBody>
      </p:sp>
      <p:sp>
        <p:nvSpPr>
          <p:cNvPr id="18" name="链箭头3"/>
          <p:cNvSpPr txBox="1"/>
          <p:nvPr/>
        </p:nvSpPr>
        <p:spPr>
          <a:xfrm>
            <a:off x="877824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步骤卡4"/>
          <p:cNvSpPr/>
          <p:nvPr/>
        </p:nvSpPr>
        <p:spPr>
          <a:xfrm>
            <a:off x="905256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步骤名4"/>
          <p:cNvSpPr txBox="1"/>
          <p:nvPr/>
        </p:nvSpPr>
        <p:spPr>
          <a:xfrm>
            <a:off x="932688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接入行业数据</a:t>
            </a:r>
            <a:endParaRPr lang="en-US" sz="2000" dirty="0"/>
          </a:p>
        </p:txBody>
      </p:sp>
      <p:sp>
        <p:nvSpPr>
          <p:cNvPr id="21" name="步骤数字4"/>
          <p:cNvSpPr txBox="1"/>
          <p:nvPr/>
        </p:nvSpPr>
        <p:spPr>
          <a:xfrm>
            <a:off x="932688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2" name="步骤说明4"/>
          <p:cNvSpPr txBox="1"/>
          <p:nvPr/>
        </p:nvSpPr>
        <p:spPr>
          <a:xfrm>
            <a:off x="932688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AI 正确回答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播出平台的比例</a:t>
            </a:r>
            <a:endParaRPr lang="en-US" sz="1600" dirty="0"/>
          </a:p>
        </p:txBody>
      </p:sp>
      <p:sp>
        <p:nvSpPr>
          <p:cNvPr id="23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数据：尼尔森收视测量；调查二（六国）；Veed Analytics 测试（报告引用）。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8" grpId="0" animBg="1"/>
      <p:bldP spid="14" grpId="0" animBg="1"/>
      <p:bldP spid="15" grpId="0" animBg="1"/>
      <p:bldP spid="16" grpId="0" animBg="1"/>
      <p:bldP spid="17" grpId="0" animBg="1"/>
      <p:bldP spid="13" grpId="0" animBg="1"/>
      <p:bldP spid="19" grpId="0" animBg="1"/>
      <p:bldP spid="20" grpId="0" animBg="1"/>
      <p:bldP spid="21" grpId="0" animBg="1"/>
      <p:bldP spid="22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评价：逐项检验四个推论环节</a:t>
            </a:r>
            <a:endParaRPr lang="en-US" sz="3000" dirty="0"/>
          </a:p>
        </p:txBody>
      </p:sp>
      <p:sp>
        <p:nvSpPr>
          <p:cNvPr id="4" name="环节1"/>
          <p:cNvSpPr/>
          <p:nvPr/>
        </p:nvSpPr>
        <p:spPr>
          <a:xfrm>
            <a:off x="54864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环节文字1"/>
          <p:cNvSpPr txBox="1"/>
          <p:nvPr/>
        </p:nvSpPr>
        <p:spPr>
          <a:xfrm>
            <a:off x="54864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① 依赖 AI</a:t>
            </a:r>
            <a:endParaRPr lang="en-US" sz="1900" dirty="0"/>
          </a:p>
        </p:txBody>
      </p:sp>
      <p:sp>
        <p:nvSpPr>
          <p:cNvPr id="6" name="环节箭头1"/>
          <p:cNvSpPr txBox="1"/>
          <p:nvPr/>
        </p:nvSpPr>
        <p:spPr>
          <a:xfrm>
            <a:off x="310896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7" name="检验标签1"/>
          <p:cNvSpPr txBox="1"/>
          <p:nvPr/>
        </p:nvSpPr>
        <p:spPr>
          <a:xfrm>
            <a:off x="54864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8" name="分隔线"/>
          <p:cNvSpPr/>
          <p:nvPr/>
        </p:nvSpPr>
        <p:spPr>
          <a:xfrm>
            <a:off x="54864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检验文字1"/>
          <p:cNvSpPr txBox="1"/>
          <p:nvPr/>
        </p:nvSpPr>
        <p:spPr>
          <a:xfrm>
            <a:off x="54864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调查时间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环节2"/>
          <p:cNvSpPr/>
          <p:nvPr/>
        </p:nvSpPr>
        <p:spPr>
          <a:xfrm>
            <a:off x="338328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环节文字2"/>
          <p:cNvSpPr txBox="1"/>
          <p:nvPr/>
        </p:nvSpPr>
        <p:spPr>
          <a:xfrm>
            <a:off x="338328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② 信任有限</a:t>
            </a:r>
            <a:endParaRPr lang="en-US" sz="1900" dirty="0"/>
          </a:p>
        </p:txBody>
      </p:sp>
      <p:sp>
        <p:nvSpPr>
          <p:cNvPr id="13" name="环节箭头2"/>
          <p:cNvSpPr txBox="1"/>
          <p:nvPr/>
        </p:nvSpPr>
        <p:spPr>
          <a:xfrm>
            <a:off x="594360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检验标签2"/>
          <p:cNvSpPr txBox="1"/>
          <p:nvPr/>
        </p:nvSpPr>
        <p:spPr>
          <a:xfrm>
            <a:off x="338328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15" name="分隔线"/>
          <p:cNvSpPr/>
          <p:nvPr/>
        </p:nvSpPr>
        <p:spPr>
          <a:xfrm>
            <a:off x="338328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检验文字2"/>
          <p:cNvSpPr txBox="1"/>
          <p:nvPr/>
        </p:nvSpPr>
        <p:spPr>
          <a:xfrm>
            <a:off x="338328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</p:txBody>
      </p:sp>
      <p:sp>
        <p:nvSpPr>
          <p:cNvPr id="17" name="分隔线"/>
          <p:cNvSpPr/>
          <p:nvPr/>
        </p:nvSpPr>
        <p:spPr>
          <a:xfrm>
            <a:off x="338328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环节3"/>
          <p:cNvSpPr/>
          <p:nvPr/>
        </p:nvSpPr>
        <p:spPr>
          <a:xfrm>
            <a:off x="621792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环节文字3"/>
          <p:cNvSpPr txBox="1"/>
          <p:nvPr/>
        </p:nvSpPr>
        <p:spPr>
          <a:xfrm>
            <a:off x="621792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③ 难找导致退订</a:t>
            </a:r>
            <a:endParaRPr lang="en-US" sz="1900" dirty="0"/>
          </a:p>
        </p:txBody>
      </p:sp>
      <p:sp>
        <p:nvSpPr>
          <p:cNvPr id="20" name="环节箭头3"/>
          <p:cNvSpPr txBox="1"/>
          <p:nvPr/>
        </p:nvSpPr>
        <p:spPr>
          <a:xfrm>
            <a:off x="877824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检验标签3"/>
          <p:cNvSpPr txBox="1"/>
          <p:nvPr/>
        </p:nvSpPr>
        <p:spPr>
          <a:xfrm>
            <a:off x="621792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22" name="分隔线"/>
          <p:cNvSpPr/>
          <p:nvPr/>
        </p:nvSpPr>
        <p:spPr>
          <a:xfrm>
            <a:off x="621792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检验文字3"/>
          <p:cNvSpPr txBox="1"/>
          <p:nvPr/>
        </p:nvSpPr>
        <p:spPr>
          <a:xfrm>
            <a:off x="621792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调查范围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24" name="分隔线"/>
          <p:cNvSpPr/>
          <p:nvPr/>
        </p:nvSpPr>
        <p:spPr>
          <a:xfrm>
            <a:off x="621792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环节4"/>
          <p:cNvSpPr/>
          <p:nvPr/>
        </p:nvSpPr>
        <p:spPr>
          <a:xfrm>
            <a:off x="905256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环节文字4"/>
          <p:cNvSpPr txBox="1"/>
          <p:nvPr/>
        </p:nvSpPr>
        <p:spPr>
          <a:xfrm>
            <a:off x="905256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④ 接入行业数据</a:t>
            </a:r>
            <a:endParaRPr lang="en-US" sz="1900" dirty="0"/>
          </a:p>
        </p:txBody>
      </p:sp>
      <p:sp>
        <p:nvSpPr>
          <p:cNvPr id="27" name="检验标签4"/>
          <p:cNvSpPr txBox="1"/>
          <p:nvPr/>
        </p:nvSpPr>
        <p:spPr>
          <a:xfrm>
            <a:off x="905256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28" name="分隔线"/>
          <p:cNvSpPr/>
          <p:nvPr/>
        </p:nvSpPr>
        <p:spPr>
          <a:xfrm>
            <a:off x="905256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9" name="检验文字4"/>
          <p:cNvSpPr txBox="1"/>
          <p:nvPr/>
        </p:nvSpPr>
        <p:spPr>
          <a:xfrm>
            <a:off x="905256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30" name="分隔线"/>
          <p:cNvSpPr/>
          <p:nvPr/>
        </p:nvSpPr>
        <p:spPr>
          <a:xfrm>
            <a:off x="905256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31" name="评价说明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调查对象、范围、时间与方法的差异均会影响结果，以下逐项检验。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2" grpId="0" animBg="1"/>
      <p:bldP spid="6" grpId="0" animBg="1"/>
      <p:bldP spid="14" grpId="0" animBg="1"/>
      <p:bldP spid="16" grpId="0" animBg="1"/>
      <p:bldP spid="18" grpId="0" animBg="1"/>
      <p:bldP spid="19" grpId="0" animBg="1"/>
      <p:bldP spid="13" grpId="0" animBg="1"/>
      <p:bldP spid="21" grpId="0" animBg="1"/>
      <p:bldP spid="23" grpId="0" animBg="1"/>
      <p:bldP spid="25" grpId="0" animBg="1"/>
      <p:bldP spid="26" grpId="0" animBg="1"/>
      <p:bldP spid="20" grpId="0" animBg="1"/>
      <p:bldP spid="27" grpId="0" animBg="1"/>
      <p:bldP spid="29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调查对象：样本仅为 AI 用户</a:t>
            </a:r>
            <a:endParaRPr lang="en-US" sz="3000" dirty="0"/>
          </a:p>
        </p:txBody>
      </p:sp>
      <p:sp>
        <p:nvSpPr>
          <p:cNvPr id="4" name="总体圈1"/>
          <p:cNvSpPr/>
          <p:nvPr/>
        </p:nvSpPr>
        <p:spPr>
          <a:xfrm>
            <a:off x="914400" y="1554480"/>
            <a:ext cx="4297680" cy="429768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总体标签1"/>
          <p:cNvSpPr txBox="1"/>
          <p:nvPr/>
        </p:nvSpPr>
        <p:spPr>
          <a:xfrm>
            <a:off x="914400" y="1664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美国人口</a:t>
            </a:r>
            <a:endParaRPr lang="en-US" sz="1400" dirty="0"/>
          </a:p>
        </p:txBody>
      </p:sp>
      <p:sp>
        <p:nvSpPr>
          <p:cNvPr id="6" name="总体圈2"/>
          <p:cNvSpPr/>
          <p:nvPr/>
        </p:nvSpPr>
        <p:spPr>
          <a:xfrm>
            <a:off x="1325880" y="2194560"/>
            <a:ext cx="3474720" cy="347472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总体标签2"/>
          <p:cNvSpPr txBox="1"/>
          <p:nvPr/>
        </p:nvSpPr>
        <p:spPr>
          <a:xfrm>
            <a:off x="1325880" y="230428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互联网用户</a:t>
            </a:r>
            <a:endParaRPr lang="en-US" sz="1400" dirty="0"/>
          </a:p>
        </p:txBody>
      </p:sp>
      <p:sp>
        <p:nvSpPr>
          <p:cNvPr id="8" name="总体圈3"/>
          <p:cNvSpPr/>
          <p:nvPr/>
        </p:nvSpPr>
        <p:spPr>
          <a:xfrm>
            <a:off x="1737360" y="2834640"/>
            <a:ext cx="2651760" cy="2651760"/>
          </a:xfrm>
          <a:prstGeom prst="ellipse">
            <a:avLst/>
          </a:prstGeom>
          <a:solidFill>
            <a:srgbClr val="AFC3D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总体标签3"/>
          <p:cNvSpPr txBox="1"/>
          <p:nvPr/>
        </p:nvSpPr>
        <p:spPr>
          <a:xfrm>
            <a:off x="1737360" y="29443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聊天机器人用户</a:t>
            </a:r>
            <a:endParaRPr lang="en-US" sz="1400" dirty="0"/>
          </a:p>
        </p:txBody>
      </p:sp>
      <p:sp>
        <p:nvSpPr>
          <p:cNvPr id="10" name="总体圈4"/>
          <p:cNvSpPr/>
          <p:nvPr/>
        </p:nvSpPr>
        <p:spPr>
          <a:xfrm>
            <a:off x="2194560" y="3474720"/>
            <a:ext cx="1737360" cy="173736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样本标签"/>
          <p:cNvSpPr txBox="1"/>
          <p:nvPr/>
        </p:nvSpPr>
        <p:spPr>
          <a:xfrm>
            <a:off x="2194560" y="37947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样本</a:t>
            </a:r>
            <a:endParaRPr lang="en-US" sz="1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受访者 4,003 人，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均为 AI 聊天机器人用户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以使用 AI 为筛选条件，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不含非用户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结果仅代表 AI 用户，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不能推及全体美国人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报告；尼尔森新闻稿。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5" grpId="0" animBg="1"/>
      <p:bldP spid="7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调查范围：“14 分钟”为六国均值</a:t>
            </a:r>
            <a:endParaRPr lang="en-US" sz="3000" dirty="0"/>
          </a:p>
        </p:txBody>
      </p:sp>
      <p:sp>
        <p:nvSpPr>
          <p:cNvPr id="4" name="原图阴影"/>
          <p:cNvSpPr/>
          <p:nvPr/>
        </p:nvSpPr>
        <p:spPr>
          <a:xfrm>
            <a:off x="548640" y="1645920"/>
            <a:ext cx="5486400" cy="319125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5" name="原图" descr="/home/user/ppt/build/assets/daily_tv_usage_mark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486400" cy="3191256"/>
          </a:xfrm>
          <a:prstGeom prst="rect">
            <a:avLst/>
          </a:prstGeom>
        </p:spPr>
      </p:pic>
      <p:sp>
        <p:nvSpPr>
          <p:cNvPr id="6" name="原图说明"/>
          <p:cNvSpPr txBox="1"/>
          <p:nvPr/>
        </p:nvSpPr>
        <p:spPr>
          <a:xfrm>
            <a:off x="548640" y="4937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报告原图：橙框为六国均值，与尼尔森美国收视数据并列</a:t>
            </a:r>
            <a:endParaRPr lang="en-US" sz="1300" dirty="0"/>
          </a:p>
        </p:txBody>
      </p:sp>
      <p:sp>
        <p:nvSpPr>
          <p:cNvPr id="7" name="对比条"/>
          <p:cNvSpPr txBox="1"/>
          <p:nvPr/>
        </p:nvSpPr>
        <p:spPr>
          <a:xfrm>
            <a:off x="548640" y="5303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12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法国 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26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六国均值 </a:t>
            </a:r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14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</a:t>
            </a:r>
            <a:endParaRPr lang="en-US" sz="1800" dirty="0"/>
          </a:p>
        </p:txBody>
      </p:sp>
      <p:sp>
        <p:nvSpPr>
          <p:cNvPr id="8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0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六国均值被置于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美国收视图表中</a:t>
            </a:r>
            <a:endParaRPr lang="en-US" sz="1800" dirty="0"/>
          </a:p>
        </p:txBody>
      </p:sp>
      <p:sp>
        <p:nvSpPr>
          <p:cNvPr id="11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3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六国等权平均，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法国 26 分钟抬高均值</a:t>
            </a:r>
            <a:endParaRPr lang="en-US" sz="1800" dirty="0"/>
          </a:p>
        </p:txBody>
      </p:sp>
      <p:sp>
        <p:nvSpPr>
          <p:cNvPr id="14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5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16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美国实际为 12 分钟，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易被高估</a:t>
            </a:r>
            <a:endParaRPr lang="en-US" sz="1800" dirty="0"/>
          </a:p>
        </p:txBody>
      </p:sp>
      <p:sp>
        <p:nvSpPr>
          <p:cNvPr id="17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2025 年报告《State of Play》分国家数据（每国 500 人）。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调查时间：比较基准不一致</a:t>
            </a:r>
            <a:endParaRPr lang="en-US" sz="3000" dirty="0"/>
          </a:p>
        </p:txBody>
      </p:sp>
      <p:sp>
        <p:nvSpPr>
          <p:cNvPr id="4" name="对比卡1"/>
          <p:cNvSpPr/>
          <p:nvPr/>
        </p:nvSpPr>
        <p:spPr>
          <a:xfrm>
            <a:off x="548640" y="164592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对比机构1"/>
          <p:cNvSpPr txBox="1"/>
          <p:nvPr/>
        </p:nvSpPr>
        <p:spPr>
          <a:xfrm>
            <a:off x="86868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皮尤研究中心 · 2025 年秋</a:t>
            </a:r>
            <a:endParaRPr lang="en-US" sz="1600" dirty="0"/>
          </a:p>
        </p:txBody>
      </p:sp>
      <p:sp>
        <p:nvSpPr>
          <p:cNvPr id="6" name="对比数字1"/>
          <p:cNvSpPr txBox="1"/>
          <p:nvPr/>
        </p:nvSpPr>
        <p:spPr>
          <a:xfrm>
            <a:off x="868680" y="22402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5600" dirty="0"/>
          </a:p>
        </p:txBody>
      </p:sp>
      <p:sp>
        <p:nvSpPr>
          <p:cNvPr id="7" name="对比分母1"/>
          <p:cNvSpPr txBox="1"/>
          <p:nvPr/>
        </p:nvSpPr>
        <p:spPr>
          <a:xfrm>
            <a:off x="3108960" y="224028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全体 13–14 岁青少年</a:t>
            </a:r>
            <a:endParaRPr lang="en-US" sz="1400" dirty="0"/>
          </a:p>
        </p:txBody>
      </p:sp>
      <p:sp>
        <p:nvSpPr>
          <p:cNvPr id="8" name="对比卡2"/>
          <p:cNvSpPr/>
          <p:nvPr/>
        </p:nvSpPr>
        <p:spPr>
          <a:xfrm>
            <a:off x="548640" y="379476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对比机构2"/>
          <p:cNvSpPr txBox="1"/>
          <p:nvPr/>
        </p:nvSpPr>
        <p:spPr>
          <a:xfrm>
            <a:off x="86868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本报告 · 2026 年初</a:t>
            </a:r>
            <a:endParaRPr lang="en-US" sz="1600" dirty="0"/>
          </a:p>
        </p:txBody>
      </p:sp>
      <p:sp>
        <p:nvSpPr>
          <p:cNvPr id="10" name="对比数字2"/>
          <p:cNvSpPr txBox="1"/>
          <p:nvPr/>
        </p:nvSpPr>
        <p:spPr>
          <a:xfrm>
            <a:off x="868680" y="4389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5600" dirty="0"/>
          </a:p>
        </p:txBody>
      </p:sp>
      <p:sp>
        <p:nvSpPr>
          <p:cNvPr id="11" name="对比分母2"/>
          <p:cNvSpPr txBox="1"/>
          <p:nvPr/>
        </p:nvSpPr>
        <p:spPr>
          <a:xfrm>
            <a:off x="3108960" y="438912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13–14 岁 AI 用户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以皮尤 30% 对比本报告 54%，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称使用正在加速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皮尤为全体青少年，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本报告仅为 AI 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统一分母后仍差约 10 个百分点，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还不能判断“加速”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来源：皮尤《Teens, Social Media and AI Chatbots 2025》数据表（使用者中每日使用 44%）。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研究方法：因果关系未经检验</a:t>
            </a:r>
            <a:endParaRPr lang="en-US" sz="3000" dirty="0"/>
          </a:p>
        </p:txBody>
      </p:sp>
      <p:sp>
        <p:nvSpPr>
          <p:cNvPr id="4" name="数据类型卡1"/>
          <p:cNvSpPr/>
          <p:nvPr/>
        </p:nvSpPr>
        <p:spPr>
          <a:xfrm>
            <a:off x="54864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类型1"/>
          <p:cNvSpPr txBox="1"/>
          <p:nvPr/>
        </p:nvSpPr>
        <p:spPr>
          <a:xfrm>
            <a:off x="82296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意向 · 问卷</a:t>
            </a:r>
            <a:endParaRPr lang="en-US" sz="1600" dirty="0"/>
          </a:p>
        </p:txBody>
      </p:sp>
      <p:sp>
        <p:nvSpPr>
          <p:cNvPr id="6" name="数据类型数字1"/>
          <p:cNvSpPr txBox="1"/>
          <p:nvPr/>
        </p:nvSpPr>
        <p:spPr>
          <a:xfrm>
            <a:off x="822960" y="23317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800" dirty="0"/>
          </a:p>
        </p:txBody>
      </p:sp>
      <p:sp>
        <p:nvSpPr>
          <p:cNvPr id="7" name="数据类型卡2"/>
          <p:cNvSpPr/>
          <p:nvPr/>
        </p:nvSpPr>
        <p:spPr>
          <a:xfrm>
            <a:off x="338328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类型2"/>
          <p:cNvSpPr txBox="1"/>
          <p:nvPr/>
        </p:nvSpPr>
        <p:spPr>
          <a:xfrm>
            <a:off x="36576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行为 · 退订率</a:t>
            </a:r>
            <a:endParaRPr lang="en-US" sz="1600" dirty="0"/>
          </a:p>
        </p:txBody>
      </p:sp>
      <p:sp>
        <p:nvSpPr>
          <p:cNvPr id="9" name="数据类型数字2"/>
          <p:cNvSpPr txBox="1"/>
          <p:nvPr/>
        </p:nvSpPr>
        <p:spPr>
          <a:xfrm>
            <a:off x="3657600" y="23317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</a:t>
            </a:r>
            <a:endParaRPr lang="en-US" sz="3800" dirty="0"/>
          </a:p>
        </p:txBody>
      </p:sp>
      <p:sp>
        <p:nvSpPr>
          <p:cNvPr id="10" name="数据类型卡3"/>
          <p:cNvSpPr/>
          <p:nvPr/>
        </p:nvSpPr>
        <p:spPr>
          <a:xfrm>
            <a:off x="54864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数据类型3"/>
          <p:cNvSpPr txBox="1"/>
          <p:nvPr/>
        </p:nvSpPr>
        <p:spPr>
          <a:xfrm>
            <a:off x="82296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预测 · 普华永道</a:t>
            </a:r>
            <a:endParaRPr lang="en-US" sz="1600" dirty="0"/>
          </a:p>
        </p:txBody>
      </p:sp>
      <p:sp>
        <p:nvSpPr>
          <p:cNvPr id="12" name="数据类型数字3"/>
          <p:cNvSpPr txBox="1"/>
          <p:nvPr/>
        </p:nvSpPr>
        <p:spPr>
          <a:xfrm>
            <a:off x="822960" y="4434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3,185 亿美元</a:t>
            </a:r>
            <a:endParaRPr lang="en-US" sz="2600" dirty="0"/>
          </a:p>
        </p:txBody>
      </p:sp>
      <p:sp>
        <p:nvSpPr>
          <p:cNvPr id="13" name="数据类型卡4"/>
          <p:cNvSpPr/>
          <p:nvPr/>
        </p:nvSpPr>
        <p:spPr>
          <a:xfrm>
            <a:off x="338328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数据类型4"/>
          <p:cNvSpPr txBox="1"/>
          <p:nvPr/>
        </p:nvSpPr>
        <p:spPr>
          <a:xfrm>
            <a:off x="365760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测试 · AI 答题</a:t>
            </a:r>
            <a:endParaRPr lang="en-US" sz="1600" dirty="0"/>
          </a:p>
        </p:txBody>
      </p:sp>
      <p:sp>
        <p:nvSpPr>
          <p:cNvPr id="15" name="数据类型数字4"/>
          <p:cNvSpPr txBox="1"/>
          <p:nvPr/>
        </p:nvSpPr>
        <p:spPr>
          <a:xfrm>
            <a:off x="3657600" y="4434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800" dirty="0"/>
          </a:p>
        </p:txBody>
      </p:sp>
      <p:sp>
        <p:nvSpPr>
          <p:cNvPr id="16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8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退订意向、退订率、预测与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测试数据并列使用</a:t>
            </a:r>
            <a:endParaRPr lang="en-US" sz="1800" dirty="0"/>
          </a:p>
        </p:txBody>
      </p:sp>
      <p:sp>
        <p:nvSpPr>
          <p:cNvPr id="19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21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数据性质不一，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无追踪、无对照</a:t>
            </a:r>
            <a:endParaRPr lang="en-US" sz="1800" dirty="0"/>
          </a:p>
        </p:txBody>
      </p:sp>
      <p:sp>
        <p:nvSpPr>
          <p:cNvPr id="22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4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只能说明同时存在，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不足以证明因果</a:t>
            </a:r>
            <a:endParaRPr lang="en-US" sz="1800" dirty="0"/>
          </a:p>
        </p:txBody>
      </p:sp>
      <p:sp>
        <p:nvSpPr>
          <p:cNvPr id="25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6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报告；普华永道、Veed Analytics 原文；Fabric 数据经 Broadband TV News 转述。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0" grpId="0" animBg="1"/>
      <p:bldP spid="13" grpId="0" animBg="1"/>
      <p:bldP spid="5" grpId="0" animBg="1"/>
      <p:bldP spid="8" grpId="0" animBg="1"/>
      <p:bldP spid="11" grpId="0" animBg="1"/>
      <p:bldP spid="14" grpId="0" animBg="1"/>
      <p:bldP spid="6" grpId="0" animBg="1"/>
      <p:bldP spid="9" grpId="0" animBg="1"/>
      <p:bldP spid="12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05  总结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有参考价值，但结论超出样本所能支持的范围</a:t>
            </a:r>
            <a:endParaRPr lang="en-US" sz="3000" dirty="0"/>
          </a:p>
        </p:txBody>
      </p:sp>
      <p:sp>
        <p:nvSpPr>
          <p:cNvPr id="4" name="结论分隔线"/>
          <p:cNvSpPr/>
          <p:nvPr/>
        </p:nvSpPr>
        <p:spPr>
          <a:xfrm>
            <a:off x="731520" y="160020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5" name="判断环节1"/>
          <p:cNvSpPr txBox="1"/>
          <p:nvPr/>
        </p:nvSpPr>
        <p:spPr>
          <a:xfrm>
            <a:off x="731520" y="1600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年轻人依赖 AI</a:t>
            </a:r>
            <a:endParaRPr lang="en-US" sz="2000" dirty="0"/>
          </a:p>
        </p:txBody>
      </p:sp>
      <p:sp>
        <p:nvSpPr>
          <p:cNvPr id="6" name="判断标签1"/>
          <p:cNvSpPr/>
          <p:nvPr/>
        </p:nvSpPr>
        <p:spPr>
          <a:xfrm>
            <a:off x="5577840" y="1792224"/>
            <a:ext cx="18288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判断标签文字1"/>
          <p:cNvSpPr txBox="1"/>
          <p:nvPr/>
        </p:nvSpPr>
        <p:spPr>
          <a:xfrm>
            <a:off x="5577840" y="1792224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仅限 AI 用户</a:t>
            </a:r>
            <a:endParaRPr lang="en-US" sz="1500" dirty="0"/>
          </a:p>
        </p:txBody>
      </p:sp>
      <p:sp>
        <p:nvSpPr>
          <p:cNvPr id="8" name="结论分隔线"/>
          <p:cNvSpPr/>
          <p:nvPr/>
        </p:nvSpPr>
        <p:spPr>
          <a:xfrm>
            <a:off x="731520" y="242316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9" name="判断环节2"/>
          <p:cNvSpPr txBox="1"/>
          <p:nvPr/>
        </p:nvSpPr>
        <p:spPr>
          <a:xfrm>
            <a:off x="731520" y="2423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信任有限</a:t>
            </a:r>
            <a:endParaRPr lang="en-US" sz="2000" dirty="0"/>
          </a:p>
        </p:txBody>
      </p:sp>
      <p:sp>
        <p:nvSpPr>
          <p:cNvPr id="10" name="判断标签2"/>
          <p:cNvSpPr/>
          <p:nvPr/>
        </p:nvSpPr>
        <p:spPr>
          <a:xfrm>
            <a:off x="5577840" y="2615184"/>
            <a:ext cx="18288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判断标签文字2"/>
          <p:cNvSpPr txBox="1"/>
          <p:nvPr/>
        </p:nvSpPr>
        <p:spPr>
          <a:xfrm>
            <a:off x="5577840" y="2615184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仅限 AI 用户</a:t>
            </a:r>
            <a:endParaRPr lang="en-US" sz="1500" dirty="0"/>
          </a:p>
        </p:txBody>
      </p:sp>
      <p:sp>
        <p:nvSpPr>
          <p:cNvPr id="12" name="结论分隔线"/>
          <p:cNvSpPr/>
          <p:nvPr/>
        </p:nvSpPr>
        <p:spPr>
          <a:xfrm>
            <a:off x="731520" y="324612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3" name="判断环节3"/>
          <p:cNvSpPr txBox="1"/>
          <p:nvPr/>
        </p:nvSpPr>
        <p:spPr>
          <a:xfrm>
            <a:off x="731520" y="32461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难找导致退订</a:t>
            </a:r>
            <a:endParaRPr lang="en-US" sz="2000" dirty="0"/>
          </a:p>
        </p:txBody>
      </p:sp>
      <p:sp>
        <p:nvSpPr>
          <p:cNvPr id="14" name="判断标签3"/>
          <p:cNvSpPr/>
          <p:nvPr/>
        </p:nvSpPr>
        <p:spPr>
          <a:xfrm>
            <a:off x="5577840" y="3438144"/>
            <a:ext cx="1828800" cy="429768"/>
          </a:xfrm>
          <a:prstGeom prst="roundRect">
            <a:avLst>
              <a:gd name="adj" fmla="val 1063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判断标签文字3"/>
          <p:cNvSpPr txBox="1"/>
          <p:nvPr/>
        </p:nvSpPr>
        <p:spPr>
          <a:xfrm>
            <a:off x="5577840" y="3438144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只能说相关</a:t>
            </a:r>
            <a:endParaRPr lang="en-US" sz="1500" dirty="0"/>
          </a:p>
        </p:txBody>
      </p:sp>
      <p:sp>
        <p:nvSpPr>
          <p:cNvPr id="16" name="结论分隔线"/>
          <p:cNvSpPr/>
          <p:nvPr/>
        </p:nvSpPr>
        <p:spPr>
          <a:xfrm>
            <a:off x="731520" y="406908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7" name="判断环节4"/>
          <p:cNvSpPr txBox="1"/>
          <p:nvPr/>
        </p:nvSpPr>
        <p:spPr>
          <a:xfrm>
            <a:off x="731520" y="4069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 接入行业数据</a:t>
            </a:r>
            <a:endParaRPr lang="en-US" sz="2000" dirty="0"/>
          </a:p>
        </p:txBody>
      </p:sp>
      <p:sp>
        <p:nvSpPr>
          <p:cNvPr id="18" name="判断标签4"/>
          <p:cNvSpPr/>
          <p:nvPr/>
        </p:nvSpPr>
        <p:spPr>
          <a:xfrm>
            <a:off x="5577840" y="4261104"/>
            <a:ext cx="1828800" cy="429768"/>
          </a:xfrm>
          <a:prstGeom prst="roundRect">
            <a:avLst>
              <a:gd name="adj" fmla="val 10638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判断标签文字4"/>
          <p:cNvSpPr txBox="1"/>
          <p:nvPr/>
        </p:nvSpPr>
        <p:spPr>
          <a:xfrm>
            <a:off x="5577840" y="4261104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未经检验</a:t>
            </a:r>
            <a:endParaRPr lang="en-US" sz="1500" dirty="0"/>
          </a:p>
        </p:txBody>
      </p:sp>
      <p:sp>
        <p:nvSpPr>
          <p:cNvPr id="20" name="结论分隔线"/>
          <p:cNvSpPr/>
          <p:nvPr/>
        </p:nvSpPr>
        <p:spPr>
          <a:xfrm>
            <a:off x="731520" y="489204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21" name="参考价值"/>
          <p:cNvSpPr txBox="1"/>
          <p:nvPr/>
        </p:nvSpPr>
        <p:spPr>
          <a:xfrm>
            <a:off x="731520" y="49834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皮尤、Veed 等独立来源也指向同样两个方向：年轻人更多用 AI 找内容，AI 回答“在哪看”不够可靠。</a:t>
            </a:r>
            <a:endParaRPr lang="en-US" sz="1600" dirty="0"/>
          </a:p>
        </p:txBody>
      </p:sp>
      <p:sp>
        <p:nvSpPr>
          <p:cNvPr id="22" name="改进卡"/>
          <p:cNvSpPr/>
          <p:nvPr/>
        </p:nvSpPr>
        <p:spPr>
          <a:xfrm>
            <a:off x="7726680" y="1600200"/>
            <a:ext cx="3749040" cy="4114800"/>
          </a:xfrm>
          <a:prstGeom prst="roundRect">
            <a:avLst>
              <a:gd name="adj" fmla="val 122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改进内容"/>
          <p:cNvSpPr txBox="1"/>
          <p:nvPr/>
        </p:nvSpPr>
        <p:spPr>
          <a:xfrm>
            <a:off x="8001000" y="1783080"/>
            <a:ext cx="3291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改进方向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采用概率样本，含非 AI 用户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同一问卷问困难与退订，追踪同一批人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公开招募、配额、加权、回收率</a:t>
            </a:r>
            <a:endParaRPr lang="en-US" sz="1500" dirty="0"/>
          </a:p>
        </p:txBody>
      </p:sp>
      <p:sp>
        <p:nvSpPr>
          <p:cNvPr id="24" name="局限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局限：评价依据公开资料；个别来源只有媒体转述，如 Fabric 的流失率。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Navy Brief">
  <a:themeElements>
    <a:clrScheme name="Navy Brief">
      <a:dk1>
        <a:srgbClr val="1F2937"/>
      </a:dk1>
      <a:lt1>
        <a:srgbClr val="FFFFFF"/>
      </a:lt1>
      <a:dk2>
        <a:srgbClr val="1F2A44"/>
      </a:dk2>
      <a:lt2>
        <a:srgbClr val="F4F5F7"/>
      </a:lt2>
      <a:accent1>
        <a:srgbClr val="2F6690"/>
      </a:accent1>
      <a:accent2>
        <a:srgbClr val="3A7D44"/>
      </a:accent2>
      <a:accent3>
        <a:srgbClr val="D9542B"/>
      </a:accent3>
      <a:accent4>
        <a:srgbClr val="F2A65A"/>
      </a:accent4>
      <a:accent5>
        <a:srgbClr val="6B7280"/>
      </a:accent5>
      <a:accent6>
        <a:srgbClr val="DCE3EC"/>
      </a:accent6>
      <a:hlink>
        <a:srgbClr val="2F6690"/>
      </a:hlink>
      <a:folHlink>
        <a:srgbClr val="6B7280"/>
      </a:folHlink>
    </a:clrScheme>
    <a:fontScheme name="Navy Brief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报告评析</dc:title>
  <dc:subject>市场调研：方法与实践 课后作业</dc:subject>
  <dc:creator>PptxGenJS</dc:creator>
  <cp:lastModifiedBy>PptxGenJS</cp:lastModifiedBy>
  <cp:revision>1</cp:revision>
  <dcterms:created xsi:type="dcterms:W3CDTF">2026-10-11T10:55:10Z</dcterms:created>
  <dcterms:modified xsi:type="dcterms:W3CDTF">2026-10-11T10:55:10Z</dcterms:modified>
</cp:coreProperties>
</file>