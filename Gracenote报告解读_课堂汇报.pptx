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26b24f85-4d8a-11bc-a8e1-a6d71a209703}">
          <p14:sldIdLst>
            <p14:sldId id="256"/>
            <p14:sldId id="257"/>
          </p14:sldIdLst>
        </p14:section>
        <p14:section name="报告介绍" id="{5031436b-0417-bd18-f831-ab63c9b7ee6d}">
          <p14:sldIdLst>
            <p14:sldId id="258"/>
            <p14:sldId id="259"/>
            <p14:sldId id="260"/>
            <p14:sldId id="261"/>
          </p14:sldIdLst>
        </p14:section>
        <p14:section name="方法评价" id="{5ceb1784-8add-7693-a31e-60a9102c4a07}">
          <p14:sldIdLst>
            <p14:sldId id="262"/>
            <p14:sldId id="263"/>
            <p14:sldId id="264"/>
            <p14:sldId id="265"/>
            <p14:sldId id="266"/>
          </p14:sldIdLst>
        </p14:section>
        <p14:section name="结论" id="{0966a616-0609-e722-7993-883bdad9d1a2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秒】各位老师、同学好，我是黄广润。我汇报的是尼尔森旗下 Gracenote 公司 2026 年 4 月的报告，《AI 时代的电视搜索与内容发现》。报告称，13 至 14 岁受访者中 54% 每天使用 AI。这个比例来自哪一类样本，是本次评析要看的第一点。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秒】先说结论。这份报告反映了 AI 用户的变化，有参考价值，但样本只包括 AI 用户，结论不适合推到美国的整体人群。下面分五个部分讲。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秒】研究背景是，流媒体平台增多，节目分散，用户找节目的成本上升，AI 聊天机器人成了新的找节目方式。报告考察三个问题：AI 使用频率、找节目的难度与退订意向，以及对 AI 回答的信任。需要说明，Gracenote 的主要业务就是节目数据。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秒】研究方法方面，数据主要来自两项线上问卷。第一项在 2026 年 1 至 2 月进行，对象是 4003 名 13 至 79 岁的美国 AI 聊天机器人用户。第二项在 2025 年夏天进行，覆盖六国，每国 500 名流媒体用户。两项调查，报告都没有说明抽样方法。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秒】报告的第一项结论是，13 至 14 岁的 AI 用户中 54% 每天使用，75% 的受访者会核对 AI 的回答。报告解释说，AI 的回答直接，还可以追问，所以使用增加；但它可能出错，用户仍需核对。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秒】第二项结论与找节目有关。用户平均要花 14 分钟找节目，18 至 34 岁的受访者中 54% 表示可能因此退订，AI 只能正确回答约三分之二的播出平台。报告据此提出，AI 需要接入可靠的行业数据。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秒】报告的推论共四个环节：年轻人依赖 AI，对 AI 信任不足，找节目困难导致退订，因此 AI 应接入行业数据。下面从四个方面逐项检查。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秒】先看调查对象。4003 名受访者都是 AI 聊天机器人用户，样本不包括不用 AI 的人。所以 54% 和 75% 只代表 AI 用户，不能当作美国人整体的情况，报告正文却有几处写成“美国人”。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秒】再看调查范围。报告说平均找节目要 14 分钟，这是六国的简单平均，法国的 26 分钟拉高了均值，美国自己是 12 分钟。但它被放在美国的收视图表里，容易被当成美国的数据。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秒】第三是调查时间与比较基准。报告拿皮尤 2025 年秋天的 30%，对比自己 2026 年初的 54%，认为使用频率在加速。但皮尤的分母是全体青少年，同为 13 至 14 岁只有 24%，而本报告只统计 AI 用户。分母统一为使用者后，差距约 10 个百分点，不足以支持“加速”。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秒】第四是研究方法。“找节目困难导致退订”用到了退订意向、退订率、市场预测和 AI 测试四类数据，性质不同，也没有追踪同一批人。这样的数据只能说明两者有关联，不能证明因果。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35 秒】总的来说，这份报告对 AI 用户的描述有参考价值，年轻人更多用 AI 找内容、AI 回答不够可靠，这两个方向与皮尤等独立来源一致。但前两个结论只适用于 AI 用户，第三个只能说明相关，第四个报告没有检验。最后留一个问题供讨论：要检验找节目困难与退订的因果关系，应怎样设计调查？谢谢大家。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封面图" descr="/home/user/ppt/build/assets/cover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sp>
        <p:nvSpPr>
          <p:cNvPr id="3" name="课程名"/>
          <p:cNvSpPr txBox="1"/>
          <p:nvPr/>
        </p:nvSpPr>
        <p:spPr>
          <a:xfrm>
            <a:off x="731520" y="8686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市场调研：方法与实践 · 课后作业</a:t>
            </a:r>
            <a:endParaRPr lang="en-US" sz="15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325880"/>
            <a:ext cx="5394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0632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年研究报告评析</a:t>
            </a:r>
            <a:endParaRPr lang="en-US" sz="1800" dirty="0"/>
          </a:p>
        </p:txBody>
      </p:sp>
      <p:sp>
        <p:nvSpPr>
          <p:cNvPr id="6" name="汇报人"/>
          <p:cNvSpPr txBox="1"/>
          <p:nvPr/>
        </p:nvSpPr>
        <p:spPr>
          <a:xfrm>
            <a:off x="731520" y="59893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黄广润　524031910373</a:t>
            </a:r>
            <a:endParaRPr lang="en-US" sz="1500" dirty="0"/>
          </a:p>
        </p:txBody>
      </p:sp>
      <p:sp>
        <p:nvSpPr>
          <p:cNvPr id="7" name="封面分隔线"/>
          <p:cNvSpPr/>
          <p:nvPr/>
        </p:nvSpPr>
        <p:spPr>
          <a:xfrm>
            <a:off x="731520" y="4160520"/>
            <a:ext cx="512064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8" name="封面数字"/>
          <p:cNvSpPr txBox="1"/>
          <p:nvPr/>
        </p:nvSpPr>
        <p:spPr>
          <a:xfrm>
            <a:off x="731520" y="43434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800" dirty="0"/>
          </a:p>
        </p:txBody>
      </p:sp>
      <p:sp>
        <p:nvSpPr>
          <p:cNvPr id="9" name="封面问题"/>
          <p:cNvSpPr txBox="1"/>
          <p:nvPr/>
        </p:nvSpPr>
        <p:spPr>
          <a:xfrm>
            <a:off x="265176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13–14 岁受访者每日使用 AI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该比例来自哪类样本？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9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报告结论的适用范围小于其表述</a:t>
            </a:r>
            <a:endParaRPr lang="en-US" sz="3000" dirty="0"/>
          </a:p>
        </p:txBody>
      </p:sp>
      <p:sp>
        <p:nvSpPr>
          <p:cNvPr id="4" name="分隔线"/>
          <p:cNvSpPr/>
          <p:nvPr/>
        </p:nvSpPr>
        <p:spPr>
          <a:xfrm>
            <a:off x="548640" y="16459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548640" y="1645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框架名1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分隔线"/>
          <p:cNvSpPr/>
          <p:nvPr/>
        </p:nvSpPr>
        <p:spPr>
          <a:xfrm>
            <a:off x="548640" y="246888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548640" y="2468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框架名2"/>
          <p:cNvSpPr txBox="1"/>
          <p:nvPr/>
        </p:nvSpPr>
        <p:spPr>
          <a:xfrm>
            <a:off x="1371600" y="2468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329184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548640" y="3291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框架名3"/>
          <p:cNvSpPr txBox="1"/>
          <p:nvPr/>
        </p:nvSpPr>
        <p:spPr>
          <a:xfrm>
            <a:off x="1371600" y="3291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研究结论</a:t>
            </a:r>
            <a:endParaRPr lang="en-US" sz="2000" dirty="0"/>
          </a:p>
        </p:txBody>
      </p:sp>
      <p:sp>
        <p:nvSpPr>
          <p:cNvPr id="13" name="分隔线"/>
          <p:cNvSpPr/>
          <p:nvPr/>
        </p:nvSpPr>
        <p:spPr>
          <a:xfrm>
            <a:off x="548640" y="411480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548640" y="4114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5" name="框架名4"/>
          <p:cNvSpPr txBox="1"/>
          <p:nvPr/>
        </p:nvSpPr>
        <p:spPr>
          <a:xfrm>
            <a:off x="1371600" y="41148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思考与评价</a:t>
            </a:r>
            <a:endParaRPr lang="en-US" sz="2000" dirty="0"/>
          </a:p>
        </p:txBody>
      </p:sp>
      <p:sp>
        <p:nvSpPr>
          <p:cNvPr id="16" name="分隔线"/>
          <p:cNvSpPr/>
          <p:nvPr/>
        </p:nvSpPr>
        <p:spPr>
          <a:xfrm>
            <a:off x="548640" y="493776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54864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18" name="框架名5"/>
          <p:cNvSpPr txBox="1"/>
          <p:nvPr/>
        </p:nvSpPr>
        <p:spPr>
          <a:xfrm>
            <a:off x="137160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总体判断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760720"/>
            <a:ext cx="548640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结论卡"/>
          <p:cNvSpPr/>
          <p:nvPr/>
        </p:nvSpPr>
        <p:spPr>
          <a:xfrm>
            <a:off x="6583680" y="1645920"/>
            <a:ext cx="5029200" cy="4114800"/>
          </a:xfrm>
          <a:prstGeom prst="roundRect">
            <a:avLst>
              <a:gd name="adj" fmla="val 11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结论"/>
          <p:cNvSpPr txBox="1"/>
          <p:nvPr/>
        </p:nvSpPr>
        <p:spPr>
          <a:xfrm>
            <a:off x="6949440" y="1828800"/>
            <a:ext cx="42976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结论</a:t>
            </a:r>
            <a:endParaRPr lang="en-US" sz="15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报告反映了 AI 用户的变化，具有参考价值；但样本仅限 AI 用户，结论不宜推及美国整体人群。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研究问题：AI 如何改变节目检索</a:t>
            </a:r>
            <a:endParaRPr lang="en-US" sz="3000" dirty="0"/>
          </a:p>
        </p:txBody>
      </p:sp>
      <p:sp>
        <p:nvSpPr>
          <p:cNvPr id="4" name="背景"/>
          <p:cNvSpPr txBox="1"/>
          <p:nvPr/>
        </p:nvSpPr>
        <p:spPr>
          <a:xfrm>
            <a:off x="548640" y="1554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背景：流媒体平台增多，节目分散，检索成本上升；AI 聊天机器人成为新的检索工具。</a:t>
            </a:r>
            <a:endParaRPr lang="en-US" sz="1800" dirty="0"/>
          </a:p>
        </p:txBody>
      </p:sp>
      <p:sp>
        <p:nvSpPr>
          <p:cNvPr id="5" name="分隔线"/>
          <p:cNvSpPr/>
          <p:nvPr/>
        </p:nvSpPr>
        <p:spPr>
          <a:xfrm>
            <a:off x="548640" y="251460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6" name="问题编号1"/>
          <p:cNvSpPr txBox="1"/>
          <p:nvPr/>
        </p:nvSpPr>
        <p:spPr>
          <a:xfrm>
            <a:off x="548640" y="25146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问题一</a:t>
            </a:r>
            <a:endParaRPr lang="en-US" sz="1400" dirty="0"/>
          </a:p>
        </p:txBody>
      </p:sp>
      <p:sp>
        <p:nvSpPr>
          <p:cNvPr id="7" name="问题名1"/>
          <p:cNvSpPr txBox="1"/>
          <p:nvPr/>
        </p:nvSpPr>
        <p:spPr>
          <a:xfrm>
            <a:off x="1508760" y="25146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使用频率</a:t>
            </a:r>
            <a:endParaRPr lang="en-US" sz="2100" dirty="0"/>
          </a:p>
        </p:txBody>
      </p:sp>
      <p:sp>
        <p:nvSpPr>
          <p:cNvPr id="8" name="问题内容1"/>
          <p:cNvSpPr txBox="1"/>
          <p:nvPr/>
        </p:nvSpPr>
        <p:spPr>
          <a:xfrm>
            <a:off x="3611880" y="25146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各年龄层 AI 使用频率</a:t>
            </a:r>
            <a:endParaRPr lang="en-US" sz="1800" dirty="0"/>
          </a:p>
        </p:txBody>
      </p:sp>
      <p:sp>
        <p:nvSpPr>
          <p:cNvPr id="9" name="分隔线"/>
          <p:cNvSpPr/>
          <p:nvPr/>
        </p:nvSpPr>
        <p:spPr>
          <a:xfrm>
            <a:off x="548640" y="329184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0" name="问题编号2"/>
          <p:cNvSpPr txBox="1"/>
          <p:nvPr/>
        </p:nvSpPr>
        <p:spPr>
          <a:xfrm>
            <a:off x="548640" y="329184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问题二</a:t>
            </a:r>
            <a:endParaRPr lang="en-US" sz="1400" dirty="0"/>
          </a:p>
        </p:txBody>
      </p:sp>
      <p:sp>
        <p:nvSpPr>
          <p:cNvPr id="11" name="问题名2"/>
          <p:cNvSpPr txBox="1"/>
          <p:nvPr/>
        </p:nvSpPr>
        <p:spPr>
          <a:xfrm>
            <a:off x="1508760" y="32918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检索难度</a:t>
            </a:r>
            <a:endParaRPr lang="en-US" sz="2100" dirty="0"/>
          </a:p>
        </p:txBody>
      </p:sp>
      <p:sp>
        <p:nvSpPr>
          <p:cNvPr id="12" name="问题内容2"/>
          <p:cNvSpPr txBox="1"/>
          <p:nvPr/>
        </p:nvSpPr>
        <p:spPr>
          <a:xfrm>
            <a:off x="3611880" y="32918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检索耗时与退订意向</a:t>
            </a:r>
            <a:endParaRPr lang="en-US" sz="1800" dirty="0"/>
          </a:p>
        </p:txBody>
      </p:sp>
      <p:sp>
        <p:nvSpPr>
          <p:cNvPr id="13" name="分隔线"/>
          <p:cNvSpPr/>
          <p:nvPr/>
        </p:nvSpPr>
        <p:spPr>
          <a:xfrm>
            <a:off x="548640" y="406908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4" name="问题编号3"/>
          <p:cNvSpPr txBox="1"/>
          <p:nvPr/>
        </p:nvSpPr>
        <p:spPr>
          <a:xfrm>
            <a:off x="548640" y="406908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问题三</a:t>
            </a:r>
            <a:endParaRPr lang="en-US" sz="1400" dirty="0"/>
          </a:p>
        </p:txBody>
      </p:sp>
      <p:sp>
        <p:nvSpPr>
          <p:cNvPr id="15" name="问题名3"/>
          <p:cNvSpPr txBox="1"/>
          <p:nvPr/>
        </p:nvSpPr>
        <p:spPr>
          <a:xfrm>
            <a:off x="1508760" y="40690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信任程度</a:t>
            </a:r>
            <a:endParaRPr lang="en-US" sz="2100" dirty="0"/>
          </a:p>
        </p:txBody>
      </p:sp>
      <p:sp>
        <p:nvSpPr>
          <p:cNvPr id="16" name="问题内容3"/>
          <p:cNvSpPr txBox="1"/>
          <p:nvPr/>
        </p:nvSpPr>
        <p:spPr>
          <a:xfrm>
            <a:off x="3611880" y="406908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 AI 回答的核查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548640" y="4846320"/>
            <a:ext cx="65836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研究机构"/>
          <p:cNvSpPr txBox="1"/>
          <p:nvPr/>
        </p:nvSpPr>
        <p:spPr>
          <a:xfrm>
            <a:off x="548640" y="49834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研究机构 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Gracenote，尼尔森旗下节目数据公司。报告建议接入的行业数据，即其主营业务。</a:t>
            </a:r>
            <a:endParaRPr lang="en-US" sz="1700" dirty="0"/>
          </a:p>
        </p:txBody>
      </p:sp>
      <p:sp>
        <p:nvSpPr>
          <p:cNvPr id="19" name="报告封面阴影"/>
          <p:cNvSpPr/>
          <p:nvPr/>
        </p:nvSpPr>
        <p:spPr>
          <a:xfrm>
            <a:off x="7635240" y="2514600"/>
            <a:ext cx="3977640" cy="241401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20" name="报告封面" descr="/home/user/ppt/build/assets/report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2514600"/>
            <a:ext cx="3977640" cy="2414016"/>
          </a:xfrm>
          <a:prstGeom prst="rect">
            <a:avLst/>
          </a:prstGeom>
        </p:spPr>
      </p:pic>
      <p:sp>
        <p:nvSpPr>
          <p:cNvPr id="21" name="封面图注"/>
          <p:cNvSpPr txBox="1"/>
          <p:nvPr/>
        </p:nvSpPr>
        <p:spPr>
          <a:xfrm>
            <a:off x="7635240" y="50749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报告封面 · Gracenote，2026 年 4 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9" grpId="0" animBg="1"/>
      <p:bldP spid="21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研究方法：两项线上问卷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调查方式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线上问卷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抽样方式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报告未说明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5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说明"/>
          <p:cNvSpPr txBox="1"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报告另引用尼尔森、皮尤、德勤、普华永道等 11 个外部来源。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结论一：AI 使用普遍，信任有限</a:t>
            </a:r>
            <a:endParaRPr lang="en-US" sz="3000" dirty="0"/>
          </a:p>
        </p:txBody>
      </p:sp>
      <p:sp>
        <p:nvSpPr>
          <p:cNvPr id="4" name="数据卡1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1"/>
          <p:cNvSpPr txBox="1"/>
          <p:nvPr/>
        </p:nvSpPr>
        <p:spPr>
          <a:xfrm>
            <a:off x="91440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6" name="数据说明1"/>
          <p:cNvSpPr txBox="1"/>
          <p:nvPr/>
        </p:nvSpPr>
        <p:spPr>
          <a:xfrm>
            <a:off x="329184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每日使用</a:t>
            </a:r>
            <a:endParaRPr lang="en-US" sz="2000" dirty="0"/>
          </a:p>
        </p:txBody>
      </p:sp>
      <p:sp>
        <p:nvSpPr>
          <p:cNvPr id="7" name="数据卡2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2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2"/>
          <p:cNvSpPr txBox="1"/>
          <p:nvPr/>
        </p:nvSpPr>
        <p:spPr>
          <a:xfrm>
            <a:off x="6537960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000" dirty="0"/>
          </a:p>
        </p:txBody>
      </p:sp>
      <p:sp>
        <p:nvSpPr>
          <p:cNvPr id="9" name="数据说明2"/>
          <p:cNvSpPr txBox="1"/>
          <p:nvPr/>
        </p:nvSpPr>
        <p:spPr>
          <a:xfrm>
            <a:off x="8915400" y="164592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核对 AI 回答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77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报告的解释</a:t>
            </a:r>
            <a:endParaRPr lang="en-US" sz="1600" dirty="0"/>
          </a:p>
        </p:txBody>
      </p:sp>
      <p:sp>
        <p:nvSpPr>
          <p:cNvPr id="11" name="分隔线"/>
          <p:cNvSpPr/>
          <p:nvPr/>
        </p:nvSpPr>
        <p:spPr>
          <a:xfrm>
            <a:off x="548640" y="44348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1"/>
          <p:cNvSpPr txBox="1"/>
          <p:nvPr/>
        </p:nvSpPr>
        <p:spPr>
          <a:xfrm>
            <a:off x="548640" y="4434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回答直接、可追问</a:t>
            </a:r>
            <a:endParaRPr lang="en-US" sz="2000" dirty="0"/>
          </a:p>
        </p:txBody>
      </p:sp>
      <p:sp>
        <p:nvSpPr>
          <p:cNvPr id="13" name="箭头1"/>
          <p:cNvSpPr txBox="1"/>
          <p:nvPr/>
        </p:nvSpPr>
        <p:spPr>
          <a:xfrm>
            <a:off x="6583680" y="44348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结果1"/>
          <p:cNvSpPr txBox="1"/>
          <p:nvPr/>
        </p:nvSpPr>
        <p:spPr>
          <a:xfrm>
            <a:off x="7040880" y="44348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使用增加</a:t>
            </a:r>
            <a:endParaRPr lang="en-US" sz="2000" dirty="0"/>
          </a:p>
        </p:txBody>
      </p:sp>
      <p:sp>
        <p:nvSpPr>
          <p:cNvPr id="15" name="分隔线"/>
          <p:cNvSpPr/>
          <p:nvPr/>
        </p:nvSpPr>
        <p:spPr>
          <a:xfrm>
            <a:off x="548640" y="51206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2"/>
          <p:cNvSpPr txBox="1"/>
          <p:nvPr/>
        </p:nvSpPr>
        <p:spPr>
          <a:xfrm>
            <a:off x="548640" y="5120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可能生成错误信息</a:t>
            </a:r>
            <a:endParaRPr lang="en-US" sz="2000" dirty="0"/>
          </a:p>
        </p:txBody>
      </p:sp>
      <p:sp>
        <p:nvSpPr>
          <p:cNvPr id="17" name="箭头2"/>
          <p:cNvSpPr txBox="1"/>
          <p:nvPr/>
        </p:nvSpPr>
        <p:spPr>
          <a:xfrm>
            <a:off x="6583680" y="512064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结果2"/>
          <p:cNvSpPr txBox="1"/>
          <p:nvPr/>
        </p:nvSpPr>
        <p:spPr>
          <a:xfrm>
            <a:off x="7040880" y="5120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需要核对</a:t>
            </a:r>
            <a:endParaRPr lang="en-US" sz="2000" dirty="0"/>
          </a:p>
        </p:txBody>
      </p:sp>
      <p:sp>
        <p:nvSpPr>
          <p:cNvPr id="19" name="分隔线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研究结论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结论二：检索困难与退订风险</a:t>
            </a:r>
            <a:endParaRPr lang="en-US" sz="3000" dirty="0"/>
          </a:p>
        </p:txBody>
      </p:sp>
      <p:sp>
        <p:nvSpPr>
          <p:cNvPr id="4" name="步骤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名1"/>
          <p:cNvSpPr txBox="1"/>
          <p:nvPr/>
        </p:nvSpPr>
        <p:spPr>
          <a:xfrm>
            <a:off x="82296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内容分散</a:t>
            </a:r>
            <a:endParaRPr lang="en-US" sz="2000" dirty="0"/>
          </a:p>
        </p:txBody>
      </p:sp>
      <p:sp>
        <p:nvSpPr>
          <p:cNvPr id="6" name="步骤数字1"/>
          <p:cNvSpPr txBox="1"/>
          <p:nvPr/>
        </p:nvSpPr>
        <p:spPr>
          <a:xfrm>
            <a:off x="82296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7" name="步骤说明1"/>
          <p:cNvSpPr txBox="1"/>
          <p:nvPr/>
        </p:nvSpPr>
        <p:spPr>
          <a:xfrm>
            <a:off x="82296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联网电视占美国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电视时长</a:t>
            </a:r>
            <a:endParaRPr lang="en-US" sz="1600" dirty="0"/>
          </a:p>
        </p:txBody>
      </p:sp>
      <p:sp>
        <p:nvSpPr>
          <p:cNvPr id="8" name="链箭头1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步骤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步骤名2"/>
          <p:cNvSpPr txBox="1"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检索耗时</a:t>
            </a:r>
            <a:endParaRPr lang="en-US" sz="2000" dirty="0"/>
          </a:p>
        </p:txBody>
      </p:sp>
      <p:sp>
        <p:nvSpPr>
          <p:cNvPr id="11" name="步骤数字2"/>
          <p:cNvSpPr txBox="1"/>
          <p:nvPr/>
        </p:nvSpPr>
        <p:spPr>
          <a:xfrm>
            <a:off x="365760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2" name="步骤说明2"/>
          <p:cNvSpPr txBox="1"/>
          <p:nvPr/>
        </p:nvSpPr>
        <p:spPr>
          <a:xfrm>
            <a:off x="365760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平均检索时长</a:t>
            </a:r>
            <a:endParaRPr lang="en-US" sz="1600" dirty="0"/>
          </a:p>
        </p:txBody>
      </p:sp>
      <p:sp>
        <p:nvSpPr>
          <p:cNvPr id="13" name="链箭头2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步骤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步骤名3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退订意向</a:t>
            </a:r>
            <a:endParaRPr lang="en-US" sz="2000" dirty="0"/>
          </a:p>
        </p:txBody>
      </p:sp>
      <p:sp>
        <p:nvSpPr>
          <p:cNvPr id="16" name="步骤数字3"/>
          <p:cNvSpPr txBox="1"/>
          <p:nvPr/>
        </p:nvSpPr>
        <p:spPr>
          <a:xfrm>
            <a:off x="649224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7" name="步骤说明3"/>
          <p:cNvSpPr txBox="1"/>
          <p:nvPr/>
        </p:nvSpPr>
        <p:spPr>
          <a:xfrm>
            <a:off x="649224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18" name="链箭头3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步骤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17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步骤名4"/>
          <p:cNvSpPr txBox="1"/>
          <p:nvPr/>
        </p:nvSpPr>
        <p:spPr>
          <a:xfrm>
            <a:off x="93268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接入行业数据</a:t>
            </a:r>
            <a:endParaRPr lang="en-US" sz="2000" dirty="0"/>
          </a:p>
        </p:txBody>
      </p:sp>
      <p:sp>
        <p:nvSpPr>
          <p:cNvPr id="21" name="步骤数字4"/>
          <p:cNvSpPr txBox="1"/>
          <p:nvPr/>
        </p:nvSpPr>
        <p:spPr>
          <a:xfrm>
            <a:off x="9326880" y="27432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2" name="步骤说明4"/>
          <p:cNvSpPr txBox="1"/>
          <p:nvPr/>
        </p:nvSpPr>
        <p:spPr>
          <a:xfrm>
            <a:off x="9326880" y="39319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正确回答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播出平台的比例</a:t>
            </a:r>
            <a:endParaRPr lang="en-US" sz="16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8" grpId="0" animBg="1"/>
      <p:bldP spid="14" grpId="0" animBg="1"/>
      <p:bldP spid="15" grpId="0" animBg="1"/>
      <p:bldP spid="16" grpId="0" animBg="1"/>
      <p:bldP spid="17" grpId="0" animBg="1"/>
      <p:bldP spid="13" grpId="0" animBg="1"/>
      <p:bldP spid="19" grpId="0" animBg="1"/>
      <p:bldP spid="20" grpId="0" animBg="1"/>
      <p:bldP spid="21" grpId="0" animBg="1"/>
      <p:bldP spid="22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评价：逐项检验四个推论环节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① 依赖 AI</a:t>
            </a:r>
            <a:endParaRPr lang="en-US" sz="1900" dirty="0"/>
          </a:p>
        </p:txBody>
      </p:sp>
      <p:sp>
        <p:nvSpPr>
          <p:cNvPr id="6" name="环节箭头1"/>
          <p:cNvSpPr txBox="1"/>
          <p:nvPr/>
        </p:nvSpPr>
        <p:spPr>
          <a:xfrm>
            <a:off x="310896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7" name="检验标签1"/>
          <p:cNvSpPr txBox="1"/>
          <p:nvPr/>
        </p:nvSpPr>
        <p:spPr>
          <a:xfrm>
            <a:off x="54864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8" name="分隔线"/>
          <p:cNvSpPr/>
          <p:nvPr/>
        </p:nvSpPr>
        <p:spPr>
          <a:xfrm>
            <a:off x="54864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54864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分隔线"/>
          <p:cNvSpPr/>
          <p:nvPr/>
        </p:nvSpPr>
        <p:spPr>
          <a:xfrm>
            <a:off x="54864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1" name="环节2"/>
          <p:cNvSpPr/>
          <p:nvPr/>
        </p:nvSpPr>
        <p:spPr>
          <a:xfrm>
            <a:off x="338328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环节文字2"/>
          <p:cNvSpPr txBox="1"/>
          <p:nvPr/>
        </p:nvSpPr>
        <p:spPr>
          <a:xfrm>
            <a:off x="338328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② 信任不足</a:t>
            </a:r>
            <a:endParaRPr lang="en-US" sz="1900" dirty="0"/>
          </a:p>
        </p:txBody>
      </p:sp>
      <p:sp>
        <p:nvSpPr>
          <p:cNvPr id="13" name="环节箭头2"/>
          <p:cNvSpPr txBox="1"/>
          <p:nvPr/>
        </p:nvSpPr>
        <p:spPr>
          <a:xfrm>
            <a:off x="594360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检验标签2"/>
          <p:cNvSpPr txBox="1"/>
          <p:nvPr/>
        </p:nvSpPr>
        <p:spPr>
          <a:xfrm>
            <a:off x="338328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15" name="分隔线"/>
          <p:cNvSpPr/>
          <p:nvPr/>
        </p:nvSpPr>
        <p:spPr>
          <a:xfrm>
            <a:off x="338328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检验文字2"/>
          <p:cNvSpPr txBox="1"/>
          <p:nvPr/>
        </p:nvSpPr>
        <p:spPr>
          <a:xfrm>
            <a:off x="338328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7" name="分隔线"/>
          <p:cNvSpPr/>
          <p:nvPr/>
        </p:nvSpPr>
        <p:spPr>
          <a:xfrm>
            <a:off x="338328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环节3"/>
          <p:cNvSpPr/>
          <p:nvPr/>
        </p:nvSpPr>
        <p:spPr>
          <a:xfrm>
            <a:off x="621792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环节文字3"/>
          <p:cNvSpPr txBox="1"/>
          <p:nvPr/>
        </p:nvSpPr>
        <p:spPr>
          <a:xfrm>
            <a:off x="621792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③ 难找导致退订</a:t>
            </a:r>
            <a:endParaRPr lang="en-US" sz="1900" dirty="0"/>
          </a:p>
        </p:txBody>
      </p:sp>
      <p:sp>
        <p:nvSpPr>
          <p:cNvPr id="20" name="环节箭头3"/>
          <p:cNvSpPr txBox="1"/>
          <p:nvPr/>
        </p:nvSpPr>
        <p:spPr>
          <a:xfrm>
            <a:off x="8778240" y="1645920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检验标签3"/>
          <p:cNvSpPr txBox="1"/>
          <p:nvPr/>
        </p:nvSpPr>
        <p:spPr>
          <a:xfrm>
            <a:off x="621792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2" name="分隔线"/>
          <p:cNvSpPr/>
          <p:nvPr/>
        </p:nvSpPr>
        <p:spPr>
          <a:xfrm>
            <a:off x="621792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检验文字3"/>
          <p:cNvSpPr txBox="1"/>
          <p:nvPr/>
        </p:nvSpPr>
        <p:spPr>
          <a:xfrm>
            <a:off x="621792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调查范围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4" name="分隔线"/>
          <p:cNvSpPr/>
          <p:nvPr/>
        </p:nvSpPr>
        <p:spPr>
          <a:xfrm>
            <a:off x="621792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5" name="环节4"/>
          <p:cNvSpPr/>
          <p:nvPr/>
        </p:nvSpPr>
        <p:spPr>
          <a:xfrm>
            <a:off x="9052560" y="1645920"/>
            <a:ext cx="2560320" cy="86868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环节文字4"/>
          <p:cNvSpPr txBox="1"/>
          <p:nvPr/>
        </p:nvSpPr>
        <p:spPr>
          <a:xfrm>
            <a:off x="9052560" y="16459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④ 接入行业数据</a:t>
            </a:r>
            <a:endParaRPr lang="en-US" sz="1900" dirty="0"/>
          </a:p>
        </p:txBody>
      </p:sp>
      <p:sp>
        <p:nvSpPr>
          <p:cNvPr id="27" name="检验标签4"/>
          <p:cNvSpPr txBox="1"/>
          <p:nvPr/>
        </p:nvSpPr>
        <p:spPr>
          <a:xfrm>
            <a:off x="9052560" y="27432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检验</a:t>
            </a:r>
            <a:endParaRPr lang="en-US" sz="1300" dirty="0"/>
          </a:p>
        </p:txBody>
      </p:sp>
      <p:sp>
        <p:nvSpPr>
          <p:cNvPr id="28" name="分隔线"/>
          <p:cNvSpPr/>
          <p:nvPr/>
        </p:nvSpPr>
        <p:spPr>
          <a:xfrm>
            <a:off x="9052560" y="31089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9" name="检验文字4"/>
          <p:cNvSpPr txBox="1"/>
          <p:nvPr/>
        </p:nvSpPr>
        <p:spPr>
          <a:xfrm>
            <a:off x="9052560" y="32004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30" name="分隔线"/>
          <p:cNvSpPr/>
          <p:nvPr/>
        </p:nvSpPr>
        <p:spPr>
          <a:xfrm>
            <a:off x="9052560" y="4480560"/>
            <a:ext cx="256032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31" name="评价说明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调查对象、范围、时间与方法的差异均会影响结果，以下逐项检验。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2" grpId="0" animBg="1"/>
      <p:bldP spid="6" grpId="0" animBg="1"/>
      <p:bldP spid="14" grpId="0" animBg="1"/>
      <p:bldP spid="16" grpId="0" animBg="1"/>
      <p:bldP spid="18" grpId="0" animBg="1"/>
      <p:bldP spid="19" grpId="0" animBg="1"/>
      <p:bldP spid="13" grpId="0" animBg="1"/>
      <p:bldP spid="21" grpId="0" animBg="1"/>
      <p:bldP spid="23" grpId="0" animBg="1"/>
      <p:bldP spid="25" grpId="0" animBg="1"/>
      <p:bldP spid="26" grpId="0" animBg="1"/>
      <p:bldP spid="20" grpId="0" animBg="1"/>
      <p:bldP spid="27" grpId="0" animBg="1"/>
      <p:bldP spid="29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调查对象：样本仅为 AI 用户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914400" y="1554480"/>
            <a:ext cx="4297680" cy="429768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914400" y="1664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美国人口</a:t>
            </a:r>
            <a:endParaRPr lang="en-US" sz="1400" dirty="0"/>
          </a:p>
        </p:txBody>
      </p:sp>
      <p:sp>
        <p:nvSpPr>
          <p:cNvPr id="6" name="总体圈2"/>
          <p:cNvSpPr/>
          <p:nvPr/>
        </p:nvSpPr>
        <p:spPr>
          <a:xfrm>
            <a:off x="1325880" y="2194560"/>
            <a:ext cx="3474720" cy="347472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325880" y="230428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互联网用户</a:t>
            </a:r>
            <a:endParaRPr lang="en-US" sz="1400" dirty="0"/>
          </a:p>
        </p:txBody>
      </p:sp>
      <p:sp>
        <p:nvSpPr>
          <p:cNvPr id="8" name="总体圈3"/>
          <p:cNvSpPr/>
          <p:nvPr/>
        </p:nvSpPr>
        <p:spPr>
          <a:xfrm>
            <a:off x="1737360" y="2834640"/>
            <a:ext cx="2651760" cy="2651760"/>
          </a:xfrm>
          <a:prstGeom prst="ellipse">
            <a:avLst/>
          </a:prstGeom>
          <a:solidFill>
            <a:srgbClr val="AFC3D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737360" y="294436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聊天机器人用户</a:t>
            </a:r>
            <a:endParaRPr lang="en-US" sz="1400" dirty="0"/>
          </a:p>
        </p:txBody>
      </p:sp>
      <p:sp>
        <p:nvSpPr>
          <p:cNvPr id="10" name="总体圈4"/>
          <p:cNvSpPr/>
          <p:nvPr/>
        </p:nvSpPr>
        <p:spPr>
          <a:xfrm>
            <a:off x="2194560" y="3474720"/>
            <a:ext cx="1737360" cy="173736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94560" y="379476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受访者 4,003 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均为 AI 聊天机器人用户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以使用 AI 为筛选条件，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不含非用户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结果仅代表 AI 用户，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不能推及全体美国人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调查范围：“14 分钟”为六国均值</a:t>
            </a:r>
            <a:endParaRPr lang="en-US" sz="3000" dirty="0"/>
          </a:p>
        </p:txBody>
      </p:sp>
      <p:sp>
        <p:nvSpPr>
          <p:cNvPr id="4" name="原图阴影"/>
          <p:cNvSpPr/>
          <p:nvPr/>
        </p:nvSpPr>
        <p:spPr>
          <a:xfrm>
            <a:off x="548640" y="1645920"/>
            <a:ext cx="5486400" cy="3191256"/>
          </a:xfrm>
          <a:prstGeom prst="rect">
            <a:avLst/>
          </a:prstGeom>
          <a:solidFill>
            <a:srgbClr val="FFFFFF"/>
          </a:solidFill>
          <a:ln w="6350">
            <a:solidFill>
              <a:srgbClr val="E3E7EC"/>
            </a:solidFill>
            <a:prstDash val="solid"/>
          </a:ln>
          <a:effectLst>
            <a:outerShdw sx="100000" sy="100000" kx="0" ky="0" algn="bl" rotWithShape="0" blurRad="177800" dist="50800" dir="5400000">
              <a:srgbClr val="1F2A44">
                <a:alpha val="18000"/>
              </a:srgbClr>
            </a:outerShdw>
          </a:effectLst>
        </p:spPr>
      </p:sp>
      <p:pic>
        <p:nvPicPr>
          <p:cNvPr id="5" name="原图" descr="/home/user/ppt/build/assets/daily_tv_usage_mark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3191256"/>
          </a:xfrm>
          <a:prstGeom prst="rect">
            <a:avLst/>
          </a:prstGeom>
        </p:spPr>
      </p:pic>
      <p:sp>
        <p:nvSpPr>
          <p:cNvPr id="6" name="原图说明"/>
          <p:cNvSpPr txBox="1"/>
          <p:nvPr/>
        </p:nvSpPr>
        <p:spPr>
          <a:xfrm>
            <a:off x="548640" y="4937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报告原图：橙框为六国均值，与尼尔森美国收视数据并列</a:t>
            </a:r>
            <a:endParaRPr lang="en-US" sz="1300" dirty="0"/>
          </a:p>
        </p:txBody>
      </p:sp>
      <p:sp>
        <p:nvSpPr>
          <p:cNvPr id="7" name="对比条"/>
          <p:cNvSpPr txBox="1"/>
          <p:nvPr/>
        </p:nvSpPr>
        <p:spPr>
          <a:xfrm>
            <a:off x="548640" y="5303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12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法国 </a:t>
            </a:r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26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     六国均值 </a:t>
            </a:r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14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分钟</a:t>
            </a:r>
            <a:endParaRPr lang="en-US" sz="1800" dirty="0"/>
          </a:p>
        </p:txBody>
      </p:sp>
      <p:sp>
        <p:nvSpPr>
          <p:cNvPr id="8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9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0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六国均值被置于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美国收视图表中</a:t>
            </a:r>
            <a:endParaRPr lang="en-US" sz="1800" dirty="0"/>
          </a:p>
        </p:txBody>
      </p:sp>
      <p:sp>
        <p:nvSpPr>
          <p:cNvPr id="11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2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3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六国等权平均，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 26 分钟抬高均值</a:t>
            </a:r>
            <a:endParaRPr lang="en-US" sz="1800" dirty="0"/>
          </a:p>
        </p:txBody>
      </p:sp>
      <p:sp>
        <p:nvSpPr>
          <p:cNvPr id="14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5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美国实际为 12 分钟，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易被高估</a:t>
            </a:r>
            <a:endParaRPr lang="en-US" sz="1800" dirty="0"/>
          </a:p>
        </p:txBody>
      </p:sp>
      <p:sp>
        <p:nvSpPr>
          <p:cNvPr id="17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调查时间：比较基准不一致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4592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 · 2025 年秋</a:t>
            </a:r>
            <a:endParaRPr lang="en-US" sz="16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56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本报告 · 2026 年初</a:t>
            </a:r>
            <a:endParaRPr lang="en-US" sz="16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38912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56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389120"/>
            <a:ext cx="2743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3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4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以皮尤 30% 对比本报告 54%，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称使用正在加速</a:t>
            </a:r>
            <a:endParaRPr lang="en-US" sz="1800" dirty="0"/>
          </a:p>
        </p:txBody>
      </p:sp>
      <p:sp>
        <p:nvSpPr>
          <p:cNvPr id="15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6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17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皮尤为全体青少年，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本报告仅为 AI 用户</a:t>
            </a:r>
            <a:endParaRPr lang="en-US" sz="1800" dirty="0"/>
          </a:p>
        </p:txBody>
      </p:sp>
      <p:sp>
        <p:nvSpPr>
          <p:cNvPr id="18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9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0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统一分母后差距约 10 个百分点，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“加速”不成立</a:t>
            </a:r>
            <a:endParaRPr lang="en-US" sz="1800" dirty="0"/>
          </a:p>
        </p:txBody>
      </p:sp>
      <p:sp>
        <p:nvSpPr>
          <p:cNvPr id="21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2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思考与评价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研究方法：因果关系未经检验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意向 · 问卷</a:t>
            </a:r>
            <a:endParaRPr lang="en-US" sz="16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38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4592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行为 · 退订率</a:t>
            </a:r>
            <a:endParaRPr lang="en-US" sz="16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38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预测 · 普华永道</a:t>
            </a:r>
            <a:endParaRPr lang="en-US" sz="16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23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测试 · AI 答题</a:t>
            </a:r>
            <a:endParaRPr lang="en-US" sz="16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43484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800" dirty="0"/>
          </a:p>
        </p:txBody>
      </p:sp>
      <p:sp>
        <p:nvSpPr>
          <p:cNvPr id="16" name="分隔线"/>
          <p:cNvSpPr/>
          <p:nvPr/>
        </p:nvSpPr>
        <p:spPr>
          <a:xfrm>
            <a:off x="6400800" y="16459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17" name="事实标签"/>
          <p:cNvSpPr txBox="1"/>
          <p:nvPr/>
        </p:nvSpPr>
        <p:spPr>
          <a:xfrm>
            <a:off x="6400800" y="17830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事实</a:t>
            </a:r>
            <a:endParaRPr lang="en-US" sz="1600" dirty="0"/>
          </a:p>
        </p:txBody>
      </p:sp>
      <p:sp>
        <p:nvSpPr>
          <p:cNvPr id="18" name="事实内容"/>
          <p:cNvSpPr txBox="1"/>
          <p:nvPr/>
        </p:nvSpPr>
        <p:spPr>
          <a:xfrm>
            <a:off x="7315200" y="17830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退订意向、退订率、预测与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测试数据并列使用</a:t>
            </a:r>
            <a:endParaRPr lang="en-US" sz="1800" dirty="0"/>
          </a:p>
        </p:txBody>
      </p:sp>
      <p:sp>
        <p:nvSpPr>
          <p:cNvPr id="19" name="分隔线"/>
          <p:cNvSpPr/>
          <p:nvPr/>
        </p:nvSpPr>
        <p:spPr>
          <a:xfrm>
            <a:off x="6400800" y="30175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0" name="原因标签"/>
          <p:cNvSpPr txBox="1"/>
          <p:nvPr/>
        </p:nvSpPr>
        <p:spPr>
          <a:xfrm>
            <a:off x="6400800" y="31546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原因</a:t>
            </a:r>
            <a:endParaRPr lang="en-US" sz="1600" dirty="0"/>
          </a:p>
        </p:txBody>
      </p:sp>
      <p:sp>
        <p:nvSpPr>
          <p:cNvPr id="21" name="原因内容"/>
          <p:cNvSpPr txBox="1"/>
          <p:nvPr/>
        </p:nvSpPr>
        <p:spPr>
          <a:xfrm>
            <a:off x="731520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数据性质不一，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且无追踪设计</a:t>
            </a:r>
            <a:endParaRPr lang="en-US" sz="1800" dirty="0"/>
          </a:p>
        </p:txBody>
      </p:sp>
      <p:sp>
        <p:nvSpPr>
          <p:cNvPr id="22" name="分隔线"/>
          <p:cNvSpPr/>
          <p:nvPr/>
        </p:nvSpPr>
        <p:spPr>
          <a:xfrm>
            <a:off x="6400800" y="43891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3" name="影响标签"/>
          <p:cNvSpPr txBox="1"/>
          <p:nvPr/>
        </p:nvSpPr>
        <p:spPr>
          <a:xfrm>
            <a:off x="6400800" y="45262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影响</a:t>
            </a:r>
            <a:endParaRPr lang="en-US" sz="1600" dirty="0"/>
          </a:p>
        </p:txBody>
      </p:sp>
      <p:sp>
        <p:nvSpPr>
          <p:cNvPr id="24" name="影响内容"/>
          <p:cNvSpPr txBox="1"/>
          <p:nvPr/>
        </p:nvSpPr>
        <p:spPr>
          <a:xfrm>
            <a:off x="7315200" y="45262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仅能说明相关，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不能证明因果</a:t>
            </a:r>
            <a:endParaRPr lang="en-US" sz="1800" dirty="0"/>
          </a:p>
        </p:txBody>
      </p:sp>
      <p:sp>
        <p:nvSpPr>
          <p:cNvPr id="25" name="分隔线"/>
          <p:cNvSpPr/>
          <p:nvPr/>
        </p:nvSpPr>
        <p:spPr>
          <a:xfrm>
            <a:off x="6400800" y="5760720"/>
            <a:ext cx="5212080" cy="0"/>
          </a:xfrm>
          <a:prstGeom prst="line">
            <a:avLst/>
          </a:prstGeom>
          <a:noFill/>
          <a:ln w="9525">
            <a:solidFill>
              <a:srgbClr val="D5DAE1"/>
            </a:solidFill>
            <a:prstDash val="solid"/>
          </a:ln>
        </p:spPr>
      </p:sp>
      <p:sp>
        <p:nvSpPr>
          <p:cNvPr id="26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3" grpId="0" animBg="1"/>
      <p:bldP spid="5" grpId="0" animBg="1"/>
      <p:bldP spid="8" grpId="0" animBg="1"/>
      <p:bldP spid="11" grpId="0" animBg="1"/>
      <p:bldP spid="14" grpId="0" animBg="1"/>
      <p:bldP spid="6" grpId="0" animBg="1"/>
      <p:bldP spid="9" grpId="0" animBg="1"/>
      <p:bldP spid="12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总体判断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结论适用于 AI 用户，不宜外推</a:t>
            </a:r>
            <a:endParaRPr lang="en-US" sz="3000" dirty="0"/>
          </a:p>
        </p:txBody>
      </p:sp>
      <p:sp>
        <p:nvSpPr>
          <p:cNvPr id="4" name="结论分隔线"/>
          <p:cNvSpPr/>
          <p:nvPr/>
        </p:nvSpPr>
        <p:spPr>
          <a:xfrm>
            <a:off x="731520" y="178308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731520" y="178308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判断标签1"/>
          <p:cNvSpPr/>
          <p:nvPr/>
        </p:nvSpPr>
        <p:spPr>
          <a:xfrm>
            <a:off x="5806440" y="200253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判断标签文字1"/>
          <p:cNvSpPr txBox="1"/>
          <p:nvPr/>
        </p:nvSpPr>
        <p:spPr>
          <a:xfrm>
            <a:off x="5806440" y="200253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结论分隔线"/>
          <p:cNvSpPr/>
          <p:nvPr/>
        </p:nvSpPr>
        <p:spPr>
          <a:xfrm>
            <a:off x="731520" y="265176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731520" y="265176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判断标签2"/>
          <p:cNvSpPr/>
          <p:nvPr/>
        </p:nvSpPr>
        <p:spPr>
          <a:xfrm>
            <a:off x="5806440" y="287121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判断标签文字2"/>
          <p:cNvSpPr txBox="1"/>
          <p:nvPr/>
        </p:nvSpPr>
        <p:spPr>
          <a:xfrm>
            <a:off x="5806440" y="287121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结论分隔线"/>
          <p:cNvSpPr/>
          <p:nvPr/>
        </p:nvSpPr>
        <p:spPr>
          <a:xfrm>
            <a:off x="731520" y="352044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731520" y="352044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判断标签3"/>
          <p:cNvSpPr/>
          <p:nvPr/>
        </p:nvSpPr>
        <p:spPr>
          <a:xfrm>
            <a:off x="5806440" y="373989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判断标签文字3"/>
          <p:cNvSpPr txBox="1"/>
          <p:nvPr/>
        </p:nvSpPr>
        <p:spPr>
          <a:xfrm>
            <a:off x="5806440" y="373989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结论分隔线"/>
          <p:cNvSpPr/>
          <p:nvPr/>
        </p:nvSpPr>
        <p:spPr>
          <a:xfrm>
            <a:off x="731520" y="438912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731520" y="43891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18" name="判断标签4"/>
          <p:cNvSpPr/>
          <p:nvPr/>
        </p:nvSpPr>
        <p:spPr>
          <a:xfrm>
            <a:off x="5806440" y="4608576"/>
            <a:ext cx="1600200" cy="429768"/>
          </a:xfrm>
          <a:prstGeom prst="roundRect">
            <a:avLst>
              <a:gd name="adj" fmla="val 1063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判断标签文字4"/>
          <p:cNvSpPr txBox="1"/>
          <p:nvPr/>
        </p:nvSpPr>
        <p:spPr>
          <a:xfrm>
            <a:off x="5806440" y="4608576"/>
            <a:ext cx="1600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结论分隔线"/>
          <p:cNvSpPr/>
          <p:nvPr/>
        </p:nvSpPr>
        <p:spPr>
          <a:xfrm>
            <a:off x="731520" y="5257800"/>
            <a:ext cx="6675120" cy="0"/>
          </a:xfrm>
          <a:prstGeom prst="line">
            <a:avLst/>
          </a:prstGeom>
          <a:noFill/>
          <a:ln w="9525">
            <a:solidFill>
              <a:srgbClr val="3A4766"/>
            </a:solidFill>
            <a:prstDash val="solid"/>
          </a:ln>
        </p:spPr>
      </p:sp>
      <p:sp>
        <p:nvSpPr>
          <p:cNvPr id="21" name="可取之处"/>
          <p:cNvSpPr txBox="1"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年轻人更多用 AI 找内容、AI 回答不够可靠，这两个方向与皮尤、Veed 等独立来源一致。</a:t>
            </a:r>
            <a:endParaRPr lang="en-US" sz="1600" dirty="0"/>
          </a:p>
        </p:txBody>
      </p:sp>
      <p:sp>
        <p:nvSpPr>
          <p:cNvPr id="22" name="讨论卡"/>
          <p:cNvSpPr/>
          <p:nvPr/>
        </p:nvSpPr>
        <p:spPr>
          <a:xfrm>
            <a:off x="7955280" y="1783080"/>
            <a:ext cx="3520440" cy="3474720"/>
          </a:xfrm>
          <a:prstGeom prst="roundRect">
            <a:avLst>
              <a:gd name="adj" fmla="val 131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讨论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如何设计调查，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检验检索困难与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退订的因果关系？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1" grpId="0" animBg="1"/>
    </p:bldLst>
  </p:timing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4F5F7"/>
      </a:lt2>
      <a:accent1>
        <a:srgbClr val="2F6690"/>
      </a:accent1>
      <a:accent2>
        <a:srgbClr val="3A7D44"/>
      </a:accent2>
      <a:accent3>
        <a:srgbClr val="D9542B"/>
      </a:accent3>
      <a:accent4>
        <a:srgbClr val="F2A65A"/>
      </a:accent4>
      <a:accent5>
        <a:srgbClr val="6B7280"/>
      </a:accent5>
      <a:accent6>
        <a:srgbClr val="DCE3EC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报告评析</dc:title>
  <dc:subject>市场调研：方法与实践 课后作业</dc:subject>
  <dc:creator>PptxGenJS</dc:creator>
  <cp:lastModifiedBy>PptxGenJS</cp:lastModifiedBy>
  <cp:revision>1</cp:revision>
  <dcterms:created xsi:type="dcterms:W3CDTF">2026-10-11T10:40:03Z</dcterms:created>
  <dcterms:modified xsi:type="dcterms:W3CDTF">2026-10-11T10:40:03Z</dcterms:modified>
</cp:coreProperties>
</file>