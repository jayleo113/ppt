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e1897af-1cd9-c287-f9c3-001bdc18e597}">
          <p14:sldIdLst>
            <p14:sldId id="256"/>
            <p14:sldId id="257"/>
          </p14:sldIdLst>
        </p14:section>
        <p14:section name="报告介绍" id="{afa19afb-e8fc-dc17-ef62-8025774af16b}">
          <p14:sldIdLst>
            <p14:sldId id="258"/>
            <p14:sldId id="259"/>
            <p14:sldId id="260"/>
            <p14:sldId id="261"/>
          </p14:sldIdLst>
        </p14:section>
        <p14:section name="方法评价" id="{8fca11d5-64a1-f392-853a-581e5e94b38a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71a53c45-c2c8-630a-07d4-4192f3b8e689}">
          <p14:sldIdLst>
            <p14:sldId id="267"/>
          </p14:sldIdLst>
        </p14:section>
        <p14:section name="附录（备问）" id="{eceb5e98-d75d-d3c8-9602-5ef0f73d470d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2A44"/>
                </a:solidFill>
                <a:latin typeface="+mn-lt"/>
              </a:rPr>
              <a:t>寻找节目的平均时长（分钟）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C5CB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669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秒】大家好。我读的是尼尔森旗下 Gracenote 今年 4 月的一份报告。里面有个很醒目的数字：13 到 14 岁的受访者，54% 每天都用 AI。我想从这个数字出发，看看它到底代表了哪些人。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秒】我的看法先放在前面：报告看到的趋势大体可信，但它把一群 AI 用户的回答，推成了更大人群的结论。下面按背景、设计、内容、评价、总结五部分展开。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秒】先说背景。平台越来越多，节目越来越难找，不少人干脆直接问 AI。报告想回答三件事：怎么用 AI 找信息，找不到节目会不会退订，信不信 AI。另外，Gracenote 本身就做节目数据。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秒】报告的大部分结论来自两份线上问卷：一份今年年初问了 4003 名美国 AI 用户，13 到 79 岁；另一份去年夏天在六个国家各问了 500 名流媒体用户。样本怎么抽的，两份都没有交代。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秒】第一组发现：年轻人越来越依赖 AI，却不完全信任它。13 到 14 岁的 AI 用户里，54% 每天都用，但也有 75% 的人会回头核对。报告的解释是，AI 回答直接，所以受欢迎；可它也会给出看似合理的错误答案，所以还得再查一遍。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秒】第二组发现是一条推理链：内容分散，用户平均要花 14 分钟找节目；18 到 34 岁的人里，54% 说找不到可能会退订；而 AI 只能答对约三分之二的播出平台。所以报告主张，AI 需要接入可靠的行业数据。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秒】这条推理有四个环节。同一个问题，问的是谁、问哪里的人、什么时候问、怎么问，答案都可能不一样。我就从这四个角度，逐环看证据站不站得住。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秒】先看问的是谁。4003 名受访者都是 AI 聊天机器人用户，样本本身就偏向会用 AI 的人，报告却常把结论说成“美国人”。网络样本的结构不等于总体，54% 和 75% 只能算 AI 用户内部的比例。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秒】再看是哪里的人。“平均 14 分钟”其实来自六国调查，是六个国家直接平均出来的；美国是 12 分钟，法国是 26 分钟。报告把它放进一张讲美国收视的图里，读者很容易以为美国人也要找 14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秒】第三，比较的时间和对象。报告拿皮尤去年秋天的 30%，比自己今年初的 54%，说使用在“加速”。可皮尤问的是全体青少年，同样 13 到 14 岁只有 24%；报告只问了 AI 用户。分母统一后，差距约 10 个百分点。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秒】最后是方法。“找不到就退订”这一环，靠的是四种性质不同的数据：有的是想法，有的是实际行为，有的只是预测。报告也没有跟踪同一批人，所以这些数据能说明两件事相关，说明不了谁导致了谁。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秒】回到这条推理链：前两环大体成立，但只适用于 AI 用户；后两环证据还不够。报告把样本量和时间交代得很清楚，数字也经得起复算；只是一个醒目的数字，常常把它怎么测出来的省略了。最后留个问题：要验证“找不到就退订”，调查该怎么设计？谢谢。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10972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市场调研：方法与实践 · 课后作业汇报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年报告解读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772400" y="14630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77240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报告：13–14 岁受访者每天使用 AI</a:t>
            </a:r>
            <a:endParaRPr lang="en-US" sz="1600" dirty="0"/>
          </a:p>
        </p:txBody>
      </p:sp>
      <p:sp>
        <p:nvSpPr>
          <p:cNvPr id="7" name="提问框"/>
          <p:cNvSpPr/>
          <p:nvPr/>
        </p:nvSpPr>
        <p:spPr>
          <a:xfrm>
            <a:off x="8092440" y="4069080"/>
            <a:ext cx="329184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27939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78240" y="4069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该数据代表哪类人群？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趋势大体可信，但结论推得太远</a:t>
            </a:r>
            <a:endParaRPr lang="en-US" sz="3000" dirty="0"/>
          </a:p>
        </p:txBody>
      </p:sp>
      <p:sp>
        <p:nvSpPr>
          <p:cNvPr id="4" name="框架行1"/>
          <p:cNvSpPr/>
          <p:nvPr/>
        </p:nvSpPr>
        <p:spPr>
          <a:xfrm>
            <a:off x="548640" y="160020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777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框架名1"/>
          <p:cNvSpPr txBox="1"/>
          <p:nvPr/>
        </p:nvSpPr>
        <p:spPr>
          <a:xfrm>
            <a:off x="1554480" y="1600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框架行2"/>
          <p:cNvSpPr/>
          <p:nvPr/>
        </p:nvSpPr>
        <p:spPr>
          <a:xfrm>
            <a:off x="548640" y="246888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7772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框架名2"/>
          <p:cNvSpPr txBox="1"/>
          <p:nvPr/>
        </p:nvSpPr>
        <p:spPr>
          <a:xfrm>
            <a:off x="1554480" y="2468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研究设计</a:t>
            </a:r>
            <a:endParaRPr lang="en-US" sz="2000" dirty="0"/>
          </a:p>
        </p:txBody>
      </p:sp>
      <p:sp>
        <p:nvSpPr>
          <p:cNvPr id="10" name="框架行3"/>
          <p:cNvSpPr/>
          <p:nvPr/>
        </p:nvSpPr>
        <p:spPr>
          <a:xfrm>
            <a:off x="548640" y="333756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77724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框架名3"/>
          <p:cNvSpPr txBox="1"/>
          <p:nvPr/>
        </p:nvSpPr>
        <p:spPr>
          <a:xfrm>
            <a:off x="155448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报告内容</a:t>
            </a:r>
            <a:endParaRPr lang="en-US" sz="2000" dirty="0"/>
          </a:p>
        </p:txBody>
      </p:sp>
      <p:sp>
        <p:nvSpPr>
          <p:cNvPr id="13" name="框架行4"/>
          <p:cNvSpPr/>
          <p:nvPr/>
        </p:nvSpPr>
        <p:spPr>
          <a:xfrm>
            <a:off x="548640" y="420624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77724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框架名4"/>
          <p:cNvSpPr txBox="1"/>
          <p:nvPr/>
        </p:nvSpPr>
        <p:spPr>
          <a:xfrm>
            <a:off x="1554480" y="4206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方法评价（重点）</a:t>
            </a:r>
            <a:endParaRPr lang="en-US" sz="2000" dirty="0"/>
          </a:p>
        </p:txBody>
      </p:sp>
      <p:sp>
        <p:nvSpPr>
          <p:cNvPr id="16" name="框架行5"/>
          <p:cNvSpPr/>
          <p:nvPr/>
        </p:nvSpPr>
        <p:spPr>
          <a:xfrm>
            <a:off x="548640" y="507492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7772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框架名5"/>
          <p:cNvSpPr txBox="1"/>
          <p:nvPr/>
        </p:nvSpPr>
        <p:spPr>
          <a:xfrm>
            <a:off x="1554480" y="5074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总结</a:t>
            </a:r>
            <a:endParaRPr lang="en-US" sz="2000" dirty="0"/>
          </a:p>
        </p:txBody>
      </p:sp>
      <p:sp>
        <p:nvSpPr>
          <p:cNvPr id="19" name="核心观点卡"/>
          <p:cNvSpPr/>
          <p:nvPr/>
        </p:nvSpPr>
        <p:spPr>
          <a:xfrm>
            <a:off x="6583680" y="1600200"/>
            <a:ext cx="5029200" cy="4206240"/>
          </a:xfrm>
          <a:prstGeom prst="roundRect">
            <a:avLst>
              <a:gd name="adj" fmla="val 21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核心观点"/>
          <p:cNvSpPr txBox="1"/>
          <p:nvPr/>
        </p:nvSpPr>
        <p:spPr>
          <a:xfrm>
            <a:off x="6949440" y="178308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我的判断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400" b="1" dirty="0">
                <a:solidFill>
                  <a:schemeClr val="bg1"/>
                </a:solidFill>
              </a:rPr>
              <a:t>报告看到的趋势大体可信；问题在于，它把一群 AI 用户的回答，推成了更大人群的结论。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节目越来越难找，AI 会不会成为新的入口？</a:t>
            </a:r>
            <a:endParaRPr lang="en-US" sz="3000" dirty="0"/>
          </a:p>
        </p:txBody>
      </p:sp>
      <p:sp>
        <p:nvSpPr>
          <p:cNvPr id="4" name="问题卡1"/>
          <p:cNvSpPr/>
          <p:nvPr/>
        </p:nvSpPr>
        <p:spPr>
          <a:xfrm>
            <a:off x="54864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问题编号1"/>
          <p:cNvSpPr txBox="1"/>
          <p:nvPr/>
        </p:nvSpPr>
        <p:spPr>
          <a:xfrm>
            <a:off x="8686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问题一</a:t>
            </a:r>
            <a:endParaRPr lang="en-US" sz="1600" dirty="0"/>
          </a:p>
        </p:txBody>
      </p:sp>
      <p:sp>
        <p:nvSpPr>
          <p:cNvPr id="6" name="问题名1"/>
          <p:cNvSpPr txBox="1"/>
          <p:nvPr/>
        </p:nvSpPr>
        <p:spPr>
          <a:xfrm>
            <a:off x="86868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怎么用 AI</a:t>
            </a:r>
            <a:endParaRPr lang="en-US" sz="2600" dirty="0"/>
          </a:p>
        </p:txBody>
      </p:sp>
      <p:sp>
        <p:nvSpPr>
          <p:cNvPr id="7" name="问题内容1"/>
          <p:cNvSpPr txBox="1"/>
          <p:nvPr/>
        </p:nvSpPr>
        <p:spPr>
          <a:xfrm>
            <a:off x="86868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不同年龄的人，如何用 AI 找信息？</a:t>
            </a:r>
            <a:endParaRPr lang="en-US" sz="1800" dirty="0"/>
          </a:p>
        </p:txBody>
      </p:sp>
      <p:sp>
        <p:nvSpPr>
          <p:cNvPr id="8" name="问题卡2"/>
          <p:cNvSpPr/>
          <p:nvPr/>
        </p:nvSpPr>
        <p:spPr>
          <a:xfrm>
            <a:off x="429768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问题编号2"/>
          <p:cNvSpPr txBox="1"/>
          <p:nvPr/>
        </p:nvSpPr>
        <p:spPr>
          <a:xfrm>
            <a:off x="46177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问题二</a:t>
            </a:r>
            <a:endParaRPr lang="en-US" sz="1600" dirty="0"/>
          </a:p>
        </p:txBody>
      </p:sp>
      <p:sp>
        <p:nvSpPr>
          <p:cNvPr id="10" name="问题名2"/>
          <p:cNvSpPr txBox="1"/>
          <p:nvPr/>
        </p:nvSpPr>
        <p:spPr>
          <a:xfrm>
            <a:off x="461772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找不到会怎样</a:t>
            </a:r>
            <a:endParaRPr lang="en-US" sz="2600" dirty="0"/>
          </a:p>
        </p:txBody>
      </p:sp>
      <p:sp>
        <p:nvSpPr>
          <p:cNvPr id="11" name="问题内容2"/>
          <p:cNvSpPr txBox="1"/>
          <p:nvPr/>
        </p:nvSpPr>
        <p:spPr>
          <a:xfrm>
            <a:off x="461772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节目难找，会不会让人退订？</a:t>
            </a:r>
            <a:endParaRPr lang="en-US" sz="1800" dirty="0"/>
          </a:p>
        </p:txBody>
      </p:sp>
      <p:sp>
        <p:nvSpPr>
          <p:cNvPr id="12" name="问题卡3"/>
          <p:cNvSpPr/>
          <p:nvPr/>
        </p:nvSpPr>
        <p:spPr>
          <a:xfrm>
            <a:off x="804672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问题编号3"/>
          <p:cNvSpPr txBox="1"/>
          <p:nvPr/>
        </p:nvSpPr>
        <p:spPr>
          <a:xfrm>
            <a:off x="836676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问题三</a:t>
            </a:r>
            <a:endParaRPr lang="en-US" sz="1600" dirty="0"/>
          </a:p>
        </p:txBody>
      </p:sp>
      <p:sp>
        <p:nvSpPr>
          <p:cNvPr id="14" name="问题名3"/>
          <p:cNvSpPr txBox="1"/>
          <p:nvPr/>
        </p:nvSpPr>
        <p:spPr>
          <a:xfrm>
            <a:off x="836676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信不信 AI</a:t>
            </a:r>
            <a:endParaRPr lang="en-US" sz="2600" dirty="0"/>
          </a:p>
        </p:txBody>
      </p:sp>
      <p:sp>
        <p:nvSpPr>
          <p:cNvPr id="15" name="问题内容3"/>
          <p:cNvSpPr txBox="1"/>
          <p:nvPr/>
        </p:nvSpPr>
        <p:spPr>
          <a:xfrm>
            <a:off x="836676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人们是否相信 AI 给的答案？</a:t>
            </a:r>
            <a:endParaRPr lang="en-US" sz="1800" dirty="0"/>
          </a:p>
        </p:txBody>
      </p:sp>
      <p:sp>
        <p:nvSpPr>
          <p:cNvPr id="16" name="机构条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研究机构"/>
          <p:cNvSpPr txBox="1"/>
          <p:nvPr/>
        </p:nvSpPr>
        <p:spPr>
          <a:xfrm>
            <a:off x="868680" y="44348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研究机构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Gracenote 隶属尼尔森，本身就做节目数据；报告最后的建议，恰好落在它自己的业务上。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研究设计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两份线上问卷，撑起了报告的大部分结论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说明条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样本如何抽取，两份调查都没有交代。另引用尼尔森、皮尤等共 11 个来源（见附录）。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报告内容（一）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年轻人越来越依赖 AI，却并不完全信任它</a:t>
            </a:r>
            <a:endParaRPr lang="en-US" sz="3000" dirty="0"/>
          </a:p>
        </p:txBody>
      </p:sp>
      <p:sp>
        <p:nvSpPr>
          <p:cNvPr id="4" name="大数字卡1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大数字1"/>
          <p:cNvSpPr txBox="1"/>
          <p:nvPr/>
        </p:nvSpPr>
        <p:spPr>
          <a:xfrm>
            <a:off x="86868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400" dirty="0"/>
          </a:p>
        </p:txBody>
      </p:sp>
      <p:sp>
        <p:nvSpPr>
          <p:cNvPr id="6" name="大数字说明1"/>
          <p:cNvSpPr txBox="1"/>
          <p:nvPr/>
        </p:nvSpPr>
        <p:spPr>
          <a:xfrm>
            <a:off x="315468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每天都用</a:t>
            </a:r>
            <a:endParaRPr lang="en-US" sz="2000" dirty="0"/>
          </a:p>
        </p:txBody>
      </p:sp>
      <p:sp>
        <p:nvSpPr>
          <p:cNvPr id="7" name="大数字卡2"/>
          <p:cNvSpPr/>
          <p:nvPr/>
        </p:nvSpPr>
        <p:spPr>
          <a:xfrm>
            <a:off x="617220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大数字2"/>
          <p:cNvSpPr txBox="1"/>
          <p:nvPr/>
        </p:nvSpPr>
        <p:spPr>
          <a:xfrm>
            <a:off x="649224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400" dirty="0"/>
          </a:p>
        </p:txBody>
      </p:sp>
      <p:sp>
        <p:nvSpPr>
          <p:cNvPr id="9" name="大数字说明2"/>
          <p:cNvSpPr txBox="1"/>
          <p:nvPr/>
        </p:nvSpPr>
        <p:spPr>
          <a:xfrm>
            <a:off x="877824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受访者会回头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的答案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报告的解释</a:t>
            </a:r>
            <a:endParaRPr lang="en-US" sz="1800" dirty="0"/>
          </a:p>
        </p:txBody>
      </p:sp>
      <p:sp>
        <p:nvSpPr>
          <p:cNvPr id="11" name="原因1"/>
          <p:cNvSpPr/>
          <p:nvPr/>
        </p:nvSpPr>
        <p:spPr>
          <a:xfrm>
            <a:off x="548640" y="443484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原因文字1"/>
          <p:cNvSpPr txBox="1"/>
          <p:nvPr/>
        </p:nvSpPr>
        <p:spPr>
          <a:xfrm>
            <a:off x="822960" y="44348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 能直接给出答案，还能接着追问</a:t>
            </a:r>
            <a:endParaRPr lang="en-US" sz="1800" dirty="0"/>
          </a:p>
        </p:txBody>
      </p:sp>
      <p:sp>
        <p:nvSpPr>
          <p:cNvPr id="13" name="箭头"/>
          <p:cNvSpPr txBox="1"/>
          <p:nvPr/>
        </p:nvSpPr>
        <p:spPr>
          <a:xfrm>
            <a:off x="7863840" y="443484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标签：所以受欢迎"/>
          <p:cNvSpPr/>
          <p:nvPr/>
        </p:nvSpPr>
        <p:spPr>
          <a:xfrm>
            <a:off x="8275320" y="445312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标签文字：所以受欢迎"/>
          <p:cNvSpPr txBox="1"/>
          <p:nvPr/>
        </p:nvSpPr>
        <p:spPr>
          <a:xfrm>
            <a:off x="8275320" y="4453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所以受欢迎</a:t>
            </a:r>
            <a:endParaRPr lang="en-US" sz="1700" dirty="0"/>
          </a:p>
        </p:txBody>
      </p:sp>
      <p:sp>
        <p:nvSpPr>
          <p:cNvPr id="16" name="原因2"/>
          <p:cNvSpPr/>
          <p:nvPr/>
        </p:nvSpPr>
        <p:spPr>
          <a:xfrm>
            <a:off x="548640" y="516636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原因文字2"/>
          <p:cNvSpPr txBox="1"/>
          <p:nvPr/>
        </p:nvSpPr>
        <p:spPr>
          <a:xfrm>
            <a:off x="822960" y="51663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但它也会给出看似合理的错误答案</a:t>
            </a:r>
            <a:endParaRPr lang="en-US" sz="1800" dirty="0"/>
          </a:p>
        </p:txBody>
      </p:sp>
      <p:sp>
        <p:nvSpPr>
          <p:cNvPr id="18" name="箭头"/>
          <p:cNvSpPr txBox="1"/>
          <p:nvPr/>
        </p:nvSpPr>
        <p:spPr>
          <a:xfrm>
            <a:off x="7863840" y="516636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标签：所以还要再核对"/>
          <p:cNvSpPr/>
          <p:nvPr/>
        </p:nvSpPr>
        <p:spPr>
          <a:xfrm>
            <a:off x="8275320" y="518464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标签文字：所以还要再核对"/>
          <p:cNvSpPr txBox="1"/>
          <p:nvPr/>
        </p:nvSpPr>
        <p:spPr>
          <a:xfrm>
            <a:off x="8275320" y="5184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所以还要再核对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报告内容（二）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从内容分散到用户流失，报告这样推理</a:t>
            </a:r>
            <a:endParaRPr lang="en-US" sz="3000" dirty="0"/>
          </a:p>
        </p:txBody>
      </p:sp>
      <p:sp>
        <p:nvSpPr>
          <p:cNvPr id="4" name="链条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1"/>
          <p:cNvSpPr txBox="1"/>
          <p:nvPr/>
        </p:nvSpPr>
        <p:spPr>
          <a:xfrm>
            <a:off x="82296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1 步</a:t>
            </a:r>
            <a:endParaRPr lang="en-US" sz="1400" dirty="0"/>
          </a:p>
        </p:txBody>
      </p:sp>
      <p:sp>
        <p:nvSpPr>
          <p:cNvPr id="6" name="步骤名1"/>
          <p:cNvSpPr txBox="1"/>
          <p:nvPr/>
        </p:nvSpPr>
        <p:spPr>
          <a:xfrm>
            <a:off x="8229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内容分散</a:t>
            </a:r>
            <a:endParaRPr lang="en-US" sz="2100" dirty="0"/>
          </a:p>
        </p:txBody>
      </p:sp>
      <p:sp>
        <p:nvSpPr>
          <p:cNvPr id="7" name="步骤数字1"/>
          <p:cNvSpPr txBox="1"/>
          <p:nvPr/>
        </p:nvSpPr>
        <p:spPr>
          <a:xfrm>
            <a:off x="82296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8" name="步骤说明1"/>
          <p:cNvSpPr txBox="1"/>
          <p:nvPr/>
        </p:nvSpPr>
        <p:spPr>
          <a:xfrm>
            <a:off x="82296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美国电视时长</a:t>
            </a:r>
            <a:endParaRPr lang="en-US" sz="1600" dirty="0"/>
          </a:p>
        </p:txBody>
      </p:sp>
      <p:sp>
        <p:nvSpPr>
          <p:cNvPr id="9" name="箭头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链条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2"/>
          <p:cNvSpPr txBox="1"/>
          <p:nvPr/>
        </p:nvSpPr>
        <p:spPr>
          <a:xfrm>
            <a:off x="365760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2 步</a:t>
            </a:r>
            <a:endParaRPr lang="en-US" sz="1400" dirty="0"/>
          </a:p>
        </p:txBody>
      </p:sp>
      <p:sp>
        <p:nvSpPr>
          <p:cNvPr id="12" name="步骤名2"/>
          <p:cNvSpPr txBox="1"/>
          <p:nvPr/>
        </p:nvSpPr>
        <p:spPr>
          <a:xfrm>
            <a:off x="365760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找起来费时</a:t>
            </a:r>
            <a:endParaRPr lang="en-US" sz="2100" dirty="0"/>
          </a:p>
        </p:txBody>
      </p:sp>
      <p:sp>
        <p:nvSpPr>
          <p:cNvPr id="13" name="步骤数字2"/>
          <p:cNvSpPr txBox="1"/>
          <p:nvPr/>
        </p:nvSpPr>
        <p:spPr>
          <a:xfrm>
            <a:off x="365760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4" name="步骤说明2"/>
          <p:cNvSpPr txBox="1"/>
          <p:nvPr/>
        </p:nvSpPr>
        <p:spPr>
          <a:xfrm>
            <a:off x="365760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平均找一个节目</a:t>
            </a:r>
            <a:endParaRPr lang="en-US" sz="1600" dirty="0"/>
          </a:p>
        </p:txBody>
      </p:sp>
      <p:sp>
        <p:nvSpPr>
          <p:cNvPr id="15" name="箭头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链条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步骤3"/>
          <p:cNvSpPr txBox="1"/>
          <p:nvPr/>
        </p:nvSpPr>
        <p:spPr>
          <a:xfrm>
            <a:off x="64922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3 步</a:t>
            </a:r>
            <a:endParaRPr lang="en-US" sz="1400" dirty="0"/>
          </a:p>
        </p:txBody>
      </p:sp>
      <p:sp>
        <p:nvSpPr>
          <p:cNvPr id="18" name="步骤名3"/>
          <p:cNvSpPr txBox="1"/>
          <p:nvPr/>
        </p:nvSpPr>
        <p:spPr>
          <a:xfrm>
            <a:off x="64922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可能退订</a:t>
            </a:r>
            <a:endParaRPr lang="en-US" sz="2100" dirty="0"/>
          </a:p>
        </p:txBody>
      </p:sp>
      <p:sp>
        <p:nvSpPr>
          <p:cNvPr id="19" name="步骤数字3"/>
          <p:cNvSpPr txBox="1"/>
          <p:nvPr/>
        </p:nvSpPr>
        <p:spPr>
          <a:xfrm>
            <a:off x="649224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20" name="步骤说明3"/>
          <p:cNvSpPr txBox="1"/>
          <p:nvPr/>
        </p:nvSpPr>
        <p:spPr>
          <a:xfrm>
            <a:off x="649224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岁说可能退订</a:t>
            </a:r>
            <a:endParaRPr lang="en-US" sz="1600" dirty="0"/>
          </a:p>
        </p:txBody>
      </p:sp>
      <p:sp>
        <p:nvSpPr>
          <p:cNvPr id="21" name="箭头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链条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步骤4"/>
          <p:cNvSpPr txBox="1"/>
          <p:nvPr/>
        </p:nvSpPr>
        <p:spPr>
          <a:xfrm>
            <a:off x="932688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第 4 步</a:t>
            </a:r>
            <a:endParaRPr lang="en-US" sz="1400" dirty="0"/>
          </a:p>
        </p:txBody>
      </p:sp>
      <p:sp>
        <p:nvSpPr>
          <p:cNvPr id="24" name="步骤名4"/>
          <p:cNvSpPr txBox="1"/>
          <p:nvPr/>
        </p:nvSpPr>
        <p:spPr>
          <a:xfrm>
            <a:off x="932688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接入可靠数据</a:t>
            </a:r>
            <a:endParaRPr lang="en-US" sz="2100" dirty="0"/>
          </a:p>
        </p:txBody>
      </p:sp>
      <p:sp>
        <p:nvSpPr>
          <p:cNvPr id="25" name="步骤数字4"/>
          <p:cNvSpPr txBox="1"/>
          <p:nvPr/>
        </p:nvSpPr>
        <p:spPr>
          <a:xfrm>
            <a:off x="932688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6" name="步骤说明4"/>
          <p:cNvSpPr txBox="1"/>
          <p:nvPr/>
        </p:nvSpPr>
        <p:spPr>
          <a:xfrm>
            <a:off x="932688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能答对的播出平台</a:t>
            </a:r>
            <a:endParaRPr lang="en-US" sz="1600" dirty="0"/>
          </a:p>
        </p:txBody>
      </p:sp>
      <p:sp>
        <p:nvSpPr>
          <p:cNvPr id="2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沿着这条推理，逐环看证据站不站得住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箭头"/>
          <p:cNvSpPr txBox="1"/>
          <p:nvPr/>
        </p:nvSpPr>
        <p:spPr>
          <a:xfrm>
            <a:off x="310896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下箭头1"/>
          <p:cNvSpPr txBox="1"/>
          <p:nvPr/>
        </p:nvSpPr>
        <p:spPr>
          <a:xfrm>
            <a:off x="54864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8" name="检验1"/>
          <p:cNvSpPr/>
          <p:nvPr/>
        </p:nvSpPr>
        <p:spPr>
          <a:xfrm>
            <a:off x="54864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77724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环节2"/>
          <p:cNvSpPr/>
          <p:nvPr/>
        </p:nvSpPr>
        <p:spPr>
          <a:xfrm>
            <a:off x="338328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环节文字2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2" name="箭头"/>
          <p:cNvSpPr txBox="1"/>
          <p:nvPr/>
        </p:nvSpPr>
        <p:spPr>
          <a:xfrm>
            <a:off x="594360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下箭头2"/>
          <p:cNvSpPr txBox="1"/>
          <p:nvPr/>
        </p:nvSpPr>
        <p:spPr>
          <a:xfrm>
            <a:off x="338328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14" name="检验2"/>
          <p:cNvSpPr/>
          <p:nvPr/>
        </p:nvSpPr>
        <p:spPr>
          <a:xfrm>
            <a:off x="338328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检验文字2"/>
          <p:cNvSpPr txBox="1"/>
          <p:nvPr/>
        </p:nvSpPr>
        <p:spPr>
          <a:xfrm>
            <a:off x="361188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6" name="环节3"/>
          <p:cNvSpPr/>
          <p:nvPr/>
        </p:nvSpPr>
        <p:spPr>
          <a:xfrm>
            <a:off x="621792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环节文字3"/>
          <p:cNvSpPr txBox="1"/>
          <p:nvPr/>
        </p:nvSpPr>
        <p:spPr>
          <a:xfrm>
            <a:off x="621792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难找致退订</a:t>
            </a:r>
            <a:endParaRPr lang="en-US" sz="2000" dirty="0"/>
          </a:p>
        </p:txBody>
      </p:sp>
      <p:sp>
        <p:nvSpPr>
          <p:cNvPr id="18" name="箭头"/>
          <p:cNvSpPr txBox="1"/>
          <p:nvPr/>
        </p:nvSpPr>
        <p:spPr>
          <a:xfrm>
            <a:off x="877824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下箭头3"/>
          <p:cNvSpPr txBox="1"/>
          <p:nvPr/>
        </p:nvSpPr>
        <p:spPr>
          <a:xfrm>
            <a:off x="621792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0" name="检验3"/>
          <p:cNvSpPr/>
          <p:nvPr/>
        </p:nvSpPr>
        <p:spPr>
          <a:xfrm>
            <a:off x="621792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检验文字3"/>
          <p:cNvSpPr txBox="1"/>
          <p:nvPr/>
        </p:nvSpPr>
        <p:spPr>
          <a:xfrm>
            <a:off x="644652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研究总体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2" name="环节4"/>
          <p:cNvSpPr/>
          <p:nvPr/>
        </p:nvSpPr>
        <p:spPr>
          <a:xfrm>
            <a:off x="905256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环节文字4"/>
          <p:cNvSpPr txBox="1"/>
          <p:nvPr/>
        </p:nvSpPr>
        <p:spPr>
          <a:xfrm>
            <a:off x="90525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接入可靠数据</a:t>
            </a:r>
            <a:endParaRPr lang="en-US" sz="2000" dirty="0"/>
          </a:p>
        </p:txBody>
      </p:sp>
      <p:sp>
        <p:nvSpPr>
          <p:cNvPr id="24" name="下箭头4"/>
          <p:cNvSpPr txBox="1"/>
          <p:nvPr/>
        </p:nvSpPr>
        <p:spPr>
          <a:xfrm>
            <a:off x="905256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检验4"/>
          <p:cNvSpPr/>
          <p:nvPr/>
        </p:nvSpPr>
        <p:spPr>
          <a:xfrm>
            <a:off x="905256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检验文字4"/>
          <p:cNvSpPr txBox="1"/>
          <p:nvPr/>
        </p:nvSpPr>
        <p:spPr>
          <a:xfrm>
            <a:off x="928116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7" name="依据条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评价依据"/>
          <p:cNvSpPr txBox="1"/>
          <p:nvPr/>
        </p:nvSpPr>
        <p:spPr>
          <a:xfrm>
            <a:off x="822960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为什么看这四处：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同一个问题，问谁、问哪里的人、什么时候问、怎么问，得到的答案都可能不同。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调查对象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问的是 AI 用户，说的却是“美国人”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822960" y="155448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82296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美国人口</a:t>
            </a:r>
            <a:endParaRPr lang="en-US" sz="1500" dirty="0"/>
          </a:p>
        </p:txBody>
      </p:sp>
      <p:sp>
        <p:nvSpPr>
          <p:cNvPr id="6" name="总体圈2"/>
          <p:cNvSpPr/>
          <p:nvPr/>
        </p:nvSpPr>
        <p:spPr>
          <a:xfrm>
            <a:off x="1234440" y="219456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2344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互联网用户</a:t>
            </a:r>
            <a:endParaRPr lang="en-US" sz="1500" dirty="0"/>
          </a:p>
        </p:txBody>
      </p:sp>
      <p:sp>
        <p:nvSpPr>
          <p:cNvPr id="8" name="总体圈3"/>
          <p:cNvSpPr/>
          <p:nvPr/>
        </p:nvSpPr>
        <p:spPr>
          <a:xfrm>
            <a:off x="1645920" y="2834640"/>
            <a:ext cx="2743200" cy="2743200"/>
          </a:xfrm>
          <a:prstGeom prst="ellipse">
            <a:avLst/>
          </a:prstGeom>
          <a:solidFill>
            <a:srgbClr val="A9C3D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6459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聊天机器人用户</a:t>
            </a:r>
            <a:endParaRPr lang="en-US" sz="1500" dirty="0"/>
          </a:p>
        </p:txBody>
      </p:sp>
      <p:sp>
        <p:nvSpPr>
          <p:cNvPr id="10" name="总体圈4"/>
          <p:cNvSpPr/>
          <p:nvPr/>
        </p:nvSpPr>
        <p:spPr>
          <a:xfrm>
            <a:off x="2103120" y="3474720"/>
            <a:ext cx="1828800" cy="182880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03120" y="37490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本次样本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4,003 名受访者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全是 AI 聊天机器人用户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按“用不用 AI”筛选，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样本偏向会用的人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网络样本不等于总体，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结论只适用于 AI 用户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研究总体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“14 分钟”其实是六国平均，美国是 12 分钟</a:t>
            </a:r>
            <a:endParaRPr lang="en-US" sz="3000" dirty="0"/>
          </a:p>
        </p:txBody>
      </p:sp>
      <p:graphicFrame>
        <p:nvGraphicFramePr>
          <p:cNvPr id="4" name="分国家寻找时长图" descr=""/>
          <p:cNvGraphicFramePr/>
          <p:nvPr/>
        </p:nvGraphicFramePr>
        <p:xfrm>
          <a:off x="54864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8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图里的“14 分钟”，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是六个国家的平均</a:t>
            </a:r>
            <a:endParaRPr lang="en-US" sz="1800" dirty="0"/>
          </a:p>
        </p:txBody>
      </p:sp>
      <p:sp>
        <p:nvSpPr>
          <p:cNvPr id="9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2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六国直接平均，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法国的 26 分钟拉高了它</a:t>
            </a:r>
            <a:endParaRPr lang="en-US" sz="1800" dirty="0"/>
          </a:p>
        </p:txBody>
      </p:sp>
      <p:sp>
        <p:nvSpPr>
          <p:cNvPr id="13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放进美国收视图里，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容易高估美国的困难</a:t>
            </a:r>
            <a:endParaRPr lang="en-US" sz="1800" dirty="0"/>
          </a:p>
        </p:txBody>
      </p:sp>
      <p:sp>
        <p:nvSpPr>
          <p:cNvPr id="1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调查时间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分母不一样，“加速”也就无从谈起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0020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皮尤研究中心（2025 年秋）</a:t>
            </a:r>
            <a:endParaRPr lang="en-US" sz="17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本报告（2026 年初）</a:t>
            </a:r>
            <a:endParaRPr lang="en-US" sz="17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4348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4348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拿皮尤去年秋的 30%，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比本报告今年初的 54%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皮尤问全体青少年，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本报告只问 AI 用户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分母统一后，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差距只剩约 10 个百分点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几类不同的数据，拼不出“找不到就退订”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意向 · 问卷</a:t>
            </a:r>
            <a:endParaRPr lang="en-US" sz="17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行为 · 退订率</a:t>
            </a:r>
            <a:endParaRPr lang="en-US" sz="17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40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预测 · 普华永道</a:t>
            </a:r>
            <a:endParaRPr lang="en-US" sz="17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测试 · AI 答题</a:t>
            </a:r>
            <a:endParaRPr lang="en-US" sz="17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4000" dirty="0"/>
          </a:p>
        </p:txBody>
      </p:sp>
      <p:sp>
        <p:nvSpPr>
          <p:cNvPr id="16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9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意愿、退订率、预测、测试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被串成一条链</a:t>
            </a:r>
            <a:endParaRPr lang="en-US" sz="1800" dirty="0"/>
          </a:p>
        </p:txBody>
      </p:sp>
      <p:sp>
        <p:nvSpPr>
          <p:cNvPr id="20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23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有的是想法，有的是行为，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有的只是预测</a:t>
            </a:r>
            <a:endParaRPr lang="en-US" sz="1800" dirty="0"/>
          </a:p>
        </p:txBody>
      </p:sp>
      <p:sp>
        <p:nvSpPr>
          <p:cNvPr id="24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7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说明不了谁导致了谁</a:t>
            </a:r>
            <a:endParaRPr lang="en-US" sz="1800" dirty="0"/>
          </a:p>
        </p:txBody>
      </p:sp>
      <p:sp>
        <p:nvSpPr>
          <p:cNvPr id="2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趋势可以参考，结论需要收窄</a:t>
            </a:r>
            <a:endParaRPr lang="en-US" sz="3000" dirty="0"/>
          </a:p>
        </p:txBody>
      </p:sp>
      <p:sp>
        <p:nvSpPr>
          <p:cNvPr id="4" name="判断行1"/>
          <p:cNvSpPr/>
          <p:nvPr/>
        </p:nvSpPr>
        <p:spPr>
          <a:xfrm>
            <a:off x="731520" y="17830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1005840" y="17830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标签：部分成立"/>
          <p:cNvSpPr/>
          <p:nvPr/>
        </p:nvSpPr>
        <p:spPr>
          <a:xfrm>
            <a:off x="5669280" y="19385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部分成立"/>
          <p:cNvSpPr txBox="1"/>
          <p:nvPr/>
        </p:nvSpPr>
        <p:spPr>
          <a:xfrm>
            <a:off x="5669280" y="19385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判断行2"/>
          <p:cNvSpPr/>
          <p:nvPr/>
        </p:nvSpPr>
        <p:spPr>
          <a:xfrm>
            <a:off x="731520" y="26974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1005840" y="26974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标签：部分成立"/>
          <p:cNvSpPr/>
          <p:nvPr/>
        </p:nvSpPr>
        <p:spPr>
          <a:xfrm>
            <a:off x="5669280" y="28529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标签文字：部分成立"/>
          <p:cNvSpPr txBox="1"/>
          <p:nvPr/>
        </p:nvSpPr>
        <p:spPr>
          <a:xfrm>
            <a:off x="5669280" y="28529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判断行3"/>
          <p:cNvSpPr/>
          <p:nvPr/>
        </p:nvSpPr>
        <p:spPr>
          <a:xfrm>
            <a:off x="731520" y="36118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1005840" y="36118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难找致退订</a:t>
            </a:r>
            <a:endParaRPr lang="en-US" sz="2000" dirty="0"/>
          </a:p>
        </p:txBody>
      </p:sp>
      <p:sp>
        <p:nvSpPr>
          <p:cNvPr id="14" name="标签：证据不足"/>
          <p:cNvSpPr/>
          <p:nvPr/>
        </p:nvSpPr>
        <p:spPr>
          <a:xfrm>
            <a:off x="5669280" y="37673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证据不足"/>
          <p:cNvSpPr txBox="1"/>
          <p:nvPr/>
        </p:nvSpPr>
        <p:spPr>
          <a:xfrm>
            <a:off x="5669280" y="37673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判断行4"/>
          <p:cNvSpPr/>
          <p:nvPr/>
        </p:nvSpPr>
        <p:spPr>
          <a:xfrm>
            <a:off x="731520" y="45262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1005840" y="45262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接入可靠数据</a:t>
            </a:r>
            <a:endParaRPr lang="en-US" sz="2000" dirty="0"/>
          </a:p>
        </p:txBody>
      </p:sp>
      <p:sp>
        <p:nvSpPr>
          <p:cNvPr id="18" name="标签：未经检验"/>
          <p:cNvSpPr/>
          <p:nvPr/>
        </p:nvSpPr>
        <p:spPr>
          <a:xfrm>
            <a:off x="5669280" y="46817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标签文字：未经检验"/>
          <p:cNvSpPr txBox="1"/>
          <p:nvPr/>
        </p:nvSpPr>
        <p:spPr>
          <a:xfrm>
            <a:off x="5669280" y="46817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优点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可取之处：</a:t>
            </a:r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样本量、时间、年龄都交代清楚，图里的数字经得起复算。</a:t>
            </a:r>
            <a:endParaRPr lang="en-US" sz="1600" dirty="0"/>
          </a:p>
        </p:txBody>
      </p:sp>
      <p:sp>
        <p:nvSpPr>
          <p:cNvPr id="21" name="讨论卡"/>
          <p:cNvSpPr/>
          <p:nvPr/>
        </p:nvSpPr>
        <p:spPr>
          <a:xfrm>
            <a:off x="7955280" y="1783080"/>
            <a:ext cx="3520440" cy="3493008"/>
          </a:xfrm>
          <a:prstGeom prst="roundRect">
            <a:avLst>
              <a:gd name="adj" fmla="val 26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留给大家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要验证“找不到就退订”，调查该怎么设计？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11 个来源里，报告自己的两份问卷最不透明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几处引用，和原始来源的说法并不一致</a:t>
            </a:r>
            <a:endParaRPr lang="en-US" sz="3000" dirty="0"/>
          </a:p>
        </p:txBody>
      </p:sp>
      <p:graphicFrame>
        <p:nvGraphicFramePr>
          <p:cNvPr id="15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仅一个知识库、一个自动指标的结果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3F4F6"/>
      </a:lt2>
      <a:accent1>
        <a:srgbClr val="2F6690"/>
      </a:accent1>
      <a:accent2>
        <a:srgbClr val="3A7D44"/>
      </a:accent2>
      <a:accent3>
        <a:srgbClr val="E4572E"/>
      </a:accent3>
      <a:accent4>
        <a:srgbClr val="F4A259"/>
      </a:accent4>
      <a:accent5>
        <a:srgbClr val="6B7280"/>
      </a:accent5>
      <a:accent6>
        <a:srgbClr val="DCE6F0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2026-10-07T15:59:32Z</dcterms:created>
  <dcterms:modified xsi:type="dcterms:W3CDTF">2026-10-07T15:59:32Z</dcterms:modified>
</cp:coreProperties>
</file>