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d53c7028-9b7d-c3b4-aa4d-2211863fc93a}">
          <p14:sldIdLst>
            <p14:sldId id="256"/>
          </p14:sldIdLst>
        </p14:section>
        <p14:section name="报告介绍" id="{f4a8d30b-7ca5-4a81-bf48-ac0b9bddc29e}">
          <p14:sldIdLst>
            <p14:sldId id="257"/>
            <p14:sldId id="258"/>
            <p14:sldId id="259"/>
          </p14:sldIdLst>
        </p14:section>
        <p14:section name="评价" id="{902a1cad-474a-9536-82d3-89597934c865}">
          <p14:sldIdLst>
            <p14:sldId id="260"/>
            <p14:sldId id="261"/>
            <p14:sldId id="262"/>
            <p14:sldId id="263"/>
            <p14:sldId id="264"/>
          </p14:sldIdLst>
        </p14:section>
        <p14:section name="结论" id="{be88bb5e-ca8f-6292-4e1f-3c31841d4ef8}">
          <p14:sldIdLst>
            <p14:sldId id="265"/>
          </p14:sldIdLst>
        </p14:section>
        <p14:section name="附录（备问）" id="{a2fb4f44-b982-4fe6-c725-b96e5a8c16d2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1D6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1D6B"/>
                </a:solidFill>
                <a:latin typeface="+mn-lt"/>
              </a:rPr>
              <a:t>找到想看的节目要几分钟（六国调查的原始报告）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找节目时间</c:v>
                </c:pt>
              </c:strCache>
            </c:strRef>
          </c:tx>
          <c:spPr>
            <a:solidFill>
              <a:srgbClr val="A99BEA"/>
            </a:solidFill>
            <a:effectLst/>
          </c:spPr>
          <c:invertIfNegative val="0"/>
          <c:dLbls>
            <c:numFmt formatCode="0&quot; 分钟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3FD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80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巴西</c:v>
                  </c:pt>
                  <c:pt idx="1">
                    <c:v>法国</c:v>
                  </c:pt>
                  <c:pt idx="2">
                    <c:v>德国</c:v>
                  </c:pt>
                  <c:pt idx="3">
                    <c:v>墨西哥</c:v>
                  </c:pt>
                  <c:pt idx="4">
                    <c:v>英国</c:v>
                  </c:pt>
                  <c:pt idx="5">
                    <c:v>美国</c:v>
                  </c:pt>
                  <c:pt idx="6">
                    <c:v>六国平均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26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  <c:pt idx="6">
                  <c:v>14</c:v>
                </c:pt>
              </c:numCache>
            </c:numRef>
          </c:val>
        </c:ser>
        <c:dLbls>
          <c:numFmt formatCode="0&quot; 分钟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C1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C1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秒】大家好。我分享的是尼尔森旗下 Gracenote 今年 4 月发布的一份行业报告，讲的是 AI 怎样改变人们找电视节目。里面有个很抓眼的数字：54% 的 13 到 14 岁孩子每天都用 AI。我想追问：这个数字代表的是谁？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秒】先说背景：平台越来越多，想看一部剧常常不知道去哪找，很多人干脆直接问 ChatGPT。报告就问了三件事：怎么用 AI 找信息；找节目有多难、会不会因此退订；信不信 AI 的答案。做报告的 Gracenote 专门给平台提供节目资料，它主张 AI 必须接入可信的行业数据，也就是它卖的东西。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秒】按老师要求的四项看方法。报告主要靠两份线上问卷：一份是今年 1 到 2 月，4003 名美国 AI 聊天机器人用户；另一份是去年夏天，六个国家各 500 名流媒体用户。关键在橙色这一行：两份都没公开样本从哪里招、怎么加权、回应率多少。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秒】结论可以归成四个数字：13 到 14 岁的 AI 用户 54% 每天都用；75% 会核查 AI 的答案；平均找一个节目要 14 分钟；18 到 34 岁有 54% 说找不到可能会退订。报告由此推出：离不开 AI 又不信 AI，节目难找导致退订，所以 AI 要接入可信数据。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秒】怎么评价？课上春晚的案例告诉我们：对象、总体、时间、方法不同，结果必然不同。我就用这四个角度，各找一个问题。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秒】第一，对象。这 4003 人都是用 AI 聊天机器人的人，是层层筛出来的，报告却常把结论说成“美国人”如何。它还把 13 到 14 岁叫作“Alpha 世代”，其实这个世代指 2010 到 2024 年出生的所有人。这和课上 Durex 网络调查一样：网络样本能否代表总体，现有说明判断不了。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秒】第二，总体。“找节目要 14 分钟”来自 Gracenote 去年的六国调查。我找到那份调查的原始报告，它是分国家列的：美国 12 分钟，法国 26 分钟，14 分钟是六国平均。可这份报告把它放进了一张讲美国人看电视的图里。“54% 可能退订”也是六国的数字。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秒】第三，时间和分母。报告引用美国皮尤研究中心的数据：去年秋天 30% 的青少年每天用 AI，几个月后它测到 54%，于是说使用在“加速”。但皮尤原始数据里，同样 13 到 14 岁只有 24%：皮尤问的是所有青少年，Gracenote 只问用 AI 的人。都只看用 AI 的人，差距只剩 10 个百分点左右。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秒】第四，方法。为了说明“找不到就会退订”，报告拼了四种数据：问卷里的退订意愿、行业的退订率、普华永道的全球预测，还有一家公司让 AI 回答“剧在哪能看”的测试。它们性质各不相同，也没有追踪同一批人，证明不了这个因果关系。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我的评价是：报告公开了样本量、时间和年龄，图里的数字我复算也对得上，可以当作行业趋势的信号；但不能当作“美国人”的精确数据，也不是因果证据。最后留个问题：要验证“找不到节目会导致退订”，你会怎么设计调查？谢谢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备问用，不计入讲解时间。被问到“数据从哪来、方法公开到什么程度”时翻到这一页。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备问用，不计入讲解时间。被问到“报告引用的数字准不准”时翻到这一页。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658368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5836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课程名"/>
          <p:cNvSpPr txBox="1"/>
          <p:nvPr/>
        </p:nvSpPr>
        <p:spPr>
          <a:xfrm>
            <a:off x="731520" y="9601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市场调研：方法与实践 ｜ 课后作业分享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55448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54% 的 13–14 岁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每天都用 AI？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8620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解读尼尔森旗下 Gracenote 2026 年的行业报告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《TV Search and Discovery in the AI Era》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主题：AI 时代，人们怎样找电视节目</a:t>
            </a:r>
            <a:endParaRPr lang="en-US" sz="1800" dirty="0"/>
          </a:p>
        </p:txBody>
      </p:sp>
      <p:sp>
        <p:nvSpPr>
          <p:cNvPr id="5" name="封面数字"/>
          <p:cNvSpPr txBox="1"/>
          <p:nvPr/>
        </p:nvSpPr>
        <p:spPr>
          <a:xfrm>
            <a:off x="7772400" y="141732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12000" dirty="0"/>
          </a:p>
        </p:txBody>
      </p:sp>
      <p:sp>
        <p:nvSpPr>
          <p:cNvPr id="6" name="封面数字说明"/>
          <p:cNvSpPr txBox="1"/>
          <p:nvPr/>
        </p:nvSpPr>
        <p:spPr>
          <a:xfrm>
            <a:off x="7589520" y="3429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报告：13–14 岁受访者每天用 AI 的比例</a:t>
            </a:r>
            <a:endParaRPr lang="en-US" sz="1300" dirty="0"/>
          </a:p>
        </p:txBody>
      </p:sp>
      <p:sp>
        <p:nvSpPr>
          <p:cNvPr id="7" name="搜索框"/>
          <p:cNvSpPr/>
          <p:nvPr/>
        </p:nvSpPr>
        <p:spPr>
          <a:xfrm>
            <a:off x="8001000" y="4206240"/>
            <a:ext cx="3474720" cy="7315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搜索框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416552"/>
            <a:ext cx="310896" cy="310896"/>
          </a:xfrm>
          <a:prstGeom prst="rect">
            <a:avLst/>
          </a:prstGeom>
        </p:spPr>
      </p:pic>
      <p:sp>
        <p:nvSpPr>
          <p:cNvPr id="9" name="搜索框问题"/>
          <p:cNvSpPr txBox="1"/>
          <p:nvPr/>
        </p:nvSpPr>
        <p:spPr>
          <a:xfrm>
            <a:off x="8732520" y="42062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这个数字代表的是谁？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这份报告在问什么</a:t>
            </a:r>
            <a:endParaRPr lang="en-US" sz="3000" dirty="0"/>
          </a:p>
        </p:txBody>
      </p:sp>
      <p:sp>
        <p:nvSpPr>
          <p:cNvPr id="3" name="背景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背景：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流媒体平台越来越多，想看一部剧常常不知道去哪找；不少人开始直接问 ChatGPT 这类 AI 聊天机器人。</a:t>
            </a:r>
            <a:endParaRPr lang="en-US" sz="1600" dirty="0"/>
          </a:p>
        </p:txBody>
      </p:sp>
      <p:sp>
        <p:nvSpPr>
          <p:cNvPr id="4" name="问题卡1"/>
          <p:cNvSpPr/>
          <p:nvPr/>
        </p:nvSpPr>
        <p:spPr>
          <a:xfrm>
            <a:off x="548640" y="1874520"/>
            <a:ext cx="347472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图标底"/>
          <p:cNvSpPr/>
          <p:nvPr/>
        </p:nvSpPr>
        <p:spPr>
          <a:xfrm>
            <a:off x="82296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5990"/>
            <a:ext cx="297180" cy="297180"/>
          </a:xfrm>
          <a:prstGeom prst="rect">
            <a:avLst/>
          </a:prstGeom>
        </p:spPr>
      </p:pic>
      <p:sp>
        <p:nvSpPr>
          <p:cNvPr id="7" name="问题标题1"/>
          <p:cNvSpPr txBox="1"/>
          <p:nvPr/>
        </p:nvSpPr>
        <p:spPr>
          <a:xfrm>
            <a:off x="1554480" y="2057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问题 1 · 使用</a:t>
            </a:r>
            <a:endParaRPr lang="en-US" sz="1800" dirty="0"/>
          </a:p>
        </p:txBody>
      </p:sp>
      <p:sp>
        <p:nvSpPr>
          <p:cNvPr id="8" name="问题内容1"/>
          <p:cNvSpPr txBox="1"/>
          <p:nvPr/>
        </p:nvSpPr>
        <p:spPr>
          <a:xfrm>
            <a:off x="822960" y="2743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人们，尤其是年轻人，怎样用 AI 聊天机器人找信息？</a:t>
            </a:r>
            <a:endParaRPr lang="en-US" sz="1500" dirty="0"/>
          </a:p>
        </p:txBody>
      </p:sp>
      <p:sp>
        <p:nvSpPr>
          <p:cNvPr id="9" name="问题卡2"/>
          <p:cNvSpPr/>
          <p:nvPr/>
        </p:nvSpPr>
        <p:spPr>
          <a:xfrm>
            <a:off x="4297680" y="1874520"/>
            <a:ext cx="347472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图标底"/>
          <p:cNvSpPr/>
          <p:nvPr/>
        </p:nvSpPr>
        <p:spPr>
          <a:xfrm>
            <a:off x="457200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590" y="2205990"/>
            <a:ext cx="297180" cy="297180"/>
          </a:xfrm>
          <a:prstGeom prst="rect">
            <a:avLst/>
          </a:prstGeom>
        </p:spPr>
      </p:pic>
      <p:sp>
        <p:nvSpPr>
          <p:cNvPr id="12" name="问题标题2"/>
          <p:cNvSpPr txBox="1"/>
          <p:nvPr/>
        </p:nvSpPr>
        <p:spPr>
          <a:xfrm>
            <a:off x="5303520" y="2057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问题 2 · 痛点</a:t>
            </a:r>
            <a:endParaRPr lang="en-US" sz="1800" dirty="0"/>
          </a:p>
        </p:txBody>
      </p:sp>
      <p:sp>
        <p:nvSpPr>
          <p:cNvPr id="13" name="问题内容2"/>
          <p:cNvSpPr txBox="1"/>
          <p:nvPr/>
        </p:nvSpPr>
        <p:spPr>
          <a:xfrm>
            <a:off x="4572000" y="2743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流媒体平台越来越多，找节目有多难？会不会因此退订？</a:t>
            </a:r>
            <a:endParaRPr lang="en-US" sz="1500" dirty="0"/>
          </a:p>
        </p:txBody>
      </p:sp>
      <p:sp>
        <p:nvSpPr>
          <p:cNvPr id="14" name="问题卡3"/>
          <p:cNvSpPr/>
          <p:nvPr/>
        </p:nvSpPr>
        <p:spPr>
          <a:xfrm>
            <a:off x="8046720" y="1874520"/>
            <a:ext cx="347472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图标底"/>
          <p:cNvSpPr/>
          <p:nvPr/>
        </p:nvSpPr>
        <p:spPr>
          <a:xfrm>
            <a:off x="832104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630" y="2205990"/>
            <a:ext cx="297180" cy="297180"/>
          </a:xfrm>
          <a:prstGeom prst="rect">
            <a:avLst/>
          </a:prstGeom>
        </p:spPr>
      </p:pic>
      <p:sp>
        <p:nvSpPr>
          <p:cNvPr id="17" name="问题标题3"/>
          <p:cNvSpPr txBox="1"/>
          <p:nvPr/>
        </p:nvSpPr>
        <p:spPr>
          <a:xfrm>
            <a:off x="9052560" y="2057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问题 3 · 信任</a:t>
            </a:r>
            <a:endParaRPr lang="en-US" sz="1800" dirty="0"/>
          </a:p>
        </p:txBody>
      </p:sp>
      <p:sp>
        <p:nvSpPr>
          <p:cNvPr id="18" name="问题内容3"/>
          <p:cNvSpPr txBox="1"/>
          <p:nvPr/>
        </p:nvSpPr>
        <p:spPr>
          <a:xfrm>
            <a:off x="8321040" y="2743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观众相信 AI 给出的娱乐和体育信息吗？</a:t>
            </a:r>
            <a:endParaRPr lang="en-US" sz="1500" dirty="0"/>
          </a:p>
        </p:txBody>
      </p:sp>
      <p:sp>
        <p:nvSpPr>
          <p:cNvPr id="19" name="机构与主张"/>
          <p:cNvSpPr/>
          <p:nvPr/>
        </p:nvSpPr>
        <p:spPr>
          <a:xfrm>
            <a:off x="548640" y="3886200"/>
            <a:ext cx="1106424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图标底"/>
          <p:cNvSpPr/>
          <p:nvPr/>
        </p:nvSpPr>
        <p:spPr>
          <a:xfrm>
            <a:off x="868680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43400"/>
            <a:ext cx="274320" cy="274320"/>
          </a:xfrm>
          <a:prstGeom prst="rect">
            <a:avLst/>
          </a:prstGeom>
        </p:spPr>
      </p:pic>
      <p:sp>
        <p:nvSpPr>
          <p:cNvPr id="22" name="机构说明"/>
          <p:cNvSpPr txBox="1"/>
          <p:nvPr/>
        </p:nvSpPr>
        <p:spPr>
          <a:xfrm>
            <a:off x="1600200" y="402336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谁做的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Gracenote，属于尼尔森（全球最大的收视率调查公司），专门给电视和流媒体平台提供节目资料：片名、简介、在哪能看。</a:t>
            </a:r>
            <a:endParaRPr lang="en-US" sz="1600" dirty="0"/>
          </a:p>
        </p:txBody>
      </p:sp>
      <p:sp>
        <p:nvSpPr>
          <p:cNvPr id="23" name="图标底"/>
          <p:cNvSpPr/>
          <p:nvPr/>
        </p:nvSpPr>
        <p:spPr>
          <a:xfrm>
            <a:off x="6263640" y="42062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图标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400"/>
            <a:ext cx="274320" cy="274320"/>
          </a:xfrm>
          <a:prstGeom prst="rect">
            <a:avLst/>
          </a:prstGeom>
        </p:spPr>
      </p:pic>
      <p:sp>
        <p:nvSpPr>
          <p:cNvPr id="25" name="报告主张"/>
          <p:cNvSpPr txBox="1"/>
          <p:nvPr/>
        </p:nvSpPr>
        <p:spPr>
          <a:xfrm>
            <a:off x="6995160" y="402336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报告主张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AI 会成为人们找节目的入口，但必须接入可信的行业数据——这正是 Gracenote 卖的东西。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研究方法：两份核心问卷</a:t>
            </a:r>
            <a:endParaRPr lang="en-US" sz="3000" dirty="0"/>
          </a:p>
        </p:txBody>
      </p:sp>
      <p:sp>
        <p:nvSpPr>
          <p:cNvPr id="3" name="问卷卡1"/>
          <p:cNvSpPr/>
          <p:nvPr/>
        </p:nvSpPr>
        <p:spPr>
          <a:xfrm>
            <a:off x="548640" y="1371600"/>
            <a:ext cx="544068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问卷名1"/>
          <p:cNvSpPr txBox="1"/>
          <p:nvPr/>
        </p:nvSpPr>
        <p:spPr>
          <a:xfrm>
            <a:off x="822960" y="1508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调查一：2026 年 AI 使用调查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报告里所有关于 AI 的数字都来自这里</a:t>
            </a:r>
            <a:endParaRPr lang="en-US" sz="1800" dirty="0"/>
          </a:p>
        </p:txBody>
      </p:sp>
      <p:sp>
        <p:nvSpPr>
          <p:cNvPr id="5" name="方法项1-1"/>
          <p:cNvSpPr txBox="1"/>
          <p:nvPr/>
        </p:nvSpPr>
        <p:spPr>
          <a:xfrm>
            <a:off x="82296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调查对象</a:t>
            </a:r>
            <a:endParaRPr lang="en-US" sz="1300" dirty="0"/>
          </a:p>
        </p:txBody>
      </p:sp>
      <p:sp>
        <p:nvSpPr>
          <p:cNvPr id="6" name="方法值1-1"/>
          <p:cNvSpPr txBox="1"/>
          <p:nvPr/>
        </p:nvSpPr>
        <p:spPr>
          <a:xfrm>
            <a:off x="2057400" y="2377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美国 13–79 岁 AI 聊天机器人用户</a:t>
            </a:r>
            <a:endParaRPr lang="en-US" sz="1500" dirty="0"/>
          </a:p>
        </p:txBody>
      </p:sp>
      <p:sp>
        <p:nvSpPr>
          <p:cNvPr id="7" name="方法项1-2"/>
          <p:cNvSpPr txBox="1"/>
          <p:nvPr/>
        </p:nvSpPr>
        <p:spPr>
          <a:xfrm>
            <a:off x="822960" y="2944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调查时间</a:t>
            </a:r>
            <a:endParaRPr lang="en-US" sz="1300" dirty="0"/>
          </a:p>
        </p:txBody>
      </p:sp>
      <p:sp>
        <p:nvSpPr>
          <p:cNvPr id="8" name="方法值1-2"/>
          <p:cNvSpPr txBox="1"/>
          <p:nvPr/>
        </p:nvSpPr>
        <p:spPr>
          <a:xfrm>
            <a:off x="2057400" y="29443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2026.1.23–2.4</a:t>
            </a:r>
            <a:endParaRPr lang="en-US" sz="1500" dirty="0"/>
          </a:p>
        </p:txBody>
      </p:sp>
      <p:sp>
        <p:nvSpPr>
          <p:cNvPr id="9" name="方法项1-3"/>
          <p:cNvSpPr txBox="1"/>
          <p:nvPr/>
        </p:nvSpPr>
        <p:spPr>
          <a:xfrm>
            <a:off x="822960" y="35112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调查方式</a:t>
            </a:r>
            <a:endParaRPr lang="en-US" sz="1300" dirty="0"/>
          </a:p>
        </p:txBody>
      </p:sp>
      <p:sp>
        <p:nvSpPr>
          <p:cNvPr id="10" name="方法值1-3"/>
          <p:cNvSpPr txBox="1"/>
          <p:nvPr/>
        </p:nvSpPr>
        <p:spPr>
          <a:xfrm>
            <a:off x="2057400" y="35112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线上问卷</a:t>
            </a:r>
            <a:endParaRPr lang="en-US" sz="1500" dirty="0"/>
          </a:p>
        </p:txBody>
      </p:sp>
      <p:sp>
        <p:nvSpPr>
          <p:cNvPr id="11" name="方法项1-4"/>
          <p:cNvSpPr txBox="1"/>
          <p:nvPr/>
        </p:nvSpPr>
        <p:spPr>
          <a:xfrm>
            <a:off x="822960" y="40782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样本量</a:t>
            </a:r>
            <a:endParaRPr lang="en-US" sz="1300" dirty="0"/>
          </a:p>
        </p:txBody>
      </p:sp>
      <p:sp>
        <p:nvSpPr>
          <p:cNvPr id="12" name="方法值1-4"/>
          <p:cNvSpPr txBox="1"/>
          <p:nvPr/>
        </p:nvSpPr>
        <p:spPr>
          <a:xfrm>
            <a:off x="2057400" y="407822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4,003</a:t>
            </a:r>
            <a:endParaRPr lang="en-US" sz="1500" dirty="0"/>
          </a:p>
        </p:txBody>
      </p:sp>
      <p:sp>
        <p:nvSpPr>
          <p:cNvPr id="13" name="未披露底"/>
          <p:cNvSpPr/>
          <p:nvPr/>
        </p:nvSpPr>
        <p:spPr>
          <a:xfrm>
            <a:off x="685800" y="4608576"/>
            <a:ext cx="516636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方法项1-5"/>
          <p:cNvSpPr txBox="1"/>
          <p:nvPr/>
        </p:nvSpPr>
        <p:spPr>
          <a:xfrm>
            <a:off x="822960" y="46451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抽样方式</a:t>
            </a:r>
            <a:endParaRPr lang="en-US" sz="1300" dirty="0"/>
          </a:p>
        </p:txBody>
      </p:sp>
      <p:sp>
        <p:nvSpPr>
          <p:cNvPr id="15" name="方法值1-5"/>
          <p:cNvSpPr txBox="1"/>
          <p:nvPr/>
        </p:nvSpPr>
        <p:spPr>
          <a:xfrm>
            <a:off x="2057400" y="46451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未披露：样本来源、加权、回应率</a:t>
            </a:r>
            <a:endParaRPr lang="en-US" sz="1500" dirty="0"/>
          </a:p>
        </p:txBody>
      </p:sp>
      <p:sp>
        <p:nvSpPr>
          <p:cNvPr id="16" name="问卷卡2"/>
          <p:cNvSpPr/>
          <p:nvPr/>
        </p:nvSpPr>
        <p:spPr>
          <a:xfrm>
            <a:off x="6172200" y="1371600"/>
            <a:ext cx="544068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问卷名2"/>
          <p:cNvSpPr txBox="1"/>
          <p:nvPr/>
        </p:nvSpPr>
        <p:spPr>
          <a:xfrm>
            <a:off x="6446520" y="1508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调查二：2025 年六国流媒体调查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“找节目难”“会退订”等数字来自这里</a:t>
            </a:r>
            <a:endParaRPr lang="en-US" sz="1800" dirty="0"/>
          </a:p>
        </p:txBody>
      </p:sp>
      <p:sp>
        <p:nvSpPr>
          <p:cNvPr id="18" name="方法项2-1"/>
          <p:cNvSpPr txBox="1"/>
          <p:nvPr/>
        </p:nvSpPr>
        <p:spPr>
          <a:xfrm>
            <a:off x="644652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调查对象</a:t>
            </a:r>
            <a:endParaRPr lang="en-US" sz="1300" dirty="0"/>
          </a:p>
        </p:txBody>
      </p:sp>
      <p:sp>
        <p:nvSpPr>
          <p:cNvPr id="19" name="方法值2-1"/>
          <p:cNvSpPr txBox="1"/>
          <p:nvPr/>
        </p:nvSpPr>
        <p:spPr>
          <a:xfrm>
            <a:off x="7680960" y="2377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巴西、法、德、墨、美、英的流媒体用户</a:t>
            </a:r>
            <a:endParaRPr lang="en-US" sz="1500" dirty="0"/>
          </a:p>
        </p:txBody>
      </p:sp>
      <p:sp>
        <p:nvSpPr>
          <p:cNvPr id="20" name="方法项2-2"/>
          <p:cNvSpPr txBox="1"/>
          <p:nvPr/>
        </p:nvSpPr>
        <p:spPr>
          <a:xfrm>
            <a:off x="6446520" y="2944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调查时间</a:t>
            </a:r>
            <a:endParaRPr lang="en-US" sz="1300" dirty="0"/>
          </a:p>
        </p:txBody>
      </p:sp>
      <p:sp>
        <p:nvSpPr>
          <p:cNvPr id="21" name="方法值2-2"/>
          <p:cNvSpPr txBox="1"/>
          <p:nvPr/>
        </p:nvSpPr>
        <p:spPr>
          <a:xfrm>
            <a:off x="7680960" y="29443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2025.7.28–8.1</a:t>
            </a:r>
            <a:endParaRPr lang="en-US" sz="1500" dirty="0"/>
          </a:p>
        </p:txBody>
      </p:sp>
      <p:sp>
        <p:nvSpPr>
          <p:cNvPr id="22" name="方法项2-3"/>
          <p:cNvSpPr txBox="1"/>
          <p:nvPr/>
        </p:nvSpPr>
        <p:spPr>
          <a:xfrm>
            <a:off x="6446520" y="35112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调查方式</a:t>
            </a:r>
            <a:endParaRPr lang="en-US" sz="1300" dirty="0"/>
          </a:p>
        </p:txBody>
      </p:sp>
      <p:sp>
        <p:nvSpPr>
          <p:cNvPr id="23" name="方法值2-3"/>
          <p:cNvSpPr txBox="1"/>
          <p:nvPr/>
        </p:nvSpPr>
        <p:spPr>
          <a:xfrm>
            <a:off x="7680960" y="35112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线上问卷</a:t>
            </a:r>
            <a:endParaRPr lang="en-US" sz="1500" dirty="0"/>
          </a:p>
        </p:txBody>
      </p:sp>
      <p:sp>
        <p:nvSpPr>
          <p:cNvPr id="24" name="方法项2-4"/>
          <p:cNvSpPr txBox="1"/>
          <p:nvPr/>
        </p:nvSpPr>
        <p:spPr>
          <a:xfrm>
            <a:off x="6446520" y="40782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样本量</a:t>
            </a:r>
            <a:endParaRPr lang="en-US" sz="1300" dirty="0"/>
          </a:p>
        </p:txBody>
      </p:sp>
      <p:sp>
        <p:nvSpPr>
          <p:cNvPr id="25" name="方法值2-4"/>
          <p:cNvSpPr txBox="1"/>
          <p:nvPr/>
        </p:nvSpPr>
        <p:spPr>
          <a:xfrm>
            <a:off x="7680960" y="407822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3,000（每国 500）</a:t>
            </a:r>
            <a:endParaRPr lang="en-US" sz="1500" dirty="0"/>
          </a:p>
        </p:txBody>
      </p:sp>
      <p:sp>
        <p:nvSpPr>
          <p:cNvPr id="26" name="未披露底"/>
          <p:cNvSpPr/>
          <p:nvPr/>
        </p:nvSpPr>
        <p:spPr>
          <a:xfrm>
            <a:off x="6309360" y="4608576"/>
            <a:ext cx="516636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方法项2-5"/>
          <p:cNvSpPr txBox="1"/>
          <p:nvPr/>
        </p:nvSpPr>
        <p:spPr>
          <a:xfrm>
            <a:off x="6446520" y="46451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抽样方式</a:t>
            </a:r>
            <a:endParaRPr lang="en-US" sz="1300" dirty="0"/>
          </a:p>
        </p:txBody>
      </p:sp>
      <p:sp>
        <p:nvSpPr>
          <p:cNvPr id="28" name="方法值2-5"/>
          <p:cNvSpPr txBox="1"/>
          <p:nvPr/>
        </p:nvSpPr>
        <p:spPr>
          <a:xfrm>
            <a:off x="7680960" y="46451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未披露：样本来源、加权、回应率</a:t>
            </a:r>
            <a:endParaRPr lang="en-US" sz="1500" dirty="0"/>
          </a:p>
        </p:txBody>
      </p:sp>
      <p:sp>
        <p:nvSpPr>
          <p:cNvPr id="29" name="其他来源"/>
          <p:cNvSpPr txBox="1"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此外还引用了尼尔森收视率数据、Gracenote 节目资料库，以及皮尤、德勤、普华永道等机构的研究，共 11 个来源（核查见附录一）。</a:t>
            </a:r>
            <a:endParaRPr lang="en-US" sz="1400" dirty="0"/>
          </a:p>
        </p:txBody>
      </p:sp>
      <p:sp>
        <p:nvSpPr>
          <p:cNvPr id="30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来源：报告的数据说明；尼尔森新闻稿（2026.4）；Gracenote 2025 年报告《State of Play》的数据说明。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报告的主要结论</a:t>
            </a:r>
            <a:endParaRPr lang="en-US" sz="3000" dirty="0"/>
          </a:p>
        </p:txBody>
      </p:sp>
      <p:sp>
        <p:nvSpPr>
          <p:cNvPr id="3" name="结论卡1"/>
          <p:cNvSpPr/>
          <p:nvPr/>
        </p:nvSpPr>
        <p:spPr>
          <a:xfrm>
            <a:off x="548640" y="137160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结论数字1"/>
          <p:cNvSpPr txBox="1"/>
          <p:nvPr/>
        </p:nvSpPr>
        <p:spPr>
          <a:xfrm>
            <a:off x="77724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5" name="结论说明1"/>
          <p:cNvSpPr txBox="1"/>
          <p:nvPr/>
        </p:nvSpPr>
        <p:spPr>
          <a:xfrm>
            <a:off x="77724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13–14 岁 AI 用户每天都用（报告称为“Alpha 世代”）</a:t>
            </a:r>
            <a:endParaRPr lang="en-US" sz="1500" dirty="0"/>
          </a:p>
        </p:txBody>
      </p:sp>
      <p:sp>
        <p:nvSpPr>
          <p:cNvPr id="6" name="结论来源1"/>
          <p:cNvSpPr txBox="1"/>
          <p:nvPr/>
        </p:nvSpPr>
        <p:spPr>
          <a:xfrm>
            <a:off x="77724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调查一</a:t>
            </a:r>
            <a:endParaRPr lang="en-US" sz="1100" dirty="0"/>
          </a:p>
        </p:txBody>
      </p:sp>
      <p:sp>
        <p:nvSpPr>
          <p:cNvPr id="7" name="结论卡2"/>
          <p:cNvSpPr/>
          <p:nvPr/>
        </p:nvSpPr>
        <p:spPr>
          <a:xfrm>
            <a:off x="3360420" y="137160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结论数字2"/>
          <p:cNvSpPr txBox="1"/>
          <p:nvPr/>
        </p:nvSpPr>
        <p:spPr>
          <a:xfrm>
            <a:off x="358902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4400" dirty="0"/>
          </a:p>
        </p:txBody>
      </p:sp>
      <p:sp>
        <p:nvSpPr>
          <p:cNvPr id="9" name="结论说明2"/>
          <p:cNvSpPr txBox="1"/>
          <p:nvPr/>
        </p:nvSpPr>
        <p:spPr>
          <a:xfrm>
            <a:off x="358902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受访者会核查 AI 给出的答案</a:t>
            </a:r>
            <a:endParaRPr lang="en-US" sz="1500" dirty="0"/>
          </a:p>
        </p:txBody>
      </p:sp>
      <p:sp>
        <p:nvSpPr>
          <p:cNvPr id="10" name="结论来源2"/>
          <p:cNvSpPr txBox="1"/>
          <p:nvPr/>
        </p:nvSpPr>
        <p:spPr>
          <a:xfrm>
            <a:off x="358902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调查一</a:t>
            </a:r>
            <a:endParaRPr lang="en-US" sz="1100" dirty="0"/>
          </a:p>
        </p:txBody>
      </p:sp>
      <p:sp>
        <p:nvSpPr>
          <p:cNvPr id="11" name="结论卡3"/>
          <p:cNvSpPr/>
          <p:nvPr/>
        </p:nvSpPr>
        <p:spPr>
          <a:xfrm>
            <a:off x="6172200" y="137160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结论数字3"/>
          <p:cNvSpPr txBox="1"/>
          <p:nvPr/>
        </p:nvSpPr>
        <p:spPr>
          <a:xfrm>
            <a:off x="640080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400" dirty="0"/>
          </a:p>
        </p:txBody>
      </p:sp>
      <p:sp>
        <p:nvSpPr>
          <p:cNvPr id="13" name="结论说明3"/>
          <p:cNvSpPr txBox="1"/>
          <p:nvPr/>
        </p:nvSpPr>
        <p:spPr>
          <a:xfrm>
            <a:off x="640080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平均找一个想看的节目所花时间</a:t>
            </a:r>
            <a:endParaRPr lang="en-US" sz="1500" dirty="0"/>
          </a:p>
        </p:txBody>
      </p:sp>
      <p:sp>
        <p:nvSpPr>
          <p:cNvPr id="14" name="结论来源3"/>
          <p:cNvSpPr txBox="1"/>
          <p:nvPr/>
        </p:nvSpPr>
        <p:spPr>
          <a:xfrm>
            <a:off x="640080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调查二（六国）</a:t>
            </a:r>
            <a:endParaRPr lang="en-US" sz="1100" dirty="0"/>
          </a:p>
        </p:txBody>
      </p:sp>
      <p:sp>
        <p:nvSpPr>
          <p:cNvPr id="15" name="结论卡4"/>
          <p:cNvSpPr/>
          <p:nvPr/>
        </p:nvSpPr>
        <p:spPr>
          <a:xfrm>
            <a:off x="8983980" y="137160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结论数字4"/>
          <p:cNvSpPr txBox="1"/>
          <p:nvPr/>
        </p:nvSpPr>
        <p:spPr>
          <a:xfrm>
            <a:off x="921258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17" name="结论说明4"/>
          <p:cNvSpPr txBox="1"/>
          <p:nvPr/>
        </p:nvSpPr>
        <p:spPr>
          <a:xfrm>
            <a:off x="921258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18–34 岁：找不到想看的，可能会退订</a:t>
            </a:r>
            <a:endParaRPr lang="en-US" sz="1500" dirty="0"/>
          </a:p>
        </p:txBody>
      </p:sp>
      <p:sp>
        <p:nvSpPr>
          <p:cNvPr id="18" name="结论来源4"/>
          <p:cNvSpPr txBox="1"/>
          <p:nvPr/>
        </p:nvSpPr>
        <p:spPr>
          <a:xfrm>
            <a:off x="921258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调查二（六国）</a:t>
            </a:r>
            <a:endParaRPr lang="en-US" sz="1100" dirty="0"/>
          </a:p>
        </p:txBody>
      </p:sp>
      <p:sp>
        <p:nvSpPr>
          <p:cNvPr id="19" name="逻辑链标题"/>
          <p:cNvSpPr txBox="1"/>
          <p:nvPr/>
        </p:nvSpPr>
        <p:spPr>
          <a:xfrm>
            <a:off x="54864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报告的逻辑链</a:t>
            </a:r>
            <a:endParaRPr lang="en-US" sz="1500" dirty="0"/>
          </a:p>
        </p:txBody>
      </p:sp>
      <p:sp>
        <p:nvSpPr>
          <p:cNvPr id="20" name="链1"/>
          <p:cNvSpPr/>
          <p:nvPr/>
        </p:nvSpPr>
        <p:spPr>
          <a:xfrm>
            <a:off x="548640" y="4709160"/>
            <a:ext cx="2468880" cy="7315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链文字1"/>
          <p:cNvSpPr txBox="1"/>
          <p:nvPr/>
        </p:nvSpPr>
        <p:spPr>
          <a:xfrm>
            <a:off x="548640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年轻人越来越依赖 AI</a:t>
            </a:r>
            <a:endParaRPr lang="en-US" sz="1400" dirty="0"/>
          </a:p>
        </p:txBody>
      </p:sp>
      <p:sp>
        <p:nvSpPr>
          <p:cNvPr id="22" name="箭头1"/>
          <p:cNvSpPr txBox="1"/>
          <p:nvPr/>
        </p:nvSpPr>
        <p:spPr>
          <a:xfrm>
            <a:off x="3017520" y="4709160"/>
            <a:ext cx="393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链2"/>
          <p:cNvSpPr/>
          <p:nvPr/>
        </p:nvSpPr>
        <p:spPr>
          <a:xfrm>
            <a:off x="3410712" y="4709160"/>
            <a:ext cx="2468880" cy="7315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链文字2"/>
          <p:cNvSpPr txBox="1"/>
          <p:nvPr/>
        </p:nvSpPr>
        <p:spPr>
          <a:xfrm>
            <a:off x="3410712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但不信任 AI 的答案</a:t>
            </a:r>
            <a:endParaRPr lang="en-US" sz="1400" dirty="0"/>
          </a:p>
        </p:txBody>
      </p:sp>
      <p:sp>
        <p:nvSpPr>
          <p:cNvPr id="25" name="箭头2"/>
          <p:cNvSpPr txBox="1"/>
          <p:nvPr/>
        </p:nvSpPr>
        <p:spPr>
          <a:xfrm>
            <a:off x="5879592" y="4709160"/>
            <a:ext cx="393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链3"/>
          <p:cNvSpPr/>
          <p:nvPr/>
        </p:nvSpPr>
        <p:spPr>
          <a:xfrm>
            <a:off x="6272784" y="4709160"/>
            <a:ext cx="2468880" cy="7315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7" name="链文字3"/>
          <p:cNvSpPr txBox="1"/>
          <p:nvPr/>
        </p:nvSpPr>
        <p:spPr>
          <a:xfrm>
            <a:off x="6272784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节目难找导致退订</a:t>
            </a:r>
            <a:endParaRPr lang="en-US" sz="1400" dirty="0"/>
          </a:p>
        </p:txBody>
      </p:sp>
      <p:sp>
        <p:nvSpPr>
          <p:cNvPr id="28" name="箭头3"/>
          <p:cNvSpPr txBox="1"/>
          <p:nvPr/>
        </p:nvSpPr>
        <p:spPr>
          <a:xfrm>
            <a:off x="8741664" y="4709160"/>
            <a:ext cx="393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链4"/>
          <p:cNvSpPr/>
          <p:nvPr/>
        </p:nvSpPr>
        <p:spPr>
          <a:xfrm>
            <a:off x="9134856" y="4709160"/>
            <a:ext cx="2468880" cy="7315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链文字4"/>
          <p:cNvSpPr txBox="1"/>
          <p:nvPr/>
        </p:nvSpPr>
        <p:spPr>
          <a:xfrm>
            <a:off x="9134856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所以 AI 要接入可信数据</a:t>
            </a:r>
            <a:endParaRPr lang="en-US" sz="1400" dirty="0"/>
          </a:p>
        </p:txBody>
      </p:sp>
      <p:sp>
        <p:nvSpPr>
          <p:cNvPr id="31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报告正文与图表。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怎么评价：比起结果，更该看方法</a:t>
            </a:r>
            <a:endParaRPr lang="en-US" sz="3200" dirty="0"/>
          </a:p>
        </p:txBody>
      </p:sp>
      <p:sp>
        <p:nvSpPr>
          <p:cNvPr id="3" name="框架引言"/>
          <p:cNvSpPr txBox="1"/>
          <p:nvPr/>
        </p:nvSpPr>
        <p:spPr>
          <a:xfrm>
            <a:off x="731520" y="1463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课上的春晚满意度案例：央视 81.6% 叫好，新浪网只有 11.5%。调查对象、研究总体、调查时间、研究方法不同，结果必然不同。</a:t>
            </a:r>
            <a:endParaRPr lang="en-US" sz="1600" dirty="0"/>
          </a:p>
        </p:txBody>
      </p:sp>
      <p:sp>
        <p:nvSpPr>
          <p:cNvPr id="4" name="框架卡1"/>
          <p:cNvSpPr/>
          <p:nvPr/>
        </p:nvSpPr>
        <p:spPr>
          <a:xfrm>
            <a:off x="731520" y="2514600"/>
            <a:ext cx="2542032" cy="2743200"/>
          </a:xfrm>
          <a:prstGeom prst="roundRect">
            <a:avLst>
              <a:gd name="adj" fmla="val 4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图标底"/>
          <p:cNvSpPr/>
          <p:nvPr/>
        </p:nvSpPr>
        <p:spPr>
          <a:xfrm>
            <a:off x="1005840" y="27889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2960370"/>
            <a:ext cx="342900" cy="342900"/>
          </a:xfrm>
          <a:prstGeom prst="rect">
            <a:avLst/>
          </a:prstGeom>
        </p:spPr>
      </p:pic>
      <p:sp>
        <p:nvSpPr>
          <p:cNvPr id="7" name="框架名1"/>
          <p:cNvSpPr txBox="1"/>
          <p:nvPr/>
        </p:nvSpPr>
        <p:spPr>
          <a:xfrm>
            <a:off x="1005840" y="3611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一、调查对象</a:t>
            </a:r>
            <a:endParaRPr lang="en-US" sz="2000" dirty="0"/>
          </a:p>
        </p:txBody>
      </p:sp>
      <p:sp>
        <p:nvSpPr>
          <p:cNvPr id="8" name="框架问题1"/>
          <p:cNvSpPr txBox="1"/>
          <p:nvPr/>
        </p:nvSpPr>
        <p:spPr>
          <a:xfrm>
            <a:off x="1005840" y="411480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这份报告：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问的是 AI 用户，常被写成“美国人”</a:t>
            </a:r>
            <a:endParaRPr lang="en-US" sz="1300" dirty="0"/>
          </a:p>
        </p:txBody>
      </p:sp>
      <p:sp>
        <p:nvSpPr>
          <p:cNvPr id="9" name="框架卡2"/>
          <p:cNvSpPr/>
          <p:nvPr/>
        </p:nvSpPr>
        <p:spPr>
          <a:xfrm>
            <a:off x="3456432" y="2514600"/>
            <a:ext cx="2542032" cy="2743200"/>
          </a:xfrm>
          <a:prstGeom prst="roundRect">
            <a:avLst>
              <a:gd name="adj" fmla="val 4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图标底"/>
          <p:cNvSpPr/>
          <p:nvPr/>
        </p:nvSpPr>
        <p:spPr>
          <a:xfrm>
            <a:off x="3730752" y="27889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2202" y="2960370"/>
            <a:ext cx="342900" cy="342900"/>
          </a:xfrm>
          <a:prstGeom prst="rect">
            <a:avLst/>
          </a:prstGeom>
        </p:spPr>
      </p:pic>
      <p:sp>
        <p:nvSpPr>
          <p:cNvPr id="12" name="框架名2"/>
          <p:cNvSpPr txBox="1"/>
          <p:nvPr/>
        </p:nvSpPr>
        <p:spPr>
          <a:xfrm>
            <a:off x="3730752" y="3611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二、研究总体</a:t>
            </a:r>
            <a:endParaRPr lang="en-US" sz="2000" dirty="0"/>
          </a:p>
        </p:txBody>
      </p:sp>
      <p:sp>
        <p:nvSpPr>
          <p:cNvPr id="13" name="框架问题2"/>
          <p:cNvSpPr txBox="1"/>
          <p:nvPr/>
        </p:nvSpPr>
        <p:spPr>
          <a:xfrm>
            <a:off x="3730752" y="411480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这份报告：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六国平均被当成美国数字</a:t>
            </a:r>
            <a:endParaRPr lang="en-US" sz="1300" dirty="0"/>
          </a:p>
        </p:txBody>
      </p:sp>
      <p:sp>
        <p:nvSpPr>
          <p:cNvPr id="14" name="框架卡3"/>
          <p:cNvSpPr/>
          <p:nvPr/>
        </p:nvSpPr>
        <p:spPr>
          <a:xfrm>
            <a:off x="6181344" y="2514600"/>
            <a:ext cx="2542032" cy="2743200"/>
          </a:xfrm>
          <a:prstGeom prst="roundRect">
            <a:avLst>
              <a:gd name="adj" fmla="val 4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图标底"/>
          <p:cNvSpPr/>
          <p:nvPr/>
        </p:nvSpPr>
        <p:spPr>
          <a:xfrm>
            <a:off x="6455664" y="27889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6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7114" y="2960370"/>
            <a:ext cx="342900" cy="342900"/>
          </a:xfrm>
          <a:prstGeom prst="rect">
            <a:avLst/>
          </a:prstGeom>
        </p:spPr>
      </p:pic>
      <p:sp>
        <p:nvSpPr>
          <p:cNvPr id="17" name="框架名3"/>
          <p:cNvSpPr txBox="1"/>
          <p:nvPr/>
        </p:nvSpPr>
        <p:spPr>
          <a:xfrm>
            <a:off x="6455664" y="3611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三、调查时间</a:t>
            </a:r>
            <a:endParaRPr lang="en-US" sz="2000" dirty="0"/>
          </a:p>
        </p:txBody>
      </p:sp>
      <p:sp>
        <p:nvSpPr>
          <p:cNvPr id="18" name="框架问题3"/>
          <p:cNvSpPr txBox="1"/>
          <p:nvPr/>
        </p:nvSpPr>
        <p:spPr>
          <a:xfrm>
            <a:off x="6455664" y="411480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这份报告：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不同调查、不同时间的数字直接比</a:t>
            </a:r>
            <a:endParaRPr lang="en-US" sz="1300" dirty="0"/>
          </a:p>
        </p:txBody>
      </p:sp>
      <p:sp>
        <p:nvSpPr>
          <p:cNvPr id="19" name="框架卡4"/>
          <p:cNvSpPr/>
          <p:nvPr/>
        </p:nvSpPr>
        <p:spPr>
          <a:xfrm>
            <a:off x="8906256" y="2514600"/>
            <a:ext cx="2542032" cy="2743200"/>
          </a:xfrm>
          <a:prstGeom prst="roundRect">
            <a:avLst>
              <a:gd name="adj" fmla="val 4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图标底"/>
          <p:cNvSpPr/>
          <p:nvPr/>
        </p:nvSpPr>
        <p:spPr>
          <a:xfrm>
            <a:off x="9180576" y="27889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026" y="2960370"/>
            <a:ext cx="342900" cy="342900"/>
          </a:xfrm>
          <a:prstGeom prst="rect">
            <a:avLst/>
          </a:prstGeom>
        </p:spPr>
      </p:pic>
      <p:sp>
        <p:nvSpPr>
          <p:cNvPr id="22" name="框架名4"/>
          <p:cNvSpPr txBox="1"/>
          <p:nvPr/>
        </p:nvSpPr>
        <p:spPr>
          <a:xfrm>
            <a:off x="9180576" y="3611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四、研究方法</a:t>
            </a:r>
            <a:endParaRPr lang="en-US" sz="2000" dirty="0"/>
          </a:p>
        </p:txBody>
      </p:sp>
      <p:sp>
        <p:nvSpPr>
          <p:cNvPr id="23" name="框架问题4"/>
          <p:cNvSpPr txBox="1"/>
          <p:nvPr/>
        </p:nvSpPr>
        <p:spPr>
          <a:xfrm>
            <a:off x="9180576" y="411480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这份报告：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四种不同数据串成因果链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对象：4,003 人是 AI 用户</a:t>
            </a:r>
            <a:endParaRPr lang="en-US" sz="3000" dirty="0"/>
          </a:p>
        </p:txBody>
      </p:sp>
      <p:sp>
        <p:nvSpPr>
          <p:cNvPr id="3" name="角度1"/>
          <p:cNvSpPr/>
          <p:nvPr/>
        </p:nvSpPr>
        <p:spPr>
          <a:xfrm>
            <a:off x="8183880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角度文字1"/>
          <p:cNvSpPr txBox="1"/>
          <p:nvPr/>
        </p:nvSpPr>
        <p:spPr>
          <a:xfrm>
            <a:off x="8183880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对象</a:t>
            </a:r>
            <a:endParaRPr lang="en-US" sz="1200" dirty="0"/>
          </a:p>
        </p:txBody>
      </p:sp>
      <p:sp>
        <p:nvSpPr>
          <p:cNvPr id="5" name="角度2"/>
          <p:cNvSpPr/>
          <p:nvPr/>
        </p:nvSpPr>
        <p:spPr>
          <a:xfrm>
            <a:off x="9061704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角度文字2"/>
          <p:cNvSpPr txBox="1"/>
          <p:nvPr/>
        </p:nvSpPr>
        <p:spPr>
          <a:xfrm>
            <a:off x="9061704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总体</a:t>
            </a:r>
            <a:endParaRPr lang="en-US" sz="1200" dirty="0"/>
          </a:p>
        </p:txBody>
      </p:sp>
      <p:sp>
        <p:nvSpPr>
          <p:cNvPr id="7" name="角度3"/>
          <p:cNvSpPr/>
          <p:nvPr/>
        </p:nvSpPr>
        <p:spPr>
          <a:xfrm>
            <a:off x="9939528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角度文字3"/>
          <p:cNvSpPr txBox="1"/>
          <p:nvPr/>
        </p:nvSpPr>
        <p:spPr>
          <a:xfrm>
            <a:off x="9939528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时间</a:t>
            </a:r>
            <a:endParaRPr lang="en-US" sz="1200" dirty="0"/>
          </a:p>
        </p:txBody>
      </p:sp>
      <p:sp>
        <p:nvSpPr>
          <p:cNvPr id="9" name="角度4"/>
          <p:cNvSpPr/>
          <p:nvPr/>
        </p:nvSpPr>
        <p:spPr>
          <a:xfrm>
            <a:off x="10817352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角度文字4"/>
          <p:cNvSpPr txBox="1"/>
          <p:nvPr/>
        </p:nvSpPr>
        <p:spPr>
          <a:xfrm>
            <a:off x="10817352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方法</a:t>
            </a:r>
            <a:endParaRPr lang="en-US" sz="1200" dirty="0"/>
          </a:p>
        </p:txBody>
      </p:sp>
      <p:sp>
        <p:nvSpPr>
          <p:cNvPr id="11" name="总体圈1"/>
          <p:cNvSpPr/>
          <p:nvPr/>
        </p:nvSpPr>
        <p:spPr>
          <a:xfrm>
            <a:off x="548640" y="1371600"/>
            <a:ext cx="4389120" cy="43891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总体标签1"/>
          <p:cNvSpPr txBox="1"/>
          <p:nvPr/>
        </p:nvSpPr>
        <p:spPr>
          <a:xfrm>
            <a:off x="548640" y="14813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美国人口</a:t>
            </a:r>
            <a:endParaRPr lang="en-US" sz="1300" dirty="0"/>
          </a:p>
        </p:txBody>
      </p:sp>
      <p:sp>
        <p:nvSpPr>
          <p:cNvPr id="13" name="总体圈2"/>
          <p:cNvSpPr/>
          <p:nvPr/>
        </p:nvSpPr>
        <p:spPr>
          <a:xfrm>
            <a:off x="960120" y="2011680"/>
            <a:ext cx="3566160" cy="356616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总体标签2"/>
          <p:cNvSpPr txBox="1"/>
          <p:nvPr/>
        </p:nvSpPr>
        <p:spPr>
          <a:xfrm>
            <a:off x="96012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互联网用户</a:t>
            </a:r>
            <a:endParaRPr lang="en-US" sz="1300" dirty="0"/>
          </a:p>
        </p:txBody>
      </p:sp>
      <p:sp>
        <p:nvSpPr>
          <p:cNvPr id="15" name="总体圈3"/>
          <p:cNvSpPr/>
          <p:nvPr/>
        </p:nvSpPr>
        <p:spPr>
          <a:xfrm>
            <a:off x="1371600" y="2651760"/>
            <a:ext cx="2743200" cy="2743200"/>
          </a:xfrm>
          <a:prstGeom prst="ellipse">
            <a:avLst/>
          </a:prstGeom>
          <a:solidFill>
            <a:srgbClr val="A99BEA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总体标签3"/>
          <p:cNvSpPr txBox="1"/>
          <p:nvPr/>
        </p:nvSpPr>
        <p:spPr>
          <a:xfrm>
            <a:off x="1371600" y="2761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聊天机器人用户</a:t>
            </a:r>
            <a:endParaRPr lang="en-US" sz="1300" dirty="0"/>
          </a:p>
        </p:txBody>
      </p:sp>
      <p:sp>
        <p:nvSpPr>
          <p:cNvPr id="17" name="总体圈4"/>
          <p:cNvSpPr/>
          <p:nvPr/>
        </p:nvSpPr>
        <p:spPr>
          <a:xfrm>
            <a:off x="1828800" y="3291840"/>
            <a:ext cx="1828800" cy="18288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受访者标签"/>
          <p:cNvSpPr txBox="1"/>
          <p:nvPr/>
        </p:nvSpPr>
        <p:spPr>
          <a:xfrm>
            <a:off x="1828800" y="3566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本次受访者</a:t>
            </a:r>
            <a:endParaRPr lang="en-US" sz="13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300" dirty="0"/>
          </a:p>
        </p:txBody>
      </p:sp>
      <p:sp>
        <p:nvSpPr>
          <p:cNvPr id="19" name="对象要点1"/>
          <p:cNvSpPr txBox="1"/>
          <p:nvPr/>
        </p:nvSpPr>
        <p:spPr>
          <a:xfrm>
            <a:off x="5486400" y="141732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报告的写法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调查的是“用 AI 聊天机器人的人”，正文却常把结论写成“美国人”如何如何。</a:t>
            </a:r>
            <a:endParaRPr lang="en-US" sz="1600" dirty="0"/>
          </a:p>
        </p:txBody>
      </p:sp>
      <p:sp>
        <p:nvSpPr>
          <p:cNvPr id="20" name="对象要点2"/>
          <p:cNvSpPr txBox="1"/>
          <p:nvPr/>
        </p:nvSpPr>
        <p:spPr>
          <a:xfrm>
            <a:off x="5486400" y="260604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“Alpha 世代”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报告把 13–14 岁受访者叫作 Alpha 世代；这个世代其实指 2010–2024 年出生的所有人。</a:t>
            </a:r>
            <a:endParaRPr lang="en-US" sz="1600" dirty="0"/>
          </a:p>
        </p:txBody>
      </p:sp>
      <p:sp>
        <p:nvSpPr>
          <p:cNvPr id="21" name="对象要点3"/>
          <p:cNvSpPr txBox="1"/>
          <p:nvPr/>
        </p:nvSpPr>
        <p:spPr>
          <a:xfrm>
            <a:off x="5486400" y="379476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没有公开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样本来源、是否概率抽样、加权、回应率、各年龄组人数。</a:t>
            </a:r>
            <a:endParaRPr lang="en-US" sz="1600" dirty="0"/>
          </a:p>
        </p:txBody>
      </p:sp>
      <p:sp>
        <p:nvSpPr>
          <p:cNvPr id="22" name="Durex卡"/>
          <p:cNvSpPr/>
          <p:nvPr/>
        </p:nvSpPr>
        <p:spPr>
          <a:xfrm>
            <a:off x="5486400" y="5074920"/>
            <a:ext cx="612648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Durex联系"/>
          <p:cNvSpPr txBox="1"/>
          <p:nvPr/>
        </p:nvSpPr>
        <p:spPr>
          <a:xfrm>
            <a:off x="5715000" y="507492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和课上 Durex 网络调查是同一个问题：网络样本能否代表总体？</a:t>
            </a:r>
            <a:endParaRPr lang="en-US" sz="1500" dirty="0"/>
          </a:p>
        </p:txBody>
      </p:sp>
      <p:sp>
        <p:nvSpPr>
          <p:cNvPr id="24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报告；尼尔森新闻稿原文：“Gen Alpha findings are based on respondents ages 13 and 14”。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总体：六国平均当成了美国数字</a:t>
            </a:r>
            <a:endParaRPr lang="en-US" sz="3000" dirty="0"/>
          </a:p>
        </p:txBody>
      </p:sp>
      <p:sp>
        <p:nvSpPr>
          <p:cNvPr id="3" name="角度1"/>
          <p:cNvSpPr/>
          <p:nvPr/>
        </p:nvSpPr>
        <p:spPr>
          <a:xfrm>
            <a:off x="8183880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角度文字1"/>
          <p:cNvSpPr txBox="1"/>
          <p:nvPr/>
        </p:nvSpPr>
        <p:spPr>
          <a:xfrm>
            <a:off x="8183880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对象</a:t>
            </a:r>
            <a:endParaRPr lang="en-US" sz="1200" dirty="0"/>
          </a:p>
        </p:txBody>
      </p:sp>
      <p:sp>
        <p:nvSpPr>
          <p:cNvPr id="5" name="角度2"/>
          <p:cNvSpPr/>
          <p:nvPr/>
        </p:nvSpPr>
        <p:spPr>
          <a:xfrm>
            <a:off x="9061704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角度文字2"/>
          <p:cNvSpPr txBox="1"/>
          <p:nvPr/>
        </p:nvSpPr>
        <p:spPr>
          <a:xfrm>
            <a:off x="9061704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总体</a:t>
            </a:r>
            <a:endParaRPr lang="en-US" sz="1200" dirty="0"/>
          </a:p>
        </p:txBody>
      </p:sp>
      <p:sp>
        <p:nvSpPr>
          <p:cNvPr id="7" name="角度3"/>
          <p:cNvSpPr/>
          <p:nvPr/>
        </p:nvSpPr>
        <p:spPr>
          <a:xfrm>
            <a:off x="9939528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角度文字3"/>
          <p:cNvSpPr txBox="1"/>
          <p:nvPr/>
        </p:nvSpPr>
        <p:spPr>
          <a:xfrm>
            <a:off x="9939528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时间</a:t>
            </a:r>
            <a:endParaRPr lang="en-US" sz="1200" dirty="0"/>
          </a:p>
        </p:txBody>
      </p:sp>
      <p:sp>
        <p:nvSpPr>
          <p:cNvPr id="9" name="角度4"/>
          <p:cNvSpPr/>
          <p:nvPr/>
        </p:nvSpPr>
        <p:spPr>
          <a:xfrm>
            <a:off x="10817352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角度文字4"/>
          <p:cNvSpPr txBox="1"/>
          <p:nvPr/>
        </p:nvSpPr>
        <p:spPr>
          <a:xfrm>
            <a:off x="10817352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方法</a:t>
            </a:r>
            <a:endParaRPr lang="en-US" sz="1200" dirty="0"/>
          </a:p>
        </p:txBody>
      </p:sp>
      <p:graphicFrame>
        <p:nvGraphicFramePr>
          <p:cNvPr id="11" name="分国家找节目时间图" descr=""/>
          <p:cNvGraphicFramePr/>
          <p:nvPr/>
        </p:nvGraphicFramePr>
        <p:xfrm>
          <a:off x="548640" y="1325880"/>
          <a:ext cx="51206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口径卡1"/>
          <p:cNvSpPr/>
          <p:nvPr/>
        </p:nvSpPr>
        <p:spPr>
          <a:xfrm>
            <a:off x="6035040" y="137160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口径数字1"/>
          <p:cNvSpPr txBox="1"/>
          <p:nvPr/>
        </p:nvSpPr>
        <p:spPr>
          <a:xfrm>
            <a:off x="6263640" y="137160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14 分钟</a:t>
            </a:r>
            <a:endParaRPr lang="en-US" sz="2200" dirty="0"/>
          </a:p>
        </p:txBody>
      </p:sp>
      <p:sp>
        <p:nvSpPr>
          <p:cNvPr id="14" name="口径说明1"/>
          <p:cNvSpPr txBox="1"/>
          <p:nvPr/>
        </p:nvSpPr>
        <p:spPr>
          <a:xfrm>
            <a:off x="7680960" y="144475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来自 Gracenote 去年的六国调查：美国 12 分钟，14 分钟是六国平均。这份报告却把它放进讲美国人看电视的图里。</a:t>
            </a:r>
            <a:endParaRPr lang="en-US" sz="1400" dirty="0"/>
          </a:p>
        </p:txBody>
      </p:sp>
      <p:sp>
        <p:nvSpPr>
          <p:cNvPr id="15" name="口径卡2"/>
          <p:cNvSpPr/>
          <p:nvPr/>
        </p:nvSpPr>
        <p:spPr>
          <a:xfrm>
            <a:off x="6035040" y="288036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口径数字2"/>
          <p:cNvSpPr txBox="1"/>
          <p:nvPr/>
        </p:nvSpPr>
        <p:spPr>
          <a:xfrm>
            <a:off x="6263640" y="288036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54%</a:t>
            </a:r>
            <a:endParaRPr lang="en-US" sz="2200" dirty="0"/>
          </a:p>
        </p:txBody>
      </p:sp>
      <p:sp>
        <p:nvSpPr>
          <p:cNvPr id="17" name="口径说明2"/>
          <p:cNvSpPr txBox="1"/>
          <p:nvPr/>
        </p:nvSpPr>
        <p:spPr>
          <a:xfrm>
            <a:off x="7680960" y="295351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“18–34 岁可能退订”也是六国数字；报告另说“50% 的美国观众会考虑退订”，原始报告里只有六国的 49%。</a:t>
            </a:r>
            <a:endParaRPr lang="en-US" sz="1400" dirty="0"/>
          </a:p>
        </p:txBody>
      </p:sp>
      <p:sp>
        <p:nvSpPr>
          <p:cNvPr id="18" name="口径卡3"/>
          <p:cNvSpPr/>
          <p:nvPr/>
        </p:nvSpPr>
        <p:spPr>
          <a:xfrm>
            <a:off x="6035040" y="438912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口径数字3"/>
          <p:cNvSpPr txBox="1"/>
          <p:nvPr/>
        </p:nvSpPr>
        <p:spPr>
          <a:xfrm>
            <a:off x="6263640" y="438912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32%</a:t>
            </a:r>
            <a:endParaRPr lang="en-US" sz="2200" dirty="0"/>
          </a:p>
        </p:txBody>
      </p:sp>
      <p:sp>
        <p:nvSpPr>
          <p:cNvPr id="20" name="口径说明3"/>
          <p:cNvSpPr txBox="1"/>
          <p:nvPr/>
        </p:nvSpPr>
        <p:spPr>
          <a:xfrm>
            <a:off x="7680960" y="446227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同一道题，报告一处写 32%（六国平均），另一处写成“34% 的美国人”。</a:t>
            </a:r>
            <a:endParaRPr lang="en-US" sz="1400" dirty="0"/>
          </a:p>
        </p:txBody>
      </p:sp>
      <p:sp>
        <p:nvSpPr>
          <p:cNvPr id="21" name="来源说明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报告；Gracenote 2025 年报告《State of Play》分国家、分年龄图表（每国 500 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时间：24% 到 54% 不是“增长”</a:t>
            </a:r>
            <a:endParaRPr lang="en-US" sz="3000" dirty="0"/>
          </a:p>
        </p:txBody>
      </p:sp>
      <p:sp>
        <p:nvSpPr>
          <p:cNvPr id="3" name="角度1"/>
          <p:cNvSpPr/>
          <p:nvPr/>
        </p:nvSpPr>
        <p:spPr>
          <a:xfrm>
            <a:off x="8183880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角度文字1"/>
          <p:cNvSpPr txBox="1"/>
          <p:nvPr/>
        </p:nvSpPr>
        <p:spPr>
          <a:xfrm>
            <a:off x="8183880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对象</a:t>
            </a:r>
            <a:endParaRPr lang="en-US" sz="1200" dirty="0"/>
          </a:p>
        </p:txBody>
      </p:sp>
      <p:sp>
        <p:nvSpPr>
          <p:cNvPr id="5" name="角度2"/>
          <p:cNvSpPr/>
          <p:nvPr/>
        </p:nvSpPr>
        <p:spPr>
          <a:xfrm>
            <a:off x="9061704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角度文字2"/>
          <p:cNvSpPr txBox="1"/>
          <p:nvPr/>
        </p:nvSpPr>
        <p:spPr>
          <a:xfrm>
            <a:off x="9061704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总体</a:t>
            </a:r>
            <a:endParaRPr lang="en-US" sz="1200" dirty="0"/>
          </a:p>
        </p:txBody>
      </p:sp>
      <p:sp>
        <p:nvSpPr>
          <p:cNvPr id="7" name="角度3"/>
          <p:cNvSpPr/>
          <p:nvPr/>
        </p:nvSpPr>
        <p:spPr>
          <a:xfrm>
            <a:off x="9939528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角度文字3"/>
          <p:cNvSpPr txBox="1"/>
          <p:nvPr/>
        </p:nvSpPr>
        <p:spPr>
          <a:xfrm>
            <a:off x="9939528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时间</a:t>
            </a:r>
            <a:endParaRPr lang="en-US" sz="1200" dirty="0"/>
          </a:p>
        </p:txBody>
      </p:sp>
      <p:sp>
        <p:nvSpPr>
          <p:cNvPr id="9" name="角度4"/>
          <p:cNvSpPr/>
          <p:nvPr/>
        </p:nvSpPr>
        <p:spPr>
          <a:xfrm>
            <a:off x="10817352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角度文字4"/>
          <p:cNvSpPr txBox="1"/>
          <p:nvPr/>
        </p:nvSpPr>
        <p:spPr>
          <a:xfrm>
            <a:off x="10817352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方法</a:t>
            </a:r>
            <a:endParaRPr lang="en-US" sz="1200" dirty="0"/>
          </a:p>
        </p:txBody>
      </p:sp>
      <p:sp>
        <p:nvSpPr>
          <p:cNvPr id="11" name="报告原话"/>
          <p:cNvSpPr txBox="1"/>
          <p:nvPr/>
        </p:nvSpPr>
        <p:spPr>
          <a:xfrm>
            <a:off x="548640" y="12801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报告原话：皮尤研究中心 2025 年秋发现 30% 的青少年每天用 AI 聊天机器人，“仅仅几个月后”我们的调查显示超过一半，说明使用频率“在加速”。</a:t>
            </a:r>
            <a:endParaRPr lang="en-US" sz="1500" dirty="0"/>
          </a:p>
        </p:txBody>
      </p:sp>
      <p:sp>
        <p:nvSpPr>
          <p:cNvPr id="12" name="对比卡1"/>
          <p:cNvSpPr/>
          <p:nvPr/>
        </p:nvSpPr>
        <p:spPr>
          <a:xfrm>
            <a:off x="548640" y="2057400"/>
            <a:ext cx="502920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对比机构1"/>
          <p:cNvSpPr txBox="1"/>
          <p:nvPr/>
        </p:nvSpPr>
        <p:spPr>
          <a:xfrm>
            <a:off x="822960" y="2194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皮尤研究中心（Pew，美国权威民调机构）</a:t>
            </a:r>
            <a:endParaRPr lang="en-US" sz="1600" dirty="0"/>
          </a:p>
        </p:txBody>
      </p:sp>
      <p:sp>
        <p:nvSpPr>
          <p:cNvPr id="14" name="对比数字1"/>
          <p:cNvSpPr txBox="1"/>
          <p:nvPr/>
        </p:nvSpPr>
        <p:spPr>
          <a:xfrm>
            <a:off x="822960" y="2606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13–14 岁每天使用</a:t>
            </a:r>
            <a:endParaRPr lang="en-US" sz="5400" dirty="0"/>
          </a:p>
        </p:txBody>
      </p:sp>
      <p:sp>
        <p:nvSpPr>
          <p:cNvPr id="15" name="对比说明1"/>
          <p:cNvSpPr txBox="1"/>
          <p:nvPr/>
        </p:nvSpPr>
        <p:spPr>
          <a:xfrm>
            <a:off x="822960" y="35661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分母：全体 13–14 岁青少年，用不用 AI 都算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概率样本，加权；2025.9–10</a:t>
            </a:r>
            <a:endParaRPr lang="en-US" sz="1300" dirty="0"/>
          </a:p>
        </p:txBody>
      </p:sp>
      <p:sp>
        <p:nvSpPr>
          <p:cNvPr id="16" name="对比卡2"/>
          <p:cNvSpPr/>
          <p:nvPr/>
        </p:nvSpPr>
        <p:spPr>
          <a:xfrm>
            <a:off x="6611112" y="2057400"/>
            <a:ext cx="502920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对比机构2"/>
          <p:cNvSpPr txBox="1"/>
          <p:nvPr/>
        </p:nvSpPr>
        <p:spPr>
          <a:xfrm>
            <a:off x="6885432" y="2194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Gracenote（本报告）</a:t>
            </a:r>
            <a:endParaRPr lang="en-US" sz="1600" dirty="0"/>
          </a:p>
        </p:txBody>
      </p:sp>
      <p:sp>
        <p:nvSpPr>
          <p:cNvPr id="18" name="对比数字2"/>
          <p:cNvSpPr txBox="1"/>
          <p:nvPr/>
        </p:nvSpPr>
        <p:spPr>
          <a:xfrm>
            <a:off x="6885432" y="2606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13–14 岁每天使用</a:t>
            </a:r>
            <a:endParaRPr lang="en-US" sz="5400" dirty="0"/>
          </a:p>
        </p:txBody>
      </p:sp>
      <p:sp>
        <p:nvSpPr>
          <p:cNvPr id="19" name="对比说明2"/>
          <p:cNvSpPr txBox="1"/>
          <p:nvPr/>
        </p:nvSpPr>
        <p:spPr>
          <a:xfrm>
            <a:off x="6885432" y="35661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分母：13–14 岁的 AI 聊天机器人用户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线上样本，未公开加权；2026.1–2</a:t>
            </a:r>
            <a:endParaRPr lang="en-US" sz="1300" dirty="0"/>
          </a:p>
        </p:txBody>
      </p:sp>
      <p:sp>
        <p:nvSpPr>
          <p:cNvPr id="20" name="不等号"/>
          <p:cNvSpPr txBox="1"/>
          <p:nvPr/>
        </p:nvSpPr>
        <p:spPr>
          <a:xfrm>
            <a:off x="5577840" y="2057400"/>
            <a:ext cx="103327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≠</a:t>
            </a:r>
            <a:endParaRPr lang="en-US" sz="4800" dirty="0"/>
          </a:p>
        </p:txBody>
      </p:sp>
      <p:sp>
        <p:nvSpPr>
          <p:cNvPr id="21" name="同分母条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同分母结论"/>
          <p:cNvSpPr txBox="1"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如果都只看用 AI 的人：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皮尤 44% 对 Gracenote 54%，只差约 10 个百分点。剩下的差距还可能来自年龄、方法、时间不同，不能说明“加速”。</a:t>
            </a:r>
            <a:endParaRPr lang="en-US" sz="1500" dirty="0"/>
          </a:p>
        </p:txBody>
      </p:sp>
      <p:sp>
        <p:nvSpPr>
          <p:cNvPr id="23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报告；皮尤《Teens, Social Media and AI Chatbots 2025》数据表（全体每天 28%，13–14 岁 24%，使用者中 44%）。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方法：四种数据拼成一条因果链</a:t>
            </a:r>
            <a:endParaRPr lang="en-US" sz="3000" dirty="0"/>
          </a:p>
        </p:txBody>
      </p:sp>
      <p:sp>
        <p:nvSpPr>
          <p:cNvPr id="3" name="角度1"/>
          <p:cNvSpPr/>
          <p:nvPr/>
        </p:nvSpPr>
        <p:spPr>
          <a:xfrm>
            <a:off x="8183880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角度文字1"/>
          <p:cNvSpPr txBox="1"/>
          <p:nvPr/>
        </p:nvSpPr>
        <p:spPr>
          <a:xfrm>
            <a:off x="8183880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对象</a:t>
            </a:r>
            <a:endParaRPr lang="en-US" sz="1200" dirty="0"/>
          </a:p>
        </p:txBody>
      </p:sp>
      <p:sp>
        <p:nvSpPr>
          <p:cNvPr id="5" name="角度2"/>
          <p:cNvSpPr/>
          <p:nvPr/>
        </p:nvSpPr>
        <p:spPr>
          <a:xfrm>
            <a:off x="9061704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角度文字2"/>
          <p:cNvSpPr txBox="1"/>
          <p:nvPr/>
        </p:nvSpPr>
        <p:spPr>
          <a:xfrm>
            <a:off x="9061704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总体</a:t>
            </a:r>
            <a:endParaRPr lang="en-US" sz="1200" dirty="0"/>
          </a:p>
        </p:txBody>
      </p:sp>
      <p:sp>
        <p:nvSpPr>
          <p:cNvPr id="7" name="角度3"/>
          <p:cNvSpPr/>
          <p:nvPr/>
        </p:nvSpPr>
        <p:spPr>
          <a:xfrm>
            <a:off x="9939528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角度文字3"/>
          <p:cNvSpPr txBox="1"/>
          <p:nvPr/>
        </p:nvSpPr>
        <p:spPr>
          <a:xfrm>
            <a:off x="9939528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时间</a:t>
            </a:r>
            <a:endParaRPr lang="en-US" sz="1200" dirty="0"/>
          </a:p>
        </p:txBody>
      </p:sp>
      <p:sp>
        <p:nvSpPr>
          <p:cNvPr id="9" name="角度4"/>
          <p:cNvSpPr/>
          <p:nvPr/>
        </p:nvSpPr>
        <p:spPr>
          <a:xfrm>
            <a:off x="10817352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角度文字4"/>
          <p:cNvSpPr txBox="1"/>
          <p:nvPr/>
        </p:nvSpPr>
        <p:spPr>
          <a:xfrm>
            <a:off x="10817352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方法</a:t>
            </a:r>
            <a:endParaRPr lang="en-US" sz="1200" dirty="0"/>
          </a:p>
        </p:txBody>
      </p:sp>
      <p:sp>
        <p:nvSpPr>
          <p:cNvPr id="11" name="数据卡1"/>
          <p:cNvSpPr/>
          <p:nvPr/>
        </p:nvSpPr>
        <p:spPr>
          <a:xfrm>
            <a:off x="54864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数据类型1"/>
          <p:cNvSpPr txBox="1"/>
          <p:nvPr/>
        </p:nvSpPr>
        <p:spPr>
          <a:xfrm>
            <a:off x="7772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意向 · 问卷</a:t>
            </a:r>
            <a:endParaRPr lang="en-US" sz="1400" dirty="0"/>
          </a:p>
        </p:txBody>
      </p:sp>
      <p:sp>
        <p:nvSpPr>
          <p:cNvPr id="13" name="数据数字1"/>
          <p:cNvSpPr txBox="1"/>
          <p:nvPr/>
        </p:nvSpPr>
        <p:spPr>
          <a:xfrm>
            <a:off x="777240" y="1874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54%</a:t>
            </a:r>
            <a:endParaRPr lang="en-US" sz="3200" dirty="0"/>
          </a:p>
        </p:txBody>
      </p:sp>
      <p:sp>
        <p:nvSpPr>
          <p:cNvPr id="14" name="数据说明1"/>
          <p:cNvSpPr txBox="1"/>
          <p:nvPr/>
        </p:nvSpPr>
        <p:spPr>
          <a:xfrm>
            <a:off x="777240" y="2560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18–34 岁说“可能会退订”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六国数字</a:t>
            </a:r>
            <a:endParaRPr lang="en-US" sz="1400" dirty="0"/>
          </a:p>
        </p:txBody>
      </p:sp>
      <p:sp>
        <p:nvSpPr>
          <p:cNvPr id="15" name="箭头1"/>
          <p:cNvSpPr txBox="1"/>
          <p:nvPr/>
        </p:nvSpPr>
        <p:spPr>
          <a:xfrm>
            <a:off x="3063240" y="1371600"/>
            <a:ext cx="33832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数据卡2"/>
          <p:cNvSpPr/>
          <p:nvPr/>
        </p:nvSpPr>
        <p:spPr>
          <a:xfrm>
            <a:off x="3401568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数据类型2"/>
          <p:cNvSpPr txBox="1"/>
          <p:nvPr/>
        </p:nvSpPr>
        <p:spPr>
          <a:xfrm>
            <a:off x="3630168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行为 · 行业统计</a:t>
            </a:r>
            <a:endParaRPr lang="en-US" sz="1400" dirty="0"/>
          </a:p>
        </p:txBody>
      </p:sp>
      <p:sp>
        <p:nvSpPr>
          <p:cNvPr id="18" name="数据数字2"/>
          <p:cNvSpPr txBox="1"/>
          <p:nvPr/>
        </p:nvSpPr>
        <p:spPr>
          <a:xfrm>
            <a:off x="3630168" y="1874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5.5%</a:t>
            </a:r>
            <a:endParaRPr lang="en-US" sz="3200" dirty="0"/>
          </a:p>
        </p:txBody>
      </p:sp>
      <p:sp>
        <p:nvSpPr>
          <p:cNvPr id="19" name="数据说明2"/>
          <p:cNvSpPr txBox="1"/>
          <p:nvPr/>
        </p:nvSpPr>
        <p:spPr>
          <a:xfrm>
            <a:off x="3630168" y="2560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流媒体平台每月退订率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算法未公开；另一机构测得 2019 年已是 4.1%</a:t>
            </a:r>
            <a:endParaRPr lang="en-US" sz="1400" dirty="0"/>
          </a:p>
        </p:txBody>
      </p:sp>
      <p:sp>
        <p:nvSpPr>
          <p:cNvPr id="20" name="箭头2"/>
          <p:cNvSpPr txBox="1"/>
          <p:nvPr/>
        </p:nvSpPr>
        <p:spPr>
          <a:xfrm>
            <a:off x="5916168" y="1371600"/>
            <a:ext cx="33832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数据卡3"/>
          <p:cNvSpPr/>
          <p:nvPr/>
        </p:nvSpPr>
        <p:spPr>
          <a:xfrm>
            <a:off x="6254496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数据类型3"/>
          <p:cNvSpPr txBox="1"/>
          <p:nvPr/>
        </p:nvSpPr>
        <p:spPr>
          <a:xfrm>
            <a:off x="6483096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预测 · 普华永道</a:t>
            </a:r>
            <a:endParaRPr lang="en-US" sz="1400" dirty="0"/>
          </a:p>
        </p:txBody>
      </p:sp>
      <p:sp>
        <p:nvSpPr>
          <p:cNvPr id="23" name="数据数字3"/>
          <p:cNvSpPr txBox="1"/>
          <p:nvPr/>
        </p:nvSpPr>
        <p:spPr>
          <a:xfrm>
            <a:off x="6483096" y="1874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3,185 亿美元</a:t>
            </a:r>
            <a:endParaRPr lang="en-US" sz="2200" dirty="0"/>
          </a:p>
        </p:txBody>
      </p:sp>
      <p:sp>
        <p:nvSpPr>
          <p:cNvPr id="24" name="数据说明3"/>
          <p:cNvSpPr txBox="1"/>
          <p:nvPr/>
        </p:nvSpPr>
        <p:spPr>
          <a:xfrm>
            <a:off x="6483096" y="2560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网络视频与付费电视 2029 年总支出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全球数字，不是美国</a:t>
            </a:r>
            <a:endParaRPr lang="en-US" sz="1400" dirty="0"/>
          </a:p>
        </p:txBody>
      </p:sp>
      <p:sp>
        <p:nvSpPr>
          <p:cNvPr id="25" name="箭头3"/>
          <p:cNvSpPr txBox="1"/>
          <p:nvPr/>
        </p:nvSpPr>
        <p:spPr>
          <a:xfrm>
            <a:off x="8769096" y="1371600"/>
            <a:ext cx="33832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数据卡4"/>
          <p:cNvSpPr/>
          <p:nvPr/>
        </p:nvSpPr>
        <p:spPr>
          <a:xfrm>
            <a:off x="9107424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数据类型4"/>
          <p:cNvSpPr txBox="1"/>
          <p:nvPr/>
        </p:nvSpPr>
        <p:spPr>
          <a:xfrm>
            <a:off x="9336024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测试 · 让 AI 答题</a:t>
            </a:r>
            <a:endParaRPr lang="en-US" sz="1400" dirty="0"/>
          </a:p>
        </p:txBody>
      </p:sp>
      <p:sp>
        <p:nvSpPr>
          <p:cNvPr id="28" name="数据数字4"/>
          <p:cNvSpPr txBox="1"/>
          <p:nvPr/>
        </p:nvSpPr>
        <p:spPr>
          <a:xfrm>
            <a:off x="9336024" y="1874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约 2/3</a:t>
            </a:r>
            <a:endParaRPr lang="en-US" sz="3200" dirty="0"/>
          </a:p>
        </p:txBody>
      </p:sp>
      <p:sp>
        <p:nvSpPr>
          <p:cNvPr id="29" name="数据说明4"/>
          <p:cNvSpPr txBox="1"/>
          <p:nvPr/>
        </p:nvSpPr>
        <p:spPr>
          <a:xfrm>
            <a:off x="9336024" y="2560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AI 答对了剧在哪个平台能看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6 国合并：美英德约 80%，法意西不到 30%</a:t>
            </a:r>
            <a:endParaRPr lang="en-US" sz="1400" dirty="0"/>
          </a:p>
        </p:txBody>
      </p:sp>
      <p:sp>
        <p:nvSpPr>
          <p:cNvPr id="30" name="方法结论卡1"/>
          <p:cNvSpPr/>
          <p:nvPr/>
        </p:nvSpPr>
        <p:spPr>
          <a:xfrm>
            <a:off x="548640" y="4114800"/>
            <a:ext cx="54406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方法结论1"/>
          <p:cNvSpPr txBox="1"/>
          <p:nvPr/>
        </p:nvSpPr>
        <p:spPr>
          <a:xfrm>
            <a:off x="822960" y="4206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因果链没有被证明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四种数据对象不同、性质不同，也没追踪同一批人或做实验，证明不了“找不到 → 退订”；报告提出的办法（让 AI 接入行业数据库）也没有检验效果。</a:t>
            </a:r>
            <a:endParaRPr lang="en-US" sz="1600" dirty="0"/>
          </a:p>
        </p:txBody>
      </p:sp>
      <p:sp>
        <p:nvSpPr>
          <p:cNvPr id="32" name="方法结论卡2"/>
          <p:cNvSpPr/>
          <p:nvPr/>
        </p:nvSpPr>
        <p:spPr>
          <a:xfrm>
            <a:off x="6172200" y="4114800"/>
            <a:ext cx="54406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方法结论2"/>
          <p:cNvSpPr txBox="1"/>
          <p:nvPr/>
        </p:nvSpPr>
        <p:spPr>
          <a:xfrm>
            <a:off x="6446520" y="4206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有些引用被放大了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南加州大学研究的“38% 数据有偏差”，只是一个知识库、一个自动打分指标的结果；德勤的“41% 觉得不值”指全体消费者，报告写成了“订户”。</a:t>
            </a:r>
            <a:endParaRPr lang="en-US" sz="1600" dirty="0"/>
          </a:p>
        </p:txBody>
      </p:sp>
      <p:sp>
        <p:nvSpPr>
          <p:cNvPr id="34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报告；普华永道（PwC）、Veed Analytics 测试、南加州大学论文（EMNLP 2021）、德勤（Deloitte）原文；Antenna 数据经 MediaPost 转述。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我的评价</a:t>
            </a:r>
            <a:endParaRPr lang="en-US" sz="3200" dirty="0"/>
          </a:p>
        </p:txBody>
      </p:sp>
      <p:sp>
        <p:nvSpPr>
          <p:cNvPr id="3" name="优点卡"/>
          <p:cNvSpPr/>
          <p:nvPr/>
        </p:nvSpPr>
        <p:spPr>
          <a:xfrm>
            <a:off x="731520" y="1508760"/>
            <a:ext cx="3429000" cy="4206240"/>
          </a:xfrm>
          <a:prstGeom prst="roundRect">
            <a:avLst>
              <a:gd name="adj" fmla="val 32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优点标题"/>
          <p:cNvSpPr txBox="1"/>
          <p:nvPr/>
        </p:nvSpPr>
        <p:spPr>
          <a:xfrm>
            <a:off x="100584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做得好的</a:t>
            </a:r>
            <a:endParaRPr lang="en-US" sz="1800" dirty="0"/>
          </a:p>
        </p:txBody>
      </p:sp>
      <p:sp>
        <p:nvSpPr>
          <p:cNvPr id="5" name="图标底"/>
          <p:cNvSpPr/>
          <p:nvPr/>
        </p:nvSpPr>
        <p:spPr>
          <a:xfrm>
            <a:off x="1005840" y="23317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446020"/>
            <a:ext cx="228600" cy="228600"/>
          </a:xfrm>
          <a:prstGeom prst="rect">
            <a:avLst/>
          </a:prstGeom>
        </p:spPr>
      </p:pic>
      <p:sp>
        <p:nvSpPr>
          <p:cNvPr id="7" name="优点1"/>
          <p:cNvSpPr txBox="1"/>
          <p:nvPr/>
        </p:nvSpPr>
        <p:spPr>
          <a:xfrm>
            <a:off x="1600200" y="22860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公开了样本量、时间、年龄和筛选条件</a:t>
            </a:r>
            <a:endParaRPr lang="en-US" sz="1400" dirty="0"/>
          </a:p>
        </p:txBody>
      </p:sp>
      <p:sp>
        <p:nvSpPr>
          <p:cNvPr id="8" name="图标底"/>
          <p:cNvSpPr/>
          <p:nvPr/>
        </p:nvSpPr>
        <p:spPr>
          <a:xfrm>
            <a:off x="1005840" y="34290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" y="3543300"/>
            <a:ext cx="228600" cy="228600"/>
          </a:xfrm>
          <a:prstGeom prst="rect">
            <a:avLst/>
          </a:prstGeom>
        </p:spPr>
      </p:pic>
      <p:sp>
        <p:nvSpPr>
          <p:cNvPr id="10" name="优点2"/>
          <p:cNvSpPr txBox="1"/>
          <p:nvPr/>
        </p:nvSpPr>
        <p:spPr>
          <a:xfrm>
            <a:off x="1600200" y="33832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每张图都有读法说明和来源</a:t>
            </a:r>
            <a:endParaRPr lang="en-US" sz="1400" dirty="0"/>
          </a:p>
        </p:txBody>
      </p:sp>
      <p:sp>
        <p:nvSpPr>
          <p:cNvPr id="11" name="图标底"/>
          <p:cNvSpPr/>
          <p:nvPr/>
        </p:nvSpPr>
        <p:spPr>
          <a:xfrm>
            <a:off x="1005840" y="45262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4640580"/>
            <a:ext cx="228600" cy="228600"/>
          </a:xfrm>
          <a:prstGeom prst="rect">
            <a:avLst/>
          </a:prstGeom>
        </p:spPr>
      </p:pic>
      <p:sp>
        <p:nvSpPr>
          <p:cNvPr id="13" name="优点3"/>
          <p:cNvSpPr txBox="1"/>
          <p:nvPr/>
        </p:nvSpPr>
        <p:spPr>
          <a:xfrm>
            <a:off x="1600200" y="4480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我用图里的原始数字复算了几处，都对得上</a:t>
            </a:r>
            <a:endParaRPr lang="en-US" sz="1400" dirty="0"/>
          </a:p>
        </p:txBody>
      </p:sp>
      <p:sp>
        <p:nvSpPr>
          <p:cNvPr id="14" name="判断卡1"/>
          <p:cNvSpPr/>
          <p:nvPr/>
        </p:nvSpPr>
        <p:spPr>
          <a:xfrm>
            <a:off x="4389120" y="1508760"/>
            <a:ext cx="3566160" cy="2057400"/>
          </a:xfrm>
          <a:prstGeom prst="roundRect">
            <a:avLst>
              <a:gd name="adj" fmla="val 5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判断1"/>
          <p:cNvSpPr txBox="1"/>
          <p:nvPr/>
        </p:nvSpPr>
        <p:spPr>
          <a:xfrm>
            <a:off x="4663440" y="164592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可以当作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行业趋势的信号：年轻人在用 AI 找节目，但并不信任它。</a:t>
            </a:r>
            <a:endParaRPr lang="en-US" sz="1800" dirty="0"/>
          </a:p>
        </p:txBody>
      </p:sp>
      <p:sp>
        <p:nvSpPr>
          <p:cNvPr id="16" name="判断卡2"/>
          <p:cNvSpPr/>
          <p:nvPr/>
        </p:nvSpPr>
        <p:spPr>
          <a:xfrm>
            <a:off x="4389120" y="3657600"/>
            <a:ext cx="3566160" cy="2057400"/>
          </a:xfrm>
          <a:prstGeom prst="roundRect">
            <a:avLst>
              <a:gd name="adj" fmla="val 5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判断2"/>
          <p:cNvSpPr txBox="1"/>
          <p:nvPr/>
        </p:nvSpPr>
        <p:spPr>
          <a:xfrm>
            <a:off x="4663440" y="379476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不宜当作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对“美国人”的精确数据，或“找不到 → 退订”的因果证据。</a:t>
            </a:r>
            <a:endParaRPr lang="en-US" sz="1800" dirty="0"/>
          </a:p>
        </p:txBody>
      </p:sp>
      <p:sp>
        <p:nvSpPr>
          <p:cNvPr id="18" name="讨论卡"/>
          <p:cNvSpPr/>
          <p:nvPr/>
        </p:nvSpPr>
        <p:spPr>
          <a:xfrm>
            <a:off x="8183880" y="1508760"/>
            <a:ext cx="3291840" cy="42062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讨论问题"/>
          <p:cNvSpPr txBox="1"/>
          <p:nvPr/>
        </p:nvSpPr>
        <p:spPr>
          <a:xfrm>
            <a:off x="8458200" y="1691640"/>
            <a:ext cx="2788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留给大家的问题</a:t>
            </a:r>
            <a:endParaRPr lang="en-US" sz="1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如果要验证“找不到节目会导致退订”，你会怎么设计调查？</a:t>
            </a:r>
            <a:endParaRPr lang="en-US" sz="1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提示：追踪同一批人，既问“会不会退订”，也记录后来是否真的退订。</a:t>
            </a:r>
            <a:endParaRPr lang="en-US" sz="1600" dirty="0"/>
          </a:p>
        </p:txBody>
      </p:sp>
      <p:sp>
        <p:nvSpPr>
          <p:cNvPr id="20" name="利益说明"/>
          <p:cNvSpPr txBox="1"/>
          <p:nvPr/>
        </p:nvSpPr>
        <p:spPr>
          <a:xfrm>
            <a:off x="731520" y="5806440"/>
            <a:ext cx="1074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提醒：报告的主张（AI 要接入可信的行业数据）正是 Gracenote 的业务。这是要细看方法的理由，但不能据此断定数据有误。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附录一：11 个来源方法公开程度</a:t>
            </a:r>
            <a:endParaRPr lang="en-US" sz="3000" dirty="0"/>
          </a:p>
        </p:txBody>
      </p:sp>
      <p:sp>
        <p:nvSpPr>
          <p:cNvPr id="3" name="来源卡1"/>
          <p:cNvSpPr/>
          <p:nvPr/>
        </p:nvSpPr>
        <p:spPr>
          <a:xfrm>
            <a:off x="54864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状态点1"/>
          <p:cNvSpPr/>
          <p:nvPr/>
        </p:nvSpPr>
        <p:spPr>
          <a:xfrm>
            <a:off x="731520" y="15087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来源类型1"/>
          <p:cNvSpPr txBox="1"/>
          <p:nvPr/>
        </p:nvSpPr>
        <p:spPr>
          <a:xfrm>
            <a:off x="100584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6" name="来源说明1"/>
          <p:cNvSpPr txBox="1"/>
          <p:nvPr/>
        </p:nvSpPr>
        <p:spPr>
          <a:xfrm>
            <a:off x="73152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2026 AI 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美国 AI 用户 · 4,003 人；样本来源、加权、回应率、各组人数未公开</a:t>
            </a:r>
            <a:endParaRPr lang="en-US" sz="1400" dirty="0"/>
          </a:p>
        </p:txBody>
      </p:sp>
      <p:sp>
        <p:nvSpPr>
          <p:cNvPr id="7" name="来源卡2"/>
          <p:cNvSpPr/>
          <p:nvPr/>
        </p:nvSpPr>
        <p:spPr>
          <a:xfrm>
            <a:off x="336042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状态点2"/>
          <p:cNvSpPr/>
          <p:nvPr/>
        </p:nvSpPr>
        <p:spPr>
          <a:xfrm>
            <a:off x="3543300" y="15087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来源类型2"/>
          <p:cNvSpPr txBox="1"/>
          <p:nvPr/>
        </p:nvSpPr>
        <p:spPr>
          <a:xfrm>
            <a:off x="381762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10" name="来源说明2"/>
          <p:cNvSpPr txBox="1"/>
          <p:nvPr/>
        </p:nvSpPr>
        <p:spPr>
          <a:xfrm>
            <a:off x="354330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2025 流媒体调查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6 国各 500 人；样本来源、加权、回应率未公开</a:t>
            </a:r>
            <a:endParaRPr lang="en-US" sz="1400" dirty="0"/>
          </a:p>
        </p:txBody>
      </p:sp>
      <p:sp>
        <p:nvSpPr>
          <p:cNvPr id="11" name="来源卡3"/>
          <p:cNvSpPr/>
          <p:nvPr/>
        </p:nvSpPr>
        <p:spPr>
          <a:xfrm>
            <a:off x="617220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状态点3"/>
          <p:cNvSpPr/>
          <p:nvPr/>
        </p:nvSpPr>
        <p:spPr>
          <a:xfrm>
            <a:off x="6355080" y="15087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来源类型3"/>
          <p:cNvSpPr txBox="1"/>
          <p:nvPr/>
        </p:nvSpPr>
        <p:spPr>
          <a:xfrm>
            <a:off x="662940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14" name="来源说明3"/>
          <p:cNvSpPr txBox="1"/>
          <p:nvPr/>
        </p:nvSpPr>
        <p:spPr>
          <a:xfrm>
            <a:off x="635508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Pew 青少年调查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概率样本库 · 1,458 人 · 加权 · 误差 ±3.3</a:t>
            </a:r>
            <a:endParaRPr lang="en-US" sz="1400" dirty="0"/>
          </a:p>
        </p:txBody>
      </p:sp>
      <p:sp>
        <p:nvSpPr>
          <p:cNvPr id="15" name="来源卡4"/>
          <p:cNvSpPr/>
          <p:nvPr/>
        </p:nvSpPr>
        <p:spPr>
          <a:xfrm>
            <a:off x="898398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状态点4"/>
          <p:cNvSpPr/>
          <p:nvPr/>
        </p:nvSpPr>
        <p:spPr>
          <a:xfrm>
            <a:off x="9166860" y="15087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来源类型4"/>
          <p:cNvSpPr txBox="1"/>
          <p:nvPr/>
        </p:nvSpPr>
        <p:spPr>
          <a:xfrm>
            <a:off x="944118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18" name="来源说明4"/>
          <p:cNvSpPr txBox="1"/>
          <p:nvPr/>
        </p:nvSpPr>
        <p:spPr>
          <a:xfrm>
            <a:off x="916686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Deloitte 数字媒体趋势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美国 14 岁以上 3,595 人 · 按人口普查加权</a:t>
            </a:r>
            <a:endParaRPr lang="en-US" sz="1400" dirty="0"/>
          </a:p>
        </p:txBody>
      </p:sp>
      <p:sp>
        <p:nvSpPr>
          <p:cNvPr id="19" name="来源卡5"/>
          <p:cNvSpPr/>
          <p:nvPr/>
        </p:nvSpPr>
        <p:spPr>
          <a:xfrm>
            <a:off x="54864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状态点5"/>
          <p:cNvSpPr/>
          <p:nvPr/>
        </p:nvSpPr>
        <p:spPr>
          <a:xfrm>
            <a:off x="731520" y="3044952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来源类型5"/>
          <p:cNvSpPr txBox="1"/>
          <p:nvPr/>
        </p:nvSpPr>
        <p:spPr>
          <a:xfrm>
            <a:off x="100584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测量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22" name="来源说明5"/>
          <p:cNvSpPr txBox="1"/>
          <p:nvPr/>
        </p:nvSpPr>
        <p:spPr>
          <a:xfrm>
            <a:off x="73152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Nielsen NPOWER / Media Impact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约 4.2 万户人员测量仪 + 4,500 万户机顶盒与智能电视数据</a:t>
            </a:r>
            <a:endParaRPr lang="en-US" sz="1400" dirty="0"/>
          </a:p>
        </p:txBody>
      </p:sp>
      <p:sp>
        <p:nvSpPr>
          <p:cNvPr id="23" name="来源卡6"/>
          <p:cNvSpPr/>
          <p:nvPr/>
        </p:nvSpPr>
        <p:spPr>
          <a:xfrm>
            <a:off x="336042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状态点6"/>
          <p:cNvSpPr/>
          <p:nvPr/>
        </p:nvSpPr>
        <p:spPr>
          <a:xfrm>
            <a:off x="3543300" y="3044952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来源类型6"/>
          <p:cNvSpPr txBox="1"/>
          <p:nvPr/>
        </p:nvSpPr>
        <p:spPr>
          <a:xfrm>
            <a:off x="381762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测量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26" name="来源说明6"/>
          <p:cNvSpPr txBox="1"/>
          <p:nvPr/>
        </p:nvSpPr>
        <p:spPr>
          <a:xfrm>
            <a:off x="354330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Nielsen 流媒体收视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装流媒体测量仪的样本户，只测电视屏幕</a:t>
            </a:r>
            <a:endParaRPr lang="en-US" sz="1400" dirty="0"/>
          </a:p>
        </p:txBody>
      </p:sp>
      <p:sp>
        <p:nvSpPr>
          <p:cNvPr id="27" name="来源卡7"/>
          <p:cNvSpPr/>
          <p:nvPr/>
        </p:nvSpPr>
        <p:spPr>
          <a:xfrm>
            <a:off x="617220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状态点7"/>
          <p:cNvSpPr/>
          <p:nvPr/>
        </p:nvSpPr>
        <p:spPr>
          <a:xfrm>
            <a:off x="6355080" y="3044952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来源类型7"/>
          <p:cNvSpPr txBox="1"/>
          <p:nvPr/>
        </p:nvSpPr>
        <p:spPr>
          <a:xfrm>
            <a:off x="662940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数据库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30" name="来源说明7"/>
          <p:cNvSpPr txBox="1"/>
          <p:nvPr/>
        </p:nvSpPr>
        <p:spPr>
          <a:xfrm>
            <a:off x="635508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节目数据库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公司自有元数据，非抽样；采集与核验流程未公开</a:t>
            </a:r>
            <a:endParaRPr lang="en-US" sz="1400" dirty="0"/>
          </a:p>
        </p:txBody>
      </p:sp>
      <p:sp>
        <p:nvSpPr>
          <p:cNvPr id="31" name="来源卡8"/>
          <p:cNvSpPr/>
          <p:nvPr/>
        </p:nvSpPr>
        <p:spPr>
          <a:xfrm>
            <a:off x="898398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状态点8"/>
          <p:cNvSpPr/>
          <p:nvPr/>
        </p:nvSpPr>
        <p:spPr>
          <a:xfrm>
            <a:off x="9166860" y="3044952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来源类型8"/>
          <p:cNvSpPr txBox="1"/>
          <p:nvPr/>
        </p:nvSpPr>
        <p:spPr>
          <a:xfrm>
            <a:off x="944118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预测 ｜ </a:t>
            </a:r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部分公开</a:t>
            </a:r>
            <a:endParaRPr lang="en-US" sz="1100" dirty="0"/>
          </a:p>
        </p:txBody>
      </p:sp>
      <p:sp>
        <p:nvSpPr>
          <p:cNvPr id="34" name="来源说明8"/>
          <p:cNvSpPr txBox="1"/>
          <p:nvPr/>
        </p:nvSpPr>
        <p:spPr>
          <a:xfrm>
            <a:off x="916686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PwC 娱乐与媒体展望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公开数据 + 行业访谈 + 建模；全球市场合计</a:t>
            </a:r>
            <a:endParaRPr lang="en-US" sz="1400" dirty="0"/>
          </a:p>
        </p:txBody>
      </p:sp>
      <p:sp>
        <p:nvSpPr>
          <p:cNvPr id="35" name="来源卡9"/>
          <p:cNvSpPr/>
          <p:nvPr/>
        </p:nvSpPr>
        <p:spPr>
          <a:xfrm>
            <a:off x="54864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状态点9"/>
          <p:cNvSpPr/>
          <p:nvPr/>
        </p:nvSpPr>
        <p:spPr>
          <a:xfrm>
            <a:off x="731520" y="458114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7" name="来源类型9"/>
          <p:cNvSpPr txBox="1"/>
          <p:nvPr/>
        </p:nvSpPr>
        <p:spPr>
          <a:xfrm>
            <a:off x="100584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测试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38" name="来源说明9"/>
          <p:cNvSpPr txBox="1"/>
          <p:nvPr/>
        </p:nvSpPr>
        <p:spPr>
          <a:xfrm>
            <a:off x="73152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Veed 聊天机器人测试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 国、只测独播剧、每题问 3 次；题量、模型版本、评分程序未公开</a:t>
            </a:r>
            <a:endParaRPr lang="en-US" sz="1400" dirty="0"/>
          </a:p>
        </p:txBody>
      </p:sp>
      <p:sp>
        <p:nvSpPr>
          <p:cNvPr id="39" name="来源卡10"/>
          <p:cNvSpPr/>
          <p:nvPr/>
        </p:nvSpPr>
        <p:spPr>
          <a:xfrm>
            <a:off x="336042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状态点10"/>
          <p:cNvSpPr/>
          <p:nvPr/>
        </p:nvSpPr>
        <p:spPr>
          <a:xfrm>
            <a:off x="3543300" y="4581144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来源类型10"/>
          <p:cNvSpPr txBox="1"/>
          <p:nvPr/>
        </p:nvSpPr>
        <p:spPr>
          <a:xfrm>
            <a:off x="381762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论文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42" name="来源说明10"/>
          <p:cNvSpPr txBox="1"/>
          <p:nvPr/>
        </p:nvSpPr>
        <p:spPr>
          <a:xfrm>
            <a:off x="354330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USC 知识库偏差研究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同行评审论文；自动分类器判定 + 众包抽样人工验证</a:t>
            </a:r>
            <a:endParaRPr lang="en-US" sz="1400" dirty="0"/>
          </a:p>
        </p:txBody>
      </p:sp>
      <p:sp>
        <p:nvSpPr>
          <p:cNvPr id="43" name="来源卡11"/>
          <p:cNvSpPr/>
          <p:nvPr/>
        </p:nvSpPr>
        <p:spPr>
          <a:xfrm>
            <a:off x="617220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状态点11"/>
          <p:cNvSpPr/>
          <p:nvPr/>
        </p:nvSpPr>
        <p:spPr>
          <a:xfrm>
            <a:off x="6355080" y="458114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5" name="来源类型11"/>
          <p:cNvSpPr txBox="1"/>
          <p:nvPr/>
        </p:nvSpPr>
        <p:spPr>
          <a:xfrm>
            <a:off x="662940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行业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46" name="来源说明11"/>
          <p:cNvSpPr txBox="1"/>
          <p:nvPr/>
        </p:nvSpPr>
        <p:spPr>
          <a:xfrm>
            <a:off x="635508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Fabric 流失率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Fabric 原页未见 5.5% 与 2%；流失率定义未公开</a:t>
            </a:r>
            <a:endParaRPr lang="en-US" sz="1400" dirty="0"/>
          </a:p>
        </p:txBody>
      </p:sp>
      <p:sp>
        <p:nvSpPr>
          <p:cNvPr id="47" name="来源小结卡"/>
          <p:cNvSpPr/>
          <p:nvPr/>
        </p:nvSpPr>
        <p:spPr>
          <a:xfrm>
            <a:off x="898398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8" name="来源小结"/>
          <p:cNvSpPr txBox="1"/>
          <p:nvPr/>
        </p:nvSpPr>
        <p:spPr>
          <a:xfrm>
            <a:off x="9166860" y="4398264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Gracenote 自己的两份问卷，恰恰是方法最不透明的两项</a:t>
            </a:r>
            <a:endParaRPr lang="en-US" sz="1400" dirty="0"/>
          </a:p>
        </p:txBody>
      </p:sp>
      <p:sp>
        <p:nvSpPr>
          <p:cNvPr id="49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详见仓库《Gracenote报告_数据来源与采集方式核查.md》，每条结论标注了核实程度与原文链接。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附录二：引用与口径核对</a:t>
            </a:r>
            <a:endParaRPr lang="en-US" sz="3000" dirty="0"/>
          </a:p>
        </p:txBody>
      </p:sp>
      <p:graphicFrame>
        <p:nvGraphicFramePr>
          <p:cNvPr id="13" name="校准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报告的写法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原始来源 / 图表本身显示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Pew：30% 的青少年每天用聊天机器人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精确值 28%（13–14 岁 24%）；分母是全体青少年，使用者中为 44%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USC：两个 AI 数据库中“高达 38%”的常识数据有偏差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38.6% 只是 GenericsKB 一个库在 regard 指标下的比例，由自动分类器判定；另一个库为 3.4%–4.5%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Deloitte：41% 的“流媒体订户”认为不值这个价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原文分母是“全体消费者”（美国 14 岁以上 3,595 人，2024 年 10 月）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PwC：OTT 与付费电视支出 2029 年达 3,185 亿美元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全球数字（2024 年 2,913 亿，年增 1.8%），报告没写明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摘要：54% 的 18–34 岁“会取消订阅”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原题是“可能会取消”，而且是六国口径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核查图：61–79 岁 58% 会核查，83% “用搜索交叉核对”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83% 大于 58%，外圈分母只能是“会核查的人”，图注没写清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“26% 的美国人知道想看什么却找不到”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两轮核查都没找到出处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2、5、6、14、18、22 页；Pew、USC、Deloitte、PwC 原文（第二轮外部核对）。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rch Glow">
  <a:themeElements>
    <a:clrScheme name="Search Glow">
      <a:dk1>
        <a:srgbClr val="1C1733"/>
      </a:dk1>
      <a:lt1>
        <a:srgbClr val="FFFFFF"/>
      </a:lt1>
      <a:dk2>
        <a:srgbClr val="2B1D6B"/>
      </a:dk2>
      <a:lt2>
        <a:srgbClr val="F3F1FA"/>
      </a:lt2>
      <a:accent1>
        <a:srgbClr val="5B3FD9"/>
      </a:accent1>
      <a:accent2>
        <a:srgbClr val="0F8B8D"/>
      </a:accent2>
      <a:accent3>
        <a:srgbClr val="D9480F"/>
      </a:accent3>
      <a:accent4>
        <a:srgbClr val="7CC242"/>
      </a:accent4>
      <a:accent5>
        <a:srgbClr val="6E6890"/>
      </a:accent5>
      <a:accent6>
        <a:srgbClr val="E4DFF8"/>
      </a:accent6>
      <a:hlink>
        <a:srgbClr val="5B3FD9"/>
      </a:hlink>
      <a:folHlink>
        <a:srgbClr val="6E6890"/>
      </a:folHlink>
    </a:clrScheme>
    <a:fontScheme name="Search Glow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54% 的 13–14 岁每天都用 AI？Gracenote 2026 报告解读</dc:title>
  <dc:subject>市场调研：方法与实践 课后作业随堂分享</dc:subject>
  <dc:creator>PptxGenJS</dc:creator>
  <cp:lastModifiedBy>PptxGenJS</cp:lastModifiedBy>
  <cp:revision>1</cp:revision>
  <dcterms:created xsi:type="dcterms:W3CDTF">2026-10-07T12:28:33Z</dcterms:created>
  <dcterms:modified xsi:type="dcterms:W3CDTF">2026-10-07T12:28:33Z</dcterms:modified>
</cp:coreProperties>
</file>