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4e41b6b1-80dc-8730-53af-78eb833089e9}">
          <p14:sldIdLst>
            <p14:sldId id="256"/>
          </p14:sldIdLst>
        </p14:section>
        <p14:section name="报告介绍" id="{3d69bc0e-6c67-eb1e-1a6e-0b8d83064a2c}">
          <p14:sldIdLst>
            <p14:sldId id="257"/>
            <p14:sldId id="258"/>
            <p14:sldId id="259"/>
          </p14:sldIdLst>
        </p14:section>
        <p14:section name="主要发现" id="{da7c2405-af86-4d89-8ef6-f0540895ead3}">
          <p14:sldIdLst>
            <p14:sldId id="260"/>
            <p14:sldId id="261"/>
            <p14:sldId id="262"/>
          </p14:sldIdLst>
        </p14:section>
        <p14:section name="评价与局限" id="{970e456e-877c-2760-a88e-b78488070c1b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结论" id="{9d21c3e5-ab1a-e1bc-554d-018118fbf98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D6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D6B"/>
                </a:solidFill>
                <a:latin typeface="+mn-lt"/>
              </a:rPr>
              <a:t>每天使用 AI 聊天机器人的比例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每天使用</c:v>
                </c:pt>
              </c:strCache>
            </c:strRef>
          </c:tx>
          <c:spPr>
            <a:solidFill>
              <a:srgbClr val="5B3FD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3F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8B8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13–14 岁（Alpha 世代）</c:v>
                  </c:pt>
                  <c:pt idx="1">
                    <c:v>15–28 岁（Z 世代）</c:v>
                  </c:pt>
                  <c:pt idx="2">
                    <c:v>29–44 岁（千禧一代）</c:v>
                  </c:pt>
                  <c:pt idx="3">
                    <c:v>45–60 岁（X 世代）</c:v>
                  </c:pt>
                  <c:pt idx="4">
                    <c:v>61–79 岁（婴儿潮）</c:v>
                  </c:pt>
                  <c:pt idx="5">
                    <c:v>全体平均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39</c:v>
                </c:pt>
                <c:pt idx="2">
                  <c:v>42</c:v>
                </c:pt>
                <c:pt idx="3">
                  <c:v>31</c:v>
                </c:pt>
                <c:pt idx="4">
                  <c:v>20</c:v>
                </c:pt>
                <c:pt idx="5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D6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D6B"/>
                </a:solidFill>
                <a:latin typeface="+mn-lt"/>
              </a:rPr>
              <a:t>认为娱乐搜索结果准确性“优秀 / 良好”的比例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传统搜索</c:v>
                </c:pt>
              </c:strCache>
            </c:strRef>
          </c:tx>
          <c:spPr>
            <a:solidFill>
              <a:srgbClr val="6E68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13–14 岁</c:v>
                  </c:pt>
                  <c:pt idx="1">
                    <c:v>15–28 岁</c:v>
                  </c:pt>
                  <c:pt idx="2">
                    <c:v>29–44 岁</c:v>
                  </c:pt>
                  <c:pt idx="3">
                    <c:v>45–60 岁</c:v>
                  </c:pt>
                  <c:pt idx="4">
                    <c:v>61–79 岁</c:v>
                  </c:pt>
                  <c:pt idx="5">
                    <c:v>全体平均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99</c:v>
                </c:pt>
                <c:pt idx="1">
                  <c:v>91</c:v>
                </c:pt>
                <c:pt idx="2">
                  <c:v>92</c:v>
                </c:pt>
                <c:pt idx="3">
                  <c:v>92</c:v>
                </c:pt>
                <c:pt idx="4">
                  <c:v>86</c:v>
                </c:pt>
                <c:pt idx="5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聊天机器人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13–14 岁</c:v>
                  </c:pt>
                  <c:pt idx="1">
                    <c:v>15–28 岁</c:v>
                  </c:pt>
                  <c:pt idx="2">
                    <c:v>29–44 岁</c:v>
                  </c:pt>
                  <c:pt idx="3">
                    <c:v>45–60 岁</c:v>
                  </c:pt>
                  <c:pt idx="4">
                    <c:v>61–79 岁</c:v>
                  </c:pt>
                  <c:pt idx="5">
                    <c:v>全体平均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83</c:v>
                </c:pt>
                <c:pt idx="2">
                  <c:v>87</c:v>
                </c:pt>
                <c:pt idx="3">
                  <c:v>87</c:v>
                </c:pt>
                <c:pt idx="4">
                  <c:v>80</c:v>
                </c:pt>
                <c:pt idx="5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17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1D6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B1D6B"/>
                </a:solidFill>
                <a:latin typeface="+mn-lt"/>
              </a:rPr>
              <a:t>找到想看的节目要几分钟（2025 调查）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找节目时间</c:v>
                </c:pt>
              </c:strCache>
            </c:strRef>
          </c:tx>
          <c:spPr>
            <a:solidFill>
              <a:srgbClr val="A99BEA"/>
            </a:solidFill>
            <a:effectLst/>
          </c:spPr>
          <c:invertIfNegative val="0"/>
          <c:dLbls>
            <c:numFmt formatCode="0&quot; 分钟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9BE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B3FD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巴西</c:v>
                  </c:pt>
                  <c:pt idx="1">
                    <c:v>法国</c:v>
                  </c:pt>
                  <c:pt idx="2">
                    <c:v>德国</c:v>
                  </c:pt>
                  <c:pt idx="3">
                    <c:v>墨西哥</c:v>
                  </c:pt>
                  <c:pt idx="4">
                    <c:v>英国</c:v>
                  </c:pt>
                  <c:pt idx="5">
                    <c:v>美国</c:v>
                  </c:pt>
                  <c:pt idx="6">
                    <c:v>六国平均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26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  <c:pt idx="6">
                  <c:v>14</c:v>
                </c:pt>
              </c:numCache>
            </c:numRef>
          </c:val>
        </c:ser>
        <c:dLbls>
          <c:numFmt formatCode="0&quot; 分钟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1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大家好，我分享的是尼尔森旗下 Gracenote 在 2026 年发布的报告《AI 时代的电视搜索与内容发现》。它关心的问题很日常：现在流媒体平台这么多，观众还找得到想看的节目吗？AI 聊天机器人能不能帮忙？我会先讲报告做了什么、发现了什么，再按课上讲的方法框架，重点谈它的局限。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先介绍机构。Gracenote 是尼尔森的子公司，主业是给媒体公司提供节目数据。尼尔森大家课上见过，是做收视率的辛迪加服务机构。这份报告想回答三个问题：一是大家怎么用 AI 找信息，二是平台太多导致找节目难，会不会引起退订，三是大家信不信 AI 的答案。报告最后的主张是：AI 会成为找节目的入口，但必须接入可信的行业数据。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这一页是研究方法。按老师要求的对象、时间、抽样、样本量来看：核心是 2026 年的 AI 使用调查，线上问卷，美国 13 到 79 岁的 AI 聊天机器人用户，2026 年 1 月底到 2 月初，约 4000 人。另一份是 2025 年六个国家共 3000 人的流媒体调查。此外还用了尼尔森的收视测量、自己的节目数据库和六项外部研究。要注意橙色字：两份核心问卷都没有说抽样方式，这是后面评价的起点。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我把报告用到的 11 个数据来源逐一查了一遍，按方法公开的程度标了颜色。青色是方法公开的：尼尔森的收视测量、Pew、Deloitte 和 USC 的论文。橙色是关键信息没公开的。值得注意的是，报告最核心的两份 Gracenote 自己的问卷，恰恰都没有公开样本怎么招募、怎么加权、回应率多少。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报告的主要结论有六个数字。紫色来自 2026 年的 AI 调查：13 到 14 岁的受访者有 54% 每天用 AI 聊天机器人，80% 说用得更多了；75% 的人会核查 AI 的答案；52% 认为 AI 有可能成为最常用的娱乐信息来源。青色来自 2025 年的流媒体调查：平均找一个节目要 14 分钟，18 到 34 岁有 54% 说找不到可能会退订。注意青色数字是六个国家的平均，美国自己找节目是 12 分钟，后面会细讲。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这张图是每天使用 AI 聊天机器人的比例。13 到 14 岁最高，54%；婴儿潮一代最低，20%。平均每天用的 38%，加上每周用好几次的 38%，就是报告说的约四分之三。这里先请大家记住分母：这是 AI 聊天机器人用户里的比例，不是全体美国人。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但用得多，不等于信得过。每个年龄组都觉得传统搜索比 AI 更准，平均 92% 对 85%。75% 的人会核查 AI 的答案，而且最常见的核查方式恰恰是再去用传统搜索查一遍。77% 对 AI 结果有顾虑，主要担心信息过时，或者听起来对但其实是错的。报告由此得出：AI 必须接入可信的数据。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接下来是评价。课上讲春晚满意度调查，央视说 81.6% 叫好，新浪网只有 11.5%，原因在于调查对象、研究总体、研究方法和调查时间不同。老师的提醒是：比起结果，更要看方法和过程。我就用这四个角度来检查这份报告，下面六个局限分别对应这四个角度。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第一个局限：4003 人代表的是谁？报告写得很清楚，对象是互联网和 AI 聊天机器人用户，是一层层收窄的人群。但它没说从哪里招人、是不是概率抽样、怎么加权、回应率多少。所以结论最严格只能说'这次接受调查的 AI 用户'。可报告正文常常写成'美国消费者''美国人'。这和课上 Durex 网络调查的问题一样：网络样本能不能反映总体结构。我不是说数据错了，而是凭现有说明判断不了。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第二个局限是子样本。报告把 Alpha 世代定义为 2010 到 2024 年出生，但调查最小只到 13 岁，所以'Alpha 世代'其实只是 13 到 14 岁这两岁。每个年龄组多少人报告没写，分组数字的误差就没法估计。2025 年的调查每个国家 500 人，所以'美国人'的数字只基于 500 人左右，误差至少正负 4.4 个百分点。还有一个小细节：五个年龄组的核查比例简单平均是 71.6%，总体却是 75%，说明各组人数或权重不同，但报告没交代。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第三个局限是我对照 Gracenote 上一份报告原文发现的。2026 报告里的'平均找节目 14 分钟'，其实是巴西、法国、德国、墨西哥、英国、美国六国的简单平均，美国自己是 12 分钟，法国一国 26 分钟把平均拉高了。但报告把 14 分钟和美国尼尔森的收视数据画在了同一张图里。摘要里'18 到 34 岁 54% 会取消订阅'也和六国数据吻合；报告说'50% 的美国观众会考虑取消'，原始材料里只找得到六国的 49%。还有第 9 页 32% 和第 12 页 34%，两页措辞略有不同，但对应同一道题，32% 和六国平均一致，34% 写的是美国人。也就是说，读者很容易把六国数字当成美国数字。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第三个局限最像春晚案例。报告拿 Pew 的 30% 和自己的 54% 对比，说几个月内使用频率在加速。但我们用春晚的四个角度对一下：对象不同，Pew 是所有 13 到 17 岁青少年，Gracenote 是 13 到 14 岁的 AI 用户；方法不同，Pew 是基于随机地址抽样的样本库并加权；时间也不同。关键是分母。Pew 的数据表里，所有青少年每天用的精确值是 28%，其中 13 到 14 岁只有 24%；而 Gracenote 同样是 13 到 14 岁，却是 54%。区别在于 Pew 问的是所有青少年，Gracenote 只问 AI 用户。换成同样的'使用者'分母，Pew 是 44%，和 54% 只差 10 个百分点左右，剩下的还可能来自年龄、方法和时间不同。所以这个差距不能解释成增长。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第五个局限是指标类型。报告用了四种完全不同的数据：问卷里说'可能会退订'是意向，而且是六国口径；5.5% 的月流失率是实际行为，但另一家机构 Antenna 测得 2019 年就已经是 4.1%，和报告说的 2% 差了一倍，说明定义不同；3185 亿美元是 PwC 对全球市场的预测，不是美国；三分之二找对平台是六个国家合并的测试结果，而且只测独播剧，ChatGPT 在美英德约八成正确，在法意西不到三成。报告把它们串成'找不到节目导致退订，所以需要 AI 和可信数据'。但它没有追踪同一批人，也没有做实验，所以这条因果链没有被证明。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第六个局限是几处引用和口径。比如 USC 那个 38%，原论文里只是一个知识库在一个指标下的数，而且是自动分类器判的，这个指标和人工判断的一致率只有六成，另一个库只有 3% 到 4%；Deloitte 的 41% 原文是所有消费者，报告写成了订户；摘要说'会取消'，正文是'会考虑取消'。PwC 的 3185 亿美元其实是全球数字；核查图里 83% 大于 58%，分母没写清。这些不一定推翻大方向，但提醒我们引用二手数据要回原文核对。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评价也要看优点。报告公布了样本量、时间、年龄、方式和筛选条件，每张图都有读法和来源，还把收视测量和问卷结合起来。我还用图里的数字复算了几项，比如授权剧比原创剧多 81% 的观看分钟、CTV 占 54%，都算得上。所以报告内部是自洽的，问题主要在样本代表谁、数据能推出什么结论。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总结一下我的评价。这份报告可以当作行业方向的信号：年轻人在把 AI 当成找内容的入口，但并不完全信任它。它不宜被当成对美国人的精确估计，因为有些数字其实是六国平均，也不能证明找不到节目会导致退订。要更可信，需要公布样本来源、加权、回应率和各组人数。另外，报告的结论正好是 Gracenote 自己的业务，这提醒我们细看方法，但不能因此就说数据错。最后留一个问题：如果要验证'找不到节目导致退订'，你会怎么设计调查？谢谢大家。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7665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Gracenote《TV Search and Discovery in the AI Era》解读 ｜ 市场调研：方法与实践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Gracenote《TV Search and Discovery in the AI Era》解读 ｜ 市场调研：方法与实践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时代，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观众还找得到想看的节目吗？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解读 Gracenote（尼尔森旗下）2026 年研究报告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《TV Search and Discovery in the AI Era》</a:t>
            </a:r>
            <a:endParaRPr lang="en-US" sz="1800" dirty="0"/>
          </a:p>
        </p:txBody>
      </p:sp>
      <p:sp>
        <p:nvSpPr>
          <p:cNvPr id="4" name="课程名"/>
          <p:cNvSpPr txBox="1"/>
          <p:nvPr/>
        </p:nvSpPr>
        <p:spPr>
          <a:xfrm>
            <a:off x="73152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市场调研：方法与实践 ｜ 课后作业随堂分享</a:t>
            </a:r>
            <a:endParaRPr lang="en-US" sz="1400" dirty="0"/>
          </a:p>
        </p:txBody>
      </p:sp>
      <p:sp>
        <p:nvSpPr>
          <p:cNvPr id="5" name="搜索框"/>
          <p:cNvSpPr/>
          <p:nvPr/>
        </p:nvSpPr>
        <p:spPr>
          <a:xfrm>
            <a:off x="8001000" y="2011680"/>
            <a:ext cx="3611880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搜索框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221992"/>
            <a:ext cx="310896" cy="310896"/>
          </a:xfrm>
          <a:prstGeom prst="rect">
            <a:avLst/>
          </a:prstGeom>
        </p:spPr>
      </p:pic>
      <p:sp>
        <p:nvSpPr>
          <p:cNvPr id="7" name="搜索词"/>
          <p:cNvSpPr txBox="1"/>
          <p:nvPr/>
        </p:nvSpPr>
        <p:spPr>
          <a:xfrm>
            <a:off x="8641080" y="20116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Where is the program I want to watch?</a:t>
            </a:r>
            <a:endParaRPr lang="en-US" sz="1300" dirty="0"/>
          </a:p>
        </p:txBody>
      </p:sp>
      <p:sp>
        <p:nvSpPr>
          <p:cNvPr id="8" name="AI回答框"/>
          <p:cNvSpPr/>
          <p:nvPr/>
        </p:nvSpPr>
        <p:spPr>
          <a:xfrm>
            <a:off x="8001000" y="2971800"/>
            <a:ext cx="3611880" cy="178308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I回答文字"/>
          <p:cNvSpPr txBox="1"/>
          <p:nvPr/>
        </p:nvSpPr>
        <p:spPr>
          <a:xfrm>
            <a:off x="8229600" y="306324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AI 聊天机器人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“这部剧在某某平台……”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报告引用的测试：只有约 2/3 的回答找对了播出平台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报告是谁做的、想回答什么</a:t>
            </a:r>
            <a:endParaRPr lang="en-US" sz="3000" dirty="0"/>
          </a:p>
        </p:txBody>
      </p:sp>
      <p:sp>
        <p:nvSpPr>
          <p:cNvPr id="3" name="机构卡片"/>
          <p:cNvSpPr/>
          <p:nvPr/>
        </p:nvSpPr>
        <p:spPr>
          <a:xfrm>
            <a:off x="548640" y="1417320"/>
            <a:ext cx="4754880" cy="4343400"/>
          </a:xfrm>
          <a:prstGeom prst="roundRect">
            <a:avLst>
              <a:gd name="adj" fmla="val 2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图标底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7380"/>
            <a:ext cx="320040" cy="320040"/>
          </a:xfrm>
          <a:prstGeom prst="rect">
            <a:avLst/>
          </a:prstGeom>
        </p:spPr>
      </p:pic>
      <p:sp>
        <p:nvSpPr>
          <p:cNvPr id="6" name="机构标题"/>
          <p:cNvSpPr txBox="1"/>
          <p:nvPr/>
        </p:nvSpPr>
        <p:spPr>
          <a:xfrm>
            <a:off x="1691640" y="1737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研究机构</a:t>
            </a:r>
            <a:endParaRPr lang="en-US" sz="2000" dirty="0"/>
          </a:p>
        </p:txBody>
      </p:sp>
      <p:sp>
        <p:nvSpPr>
          <p:cNvPr id="7" name="机构说明"/>
          <p:cNvSpPr txBox="1"/>
          <p:nvPr/>
        </p:nvSpPr>
        <p:spPr>
          <a:xfrm>
            <a:off x="868680" y="256032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Gracenote 是尼尔森（Nielsen）旗下的内容数据业务，向媒体公司提供节目元数据：片名、简介、类型、在哪个平台播出等。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尼尔森本身是收视率调查的代表机构，属于课上讲的“辛迪加服务”。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本报告：2026 年发布，正文 23 页；类型上属于消费者调查 + 媒介调查。</a:t>
            </a:r>
            <a:endParaRPr lang="en-US" sz="1500" dirty="0"/>
          </a:p>
        </p:txBody>
      </p:sp>
      <p:sp>
        <p:nvSpPr>
          <p:cNvPr id="8" name="问题标题"/>
          <p:cNvSpPr txBox="1"/>
          <p:nvPr/>
        </p:nvSpPr>
        <p:spPr>
          <a:xfrm>
            <a:off x="5760720" y="1417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三个研究问题</a:t>
            </a:r>
            <a:endParaRPr lang="en-US" sz="2000" dirty="0"/>
          </a:p>
        </p:txBody>
      </p:sp>
      <p:sp>
        <p:nvSpPr>
          <p:cNvPr id="9" name="序号底1"/>
          <p:cNvSpPr/>
          <p:nvPr/>
        </p:nvSpPr>
        <p:spPr>
          <a:xfrm>
            <a:off x="5760720" y="208483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序号1"/>
          <p:cNvSpPr txBox="1"/>
          <p:nvPr/>
        </p:nvSpPr>
        <p:spPr>
          <a:xfrm>
            <a:off x="57607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问题1"/>
          <p:cNvSpPr txBox="1"/>
          <p:nvPr/>
        </p:nvSpPr>
        <p:spPr>
          <a:xfrm>
            <a:off x="6537960" y="20116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使用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人们，尤其是年轻人，怎样用 AI 聊天机器人找信息？</a:t>
            </a:r>
            <a:endParaRPr lang="en-US" sz="1600" dirty="0"/>
          </a:p>
        </p:txBody>
      </p:sp>
      <p:sp>
        <p:nvSpPr>
          <p:cNvPr id="12" name="序号底2"/>
          <p:cNvSpPr/>
          <p:nvPr/>
        </p:nvSpPr>
        <p:spPr>
          <a:xfrm>
            <a:off x="5760720" y="307238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序号2"/>
          <p:cNvSpPr txBox="1"/>
          <p:nvPr/>
        </p:nvSpPr>
        <p:spPr>
          <a:xfrm>
            <a:off x="5760720" y="3072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问题2"/>
          <p:cNvSpPr txBox="1"/>
          <p:nvPr/>
        </p:nvSpPr>
        <p:spPr>
          <a:xfrm>
            <a:off x="6537960" y="299923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痛点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流媒体平台越来越多，找节目有多难？会不会导致退订？</a:t>
            </a:r>
            <a:endParaRPr lang="en-US" sz="1600" dirty="0"/>
          </a:p>
        </p:txBody>
      </p:sp>
      <p:sp>
        <p:nvSpPr>
          <p:cNvPr id="15" name="序号底3"/>
          <p:cNvSpPr/>
          <p:nvPr/>
        </p:nvSpPr>
        <p:spPr>
          <a:xfrm>
            <a:off x="5760720" y="405993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序号3"/>
          <p:cNvSpPr txBox="1"/>
          <p:nvPr/>
        </p:nvSpPr>
        <p:spPr>
          <a:xfrm>
            <a:off x="5760720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问题3"/>
          <p:cNvSpPr txBox="1"/>
          <p:nvPr/>
        </p:nvSpPr>
        <p:spPr>
          <a:xfrm>
            <a:off x="6537960" y="398678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信任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观众相信 AI 给出的娱乐、体育信息吗？</a:t>
            </a:r>
            <a:endParaRPr lang="en-US" sz="1600" dirty="0"/>
          </a:p>
        </p:txBody>
      </p:sp>
      <p:sp>
        <p:nvSpPr>
          <p:cNvPr id="18" name="主张标签"/>
          <p:cNvSpPr/>
          <p:nvPr/>
        </p:nvSpPr>
        <p:spPr>
          <a:xfrm>
            <a:off x="5760720" y="5166360"/>
            <a:ext cx="5852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9" name="搜索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5266944"/>
            <a:ext cx="182880" cy="182880"/>
          </a:xfrm>
          <a:prstGeom prst="rect">
            <a:avLst/>
          </a:prstGeom>
        </p:spPr>
      </p:pic>
      <p:sp>
        <p:nvSpPr>
          <p:cNvPr id="20" name="主张标签文字"/>
          <p:cNvSpPr txBox="1"/>
          <p:nvPr/>
        </p:nvSpPr>
        <p:spPr>
          <a:xfrm>
            <a:off x="6172200" y="51663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报告主张：AI 会成为找节目的主要入口，但必须接入可信的行业数据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研究方法：一份报告，背后是五类数据</a:t>
            </a:r>
            <a:endParaRPr lang="en-US" sz="3000" dirty="0"/>
          </a:p>
        </p:txBody>
      </p:sp>
      <p:graphicFrame>
        <p:nvGraphicFramePr>
          <p:cNvPr id="4" name="方法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2788920"/>
                <a:gridCol w="1508760"/>
                <a:gridCol w="164592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数据来源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性质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调查对象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调查时间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样本量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抽样方式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Gracenote 2026 生成式 AI 使用调查（核心）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美国 13–79 岁互联网 / AI 聊天机器人用户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2026.1.23–2.4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4,003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未披露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Gracenote 2025 流媒体消费者调查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线上问卷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巴西、法、德、墨、美、英的流媒体用户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2025.7.28–8.1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3,000（每国 500）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未披露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Nielsen 收视测量（NPOWER 等）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收视测量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美国 2 岁以上观众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2025 年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图旁未注明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图旁未注明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Gracenote 节目数据库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商业元数据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80+ 国家和地区、300+ 流媒体目录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截至 2026.2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非抽样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外部引用：Pew、Deloitte、PwC 等 6 项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二手资料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各不相同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2021–2025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各不相同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各不相同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方法小结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课上要求看的四项（对象 / 时间 / 抽样 / 样本量）里，</a:t>
            </a:r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抽样方式是两份核心问卷都没有交代的一项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。4,003 这个精确数字来自尼尔森新闻稿，报告正文写的是“4,000 多人”。</a:t>
            </a:r>
            <a:endParaRPr lang="en-US" sz="1400" dirty="0"/>
          </a:p>
        </p:txBody>
      </p:sp>
      <p:sp>
        <p:nvSpPr>
          <p:cNvPr id="5" name="来源说明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23 页“Data sources”、第 8–10 页图注；Nielsen 2026 年新闻稿。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逐一核查 11 个数据来源：方法公开到什么程度</a:t>
            </a:r>
            <a:endParaRPr lang="en-US" sz="3000" dirty="0"/>
          </a:p>
        </p:txBody>
      </p:sp>
      <p:sp>
        <p:nvSpPr>
          <p:cNvPr id="3" name="来源卡1"/>
          <p:cNvSpPr/>
          <p:nvPr/>
        </p:nvSpPr>
        <p:spPr>
          <a:xfrm>
            <a:off x="54864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状态点1"/>
          <p:cNvSpPr/>
          <p:nvPr/>
        </p:nvSpPr>
        <p:spPr>
          <a:xfrm>
            <a:off x="731520" y="150876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来源类型1"/>
          <p:cNvSpPr txBox="1"/>
          <p:nvPr/>
        </p:nvSpPr>
        <p:spPr>
          <a:xfrm>
            <a:off x="1005840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问卷 ｜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关键信息未公开</a:t>
            </a:r>
            <a:endParaRPr lang="en-US" sz="1100" dirty="0"/>
          </a:p>
        </p:txBody>
      </p:sp>
      <p:sp>
        <p:nvSpPr>
          <p:cNvPr id="6" name="来源说明1"/>
          <p:cNvSpPr txBox="1"/>
          <p:nvPr/>
        </p:nvSpPr>
        <p:spPr>
          <a:xfrm>
            <a:off x="73152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Gracenote 2026 AI 调查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线上 · 美国 AI 用户 · 4,003 人；招募、加权、回应率未公开</a:t>
            </a:r>
            <a:endParaRPr lang="en-US" sz="1400" dirty="0"/>
          </a:p>
        </p:txBody>
      </p:sp>
      <p:sp>
        <p:nvSpPr>
          <p:cNvPr id="7" name="来源卡2"/>
          <p:cNvSpPr/>
          <p:nvPr/>
        </p:nvSpPr>
        <p:spPr>
          <a:xfrm>
            <a:off x="336042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状态点2"/>
          <p:cNvSpPr/>
          <p:nvPr/>
        </p:nvSpPr>
        <p:spPr>
          <a:xfrm>
            <a:off x="3543300" y="150876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来源类型2"/>
          <p:cNvSpPr txBox="1"/>
          <p:nvPr/>
        </p:nvSpPr>
        <p:spPr>
          <a:xfrm>
            <a:off x="3817620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问卷 ｜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关键信息未公开</a:t>
            </a:r>
            <a:endParaRPr lang="en-US" sz="1100" dirty="0"/>
          </a:p>
        </p:txBody>
      </p:sp>
      <p:sp>
        <p:nvSpPr>
          <p:cNvPr id="10" name="来源说明2"/>
          <p:cNvSpPr txBox="1"/>
          <p:nvPr/>
        </p:nvSpPr>
        <p:spPr>
          <a:xfrm>
            <a:off x="354330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Gracenote 2025 流媒体调查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线上 · 6 国各 500 人；招募、加权、回应率未公开</a:t>
            </a:r>
            <a:endParaRPr lang="en-US" sz="1400" dirty="0"/>
          </a:p>
        </p:txBody>
      </p:sp>
      <p:sp>
        <p:nvSpPr>
          <p:cNvPr id="11" name="来源卡3"/>
          <p:cNvSpPr/>
          <p:nvPr/>
        </p:nvSpPr>
        <p:spPr>
          <a:xfrm>
            <a:off x="617220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状态点3"/>
          <p:cNvSpPr/>
          <p:nvPr/>
        </p:nvSpPr>
        <p:spPr>
          <a:xfrm>
            <a:off x="6355080" y="150876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来源类型3"/>
          <p:cNvSpPr txBox="1"/>
          <p:nvPr/>
        </p:nvSpPr>
        <p:spPr>
          <a:xfrm>
            <a:off x="6629400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问卷 ｜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方法公开</a:t>
            </a:r>
            <a:endParaRPr lang="en-US" sz="1100" dirty="0"/>
          </a:p>
        </p:txBody>
      </p:sp>
      <p:sp>
        <p:nvSpPr>
          <p:cNvPr id="14" name="来源说明3"/>
          <p:cNvSpPr txBox="1"/>
          <p:nvPr/>
        </p:nvSpPr>
        <p:spPr>
          <a:xfrm>
            <a:off x="635508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Pew 青少年调查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概率样本库 · 1,458 人 · 加权 · 误差 ±3.3 个百分点</a:t>
            </a:r>
            <a:endParaRPr lang="en-US" sz="1400" dirty="0"/>
          </a:p>
        </p:txBody>
      </p:sp>
      <p:sp>
        <p:nvSpPr>
          <p:cNvPr id="15" name="来源卡4"/>
          <p:cNvSpPr/>
          <p:nvPr/>
        </p:nvSpPr>
        <p:spPr>
          <a:xfrm>
            <a:off x="8983980" y="13258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状态点4"/>
          <p:cNvSpPr/>
          <p:nvPr/>
        </p:nvSpPr>
        <p:spPr>
          <a:xfrm>
            <a:off x="9166860" y="150876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来源类型4"/>
          <p:cNvSpPr txBox="1"/>
          <p:nvPr/>
        </p:nvSpPr>
        <p:spPr>
          <a:xfrm>
            <a:off x="9441180" y="1435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问卷 ｜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方法公开</a:t>
            </a:r>
            <a:endParaRPr lang="en-US" sz="1100" dirty="0"/>
          </a:p>
        </p:txBody>
      </p:sp>
      <p:sp>
        <p:nvSpPr>
          <p:cNvPr id="18" name="来源说明4"/>
          <p:cNvSpPr txBox="1"/>
          <p:nvPr/>
        </p:nvSpPr>
        <p:spPr>
          <a:xfrm>
            <a:off x="9166860" y="17830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Deloitte 数字媒体趋势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线上 · 美国 14 岁以上 3,595 人 · 按人口普查加权</a:t>
            </a:r>
            <a:endParaRPr lang="en-US" sz="1400" dirty="0"/>
          </a:p>
        </p:txBody>
      </p:sp>
      <p:sp>
        <p:nvSpPr>
          <p:cNvPr id="19" name="来源卡5"/>
          <p:cNvSpPr/>
          <p:nvPr/>
        </p:nvSpPr>
        <p:spPr>
          <a:xfrm>
            <a:off x="548640" y="2862072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状态点5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来源类型5"/>
          <p:cNvSpPr txBox="1"/>
          <p:nvPr/>
        </p:nvSpPr>
        <p:spPr>
          <a:xfrm>
            <a:off x="10058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测量 ｜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方法公开</a:t>
            </a:r>
            <a:endParaRPr lang="en-US" sz="1100" dirty="0"/>
          </a:p>
        </p:txBody>
      </p:sp>
      <p:sp>
        <p:nvSpPr>
          <p:cNvPr id="22" name="来源说明5"/>
          <p:cNvSpPr txBox="1"/>
          <p:nvPr/>
        </p:nvSpPr>
        <p:spPr>
          <a:xfrm>
            <a:off x="731520" y="33192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Nielsen NPOWER / Media Impact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4.2 万户人员测量仪 + 4,500 万户机顶盒与智能电视数据</a:t>
            </a:r>
            <a:endParaRPr lang="en-US" sz="1400" dirty="0"/>
          </a:p>
        </p:txBody>
      </p:sp>
      <p:sp>
        <p:nvSpPr>
          <p:cNvPr id="23" name="来源卡6"/>
          <p:cNvSpPr/>
          <p:nvPr/>
        </p:nvSpPr>
        <p:spPr>
          <a:xfrm>
            <a:off x="3360420" y="2862072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状态点6"/>
          <p:cNvSpPr/>
          <p:nvPr/>
        </p:nvSpPr>
        <p:spPr>
          <a:xfrm>
            <a:off x="3543300" y="3044952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来源类型6"/>
          <p:cNvSpPr txBox="1"/>
          <p:nvPr/>
        </p:nvSpPr>
        <p:spPr>
          <a:xfrm>
            <a:off x="381762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测量 ｜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方法公开</a:t>
            </a:r>
            <a:endParaRPr lang="en-US" sz="1100" dirty="0"/>
          </a:p>
        </p:txBody>
      </p:sp>
      <p:sp>
        <p:nvSpPr>
          <p:cNvPr id="26" name="来源说明6"/>
          <p:cNvSpPr txBox="1"/>
          <p:nvPr/>
        </p:nvSpPr>
        <p:spPr>
          <a:xfrm>
            <a:off x="3543300" y="33192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Nielsen 流媒体收视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装流媒体测量仪的样本户，只测电视屏幕</a:t>
            </a:r>
            <a:endParaRPr lang="en-US" sz="1400" dirty="0"/>
          </a:p>
        </p:txBody>
      </p:sp>
      <p:sp>
        <p:nvSpPr>
          <p:cNvPr id="27" name="来源卡7"/>
          <p:cNvSpPr/>
          <p:nvPr/>
        </p:nvSpPr>
        <p:spPr>
          <a:xfrm>
            <a:off x="6172200" y="2862072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状态点7"/>
          <p:cNvSpPr/>
          <p:nvPr/>
        </p:nvSpPr>
        <p:spPr>
          <a:xfrm>
            <a:off x="6355080" y="3044952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来源类型7"/>
          <p:cNvSpPr txBox="1"/>
          <p:nvPr/>
        </p:nvSpPr>
        <p:spPr>
          <a:xfrm>
            <a:off x="66294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数据库 ｜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关键信息未公开</a:t>
            </a:r>
            <a:endParaRPr lang="en-US" sz="1100" dirty="0"/>
          </a:p>
        </p:txBody>
      </p:sp>
      <p:sp>
        <p:nvSpPr>
          <p:cNvPr id="30" name="来源说明7"/>
          <p:cNvSpPr txBox="1"/>
          <p:nvPr/>
        </p:nvSpPr>
        <p:spPr>
          <a:xfrm>
            <a:off x="6355080" y="33192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Gracenote 节目数据库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公司自有元数据，非抽样；采集与核验流程未公开</a:t>
            </a:r>
            <a:endParaRPr lang="en-US" sz="1400" dirty="0"/>
          </a:p>
        </p:txBody>
      </p:sp>
      <p:sp>
        <p:nvSpPr>
          <p:cNvPr id="31" name="来源卡8"/>
          <p:cNvSpPr/>
          <p:nvPr/>
        </p:nvSpPr>
        <p:spPr>
          <a:xfrm>
            <a:off x="8983980" y="2862072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状态点8"/>
          <p:cNvSpPr/>
          <p:nvPr/>
        </p:nvSpPr>
        <p:spPr>
          <a:xfrm>
            <a:off x="9166860" y="3044952"/>
            <a:ext cx="182880" cy="1828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来源类型8"/>
          <p:cNvSpPr txBox="1"/>
          <p:nvPr/>
        </p:nvSpPr>
        <p:spPr>
          <a:xfrm>
            <a:off x="94411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预测 ｜ </a:t>
            </a:r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部分公开</a:t>
            </a:r>
            <a:endParaRPr lang="en-US" sz="1100" dirty="0"/>
          </a:p>
        </p:txBody>
      </p:sp>
      <p:sp>
        <p:nvSpPr>
          <p:cNvPr id="34" name="来源说明8"/>
          <p:cNvSpPr txBox="1"/>
          <p:nvPr/>
        </p:nvSpPr>
        <p:spPr>
          <a:xfrm>
            <a:off x="9166860" y="331927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PwC 娱乐与媒体展望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公开数据 + 行业访谈 + 建模；全球市场合计</a:t>
            </a:r>
            <a:endParaRPr lang="en-US" sz="1400" dirty="0"/>
          </a:p>
        </p:txBody>
      </p:sp>
      <p:sp>
        <p:nvSpPr>
          <p:cNvPr id="35" name="来源卡9"/>
          <p:cNvSpPr/>
          <p:nvPr/>
        </p:nvSpPr>
        <p:spPr>
          <a:xfrm>
            <a:off x="548640" y="4398264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状态点9"/>
          <p:cNvSpPr/>
          <p:nvPr/>
        </p:nvSpPr>
        <p:spPr>
          <a:xfrm>
            <a:off x="731520" y="458114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来源类型9"/>
          <p:cNvSpPr txBox="1"/>
          <p:nvPr/>
        </p:nvSpPr>
        <p:spPr>
          <a:xfrm>
            <a:off x="1005840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测试 ｜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关键信息未公开</a:t>
            </a:r>
            <a:endParaRPr lang="en-US" sz="1100" dirty="0"/>
          </a:p>
        </p:txBody>
      </p:sp>
      <p:sp>
        <p:nvSpPr>
          <p:cNvPr id="38" name="来源说明9"/>
          <p:cNvSpPr txBox="1"/>
          <p:nvPr/>
        </p:nvSpPr>
        <p:spPr>
          <a:xfrm>
            <a:off x="731520" y="48554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Veed Analytics 聊天机器人测试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 国、只测独播剧、每题问 3 次；题量、模型版本、评分程序未公开</a:t>
            </a:r>
            <a:endParaRPr lang="en-US" sz="1400" dirty="0"/>
          </a:p>
        </p:txBody>
      </p:sp>
      <p:sp>
        <p:nvSpPr>
          <p:cNvPr id="39" name="来源卡10"/>
          <p:cNvSpPr/>
          <p:nvPr/>
        </p:nvSpPr>
        <p:spPr>
          <a:xfrm>
            <a:off x="3360420" y="4398264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状态点10"/>
          <p:cNvSpPr/>
          <p:nvPr/>
        </p:nvSpPr>
        <p:spPr>
          <a:xfrm>
            <a:off x="3543300" y="4581144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来源类型10"/>
          <p:cNvSpPr txBox="1"/>
          <p:nvPr/>
        </p:nvSpPr>
        <p:spPr>
          <a:xfrm>
            <a:off x="3817620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论文 ｜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方法公开</a:t>
            </a:r>
            <a:endParaRPr lang="en-US" sz="1100" dirty="0"/>
          </a:p>
        </p:txBody>
      </p:sp>
      <p:sp>
        <p:nvSpPr>
          <p:cNvPr id="42" name="来源说明10"/>
          <p:cNvSpPr txBox="1"/>
          <p:nvPr/>
        </p:nvSpPr>
        <p:spPr>
          <a:xfrm>
            <a:off x="3543300" y="48554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USC 知识库偏差研究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同行评审论文；自动分类器判定 + 众包抽样人工验证</a:t>
            </a:r>
            <a:endParaRPr lang="en-US" sz="1400" dirty="0"/>
          </a:p>
        </p:txBody>
      </p:sp>
      <p:sp>
        <p:nvSpPr>
          <p:cNvPr id="43" name="来源卡11"/>
          <p:cNvSpPr/>
          <p:nvPr/>
        </p:nvSpPr>
        <p:spPr>
          <a:xfrm>
            <a:off x="6172200" y="4398264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状态点11"/>
          <p:cNvSpPr/>
          <p:nvPr/>
        </p:nvSpPr>
        <p:spPr>
          <a:xfrm>
            <a:off x="6355080" y="4581144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来源类型11"/>
          <p:cNvSpPr txBox="1"/>
          <p:nvPr/>
        </p:nvSpPr>
        <p:spPr>
          <a:xfrm>
            <a:off x="6629400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行业 ｜ </a:t>
            </a:r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关键信息未公开</a:t>
            </a:r>
            <a:endParaRPr lang="en-US" sz="1100" dirty="0"/>
          </a:p>
        </p:txBody>
      </p:sp>
      <p:sp>
        <p:nvSpPr>
          <p:cNvPr id="46" name="来源说明11"/>
          <p:cNvSpPr txBox="1"/>
          <p:nvPr/>
        </p:nvSpPr>
        <p:spPr>
          <a:xfrm>
            <a:off x="6355080" y="48554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Fabric 流失率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Fabric 原页未见 5.5% 与 2%；流失率定义未公开</a:t>
            </a:r>
            <a:endParaRPr lang="en-US" sz="1400" dirty="0"/>
          </a:p>
        </p:txBody>
      </p:sp>
      <p:sp>
        <p:nvSpPr>
          <p:cNvPr id="47" name="来源小结卡"/>
          <p:cNvSpPr/>
          <p:nvPr/>
        </p:nvSpPr>
        <p:spPr>
          <a:xfrm>
            <a:off x="8983980" y="4398264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来源小结"/>
          <p:cNvSpPr txBox="1"/>
          <p:nvPr/>
        </p:nvSpPr>
        <p:spPr>
          <a:xfrm>
            <a:off x="9166860" y="4398264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Gracenote 自己的两份问卷，恰恰是方法最不透明的两项</a:t>
            </a:r>
            <a:endParaRPr lang="en-US" sz="1400" dirty="0"/>
          </a:p>
        </p:txBody>
      </p:sp>
      <p:sp>
        <p:nvSpPr>
          <p:cNvPr id="49" name="来源说明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核查依据：报告第 23 页；Gracenote 2025《State of Play》第 20 页；各机构方法说明与新闻稿（详见仓库中的核查文档）。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报告的主要结论</a:t>
            </a:r>
            <a:endParaRPr lang="en-US" sz="3000" dirty="0"/>
          </a:p>
        </p:txBody>
      </p:sp>
      <p:sp>
        <p:nvSpPr>
          <p:cNvPr id="3" name="结论卡1"/>
          <p:cNvSpPr/>
          <p:nvPr/>
        </p:nvSpPr>
        <p:spPr>
          <a:xfrm>
            <a:off x="548640" y="1417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结论数字1"/>
          <p:cNvSpPr txBox="1"/>
          <p:nvPr/>
        </p:nvSpPr>
        <p:spPr>
          <a:xfrm>
            <a:off x="82296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000" dirty="0"/>
          </a:p>
        </p:txBody>
      </p:sp>
      <p:sp>
        <p:nvSpPr>
          <p:cNvPr id="5" name="结论说明1"/>
          <p:cNvSpPr txBox="1"/>
          <p:nvPr/>
        </p:nvSpPr>
        <p:spPr>
          <a:xfrm>
            <a:off x="82296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Alpha 世代（13–14 岁受访者）每天使用 AI 聊天机器人</a:t>
            </a:r>
            <a:endParaRPr lang="en-US" sz="1400" dirty="0"/>
          </a:p>
        </p:txBody>
      </p:sp>
      <p:sp>
        <p:nvSpPr>
          <p:cNvPr id="6" name="结论卡2"/>
          <p:cNvSpPr/>
          <p:nvPr/>
        </p:nvSpPr>
        <p:spPr>
          <a:xfrm>
            <a:off x="4297680" y="1417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结论数字2"/>
          <p:cNvSpPr txBox="1"/>
          <p:nvPr/>
        </p:nvSpPr>
        <p:spPr>
          <a:xfrm>
            <a:off x="457200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000" dirty="0"/>
          </a:p>
        </p:txBody>
      </p:sp>
      <p:sp>
        <p:nvSpPr>
          <p:cNvPr id="8" name="结论说明2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Alpha 世代称过去 12–18 个月用得更多了</a:t>
            </a:r>
            <a:endParaRPr lang="en-US" sz="1400" dirty="0"/>
          </a:p>
        </p:txBody>
      </p:sp>
      <p:sp>
        <p:nvSpPr>
          <p:cNvPr id="9" name="结论卡3"/>
          <p:cNvSpPr/>
          <p:nvPr/>
        </p:nvSpPr>
        <p:spPr>
          <a:xfrm>
            <a:off x="8046720" y="1417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结论数字3"/>
          <p:cNvSpPr txBox="1"/>
          <p:nvPr/>
        </p:nvSpPr>
        <p:spPr>
          <a:xfrm>
            <a:off x="8321040" y="1600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000" dirty="0"/>
          </a:p>
        </p:txBody>
      </p:sp>
      <p:sp>
        <p:nvSpPr>
          <p:cNvPr id="11" name="结论说明3"/>
          <p:cNvSpPr txBox="1"/>
          <p:nvPr/>
        </p:nvSpPr>
        <p:spPr>
          <a:xfrm>
            <a:off x="832104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受访者会核查聊天机器人给出的答案</a:t>
            </a:r>
            <a:endParaRPr lang="en-US" sz="1400" dirty="0"/>
          </a:p>
        </p:txBody>
      </p:sp>
      <p:sp>
        <p:nvSpPr>
          <p:cNvPr id="12" name="结论卡4"/>
          <p:cNvSpPr/>
          <p:nvPr/>
        </p:nvSpPr>
        <p:spPr>
          <a:xfrm>
            <a:off x="54864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结论数字4"/>
          <p:cNvSpPr txBox="1"/>
          <p:nvPr/>
        </p:nvSpPr>
        <p:spPr>
          <a:xfrm>
            <a:off x="82296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分钟</a:t>
            </a:r>
            <a:endParaRPr lang="en-US" sz="4000" dirty="0"/>
          </a:p>
        </p:txBody>
      </p:sp>
      <p:sp>
        <p:nvSpPr>
          <p:cNvPr id="14" name="结论说明4"/>
          <p:cNvSpPr txBox="1"/>
          <p:nvPr/>
        </p:nvSpPr>
        <p:spPr>
          <a:xfrm>
            <a:off x="82296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六国平均找一个想看的节目所花时间；美国受访者为 12 分钟</a:t>
            </a:r>
            <a:endParaRPr lang="en-US" sz="1400" dirty="0"/>
          </a:p>
        </p:txBody>
      </p:sp>
      <p:sp>
        <p:nvSpPr>
          <p:cNvPr id="15" name="结论卡5"/>
          <p:cNvSpPr/>
          <p:nvPr/>
        </p:nvSpPr>
        <p:spPr>
          <a:xfrm>
            <a:off x="429768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结论数字5"/>
          <p:cNvSpPr txBox="1"/>
          <p:nvPr/>
        </p:nvSpPr>
        <p:spPr>
          <a:xfrm>
            <a:off x="457200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4000" dirty="0"/>
          </a:p>
        </p:txBody>
      </p:sp>
      <p:sp>
        <p:nvSpPr>
          <p:cNvPr id="17" name="结论说明5"/>
          <p:cNvSpPr txBox="1"/>
          <p:nvPr/>
        </p:nvSpPr>
        <p:spPr>
          <a:xfrm>
            <a:off x="457200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18–34 岁受访者（六国）：找不到想看的，可能会取消订阅</a:t>
            </a:r>
            <a:endParaRPr lang="en-US" sz="1400" dirty="0"/>
          </a:p>
        </p:txBody>
      </p:sp>
      <p:sp>
        <p:nvSpPr>
          <p:cNvPr id="18" name="结论卡6"/>
          <p:cNvSpPr/>
          <p:nvPr/>
        </p:nvSpPr>
        <p:spPr>
          <a:xfrm>
            <a:off x="8046720" y="365760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结论数字6"/>
          <p:cNvSpPr txBox="1"/>
          <p:nvPr/>
        </p:nvSpPr>
        <p:spPr>
          <a:xfrm>
            <a:off x="8321040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4000" dirty="0"/>
          </a:p>
        </p:txBody>
      </p:sp>
      <p:sp>
        <p:nvSpPr>
          <p:cNvPr id="20" name="结论说明6"/>
          <p:cNvSpPr txBox="1"/>
          <p:nvPr/>
        </p:nvSpPr>
        <p:spPr>
          <a:xfrm>
            <a:off x="832104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美国受访者认为 AI 聊天机器人有可能成为最常用的娱乐信息来源</a:t>
            </a:r>
            <a:endParaRPr lang="en-US" sz="1400" dirty="0"/>
          </a:p>
        </p:txBody>
      </p:sp>
      <p:sp>
        <p:nvSpPr>
          <p:cNvPr id="21" name="颜色说明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紫色：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2026 生成式 AI 使用调查    </a:t>
            </a:r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青色：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2025 流媒体消费者调查（六国平均）。两份调查的对象、国家和时间都不同。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年龄越小，每天用 AI 的比例越高</a:t>
            </a:r>
            <a:endParaRPr lang="en-US" sz="3000" dirty="0"/>
          </a:p>
        </p:txBody>
      </p:sp>
      <p:graphicFrame>
        <p:nvGraphicFramePr>
          <p:cNvPr id="3" name="每日使用图" descr=""/>
          <p:cNvGraphicFramePr/>
          <p:nvPr/>
        </p:nvGraphicFramePr>
        <p:xfrm>
          <a:off x="548640" y="13716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说明卡1"/>
          <p:cNvSpPr/>
          <p:nvPr/>
        </p:nvSpPr>
        <p:spPr>
          <a:xfrm>
            <a:off x="7863840" y="1371600"/>
            <a:ext cx="374904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说明1"/>
          <p:cNvSpPr txBox="1"/>
          <p:nvPr/>
        </p:nvSpPr>
        <p:spPr>
          <a:xfrm>
            <a:off x="8138160" y="150876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全体平均：每天 38% + 每周多次 38%，即报告说的“75% 每周多次使用”</a:t>
            </a:r>
            <a:endParaRPr lang="en-US" sz="3600" dirty="0"/>
          </a:p>
        </p:txBody>
      </p:sp>
      <p:sp>
        <p:nvSpPr>
          <p:cNvPr id="6" name="说明卡2"/>
          <p:cNvSpPr/>
          <p:nvPr/>
        </p:nvSpPr>
        <p:spPr>
          <a:xfrm>
            <a:off x="7863840" y="3611880"/>
            <a:ext cx="3749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说明2"/>
          <p:cNvSpPr txBox="1"/>
          <p:nvPr/>
        </p:nvSpPr>
        <p:spPr>
          <a:xfrm>
            <a:off x="8138160" y="374904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先记住分母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这些比例都是在“互联网和 AI 聊天机器人用户”中算的，不是全体美国人中有多少人每天用 AI。</a:t>
            </a:r>
            <a:endParaRPr lang="en-US" sz="1600" dirty="0"/>
          </a:p>
        </p:txBody>
      </p:sp>
      <p:sp>
        <p:nvSpPr>
          <p:cNvPr id="8" name="来源说明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14 页“Daily use of AI chatbots”，Gracenote 2026 生成式 AI 使用调查。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用得多，不等于信得过</a:t>
            </a:r>
            <a:endParaRPr lang="en-US" sz="3000" dirty="0"/>
          </a:p>
        </p:txBody>
      </p:sp>
      <p:graphicFrame>
        <p:nvGraphicFramePr>
          <p:cNvPr id="3" name="准确性图" descr=""/>
          <p:cNvGraphicFramePr/>
          <p:nvPr/>
        </p:nvGraphicFramePr>
        <p:xfrm>
          <a:off x="548640" y="137160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信任卡1"/>
          <p:cNvSpPr/>
          <p:nvPr/>
        </p:nvSpPr>
        <p:spPr>
          <a:xfrm>
            <a:off x="7863840" y="1371600"/>
            <a:ext cx="3749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信任说明1"/>
          <p:cNvSpPr txBox="1"/>
          <p:nvPr/>
        </p:nvSpPr>
        <p:spPr>
          <a:xfrm>
            <a:off x="8138160" y="1481328"/>
            <a:ext cx="32461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会核查 AI 的答案，最常用的核查办法是再用传统搜索查一遍</a:t>
            </a:r>
            <a:endParaRPr lang="en-US" sz="3600" dirty="0"/>
          </a:p>
        </p:txBody>
      </p:sp>
      <p:sp>
        <p:nvSpPr>
          <p:cNvPr id="6" name="信任卡2"/>
          <p:cNvSpPr/>
          <p:nvPr/>
        </p:nvSpPr>
        <p:spPr>
          <a:xfrm>
            <a:off x="7863840" y="3657600"/>
            <a:ext cx="3749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信任说明2"/>
          <p:cNvSpPr txBox="1"/>
          <p:nvPr/>
        </p:nvSpPr>
        <p:spPr>
          <a:xfrm>
            <a:off x="8138160" y="3767328"/>
            <a:ext cx="324612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对 AI 的结果有顾虑，最常见的是信息不够新、听起来对其实错</a:t>
            </a:r>
            <a:endParaRPr lang="en-US" sz="3600" dirty="0"/>
          </a:p>
        </p:txBody>
      </p:sp>
      <p:sp>
        <p:nvSpPr>
          <p:cNvPr id="8" name="来源说明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15、18、20 页，Gracenote 2026 生成式 AI 使用调查。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怎么评价：比起结果，更该看方法和过程</a:t>
            </a:r>
            <a:endParaRPr lang="en-US" sz="3200" dirty="0"/>
          </a:p>
        </p:txBody>
      </p:sp>
      <p:sp>
        <p:nvSpPr>
          <p:cNvPr id="3" name="框架引言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课上的春晚满意度案例：央视 81.6% vs 新浪网 11.5%。差异来自四个方面，我用同样的四个角度检查这份报告。</a:t>
            </a:r>
            <a:endParaRPr lang="en-US" sz="1600" dirty="0"/>
          </a:p>
        </p:txBody>
      </p:sp>
      <p:sp>
        <p:nvSpPr>
          <p:cNvPr id="4" name="框架卡1"/>
          <p:cNvSpPr/>
          <p:nvPr/>
        </p:nvSpPr>
        <p:spPr>
          <a:xfrm>
            <a:off x="731520" y="2377440"/>
            <a:ext cx="52578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图标底"/>
          <p:cNvSpPr/>
          <p:nvPr/>
        </p:nvSpPr>
        <p:spPr>
          <a:xfrm>
            <a:off x="1005840" y="2788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365760" cy="365760"/>
          </a:xfrm>
          <a:prstGeom prst="rect">
            <a:avLst/>
          </a:prstGeom>
        </p:spPr>
      </p:pic>
      <p:sp>
        <p:nvSpPr>
          <p:cNvPr id="7" name="框架文字1"/>
          <p:cNvSpPr txBox="1"/>
          <p:nvPr/>
        </p:nvSpPr>
        <p:spPr>
          <a:xfrm>
            <a:off x="1965960" y="2487168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调查对象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问的是谁？AI 用户还是所有人？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→ 局限一、二</a:t>
            </a:r>
            <a:endParaRPr lang="en-US" sz="2000" dirty="0"/>
          </a:p>
        </p:txBody>
      </p:sp>
      <p:sp>
        <p:nvSpPr>
          <p:cNvPr id="8" name="框架卡2"/>
          <p:cNvSpPr/>
          <p:nvPr/>
        </p:nvSpPr>
        <p:spPr>
          <a:xfrm>
            <a:off x="6172200" y="2377440"/>
            <a:ext cx="52578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图标底"/>
          <p:cNvSpPr/>
          <p:nvPr/>
        </p:nvSpPr>
        <p:spPr>
          <a:xfrm>
            <a:off x="6446520" y="278892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71800"/>
            <a:ext cx="365760" cy="365760"/>
          </a:xfrm>
          <a:prstGeom prst="rect">
            <a:avLst/>
          </a:prstGeom>
        </p:spPr>
      </p:pic>
      <p:sp>
        <p:nvSpPr>
          <p:cNvPr id="11" name="框架文字2"/>
          <p:cNvSpPr txBox="1"/>
          <p:nvPr/>
        </p:nvSpPr>
        <p:spPr>
          <a:xfrm>
            <a:off x="7406640" y="2487168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研究总体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结论能推广到谁？美国人？六国？年轻人？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→ 局限一、三、四</a:t>
            </a:r>
            <a:endParaRPr lang="en-US" sz="2000" dirty="0"/>
          </a:p>
        </p:txBody>
      </p:sp>
      <p:sp>
        <p:nvSpPr>
          <p:cNvPr id="12" name="框架卡3"/>
          <p:cNvSpPr/>
          <p:nvPr/>
        </p:nvSpPr>
        <p:spPr>
          <a:xfrm>
            <a:off x="731520" y="4160520"/>
            <a:ext cx="52578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图标底"/>
          <p:cNvSpPr/>
          <p:nvPr/>
        </p:nvSpPr>
        <p:spPr>
          <a:xfrm>
            <a:off x="1005840" y="45720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754880"/>
            <a:ext cx="365760" cy="365760"/>
          </a:xfrm>
          <a:prstGeom prst="rect">
            <a:avLst/>
          </a:prstGeom>
        </p:spPr>
      </p:pic>
      <p:sp>
        <p:nvSpPr>
          <p:cNvPr id="15" name="框架文字3"/>
          <p:cNvSpPr txBox="1"/>
          <p:nvPr/>
        </p:nvSpPr>
        <p:spPr>
          <a:xfrm>
            <a:off x="1965960" y="4270248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研究方法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线上问卷怎么招人、怎么加权？指标是意向还是行为？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→ 局限一、五、六</a:t>
            </a:r>
            <a:endParaRPr lang="en-US" sz="2000" dirty="0"/>
          </a:p>
        </p:txBody>
      </p:sp>
      <p:sp>
        <p:nvSpPr>
          <p:cNvPr id="16" name="框架卡4"/>
          <p:cNvSpPr/>
          <p:nvPr/>
        </p:nvSpPr>
        <p:spPr>
          <a:xfrm>
            <a:off x="6172200" y="4160520"/>
            <a:ext cx="525780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图标底"/>
          <p:cNvSpPr/>
          <p:nvPr/>
        </p:nvSpPr>
        <p:spPr>
          <a:xfrm>
            <a:off x="6446520" y="457200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754880"/>
            <a:ext cx="365760" cy="365760"/>
          </a:xfrm>
          <a:prstGeom prst="rect">
            <a:avLst/>
          </a:prstGeom>
        </p:spPr>
      </p:pic>
      <p:sp>
        <p:nvSpPr>
          <p:cNvPr id="19" name="框架文字4"/>
          <p:cNvSpPr txBox="1"/>
          <p:nvPr/>
        </p:nvSpPr>
        <p:spPr>
          <a:xfrm>
            <a:off x="7406640" y="4270248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调查时间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不同时间、不同调查的数字能不能直接比？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→ 局限四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局限一：4,003 人代表的是谁？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9509760" y="566928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9921240" y="5669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调查对象 · 研究总体</a:t>
            </a:r>
            <a:endParaRPr lang="en-US" sz="1200" dirty="0"/>
          </a:p>
        </p:txBody>
      </p:sp>
      <p:sp>
        <p:nvSpPr>
          <p:cNvPr id="6" name="总体圈1"/>
          <p:cNvSpPr/>
          <p:nvPr/>
        </p:nvSpPr>
        <p:spPr>
          <a:xfrm>
            <a:off x="548640" y="1417320"/>
            <a:ext cx="4389120" cy="43891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总体标签1"/>
          <p:cNvSpPr txBox="1"/>
          <p:nvPr/>
        </p:nvSpPr>
        <p:spPr>
          <a:xfrm>
            <a:off x="548640" y="15270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美国人口</a:t>
            </a:r>
            <a:endParaRPr lang="en-US" sz="1300" dirty="0"/>
          </a:p>
        </p:txBody>
      </p:sp>
      <p:sp>
        <p:nvSpPr>
          <p:cNvPr id="8" name="总体圈2"/>
          <p:cNvSpPr/>
          <p:nvPr/>
        </p:nvSpPr>
        <p:spPr>
          <a:xfrm>
            <a:off x="960120" y="2057400"/>
            <a:ext cx="3566160" cy="35661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总体标签2"/>
          <p:cNvSpPr txBox="1"/>
          <p:nvPr/>
        </p:nvSpPr>
        <p:spPr>
          <a:xfrm>
            <a:off x="960120" y="21671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互联网用户</a:t>
            </a:r>
            <a:endParaRPr lang="en-US" sz="1300" dirty="0"/>
          </a:p>
        </p:txBody>
      </p:sp>
      <p:sp>
        <p:nvSpPr>
          <p:cNvPr id="10" name="总体圈3"/>
          <p:cNvSpPr/>
          <p:nvPr/>
        </p:nvSpPr>
        <p:spPr>
          <a:xfrm>
            <a:off x="1371600" y="2697480"/>
            <a:ext cx="2743200" cy="2743200"/>
          </a:xfrm>
          <a:prstGeom prst="ellipse">
            <a:avLst/>
          </a:prstGeom>
          <a:solidFill>
            <a:srgbClr val="A99BEA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1" name="总体标签3"/>
          <p:cNvSpPr txBox="1"/>
          <p:nvPr/>
        </p:nvSpPr>
        <p:spPr>
          <a:xfrm>
            <a:off x="137160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 聊天机器人用户</a:t>
            </a:r>
            <a:endParaRPr lang="en-US" sz="1300" dirty="0"/>
          </a:p>
        </p:txBody>
      </p:sp>
      <p:sp>
        <p:nvSpPr>
          <p:cNvPr id="12" name="总体圈4"/>
          <p:cNvSpPr/>
          <p:nvPr/>
        </p:nvSpPr>
        <p:spPr>
          <a:xfrm>
            <a:off x="1828800" y="3337560"/>
            <a:ext cx="1828800" cy="18288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受访者标签"/>
          <p:cNvSpPr txBox="1"/>
          <p:nvPr/>
        </p:nvSpPr>
        <p:spPr>
          <a:xfrm>
            <a:off x="182880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本次线上受访者</a:t>
            </a:r>
            <a:endParaRPr lang="en-US" sz="13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4,003</a:t>
            </a:r>
            <a:endParaRPr lang="en-US" sz="1300" dirty="0"/>
          </a:p>
        </p:txBody>
      </p:sp>
      <p:sp>
        <p:nvSpPr>
          <p:cNvPr id="14" name="局限一说明"/>
          <p:cNvSpPr txBox="1"/>
          <p:nvPr/>
        </p:nvSpPr>
        <p:spPr>
          <a:xfrm>
            <a:off x="5486400" y="1417320"/>
            <a:ext cx="6126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报告披露了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线上调查；13–79 岁；2026.1.23–2.4；“4,000 多名互联网和 AI 聊天机器人用户”。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报告没有披露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从哪里招募（哪家样本库）、是否概率抽样、配额和加权、回应率、完整问卷。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所以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结论适用于“这次接受调查的 AI 用户”。正文却多处写成 “U.S. consumers”“Americans”。仅凭 N = 4,003，无法判断它能否代表全体美国人。</a:t>
            </a:r>
            <a:endParaRPr lang="en-US" sz="1600" dirty="0"/>
          </a:p>
        </p:txBody>
      </p:sp>
      <p:sp>
        <p:nvSpPr>
          <p:cNvPr id="15" name="Durex卡"/>
          <p:cNvSpPr/>
          <p:nvPr/>
        </p:nvSpPr>
        <p:spPr>
          <a:xfrm>
            <a:off x="5486400" y="5257800"/>
            <a:ext cx="612648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urex联系"/>
          <p:cNvSpPr txBox="1"/>
          <p:nvPr/>
        </p:nvSpPr>
        <p:spPr>
          <a:xfrm>
            <a:off x="5669280" y="52578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和课上 Durex 网络调查是同一个问题：网络样本能否反映总体结构？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局限二：“Alpha 世代”其实只有 13–14 岁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9692640" y="566928"/>
            <a:ext cx="192024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10104120" y="566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调查对象 · 样本量</a:t>
            </a:r>
            <a:endParaRPr lang="en-US" sz="1200" dirty="0"/>
          </a:p>
        </p:txBody>
      </p:sp>
      <p:sp>
        <p:nvSpPr>
          <p:cNvPr id="6" name="时间轴标题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报告定义：Alpha 世代 = 2010–2024 年出生</a:t>
            </a:r>
            <a:endParaRPr lang="en-US" sz="1500" dirty="0"/>
          </a:p>
        </p:txBody>
      </p:sp>
      <p:sp>
        <p:nvSpPr>
          <p:cNvPr id="7" name="时间轴"/>
          <p:cNvSpPr/>
          <p:nvPr/>
        </p:nvSpPr>
        <p:spPr>
          <a:xfrm>
            <a:off x="822960" y="2148840"/>
            <a:ext cx="1051560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样本覆盖段"/>
          <p:cNvSpPr/>
          <p:nvPr/>
        </p:nvSpPr>
        <p:spPr>
          <a:xfrm>
            <a:off x="1524000" y="2148840"/>
            <a:ext cx="1402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年份2010"/>
          <p:cNvSpPr txBox="1"/>
          <p:nvPr/>
        </p:nvSpPr>
        <p:spPr>
          <a:xfrm>
            <a:off x="45720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2010</a:t>
            </a:r>
            <a:endParaRPr lang="en-US" sz="1100" dirty="0"/>
          </a:p>
        </p:txBody>
      </p:sp>
      <p:sp>
        <p:nvSpPr>
          <p:cNvPr id="10" name="年份2014"/>
          <p:cNvSpPr txBox="1"/>
          <p:nvPr/>
        </p:nvSpPr>
        <p:spPr>
          <a:xfrm>
            <a:off x="326136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2014</a:t>
            </a:r>
            <a:endParaRPr lang="en-US" sz="1100" dirty="0"/>
          </a:p>
        </p:txBody>
      </p:sp>
      <p:sp>
        <p:nvSpPr>
          <p:cNvPr id="11" name="年份2018"/>
          <p:cNvSpPr txBox="1"/>
          <p:nvPr/>
        </p:nvSpPr>
        <p:spPr>
          <a:xfrm>
            <a:off x="606552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2018</a:t>
            </a:r>
            <a:endParaRPr lang="en-US" sz="1100" dirty="0"/>
          </a:p>
        </p:txBody>
      </p:sp>
      <p:sp>
        <p:nvSpPr>
          <p:cNvPr id="12" name="年份2022"/>
          <p:cNvSpPr txBox="1"/>
          <p:nvPr/>
        </p:nvSpPr>
        <p:spPr>
          <a:xfrm>
            <a:off x="886968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2022</a:t>
            </a:r>
            <a:endParaRPr lang="en-US" sz="1100" dirty="0"/>
          </a:p>
        </p:txBody>
      </p:sp>
      <p:sp>
        <p:nvSpPr>
          <p:cNvPr id="13" name="年份2024"/>
          <p:cNvSpPr txBox="1"/>
          <p:nvPr/>
        </p:nvSpPr>
        <p:spPr>
          <a:xfrm>
            <a:off x="1027176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2024</a:t>
            </a:r>
            <a:endParaRPr lang="en-US" sz="1100" dirty="0"/>
          </a:p>
        </p:txBody>
      </p:sp>
      <p:sp>
        <p:nvSpPr>
          <p:cNvPr id="14" name="覆盖说明"/>
          <p:cNvSpPr txBox="1"/>
          <p:nvPr/>
        </p:nvSpPr>
        <p:spPr>
          <a:xfrm>
            <a:off x="306324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样本只覆盖这一段（调查时 13–14 岁，约 2011–2012 年出生）</a:t>
            </a:r>
            <a:endParaRPr lang="en-US" sz="1300" dirty="0"/>
          </a:p>
        </p:txBody>
      </p:sp>
      <p:sp>
        <p:nvSpPr>
          <p:cNvPr id="15" name="局限二卡1"/>
          <p:cNvSpPr/>
          <p:nvPr/>
        </p:nvSpPr>
        <p:spPr>
          <a:xfrm>
            <a:off x="548640" y="31546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局限二文字1"/>
          <p:cNvSpPr txBox="1"/>
          <p:nvPr/>
        </p:nvSpPr>
        <p:spPr>
          <a:xfrm>
            <a:off x="777240" y="32918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分组人数没公布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13–14 岁、15–28 岁等各组各有多少人，报告没写，所以 54%、80% 这类分组数字的误差无法估计。各组跨度也不一样：Alpha 组只有 2 岁，其他组 14–19 岁。</a:t>
            </a:r>
            <a:endParaRPr lang="en-US" sz="1600" dirty="0"/>
          </a:p>
        </p:txBody>
      </p:sp>
      <p:sp>
        <p:nvSpPr>
          <p:cNvPr id="17" name="局限二卡2"/>
          <p:cNvSpPr/>
          <p:nvPr/>
        </p:nvSpPr>
        <p:spPr>
          <a:xfrm>
            <a:off x="4297680" y="31546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局限二文字2"/>
          <p:cNvSpPr txBox="1"/>
          <p:nvPr/>
        </p:nvSpPr>
        <p:spPr>
          <a:xfrm>
            <a:off x="4526280" y="32918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“美国人”只有约 500 人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2025 调查每国 500 人（Gracenote 上一份报告写明）。“51% 的美国人觉得服务太多难找”只基于约 500 人，误差至少约 ±4.4 个百分点。</a:t>
            </a:r>
            <a:endParaRPr lang="en-US" sz="1600" dirty="0"/>
          </a:p>
        </p:txBody>
      </p:sp>
      <p:sp>
        <p:nvSpPr>
          <p:cNvPr id="19" name="局限二卡3"/>
          <p:cNvSpPr/>
          <p:nvPr/>
        </p:nvSpPr>
        <p:spPr>
          <a:xfrm>
            <a:off x="8046720" y="31546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局限二文字3"/>
          <p:cNvSpPr txBox="1"/>
          <p:nvPr/>
        </p:nvSpPr>
        <p:spPr>
          <a:xfrm>
            <a:off x="8275320" y="329184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总体 75% 无法由分组复算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五个年龄组的核查比例为 74%、78%、78%、70%、58%，简单平均只有 71.6%；总体却是 75%。说明各组人数或权重不同，但报告没交代。</a:t>
            </a:r>
            <a:endParaRPr lang="en-US" sz="1600" dirty="0"/>
          </a:p>
        </p:txBody>
      </p:sp>
      <p:sp>
        <p:nvSpPr>
          <p:cNvPr id="21" name="来源说明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2、13–18、23 页；Gracenote 2025《State of Play》第 20 页（每国 500 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局限三：六国平均被放进了美国语境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10332720" y="566928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10744200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研究总体</a:t>
            </a:r>
            <a:endParaRPr lang="en-US" sz="1200" dirty="0"/>
          </a:p>
        </p:txBody>
      </p:sp>
      <p:graphicFrame>
        <p:nvGraphicFramePr>
          <p:cNvPr id="6" name="分国家找节目时间图" descr=""/>
          <p:cNvGraphicFramePr/>
          <p:nvPr/>
        </p:nvGraphicFramePr>
        <p:xfrm>
          <a:off x="548640" y="137160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口径卡1"/>
          <p:cNvSpPr/>
          <p:nvPr/>
        </p:nvSpPr>
        <p:spPr>
          <a:xfrm>
            <a:off x="6035040" y="137160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口径数字1"/>
          <p:cNvSpPr txBox="1"/>
          <p:nvPr/>
        </p:nvSpPr>
        <p:spPr>
          <a:xfrm>
            <a:off x="6217920" y="137160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14 分钟</a:t>
            </a:r>
            <a:endParaRPr lang="en-US" sz="2000" dirty="0"/>
          </a:p>
        </p:txBody>
      </p:sp>
      <p:sp>
        <p:nvSpPr>
          <p:cNvPr id="9" name="口径说明1"/>
          <p:cNvSpPr txBox="1"/>
          <p:nvPr/>
        </p:nvSpPr>
        <p:spPr>
          <a:xfrm>
            <a:off x="7680960" y="144475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 9 页把它和美国尼尔森收视数据画在同一张图里。它其实是六国简单平均：(12+26+11+11+12+12)÷6 = 14；美国自己是 12 分钟，法国一国拉高了平均。</a:t>
            </a:r>
            <a:endParaRPr lang="en-US" sz="1300" dirty="0"/>
          </a:p>
        </p:txBody>
      </p:sp>
      <p:sp>
        <p:nvSpPr>
          <p:cNvPr id="10" name="口径卡2"/>
          <p:cNvSpPr/>
          <p:nvPr/>
        </p:nvSpPr>
        <p:spPr>
          <a:xfrm>
            <a:off x="6035040" y="288036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口径数字2"/>
          <p:cNvSpPr txBox="1"/>
          <p:nvPr/>
        </p:nvSpPr>
        <p:spPr>
          <a:xfrm>
            <a:off x="6217920" y="288036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54% 与 50%</a:t>
            </a:r>
            <a:endParaRPr lang="en-US" sz="2000" dirty="0"/>
          </a:p>
        </p:txBody>
      </p:sp>
      <p:sp>
        <p:nvSpPr>
          <p:cNvPr id="12" name="口径说明2"/>
          <p:cNvSpPr txBox="1"/>
          <p:nvPr/>
        </p:nvSpPr>
        <p:spPr>
          <a:xfrm>
            <a:off x="7680960" y="295351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摘要“18–34 岁 54% 会取消”与六国数据吻合（18–24 岁 52%、25–34 岁 56%）；“50% 的美国观众会考虑取消”原文只找到六国 49%。</a:t>
            </a:r>
            <a:endParaRPr lang="en-US" sz="1300" dirty="0"/>
          </a:p>
        </p:txBody>
      </p:sp>
      <p:sp>
        <p:nvSpPr>
          <p:cNvPr id="13" name="口径卡3"/>
          <p:cNvSpPr/>
          <p:nvPr/>
        </p:nvSpPr>
        <p:spPr>
          <a:xfrm>
            <a:off x="6035040" y="4389120"/>
            <a:ext cx="55778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口径数字3"/>
          <p:cNvSpPr txBox="1"/>
          <p:nvPr/>
        </p:nvSpPr>
        <p:spPr>
          <a:xfrm>
            <a:off x="6217920" y="4389120"/>
            <a:ext cx="1417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32% 与 34%</a:t>
            </a:r>
            <a:endParaRPr lang="en-US" sz="2000" dirty="0"/>
          </a:p>
        </p:txBody>
      </p:sp>
      <p:sp>
        <p:nvSpPr>
          <p:cNvPr id="15" name="口径说明3"/>
          <p:cNvSpPr txBox="1"/>
          <p:nvPr/>
        </p:nvSpPr>
        <p:spPr>
          <a:xfrm>
            <a:off x="7680960" y="446227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两页措辞略异，但对应同一道题。32% 与六国平均一致；第 12 页写成“34% 的美国人”。两页的“18–34 岁 48%”都高于六国同龄的 39%–40%。</a:t>
            </a:r>
            <a:endParaRPr lang="en-US" sz="1300" dirty="0"/>
          </a:p>
        </p:txBody>
      </p:sp>
      <p:sp>
        <p:nvSpPr>
          <p:cNvPr id="16" name="来源说明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2、9、12 页；Gracenote 2025《State of Play》分国家、分年龄图表（每国 500 人）。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局限四：30% 到 54%，不能直接说“增长”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9509760" y="566928"/>
            <a:ext cx="210312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9921240" y="56692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研究总体 · 调查时间</a:t>
            </a:r>
            <a:endParaRPr lang="en-US" sz="1200" dirty="0"/>
          </a:p>
        </p:txBody>
      </p:sp>
      <p:sp>
        <p:nvSpPr>
          <p:cNvPr id="6" name="报告原话"/>
          <p:cNvSpPr txBox="1"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报告原话：Pew 2025 年秋发现 30% 的青少年每天用聊天机器人，“仅仅几个月后”Gracenote 调查显示超过一半，说明“使用频率在加速”。</a:t>
            </a:r>
            <a:endParaRPr lang="en-US" sz="1500" dirty="0"/>
          </a:p>
        </p:txBody>
      </p:sp>
      <p:graphicFrame>
        <p:nvGraphicFramePr>
          <p:cNvPr id="13" name="对比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春晚案例的四个角度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Pew 研究中心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Gracenote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调查对象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美国 13–17 岁青少年，用不用 AI 都算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13–14 岁的 AI 聊天机器人用户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研究方法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Ipsos KnowledgePanel 概率样本库，加权；1,458 人，误差 ±3.3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线上调查，招募和加权未披露；13–14 岁组人数未披露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调查时间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2025.9.25–10.9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2026.1.23–2.4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结果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64% 用过；每天用 28%，其中 13–14 岁 24%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13–14 岁：54% 每天使用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换成同一分母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使用者中每天用：44%（894 人）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54%（本来就只问使用者）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结论条"/>
          <p:cNvSpPr/>
          <p:nvPr/>
        </p:nvSpPr>
        <p:spPr>
          <a:xfrm>
            <a:off x="548640" y="534924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局限三结论"/>
          <p:cNvSpPr txBox="1"/>
          <p:nvPr/>
        </p:nvSpPr>
        <p:spPr>
          <a:xfrm>
            <a:off x="777240" y="5349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同为 13–14 岁：24% 对 54%，差距主要来自分母。换成使用者分母只差约 10 个百分点，不能说明“加速”。</a:t>
            </a:r>
            <a:endParaRPr lang="en-US" sz="1500" dirty="0"/>
          </a:p>
        </p:txBody>
      </p:sp>
      <p:sp>
        <p:nvSpPr>
          <p:cNvPr id="10" name="来源说明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14 页；Pew Research Center《Teens, Social Media and AI Chatbots 2025》方法说明。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局限五：意向、行为、预测、测试，不是同一种数据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10332720" y="566928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10744200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研究方法</a:t>
            </a:r>
            <a:endParaRPr lang="en-US" sz="1200" dirty="0"/>
          </a:p>
        </p:txBody>
      </p:sp>
      <p:sp>
        <p:nvSpPr>
          <p:cNvPr id="6" name="数据类型卡1"/>
          <p:cNvSpPr/>
          <p:nvPr/>
        </p:nvSpPr>
        <p:spPr>
          <a:xfrm>
            <a:off x="54864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图标底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9" name="类型名1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意向（问卷自报）</a:t>
            </a:r>
            <a:endParaRPr lang="en-US" sz="1500" dirty="0"/>
          </a:p>
        </p:txBody>
      </p:sp>
      <p:sp>
        <p:nvSpPr>
          <p:cNvPr id="10" name="类型数字1"/>
          <p:cNvSpPr txBox="1"/>
          <p:nvPr/>
        </p:nvSpPr>
        <p:spPr>
          <a:xfrm>
            <a:off x="777240" y="2697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54%</a:t>
            </a:r>
            <a:endParaRPr lang="en-US" sz="3000" dirty="0"/>
          </a:p>
        </p:txBody>
      </p:sp>
      <p:sp>
        <p:nvSpPr>
          <p:cNvPr id="11" name="类型说明1"/>
          <p:cNvSpPr txBox="1"/>
          <p:nvPr/>
        </p:nvSpPr>
        <p:spPr>
          <a:xfrm>
            <a:off x="777240" y="32918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18–34 岁“可能会取消订阅”（六国）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Gracenote 2025 调查</a:t>
            </a:r>
            <a:endParaRPr lang="en-US" sz="1400" dirty="0"/>
          </a:p>
        </p:txBody>
      </p:sp>
      <p:sp>
        <p:nvSpPr>
          <p:cNvPr id="12" name="数据类型卡2"/>
          <p:cNvSpPr/>
          <p:nvPr/>
        </p:nvSpPr>
        <p:spPr>
          <a:xfrm>
            <a:off x="336042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图标底"/>
          <p:cNvSpPr/>
          <p:nvPr/>
        </p:nvSpPr>
        <p:spPr>
          <a:xfrm>
            <a:off x="358902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60220"/>
            <a:ext cx="320040" cy="320040"/>
          </a:xfrm>
          <a:prstGeom prst="rect">
            <a:avLst/>
          </a:prstGeom>
        </p:spPr>
      </p:pic>
      <p:sp>
        <p:nvSpPr>
          <p:cNvPr id="15" name="类型名2"/>
          <p:cNvSpPr txBox="1"/>
          <p:nvPr/>
        </p:nvSpPr>
        <p:spPr>
          <a:xfrm>
            <a:off x="35890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行为（行业指标）</a:t>
            </a:r>
            <a:endParaRPr lang="en-US" sz="1500" dirty="0"/>
          </a:p>
        </p:txBody>
      </p:sp>
      <p:sp>
        <p:nvSpPr>
          <p:cNvPr id="16" name="类型数字2"/>
          <p:cNvSpPr txBox="1"/>
          <p:nvPr/>
        </p:nvSpPr>
        <p:spPr>
          <a:xfrm>
            <a:off x="3589020" y="2697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5.5%</a:t>
            </a:r>
            <a:endParaRPr lang="en-US" sz="3000" dirty="0"/>
          </a:p>
        </p:txBody>
      </p:sp>
      <p:sp>
        <p:nvSpPr>
          <p:cNvPr id="17" name="类型说明2"/>
          <p:cNvSpPr txBox="1"/>
          <p:nvPr/>
        </p:nvSpPr>
        <p:spPr>
          <a:xfrm>
            <a:off x="3589020" y="32918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月流失率，称 2019 年为 2%；Antenna 测得 2019 年 10 月已是 4.1%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Fabric 原页未见此数，定义未公开</a:t>
            </a:r>
            <a:endParaRPr lang="en-US" sz="1400" dirty="0"/>
          </a:p>
        </p:txBody>
      </p:sp>
      <p:sp>
        <p:nvSpPr>
          <p:cNvPr id="18" name="数据类型卡3"/>
          <p:cNvSpPr/>
          <p:nvPr/>
        </p:nvSpPr>
        <p:spPr>
          <a:xfrm>
            <a:off x="617220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图标底"/>
          <p:cNvSpPr/>
          <p:nvPr/>
        </p:nvSpPr>
        <p:spPr>
          <a:xfrm>
            <a:off x="6400800" y="160020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图标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1760220"/>
            <a:ext cx="320040" cy="320040"/>
          </a:xfrm>
          <a:prstGeom prst="rect">
            <a:avLst/>
          </a:prstGeom>
        </p:spPr>
      </p:pic>
      <p:sp>
        <p:nvSpPr>
          <p:cNvPr id="21" name="类型名3"/>
          <p:cNvSpPr txBox="1"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预测（模型）</a:t>
            </a:r>
            <a:endParaRPr lang="en-US" sz="1500" dirty="0"/>
          </a:p>
        </p:txBody>
      </p:sp>
      <p:sp>
        <p:nvSpPr>
          <p:cNvPr id="22" name="类型数字3"/>
          <p:cNvSpPr txBox="1"/>
          <p:nvPr/>
        </p:nvSpPr>
        <p:spPr>
          <a:xfrm>
            <a:off x="6400800" y="2697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3,185 亿美元</a:t>
            </a:r>
            <a:endParaRPr lang="en-US" sz="2200" dirty="0"/>
          </a:p>
        </p:txBody>
      </p:sp>
      <p:sp>
        <p:nvSpPr>
          <p:cNvPr id="23" name="类型说明3"/>
          <p:cNvSpPr txBox="1"/>
          <p:nvPr/>
        </p:nvSpPr>
        <p:spPr>
          <a:xfrm>
            <a:off x="6400800" y="32918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OTT 与付费电视 2029 年支出，是全球数字，不是美国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PwC，年增仅 1.8%</a:t>
            </a:r>
            <a:endParaRPr lang="en-US" sz="1400" dirty="0"/>
          </a:p>
        </p:txBody>
      </p:sp>
      <p:sp>
        <p:nvSpPr>
          <p:cNvPr id="24" name="数据类型卡4"/>
          <p:cNvSpPr/>
          <p:nvPr/>
        </p:nvSpPr>
        <p:spPr>
          <a:xfrm>
            <a:off x="8983980" y="1371600"/>
            <a:ext cx="2606040" cy="32004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图标底"/>
          <p:cNvSpPr/>
          <p:nvPr/>
        </p:nvSpPr>
        <p:spPr>
          <a:xfrm>
            <a:off x="921258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图标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760220"/>
            <a:ext cx="320040" cy="320040"/>
          </a:xfrm>
          <a:prstGeom prst="rect">
            <a:avLst/>
          </a:prstGeom>
        </p:spPr>
      </p:pic>
      <p:sp>
        <p:nvSpPr>
          <p:cNvPr id="27" name="类型名4"/>
          <p:cNvSpPr txBox="1"/>
          <p:nvPr/>
        </p:nvSpPr>
        <p:spPr>
          <a:xfrm>
            <a:off x="92125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测试（机器表现）</a:t>
            </a:r>
            <a:endParaRPr lang="en-US" sz="1500" dirty="0"/>
          </a:p>
        </p:txBody>
      </p:sp>
      <p:sp>
        <p:nvSpPr>
          <p:cNvPr id="28" name="类型数字4"/>
          <p:cNvSpPr txBox="1"/>
          <p:nvPr/>
        </p:nvSpPr>
        <p:spPr>
          <a:xfrm>
            <a:off x="9212580" y="2697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约 2/3</a:t>
            </a:r>
            <a:endParaRPr lang="en-US" sz="3000" dirty="0"/>
          </a:p>
        </p:txBody>
      </p:sp>
      <p:sp>
        <p:nvSpPr>
          <p:cNvPr id="29" name="类型说明4"/>
          <p:cNvSpPr txBox="1"/>
          <p:nvPr/>
        </p:nvSpPr>
        <p:spPr>
          <a:xfrm>
            <a:off x="9212580" y="329184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找对了播出平台；美英德约 80%，法意西不到 30%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accent5"/>
                </a:solidFill>
              </a:rPr>
              <a:t>Veed，6 国合并、只测独播剧</a:t>
            </a:r>
            <a:endParaRPr lang="en-US" sz="1400" dirty="0"/>
          </a:p>
        </p:txBody>
      </p:sp>
      <p:sp>
        <p:nvSpPr>
          <p:cNvPr id="30" name="局限四结论"/>
          <p:cNvSpPr txBox="1"/>
          <p:nvPr/>
        </p:nvSpPr>
        <p:spPr>
          <a:xfrm>
            <a:off x="548640" y="4846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报告把它们连成一条链：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节目难找 → 观众退订 → 需要 AI + 可信数据。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但没有追踪同一批人，也没有做实验，所以不能证明“找不到”导致“退订”；“通过 MCP 接入行业数据就能保证信息不过时”也没有经过检验。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局限六：几处引用和口径需要校准</a:t>
            </a:r>
            <a:endParaRPr lang="en-US" sz="3000" dirty="0"/>
          </a:p>
        </p:txBody>
      </p:sp>
      <p:sp>
        <p:nvSpPr>
          <p:cNvPr id="3" name="角度标签"/>
          <p:cNvSpPr/>
          <p:nvPr/>
        </p:nvSpPr>
        <p:spPr>
          <a:xfrm>
            <a:off x="10332720" y="566928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4" name="搜索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9024" y="667512"/>
            <a:ext cx="182880" cy="182880"/>
          </a:xfrm>
          <a:prstGeom prst="rect">
            <a:avLst/>
          </a:prstGeom>
        </p:spPr>
      </p:pic>
      <p:sp>
        <p:nvSpPr>
          <p:cNvPr id="5" name="角度标签文字"/>
          <p:cNvSpPr txBox="1"/>
          <p:nvPr/>
        </p:nvSpPr>
        <p:spPr>
          <a:xfrm>
            <a:off x="10744200" y="566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研究方法</a:t>
            </a:r>
            <a:endParaRPr lang="en-US" sz="1200" dirty="0"/>
          </a:p>
        </p:txBody>
      </p:sp>
      <p:graphicFrame>
        <p:nvGraphicFramePr>
          <p:cNvPr id="15" name="校准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6217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报告的写法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原始来源 / 图表本身显示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USC 研究：两个 AI 数据库中“高达 38%”的常识数据有偏差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38.6% 只是 GenericsKB 一个库在 regard 指标下的比例，由自动分类器判定，该指标与人工判断的一致率仅 60.9%；另一个库 ConceptNet 是 3.4%–4.5%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Deloitte：41% 的“流媒体订户”认为不值这个价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Deloitte 原文的分母是“消费者”（3,595 名美国消费者，2024 年 10 月，按人口普查加权）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摘要：54% 的 18–34 岁“会取消订阅”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正文同一数字写的是“会考虑取消”，意向程度更弱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PwC：OTT 与付费电视支出 2029 年达 3,185 亿美元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这是全球数字（2024 年 2,913 亿，年增 1.8%），报告没写明是全球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核查图：61–79 岁 58% 会核查 AI，却有 83% “用搜索交叉核对”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83% 大于 58%，所以外圈的分母只能是“会核查的人”，图注没写清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局限五结论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这些不一定改变报告的大方向，但说明引用二手数据时要回到原始来源核对分母和措辞。</a:t>
            </a:r>
            <a:endParaRPr lang="en-US" sz="1500" dirty="0"/>
          </a:p>
        </p:txBody>
      </p:sp>
      <p:sp>
        <p:nvSpPr>
          <p:cNvPr id="8" name="来源说明"/>
          <p:cNvSpPr txBox="1"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来源：报告第 2、5、6、18、22 页；USC 论文（EMNLP 2021）；Deloitte、PwC 方法说明与新闻稿。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也要看到：它做对了什么</a:t>
            </a:r>
            <a:endParaRPr lang="en-US" sz="3000" dirty="0"/>
          </a:p>
        </p:txBody>
      </p:sp>
      <p:sp>
        <p:nvSpPr>
          <p:cNvPr id="3" name="图标底"/>
          <p:cNvSpPr/>
          <p:nvPr/>
        </p:nvSpPr>
        <p:spPr>
          <a:xfrm>
            <a:off x="548640" y="157276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图标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721358"/>
            <a:ext cx="297180" cy="297180"/>
          </a:xfrm>
          <a:prstGeom prst="rect">
            <a:avLst/>
          </a:prstGeom>
        </p:spPr>
      </p:pic>
      <p:sp>
        <p:nvSpPr>
          <p:cNvPr id="5" name="优点1"/>
          <p:cNvSpPr txBox="1"/>
          <p:nvPr/>
        </p:nvSpPr>
        <p:spPr>
          <a:xfrm>
            <a:off x="137160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公布了样本量、调查时间、年龄范围、调查方式和筛选条件</a:t>
            </a:r>
            <a:endParaRPr lang="en-US" sz="1500" dirty="0"/>
          </a:p>
        </p:txBody>
      </p:sp>
      <p:sp>
        <p:nvSpPr>
          <p:cNvPr id="6" name="图标底"/>
          <p:cNvSpPr/>
          <p:nvPr/>
        </p:nvSpPr>
        <p:spPr>
          <a:xfrm>
            <a:off x="548640" y="276148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图标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910078"/>
            <a:ext cx="297180" cy="297180"/>
          </a:xfrm>
          <a:prstGeom prst="rect">
            <a:avLst/>
          </a:prstGeom>
        </p:spPr>
      </p:pic>
      <p:sp>
        <p:nvSpPr>
          <p:cNvPr id="8" name="优点2"/>
          <p:cNvSpPr txBox="1"/>
          <p:nvPr/>
        </p:nvSpPr>
        <p:spPr>
          <a:xfrm>
            <a:off x="137160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每张图都有“Read as”读法说明和数据来源，读者容易看懂</a:t>
            </a:r>
            <a:endParaRPr lang="en-US" sz="1500" dirty="0"/>
          </a:p>
        </p:txBody>
      </p:sp>
      <p:sp>
        <p:nvSpPr>
          <p:cNvPr id="9" name="图标底"/>
          <p:cNvSpPr/>
          <p:nvPr/>
        </p:nvSpPr>
        <p:spPr>
          <a:xfrm>
            <a:off x="548640" y="3950208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图标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4098798"/>
            <a:ext cx="297180" cy="297180"/>
          </a:xfrm>
          <a:prstGeom prst="rect">
            <a:avLst/>
          </a:prstGeom>
        </p:spPr>
      </p:pic>
      <p:sp>
        <p:nvSpPr>
          <p:cNvPr id="11" name="优点3"/>
          <p:cNvSpPr txBox="1"/>
          <p:nvPr/>
        </p:nvSpPr>
        <p:spPr>
          <a:xfrm>
            <a:off x="1371600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把收视测量（实际行为）和问卷（态度）放在一起看，角度互补</a:t>
            </a:r>
            <a:endParaRPr lang="en-US" sz="1500" dirty="0"/>
          </a:p>
        </p:txBody>
      </p:sp>
      <p:sp>
        <p:nvSpPr>
          <p:cNvPr id="12" name="复算卡"/>
          <p:cNvSpPr/>
          <p:nvPr/>
        </p:nvSpPr>
        <p:spPr>
          <a:xfrm>
            <a:off x="5760720" y="1371600"/>
            <a:ext cx="58521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复算标题"/>
          <p:cNvSpPr txBox="1"/>
          <p:nvPr/>
        </p:nvSpPr>
        <p:spPr>
          <a:xfrm>
            <a:off x="6035040" y="1508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我用图里的数字复算了几项</a:t>
            </a:r>
            <a:endParaRPr lang="en-US" sz="1700" dirty="0"/>
          </a:p>
        </p:txBody>
      </p:sp>
      <p:sp>
        <p:nvSpPr>
          <p:cNvPr id="14" name="复算1"/>
          <p:cNvSpPr txBox="1"/>
          <p:nvPr/>
        </p:nvSpPr>
        <p:spPr>
          <a:xfrm>
            <a:off x="6035040" y="205740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授权剧比原创剧多 81% 观看分钟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3,309 亿 ÷ 1,823 亿分钟 = 多 81.5%  ✓</a:t>
            </a:r>
            <a:endParaRPr lang="en-US" sz="1400" dirty="0"/>
          </a:p>
        </p:txBody>
      </p:sp>
      <p:sp>
        <p:nvSpPr>
          <p:cNvPr id="15" name="复算2"/>
          <p:cNvSpPr txBox="1"/>
          <p:nvPr/>
        </p:nvSpPr>
        <p:spPr>
          <a:xfrm>
            <a:off x="6035040" y="28346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CTV 占美国电视时间 54%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2:18 ÷ 4:17 = 53.7%  ✓</a:t>
            </a:r>
            <a:endParaRPr lang="en-US" sz="1400" dirty="0"/>
          </a:p>
        </p:txBody>
      </p:sp>
      <p:sp>
        <p:nvSpPr>
          <p:cNvPr id="16" name="复算3"/>
          <p:cNvSpPr txBox="1"/>
          <p:nvPr/>
        </p:nvSpPr>
        <p:spPr>
          <a:xfrm>
            <a:off x="6035040" y="36118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51% 的美国人觉得服务太多难找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与 2025 调查原文美国一栏 51% 一致  ✓</a:t>
            </a:r>
            <a:endParaRPr lang="en-US" sz="1400" dirty="0"/>
          </a:p>
        </p:txBody>
      </p:sp>
      <p:sp>
        <p:nvSpPr>
          <p:cNvPr id="17" name="复算4"/>
          <p:cNvSpPr txBox="1"/>
          <p:nvPr/>
        </p:nvSpPr>
        <p:spPr>
          <a:xfrm>
            <a:off x="6035040" y="438912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75% 每周多次使用 AI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每天 38% + 每周多次 38% = 76%  ✓</a:t>
            </a:r>
            <a:endParaRPr lang="en-US" sz="1400" dirty="0"/>
          </a:p>
        </p:txBody>
      </p:sp>
      <p:sp>
        <p:nvSpPr>
          <p:cNvPr id="18" name="复算结论"/>
          <p:cNvSpPr txBox="1"/>
          <p:nvPr/>
        </p:nvSpPr>
        <p:spPr>
          <a:xfrm>
            <a:off x="6035040" y="5120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报告内部的数字基本自洽；问题主要在“代表谁”和“能推出什么”。</a:t>
            </a:r>
            <a:endParaRPr lang="en-US" sz="1400" dirty="0"/>
          </a:p>
        </p:txBody>
      </p:sp>
      <p:sp>
        <p:nvSpPr>
          <p:cNvPr id="19" name="来源说明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复算依据：报告第 8–10、14 页图表数值。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我的评价</a:t>
            </a:r>
            <a:endParaRPr lang="en-US" sz="3200" dirty="0"/>
          </a:p>
        </p:txBody>
      </p:sp>
      <p:sp>
        <p:nvSpPr>
          <p:cNvPr id="3" name="评价卡1"/>
          <p:cNvSpPr/>
          <p:nvPr/>
        </p:nvSpPr>
        <p:spPr>
          <a:xfrm>
            <a:off x="731520" y="1600200"/>
            <a:ext cx="65836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评价1"/>
          <p:cNvSpPr txBox="1"/>
          <p:nvPr/>
        </p:nvSpPr>
        <p:spPr>
          <a:xfrm>
            <a:off x="1005840" y="16002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可以当作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行业方向的信号：年轻用户正把 AI 当成找内容的入口，但并不完全信任它。</a:t>
            </a:r>
            <a:endParaRPr lang="en-US" sz="1800" dirty="0"/>
          </a:p>
        </p:txBody>
      </p:sp>
      <p:sp>
        <p:nvSpPr>
          <p:cNvPr id="5" name="评价卡2"/>
          <p:cNvSpPr/>
          <p:nvPr/>
        </p:nvSpPr>
        <p:spPr>
          <a:xfrm>
            <a:off x="731520" y="2697480"/>
            <a:ext cx="65836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评价2"/>
          <p:cNvSpPr txBox="1"/>
          <p:nvPr/>
        </p:nvSpPr>
        <p:spPr>
          <a:xfrm>
            <a:off x="1005840" y="269748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不宜当作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对“美国人”的精确估计（部分数字其实是六国平均），或“找不到节目导致退订”的因果证据。</a:t>
            </a:r>
            <a:endParaRPr lang="en-US" sz="1800" dirty="0"/>
          </a:p>
        </p:txBody>
      </p:sp>
      <p:sp>
        <p:nvSpPr>
          <p:cNvPr id="7" name="评价卡3"/>
          <p:cNvSpPr/>
          <p:nvPr/>
        </p:nvSpPr>
        <p:spPr>
          <a:xfrm>
            <a:off x="731520" y="3794760"/>
            <a:ext cx="65836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评价3"/>
          <p:cNvSpPr txBox="1"/>
          <p:nvPr/>
        </p:nvSpPr>
        <p:spPr>
          <a:xfrm>
            <a:off x="1005840" y="37947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想更可信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公布样本来源与抽样方式、加权、回应率、各子组人数和完整问卷。</a:t>
            </a:r>
            <a:endParaRPr lang="en-US" sz="1800" dirty="0"/>
          </a:p>
        </p:txBody>
      </p:sp>
      <p:sp>
        <p:nvSpPr>
          <p:cNvPr id="9" name="利益说明"/>
          <p:cNvSpPr txBox="1"/>
          <p:nvPr/>
        </p:nvSpPr>
        <p:spPr>
          <a:xfrm>
            <a:off x="731520" y="4983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报告结论（需要可信的行业数据）正好是 Gracenote 的业务。这是我们细看方法的理由，但不能单凭这一点说数据有误。</a:t>
            </a:r>
            <a:endParaRPr lang="en-US" sz="1400" dirty="0"/>
          </a:p>
        </p:txBody>
      </p:sp>
      <p:sp>
        <p:nvSpPr>
          <p:cNvPr id="10" name="讨论卡"/>
          <p:cNvSpPr/>
          <p:nvPr/>
        </p:nvSpPr>
        <p:spPr>
          <a:xfrm>
            <a:off x="7772400" y="1600200"/>
            <a:ext cx="3657600" cy="420624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讨论问题"/>
          <p:cNvSpPr txBox="1"/>
          <p:nvPr/>
        </p:nvSpPr>
        <p:spPr>
          <a:xfrm>
            <a:off x="8046720" y="17830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留给大家的问题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如果要验证“找不到节目会导致退订”，你会怎么设计调查？</a:t>
            </a:r>
            <a:endParaRPr lang="en-US" sz="18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提示：对同一批人做追踪调查，除了问“会不会考虑退订”，也记录他们后来是否真的退订。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rch Glow">
  <a:themeElements>
    <a:clrScheme name="Search Glow">
      <a:dk1>
        <a:srgbClr val="1C1733"/>
      </a:dk1>
      <a:lt1>
        <a:srgbClr val="FFFFFF"/>
      </a:lt1>
      <a:dk2>
        <a:srgbClr val="2B1D6B"/>
      </a:dk2>
      <a:lt2>
        <a:srgbClr val="F3F1FA"/>
      </a:lt2>
      <a:accent1>
        <a:srgbClr val="5B3FD9"/>
      </a:accent1>
      <a:accent2>
        <a:srgbClr val="0F8B8D"/>
      </a:accent2>
      <a:accent3>
        <a:srgbClr val="D9480F"/>
      </a:accent3>
      <a:accent4>
        <a:srgbClr val="7CC242"/>
      </a:accent4>
      <a:accent5>
        <a:srgbClr val="6E6890"/>
      </a:accent5>
      <a:accent6>
        <a:srgbClr val="E4DFF8"/>
      </a:accent6>
      <a:hlink>
        <a:srgbClr val="5B3FD9"/>
      </a:hlink>
      <a:folHlink>
        <a:srgbClr val="6E6890"/>
      </a:folHlink>
    </a:clrScheme>
    <a:fontScheme name="Search Glow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时代的电视搜索与内容发现：Gracenote 2026 报告解读</dc:title>
  <dc:subject>市场调研：方法与实践 课后作业随堂分享</dc:subject>
  <dc:creator>PptxGenJS</dc:creator>
  <cp:lastModifiedBy>PptxGenJS</cp:lastModifiedBy>
  <cp:revision>1</cp:revision>
  <dcterms:created xsi:type="dcterms:W3CDTF">2026-10-07T12:13:03Z</dcterms:created>
  <dcterms:modified xsi:type="dcterms:W3CDTF">2026-10-07T12:13:03Z</dcterms:modified>
</cp:coreProperties>
</file>