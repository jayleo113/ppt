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a496ad52-5f88-b379-3fbd-3ede41a5f0ab}">
          <p14:sldIdLst>
            <p14:sldId id="256"/>
          </p14:sldIdLst>
        </p14:section>
        <p14:section name="报告介绍" id="{cde322d0-870f-b201-cc10-efa4386d4bfa}">
          <p14:sldIdLst>
            <p14:sldId id="257"/>
            <p14:sldId id="258"/>
            <p14:sldId id="259"/>
          </p14:sldIdLst>
        </p14:section>
        <p14:section name="评价" id="{109cbb1c-6d3a-2606-bdac-0f9028e75eda}">
          <p14:sldIdLst>
            <p14:sldId id="260"/>
            <p14:sldId id="261"/>
            <p14:sldId id="262"/>
            <p14:sldId id="263"/>
            <p14:sldId id="264"/>
          </p14:sldIdLst>
        </p14:section>
        <p14:section name="结论" id="{490a992c-4118-0559-cf32-78c1a7dd656e}">
          <p14:sldIdLst>
            <p14:sldId id="265"/>
          </p14:sldIdLst>
        </p14:section>
        <p14:section name="附录（备问）" id="{2110f5b5-abd4-6d65-0387-67286c4f41a7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B1D6B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2B1D6B"/>
                </a:solidFill>
                <a:latin typeface="+mn-lt"/>
              </a:rPr>
              <a:t>找到想看的节目要几分钟（2025 调查原文）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找节目时间</c:v>
                </c:pt>
              </c:strCache>
            </c:strRef>
          </c:tx>
          <c:spPr>
            <a:solidFill>
              <a:srgbClr val="A99BEA"/>
            </a:solidFill>
            <a:effectLst/>
          </c:spPr>
          <c:invertIfNegative val="0"/>
          <c:dLbls>
            <c:numFmt formatCode="0&quot; 分钟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C17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99BE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99BE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99BE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A99BE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A99BE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5B3FD9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9480F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巴西</c:v>
                  </c:pt>
                  <c:pt idx="1">
                    <c:v>法国</c:v>
                  </c:pt>
                  <c:pt idx="2">
                    <c:v>德国</c:v>
                  </c:pt>
                  <c:pt idx="3">
                    <c:v>墨西哥</c:v>
                  </c:pt>
                  <c:pt idx="4">
                    <c:v>英国</c:v>
                  </c:pt>
                  <c:pt idx="5">
                    <c:v>美国</c:v>
                  </c:pt>
                  <c:pt idx="6">
                    <c:v>六国平均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12</c:v>
                </c:pt>
                <c:pt idx="1">
                  <c:v>26</c:v>
                </c:pt>
                <c:pt idx="2">
                  <c:v>11</c:v>
                </c:pt>
                <c:pt idx="3">
                  <c:v>11</c:v>
                </c:pt>
                <c:pt idx="4">
                  <c:v>12</c:v>
                </c:pt>
                <c:pt idx="5">
                  <c:v>12</c:v>
                </c:pt>
                <c:pt idx="6">
                  <c:v>14</c:v>
                </c:pt>
              </c:numCache>
            </c:numRef>
          </c:val>
        </c:ser>
        <c:dLbls>
          <c:numFmt formatCode="0&quot; 分钟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C17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C17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20 秒】大家好。我分享的是尼尔森旗下 Gracenote 今年 4 月的报告。它有个很抓眼的数字：54% 的 13 到 14 岁孩子每天都用 AI。我想追问的是：这个数字代表的是谁？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25 秒】报告问了三个问题：大家怎么用 AI 找信息；平台这么多，找节目有多难、会不会因此退订；观众信不信 AI 的答案。做报告的 Gracenote 本身就卖节目数据，它的主张是：AI 会成为找节目的入口，但必须接入可信的行业数据。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30 秒】按老师要求的对象、时间、抽样、样本量来看。核心是两份线上问卷：一份是今年 1 到 2 月，4003 名美国 AI 聊天机器人用户；另一份是去年夏天，六个国家各 500 名流媒体用户。最关键的是橙色这一行：两份都没公开样本从哪里招、怎么加权、回应率多少。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30 秒】结论有四个数字：13 到 14 岁的 AI 用户 54% 每天用；75% 会核查 AI 的答案；平均找一个节目要 14 分钟；18 到 34 岁有 54% 说找不到想看的可能会退订。报告由此推出：大家依赖 AI 又不信任 AI，节目难找导致退订，所以 AI 要接入可信数据。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15 秒】怎么评价？课上春晚的案例告诉我们：对象、总体、时间、方法不同，结果必然不同。我就用这四个角度，各找一个问题。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30 秒】第一，对象。这 4003 人是 AI 聊天机器人用户，是一层层筛出来的人群，正文却常写成“美国人”。所谓 Alpha 世代，定义是 2010 到 2024 年出生，样本里只有 13 到 14 岁。这和课上 Durex 网络调查是同一个问题：网络样本能不能代表总体，现有说明判断不了。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30 秒】第二，总体。我对照了 Gracenote 上一份报告的原文：“找节目要 14 分钟”是六个国家的简单平均，美国自己是 12 分钟，是法国的 26 分钟把平均拉高了。可报告把它和美国尼尔森的收视数据画在了同一张图里。“54% 可能退订”也是六国口径。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30 秒】第三，时间和分母。报告说 Pew 去年秋天测到 30% 的青少年每天用，几个月后它测到 54%，所以使用在“加速”。但 Pew 原文里，同样是 13 到 14 岁只有 24%，因为 Pew 问的是全体青少年，Gracenote 只问 AI 用户。换成同一分母，只差 10 个百分点左右。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30 秒】第四，方法。那条因果链用了四种数据：问卷里的退订意向、行业的流失率、PwC 的全球预测、Veed 的机器测试。它们性质不同，也没有追踪同一批人，证明不了“找不到就退订”。还有些引用被放大了，比如 USC 的 38%，只是一个知识库、一个自动指标的结果。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25 秒】我的评价是：报告公开了样本量、时间和年龄，图里的数字我复算也对得上，可以当作行业方向的信号；但不宜当作对“美国人”的精确估计，更不是因果证据。留个问题给大家：要验证“找不到节目会导致退订”，你会怎么设计调查？谢谢大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备问用，不计入讲解时间。被问到“数据从哪来、方法公开到什么程度”时翻到这一页。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备问用，不计入讲解时间。被问到“报告引用的数字准不准”时翻到这一页。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554480"/>
            <a:ext cx="658368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86200"/>
            <a:ext cx="658368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502920"/>
            <a:ext cx="1069848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73152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Gracenote《TV Search and Discovery in the AI Era》解读 ｜ 市场调研：方法与实践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749808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Gracenote《TV Search and Discovery in the AI Era》解读 ｜ 市场调研：方法与实践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课程名"/>
          <p:cNvSpPr txBox="1"/>
          <p:nvPr/>
        </p:nvSpPr>
        <p:spPr>
          <a:xfrm>
            <a:off x="731520" y="96012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市场调研：方法与实践 ｜ 课后作业分享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1554480"/>
            <a:ext cx="65836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54% 的 13–14 岁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每天都用 AI？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88620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解读 Gracenote（尼尔森旗下）2026 年报告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《TV Search and Discovery in the AI Era》</a:t>
            </a:r>
            <a:endParaRPr lang="en-US" sz="1800" dirty="0"/>
          </a:p>
        </p:txBody>
      </p:sp>
      <p:sp>
        <p:nvSpPr>
          <p:cNvPr id="5" name="封面数字"/>
          <p:cNvSpPr txBox="1"/>
          <p:nvPr/>
        </p:nvSpPr>
        <p:spPr>
          <a:xfrm>
            <a:off x="7772400" y="1417320"/>
            <a:ext cx="3931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12000" dirty="0"/>
          </a:p>
        </p:txBody>
      </p:sp>
      <p:sp>
        <p:nvSpPr>
          <p:cNvPr id="6" name="封面数字说明"/>
          <p:cNvSpPr txBox="1"/>
          <p:nvPr/>
        </p:nvSpPr>
        <p:spPr>
          <a:xfrm>
            <a:off x="7589520" y="342900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报告：13–14 岁受访者每天用 AI 的比例</a:t>
            </a:r>
            <a:endParaRPr lang="en-US" sz="1300" dirty="0"/>
          </a:p>
        </p:txBody>
      </p:sp>
      <p:sp>
        <p:nvSpPr>
          <p:cNvPr id="7" name="搜索框"/>
          <p:cNvSpPr/>
          <p:nvPr/>
        </p:nvSpPr>
        <p:spPr>
          <a:xfrm>
            <a:off x="8001000" y="4206240"/>
            <a:ext cx="3474720" cy="73152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8" name="搜索框图标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4416552"/>
            <a:ext cx="310896" cy="310896"/>
          </a:xfrm>
          <a:prstGeom prst="rect">
            <a:avLst/>
          </a:prstGeom>
        </p:spPr>
      </p:pic>
      <p:sp>
        <p:nvSpPr>
          <p:cNvPr id="9" name="搜索框问题"/>
          <p:cNvSpPr txBox="1"/>
          <p:nvPr/>
        </p:nvSpPr>
        <p:spPr>
          <a:xfrm>
            <a:off x="8732520" y="42062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这个数字代表的是谁？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这份报告在问什么</a:t>
            </a:r>
            <a:endParaRPr lang="en-US" sz="3000" dirty="0"/>
          </a:p>
        </p:txBody>
      </p:sp>
      <p:sp>
        <p:nvSpPr>
          <p:cNvPr id="3" name="问题卡1"/>
          <p:cNvSpPr/>
          <p:nvPr/>
        </p:nvSpPr>
        <p:spPr>
          <a:xfrm>
            <a:off x="548640" y="1371600"/>
            <a:ext cx="347472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图标底"/>
          <p:cNvSpPr/>
          <p:nvPr/>
        </p:nvSpPr>
        <p:spPr>
          <a:xfrm>
            <a:off x="822960" y="16459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图标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1805940"/>
            <a:ext cx="320040" cy="320040"/>
          </a:xfrm>
          <a:prstGeom prst="rect">
            <a:avLst/>
          </a:prstGeom>
        </p:spPr>
      </p:pic>
      <p:sp>
        <p:nvSpPr>
          <p:cNvPr id="6" name="问题标题1"/>
          <p:cNvSpPr txBox="1"/>
          <p:nvPr/>
        </p:nvSpPr>
        <p:spPr>
          <a:xfrm>
            <a:off x="1600200" y="16459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问题 1 · 使用</a:t>
            </a:r>
            <a:endParaRPr lang="en-US" sz="1800" dirty="0"/>
          </a:p>
        </p:txBody>
      </p:sp>
      <p:sp>
        <p:nvSpPr>
          <p:cNvPr id="7" name="问题内容1"/>
          <p:cNvSpPr txBox="1"/>
          <p:nvPr/>
        </p:nvSpPr>
        <p:spPr>
          <a:xfrm>
            <a:off x="822960" y="242316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人们，尤其是年轻人，怎样用 AI 聊天机器人找信息？</a:t>
            </a:r>
            <a:endParaRPr lang="en-US" sz="1500" dirty="0"/>
          </a:p>
        </p:txBody>
      </p:sp>
      <p:sp>
        <p:nvSpPr>
          <p:cNvPr id="8" name="问题卡2"/>
          <p:cNvSpPr/>
          <p:nvPr/>
        </p:nvSpPr>
        <p:spPr>
          <a:xfrm>
            <a:off x="4297680" y="1371600"/>
            <a:ext cx="347472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图标底"/>
          <p:cNvSpPr/>
          <p:nvPr/>
        </p:nvSpPr>
        <p:spPr>
          <a:xfrm>
            <a:off x="4572000" y="16459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图标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2020" y="1805940"/>
            <a:ext cx="320040" cy="320040"/>
          </a:xfrm>
          <a:prstGeom prst="rect">
            <a:avLst/>
          </a:prstGeom>
        </p:spPr>
      </p:pic>
      <p:sp>
        <p:nvSpPr>
          <p:cNvPr id="11" name="问题标题2"/>
          <p:cNvSpPr txBox="1"/>
          <p:nvPr/>
        </p:nvSpPr>
        <p:spPr>
          <a:xfrm>
            <a:off x="5349240" y="16459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问题 2 · 痛点</a:t>
            </a:r>
            <a:endParaRPr lang="en-US" sz="1800" dirty="0"/>
          </a:p>
        </p:txBody>
      </p:sp>
      <p:sp>
        <p:nvSpPr>
          <p:cNvPr id="12" name="问题内容2"/>
          <p:cNvSpPr txBox="1"/>
          <p:nvPr/>
        </p:nvSpPr>
        <p:spPr>
          <a:xfrm>
            <a:off x="4572000" y="242316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流媒体平台越来越多，找节目有多难？会不会因此退订？</a:t>
            </a:r>
            <a:endParaRPr lang="en-US" sz="1500" dirty="0"/>
          </a:p>
        </p:txBody>
      </p:sp>
      <p:sp>
        <p:nvSpPr>
          <p:cNvPr id="13" name="问题卡3"/>
          <p:cNvSpPr/>
          <p:nvPr/>
        </p:nvSpPr>
        <p:spPr>
          <a:xfrm>
            <a:off x="8046720" y="1371600"/>
            <a:ext cx="347472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图标底"/>
          <p:cNvSpPr/>
          <p:nvPr/>
        </p:nvSpPr>
        <p:spPr>
          <a:xfrm>
            <a:off x="8321040" y="16459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图标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1060" y="1805940"/>
            <a:ext cx="320040" cy="320040"/>
          </a:xfrm>
          <a:prstGeom prst="rect">
            <a:avLst/>
          </a:prstGeom>
        </p:spPr>
      </p:pic>
      <p:sp>
        <p:nvSpPr>
          <p:cNvPr id="16" name="问题标题3"/>
          <p:cNvSpPr txBox="1"/>
          <p:nvPr/>
        </p:nvSpPr>
        <p:spPr>
          <a:xfrm>
            <a:off x="9098280" y="16459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问题 3 · 信任</a:t>
            </a:r>
            <a:endParaRPr lang="en-US" sz="1800" dirty="0"/>
          </a:p>
        </p:txBody>
      </p:sp>
      <p:sp>
        <p:nvSpPr>
          <p:cNvPr id="17" name="问题内容3"/>
          <p:cNvSpPr txBox="1"/>
          <p:nvPr/>
        </p:nvSpPr>
        <p:spPr>
          <a:xfrm>
            <a:off x="8321040" y="242316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观众相信 AI 给出的娱乐和体育信息吗？</a:t>
            </a:r>
            <a:endParaRPr lang="en-US" sz="1500" dirty="0"/>
          </a:p>
        </p:txBody>
      </p:sp>
      <p:sp>
        <p:nvSpPr>
          <p:cNvPr id="18" name="机构与主张"/>
          <p:cNvSpPr/>
          <p:nvPr/>
        </p:nvSpPr>
        <p:spPr>
          <a:xfrm>
            <a:off x="548640" y="3657600"/>
            <a:ext cx="11064240" cy="2103120"/>
          </a:xfrm>
          <a:prstGeom prst="roundRect">
            <a:avLst>
              <a:gd name="adj" fmla="val 521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9" name="图标底"/>
          <p:cNvSpPr/>
          <p:nvPr/>
        </p:nvSpPr>
        <p:spPr>
          <a:xfrm>
            <a:off x="868680" y="40690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图标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4206240"/>
            <a:ext cx="274320" cy="274320"/>
          </a:xfrm>
          <a:prstGeom prst="rect">
            <a:avLst/>
          </a:prstGeom>
        </p:spPr>
      </p:pic>
      <p:sp>
        <p:nvSpPr>
          <p:cNvPr id="21" name="机构说明"/>
          <p:cNvSpPr txBox="1"/>
          <p:nvPr/>
        </p:nvSpPr>
        <p:spPr>
          <a:xfrm>
            <a:off x="1600200" y="3886200"/>
            <a:ext cx="4206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6"/>
                </a:solidFill>
              </a:rPr>
              <a:t>谁做的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Gracenote，尼尔森旗下的内容数据业务，向媒体公司出售节目元数据：片名、简介、在哪个平台播出。</a:t>
            </a:r>
            <a:endParaRPr lang="en-US" sz="1600" dirty="0"/>
          </a:p>
        </p:txBody>
      </p:sp>
      <p:sp>
        <p:nvSpPr>
          <p:cNvPr id="22" name="图标底"/>
          <p:cNvSpPr/>
          <p:nvPr/>
        </p:nvSpPr>
        <p:spPr>
          <a:xfrm>
            <a:off x="6263640" y="406908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3" name="图标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4206240"/>
            <a:ext cx="274320" cy="274320"/>
          </a:xfrm>
          <a:prstGeom prst="rect">
            <a:avLst/>
          </a:prstGeom>
        </p:spPr>
      </p:pic>
      <p:sp>
        <p:nvSpPr>
          <p:cNvPr id="24" name="报告主张"/>
          <p:cNvSpPr txBox="1"/>
          <p:nvPr/>
        </p:nvSpPr>
        <p:spPr>
          <a:xfrm>
            <a:off x="6995160" y="3886200"/>
            <a:ext cx="4389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6"/>
                </a:solidFill>
              </a:rPr>
              <a:t>报告主张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AI 会成为找节目的入口，但必须接入可信的行业数据——这正是 Gracenote 卖的东西。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研究方法：两份核心问卷</a:t>
            </a:r>
            <a:endParaRPr lang="en-US" sz="3000" dirty="0"/>
          </a:p>
        </p:txBody>
      </p:sp>
      <p:sp>
        <p:nvSpPr>
          <p:cNvPr id="3" name="问卷卡1"/>
          <p:cNvSpPr/>
          <p:nvPr/>
        </p:nvSpPr>
        <p:spPr>
          <a:xfrm>
            <a:off x="548640" y="1371600"/>
            <a:ext cx="5440680" cy="397764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问卷名1"/>
          <p:cNvSpPr txBox="1"/>
          <p:nvPr/>
        </p:nvSpPr>
        <p:spPr>
          <a:xfrm>
            <a:off x="822960" y="150876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2026 生成式 AI 使用调查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支撑所有 AI 相关结论</a:t>
            </a:r>
            <a:endParaRPr lang="en-US" sz="1800" dirty="0"/>
          </a:p>
        </p:txBody>
      </p:sp>
      <p:sp>
        <p:nvSpPr>
          <p:cNvPr id="5" name="方法项1-1"/>
          <p:cNvSpPr txBox="1"/>
          <p:nvPr/>
        </p:nvSpPr>
        <p:spPr>
          <a:xfrm>
            <a:off x="822960" y="23774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调查对象</a:t>
            </a:r>
            <a:endParaRPr lang="en-US" sz="1300" dirty="0"/>
          </a:p>
        </p:txBody>
      </p:sp>
      <p:sp>
        <p:nvSpPr>
          <p:cNvPr id="6" name="方法值1-1"/>
          <p:cNvSpPr txBox="1"/>
          <p:nvPr/>
        </p:nvSpPr>
        <p:spPr>
          <a:xfrm>
            <a:off x="2057400" y="237744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美国 13–79 岁 AI 聊天机器人用户</a:t>
            </a:r>
            <a:endParaRPr lang="en-US" sz="1500" dirty="0"/>
          </a:p>
        </p:txBody>
      </p:sp>
      <p:sp>
        <p:nvSpPr>
          <p:cNvPr id="7" name="方法项1-2"/>
          <p:cNvSpPr txBox="1"/>
          <p:nvPr/>
        </p:nvSpPr>
        <p:spPr>
          <a:xfrm>
            <a:off x="822960" y="294436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调查时间</a:t>
            </a:r>
            <a:endParaRPr lang="en-US" sz="1300" dirty="0"/>
          </a:p>
        </p:txBody>
      </p:sp>
      <p:sp>
        <p:nvSpPr>
          <p:cNvPr id="8" name="方法值1-2"/>
          <p:cNvSpPr txBox="1"/>
          <p:nvPr/>
        </p:nvSpPr>
        <p:spPr>
          <a:xfrm>
            <a:off x="2057400" y="294436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2026.1.23–2.4</a:t>
            </a:r>
            <a:endParaRPr lang="en-US" sz="1500" dirty="0"/>
          </a:p>
        </p:txBody>
      </p:sp>
      <p:sp>
        <p:nvSpPr>
          <p:cNvPr id="9" name="方法项1-3"/>
          <p:cNvSpPr txBox="1"/>
          <p:nvPr/>
        </p:nvSpPr>
        <p:spPr>
          <a:xfrm>
            <a:off x="822960" y="3511296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调查方式</a:t>
            </a:r>
            <a:endParaRPr lang="en-US" sz="1300" dirty="0"/>
          </a:p>
        </p:txBody>
      </p:sp>
      <p:sp>
        <p:nvSpPr>
          <p:cNvPr id="10" name="方法值1-3"/>
          <p:cNvSpPr txBox="1"/>
          <p:nvPr/>
        </p:nvSpPr>
        <p:spPr>
          <a:xfrm>
            <a:off x="2057400" y="3511296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线上问卷</a:t>
            </a:r>
            <a:endParaRPr lang="en-US" sz="1500" dirty="0"/>
          </a:p>
        </p:txBody>
      </p:sp>
      <p:sp>
        <p:nvSpPr>
          <p:cNvPr id="11" name="方法项1-4"/>
          <p:cNvSpPr txBox="1"/>
          <p:nvPr/>
        </p:nvSpPr>
        <p:spPr>
          <a:xfrm>
            <a:off x="822960" y="407822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样本量</a:t>
            </a:r>
            <a:endParaRPr lang="en-US" sz="1300" dirty="0"/>
          </a:p>
        </p:txBody>
      </p:sp>
      <p:sp>
        <p:nvSpPr>
          <p:cNvPr id="12" name="方法值1-4"/>
          <p:cNvSpPr txBox="1"/>
          <p:nvPr/>
        </p:nvSpPr>
        <p:spPr>
          <a:xfrm>
            <a:off x="2057400" y="4078224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4,003</a:t>
            </a:r>
            <a:endParaRPr lang="en-US" sz="1500" dirty="0"/>
          </a:p>
        </p:txBody>
      </p:sp>
      <p:sp>
        <p:nvSpPr>
          <p:cNvPr id="13" name="未披露底"/>
          <p:cNvSpPr/>
          <p:nvPr/>
        </p:nvSpPr>
        <p:spPr>
          <a:xfrm>
            <a:off x="685800" y="4608576"/>
            <a:ext cx="5166360" cy="530352"/>
          </a:xfrm>
          <a:prstGeom prst="roundRect">
            <a:avLst>
              <a:gd name="adj" fmla="val 2069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4" name="方法项1-5"/>
          <p:cNvSpPr txBox="1"/>
          <p:nvPr/>
        </p:nvSpPr>
        <p:spPr>
          <a:xfrm>
            <a:off x="822960" y="464515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抽样方式</a:t>
            </a:r>
            <a:endParaRPr lang="en-US" sz="1300" dirty="0"/>
          </a:p>
        </p:txBody>
      </p:sp>
      <p:sp>
        <p:nvSpPr>
          <p:cNvPr id="15" name="方法值1-5"/>
          <p:cNvSpPr txBox="1"/>
          <p:nvPr/>
        </p:nvSpPr>
        <p:spPr>
          <a:xfrm>
            <a:off x="2057400" y="464515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未披露：样本来源、加权、回应率</a:t>
            </a:r>
            <a:endParaRPr lang="en-US" sz="1500" dirty="0"/>
          </a:p>
        </p:txBody>
      </p:sp>
      <p:sp>
        <p:nvSpPr>
          <p:cNvPr id="16" name="问卷卡2"/>
          <p:cNvSpPr/>
          <p:nvPr/>
        </p:nvSpPr>
        <p:spPr>
          <a:xfrm>
            <a:off x="6172200" y="1371600"/>
            <a:ext cx="5440680" cy="397764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问卷名2"/>
          <p:cNvSpPr txBox="1"/>
          <p:nvPr/>
        </p:nvSpPr>
        <p:spPr>
          <a:xfrm>
            <a:off x="6446520" y="150876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2025 流媒体消费者调查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支撑“找节目难”“会退订”等结论</a:t>
            </a:r>
            <a:endParaRPr lang="en-US" sz="1800" dirty="0"/>
          </a:p>
        </p:txBody>
      </p:sp>
      <p:sp>
        <p:nvSpPr>
          <p:cNvPr id="18" name="方法项2-1"/>
          <p:cNvSpPr txBox="1"/>
          <p:nvPr/>
        </p:nvSpPr>
        <p:spPr>
          <a:xfrm>
            <a:off x="6446520" y="23774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调查对象</a:t>
            </a:r>
            <a:endParaRPr lang="en-US" sz="1300" dirty="0"/>
          </a:p>
        </p:txBody>
      </p:sp>
      <p:sp>
        <p:nvSpPr>
          <p:cNvPr id="19" name="方法值2-1"/>
          <p:cNvSpPr txBox="1"/>
          <p:nvPr/>
        </p:nvSpPr>
        <p:spPr>
          <a:xfrm>
            <a:off x="7680960" y="237744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巴西、法、德、墨、美、英的流媒体用户</a:t>
            </a:r>
            <a:endParaRPr lang="en-US" sz="1500" dirty="0"/>
          </a:p>
        </p:txBody>
      </p:sp>
      <p:sp>
        <p:nvSpPr>
          <p:cNvPr id="20" name="方法项2-2"/>
          <p:cNvSpPr txBox="1"/>
          <p:nvPr/>
        </p:nvSpPr>
        <p:spPr>
          <a:xfrm>
            <a:off x="6446520" y="294436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调查时间</a:t>
            </a:r>
            <a:endParaRPr lang="en-US" sz="1300" dirty="0"/>
          </a:p>
        </p:txBody>
      </p:sp>
      <p:sp>
        <p:nvSpPr>
          <p:cNvPr id="21" name="方法值2-2"/>
          <p:cNvSpPr txBox="1"/>
          <p:nvPr/>
        </p:nvSpPr>
        <p:spPr>
          <a:xfrm>
            <a:off x="7680960" y="294436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2025.7.28–8.1</a:t>
            </a:r>
            <a:endParaRPr lang="en-US" sz="1500" dirty="0"/>
          </a:p>
        </p:txBody>
      </p:sp>
      <p:sp>
        <p:nvSpPr>
          <p:cNvPr id="22" name="方法项2-3"/>
          <p:cNvSpPr txBox="1"/>
          <p:nvPr/>
        </p:nvSpPr>
        <p:spPr>
          <a:xfrm>
            <a:off x="6446520" y="3511296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调查方式</a:t>
            </a:r>
            <a:endParaRPr lang="en-US" sz="1300" dirty="0"/>
          </a:p>
        </p:txBody>
      </p:sp>
      <p:sp>
        <p:nvSpPr>
          <p:cNvPr id="23" name="方法值2-3"/>
          <p:cNvSpPr txBox="1"/>
          <p:nvPr/>
        </p:nvSpPr>
        <p:spPr>
          <a:xfrm>
            <a:off x="7680960" y="3511296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线上问卷</a:t>
            </a:r>
            <a:endParaRPr lang="en-US" sz="1500" dirty="0"/>
          </a:p>
        </p:txBody>
      </p:sp>
      <p:sp>
        <p:nvSpPr>
          <p:cNvPr id="24" name="方法项2-4"/>
          <p:cNvSpPr txBox="1"/>
          <p:nvPr/>
        </p:nvSpPr>
        <p:spPr>
          <a:xfrm>
            <a:off x="6446520" y="407822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样本量</a:t>
            </a:r>
            <a:endParaRPr lang="en-US" sz="1300" dirty="0"/>
          </a:p>
        </p:txBody>
      </p:sp>
      <p:sp>
        <p:nvSpPr>
          <p:cNvPr id="25" name="方法值2-4"/>
          <p:cNvSpPr txBox="1"/>
          <p:nvPr/>
        </p:nvSpPr>
        <p:spPr>
          <a:xfrm>
            <a:off x="7680960" y="4078224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3,000（每国 500）</a:t>
            </a:r>
            <a:endParaRPr lang="en-US" sz="1500" dirty="0"/>
          </a:p>
        </p:txBody>
      </p:sp>
      <p:sp>
        <p:nvSpPr>
          <p:cNvPr id="26" name="未披露底"/>
          <p:cNvSpPr/>
          <p:nvPr/>
        </p:nvSpPr>
        <p:spPr>
          <a:xfrm>
            <a:off x="6309360" y="4608576"/>
            <a:ext cx="5166360" cy="530352"/>
          </a:xfrm>
          <a:prstGeom prst="roundRect">
            <a:avLst>
              <a:gd name="adj" fmla="val 2069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7" name="方法项2-5"/>
          <p:cNvSpPr txBox="1"/>
          <p:nvPr/>
        </p:nvSpPr>
        <p:spPr>
          <a:xfrm>
            <a:off x="6446520" y="464515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抽样方式</a:t>
            </a:r>
            <a:endParaRPr lang="en-US" sz="1300" dirty="0"/>
          </a:p>
        </p:txBody>
      </p:sp>
      <p:sp>
        <p:nvSpPr>
          <p:cNvPr id="28" name="方法值2-5"/>
          <p:cNvSpPr txBox="1"/>
          <p:nvPr/>
        </p:nvSpPr>
        <p:spPr>
          <a:xfrm>
            <a:off x="7680960" y="464515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未披露：样本来源、加权、回应率</a:t>
            </a:r>
            <a:endParaRPr lang="en-US" sz="1500" dirty="0"/>
          </a:p>
        </p:txBody>
      </p:sp>
      <p:sp>
        <p:nvSpPr>
          <p:cNvPr id="29" name="其他来源"/>
          <p:cNvSpPr txBox="1"/>
          <p:nvPr/>
        </p:nvSpPr>
        <p:spPr>
          <a:xfrm>
            <a:off x="548640" y="5532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另外还用了尼尔森收视测量、Gracenote 节目数据库，以及 Pew、Deloitte、PwC 等外部研究，共 11 个来源（核查见附录一）。</a:t>
            </a:r>
            <a:endParaRPr lang="en-US" sz="1400" dirty="0"/>
          </a:p>
        </p:txBody>
      </p:sp>
      <p:sp>
        <p:nvSpPr>
          <p:cNvPr id="30" name="来源说明"/>
          <p:cNvSpPr txBox="1"/>
          <p:nvPr/>
        </p:nvSpPr>
        <p:spPr>
          <a:xfrm>
            <a:off x="548640" y="5943600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来源：报告第 23 页；Nielsen 新闻稿（2026.4）；Gracenote 2025《State of Play》第 20 页。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报告的主要结论</a:t>
            </a:r>
            <a:endParaRPr lang="en-US" sz="3000" dirty="0"/>
          </a:p>
        </p:txBody>
      </p:sp>
      <p:sp>
        <p:nvSpPr>
          <p:cNvPr id="3" name="结论卡1"/>
          <p:cNvSpPr/>
          <p:nvPr/>
        </p:nvSpPr>
        <p:spPr>
          <a:xfrm>
            <a:off x="548640" y="1371600"/>
            <a:ext cx="2606040" cy="260604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结论数字1"/>
          <p:cNvSpPr txBox="1"/>
          <p:nvPr/>
        </p:nvSpPr>
        <p:spPr>
          <a:xfrm>
            <a:off x="777240" y="155448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4400" dirty="0"/>
          </a:p>
        </p:txBody>
      </p:sp>
      <p:sp>
        <p:nvSpPr>
          <p:cNvPr id="5" name="结论说明1"/>
          <p:cNvSpPr txBox="1"/>
          <p:nvPr/>
        </p:nvSpPr>
        <p:spPr>
          <a:xfrm>
            <a:off x="777240" y="24688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13–14 岁 AI 用户每天使用 AI 聊天机器人</a:t>
            </a:r>
            <a:endParaRPr lang="en-US" sz="1500" dirty="0"/>
          </a:p>
        </p:txBody>
      </p:sp>
      <p:sp>
        <p:nvSpPr>
          <p:cNvPr id="6" name="结论来源1"/>
          <p:cNvSpPr txBox="1"/>
          <p:nvPr/>
        </p:nvSpPr>
        <p:spPr>
          <a:xfrm>
            <a:off x="777240" y="34747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2026 AI 调查</a:t>
            </a:r>
            <a:endParaRPr lang="en-US" sz="1100" dirty="0"/>
          </a:p>
        </p:txBody>
      </p:sp>
      <p:sp>
        <p:nvSpPr>
          <p:cNvPr id="7" name="结论卡2"/>
          <p:cNvSpPr/>
          <p:nvPr/>
        </p:nvSpPr>
        <p:spPr>
          <a:xfrm>
            <a:off x="3360420" y="1371600"/>
            <a:ext cx="2606040" cy="260604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结论数字2"/>
          <p:cNvSpPr txBox="1"/>
          <p:nvPr/>
        </p:nvSpPr>
        <p:spPr>
          <a:xfrm>
            <a:off x="3589020" y="155448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</a:t>
            </a:r>
            <a:endParaRPr lang="en-US" sz="4400" dirty="0"/>
          </a:p>
        </p:txBody>
      </p:sp>
      <p:sp>
        <p:nvSpPr>
          <p:cNvPr id="9" name="结论说明2"/>
          <p:cNvSpPr txBox="1"/>
          <p:nvPr/>
        </p:nvSpPr>
        <p:spPr>
          <a:xfrm>
            <a:off x="3589020" y="24688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受访者会核查 AI 给出的答案</a:t>
            </a:r>
            <a:endParaRPr lang="en-US" sz="1500" dirty="0"/>
          </a:p>
        </p:txBody>
      </p:sp>
      <p:sp>
        <p:nvSpPr>
          <p:cNvPr id="10" name="结论来源2"/>
          <p:cNvSpPr txBox="1"/>
          <p:nvPr/>
        </p:nvSpPr>
        <p:spPr>
          <a:xfrm>
            <a:off x="3589020" y="34747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2026 AI 调查</a:t>
            </a:r>
            <a:endParaRPr lang="en-US" sz="1100" dirty="0"/>
          </a:p>
        </p:txBody>
      </p:sp>
      <p:sp>
        <p:nvSpPr>
          <p:cNvPr id="11" name="结论卡3"/>
          <p:cNvSpPr/>
          <p:nvPr/>
        </p:nvSpPr>
        <p:spPr>
          <a:xfrm>
            <a:off x="6172200" y="1371600"/>
            <a:ext cx="2606040" cy="260604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结论数字3"/>
          <p:cNvSpPr txBox="1"/>
          <p:nvPr/>
        </p:nvSpPr>
        <p:spPr>
          <a:xfrm>
            <a:off x="6400800" y="155448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分钟</a:t>
            </a:r>
            <a:endParaRPr lang="en-US" sz="3400" dirty="0"/>
          </a:p>
        </p:txBody>
      </p:sp>
      <p:sp>
        <p:nvSpPr>
          <p:cNvPr id="13" name="结论说明3"/>
          <p:cNvSpPr txBox="1"/>
          <p:nvPr/>
        </p:nvSpPr>
        <p:spPr>
          <a:xfrm>
            <a:off x="6400800" y="24688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平均找一个想看的节目所花时间</a:t>
            </a:r>
            <a:endParaRPr lang="en-US" sz="1500" dirty="0"/>
          </a:p>
        </p:txBody>
      </p:sp>
      <p:sp>
        <p:nvSpPr>
          <p:cNvPr id="14" name="结论来源3"/>
          <p:cNvSpPr txBox="1"/>
          <p:nvPr/>
        </p:nvSpPr>
        <p:spPr>
          <a:xfrm>
            <a:off x="6400800" y="34747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2025 六国调查</a:t>
            </a:r>
            <a:endParaRPr lang="en-US" sz="1100" dirty="0"/>
          </a:p>
        </p:txBody>
      </p:sp>
      <p:sp>
        <p:nvSpPr>
          <p:cNvPr id="15" name="结论卡4"/>
          <p:cNvSpPr/>
          <p:nvPr/>
        </p:nvSpPr>
        <p:spPr>
          <a:xfrm>
            <a:off x="8983980" y="1371600"/>
            <a:ext cx="2606040" cy="260604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结论数字4"/>
          <p:cNvSpPr txBox="1"/>
          <p:nvPr/>
        </p:nvSpPr>
        <p:spPr>
          <a:xfrm>
            <a:off x="9212580" y="155448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4400" dirty="0"/>
          </a:p>
        </p:txBody>
      </p:sp>
      <p:sp>
        <p:nvSpPr>
          <p:cNvPr id="17" name="结论说明4"/>
          <p:cNvSpPr txBox="1"/>
          <p:nvPr/>
        </p:nvSpPr>
        <p:spPr>
          <a:xfrm>
            <a:off x="9212580" y="24688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18–34 岁：找不到想看的，可能会退订</a:t>
            </a:r>
            <a:endParaRPr lang="en-US" sz="1500" dirty="0"/>
          </a:p>
        </p:txBody>
      </p:sp>
      <p:sp>
        <p:nvSpPr>
          <p:cNvPr id="18" name="结论来源4"/>
          <p:cNvSpPr txBox="1"/>
          <p:nvPr/>
        </p:nvSpPr>
        <p:spPr>
          <a:xfrm>
            <a:off x="9212580" y="34747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2025 六国调查</a:t>
            </a:r>
            <a:endParaRPr lang="en-US" sz="1100" dirty="0"/>
          </a:p>
        </p:txBody>
      </p:sp>
      <p:sp>
        <p:nvSpPr>
          <p:cNvPr id="19" name="逻辑链标题"/>
          <p:cNvSpPr txBox="1"/>
          <p:nvPr/>
        </p:nvSpPr>
        <p:spPr>
          <a:xfrm>
            <a:off x="548640" y="42519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报告的逻辑链</a:t>
            </a:r>
            <a:endParaRPr lang="en-US" sz="1500" dirty="0"/>
          </a:p>
        </p:txBody>
      </p:sp>
      <p:sp>
        <p:nvSpPr>
          <p:cNvPr id="20" name="链1"/>
          <p:cNvSpPr/>
          <p:nvPr/>
        </p:nvSpPr>
        <p:spPr>
          <a:xfrm>
            <a:off x="548640" y="4709160"/>
            <a:ext cx="2468880" cy="73152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1" name="链文字1"/>
          <p:cNvSpPr txBox="1"/>
          <p:nvPr/>
        </p:nvSpPr>
        <p:spPr>
          <a:xfrm>
            <a:off x="548640" y="470916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年轻人越来越依赖 AI</a:t>
            </a:r>
            <a:endParaRPr lang="en-US" sz="1400" dirty="0"/>
          </a:p>
        </p:txBody>
      </p:sp>
      <p:sp>
        <p:nvSpPr>
          <p:cNvPr id="22" name="箭头1"/>
          <p:cNvSpPr txBox="1"/>
          <p:nvPr/>
        </p:nvSpPr>
        <p:spPr>
          <a:xfrm>
            <a:off x="3017520" y="4709160"/>
            <a:ext cx="3931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23" name="链2"/>
          <p:cNvSpPr/>
          <p:nvPr/>
        </p:nvSpPr>
        <p:spPr>
          <a:xfrm>
            <a:off x="3410712" y="4709160"/>
            <a:ext cx="2468880" cy="73152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4" name="链文字2"/>
          <p:cNvSpPr txBox="1"/>
          <p:nvPr/>
        </p:nvSpPr>
        <p:spPr>
          <a:xfrm>
            <a:off x="3410712" y="470916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但不信任 AI 的答案</a:t>
            </a:r>
            <a:endParaRPr lang="en-US" sz="1400" dirty="0"/>
          </a:p>
        </p:txBody>
      </p:sp>
      <p:sp>
        <p:nvSpPr>
          <p:cNvPr id="25" name="箭头2"/>
          <p:cNvSpPr txBox="1"/>
          <p:nvPr/>
        </p:nvSpPr>
        <p:spPr>
          <a:xfrm>
            <a:off x="5879592" y="4709160"/>
            <a:ext cx="3931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26" name="链3"/>
          <p:cNvSpPr/>
          <p:nvPr/>
        </p:nvSpPr>
        <p:spPr>
          <a:xfrm>
            <a:off x="6272784" y="4709160"/>
            <a:ext cx="2468880" cy="73152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7" name="链文字3"/>
          <p:cNvSpPr txBox="1"/>
          <p:nvPr/>
        </p:nvSpPr>
        <p:spPr>
          <a:xfrm>
            <a:off x="6272784" y="470916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节目难找导致退订</a:t>
            </a:r>
            <a:endParaRPr lang="en-US" sz="1400" dirty="0"/>
          </a:p>
        </p:txBody>
      </p:sp>
      <p:sp>
        <p:nvSpPr>
          <p:cNvPr id="28" name="箭头3"/>
          <p:cNvSpPr txBox="1"/>
          <p:nvPr/>
        </p:nvSpPr>
        <p:spPr>
          <a:xfrm>
            <a:off x="8741664" y="4709160"/>
            <a:ext cx="3931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29" name="链4"/>
          <p:cNvSpPr/>
          <p:nvPr/>
        </p:nvSpPr>
        <p:spPr>
          <a:xfrm>
            <a:off x="9134856" y="4709160"/>
            <a:ext cx="2468880" cy="7315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0" name="链文字4"/>
          <p:cNvSpPr txBox="1"/>
          <p:nvPr/>
        </p:nvSpPr>
        <p:spPr>
          <a:xfrm>
            <a:off x="9134856" y="470916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所以 AI 要接入可信数据</a:t>
            </a:r>
            <a:endParaRPr lang="en-US" sz="1400" dirty="0"/>
          </a:p>
        </p:txBody>
      </p:sp>
      <p:sp>
        <p:nvSpPr>
          <p:cNvPr id="31" name="来源说明"/>
          <p:cNvSpPr txBox="1"/>
          <p:nvPr/>
        </p:nvSpPr>
        <p:spPr>
          <a:xfrm>
            <a:off x="548640" y="5943600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来源：报告第 2、5、9、14、18 页。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502920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怎么评价：比起结果，更该看方法</a:t>
            </a:r>
            <a:endParaRPr lang="en-US" sz="3200" dirty="0"/>
          </a:p>
        </p:txBody>
      </p:sp>
      <p:sp>
        <p:nvSpPr>
          <p:cNvPr id="3" name="框架引言"/>
          <p:cNvSpPr txBox="1"/>
          <p:nvPr/>
        </p:nvSpPr>
        <p:spPr>
          <a:xfrm>
            <a:off x="731520" y="14630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课上的春晚满意度案例：央视 81.6% 叫好，新浪网只有 11.5%。调查对象、研究总体、调查时间、研究方法不同，结果必然不同。</a:t>
            </a:r>
            <a:endParaRPr lang="en-US" sz="1600" dirty="0"/>
          </a:p>
        </p:txBody>
      </p:sp>
      <p:sp>
        <p:nvSpPr>
          <p:cNvPr id="4" name="框架卡1"/>
          <p:cNvSpPr/>
          <p:nvPr/>
        </p:nvSpPr>
        <p:spPr>
          <a:xfrm>
            <a:off x="731520" y="2514600"/>
            <a:ext cx="2542032" cy="2743200"/>
          </a:xfrm>
          <a:prstGeom prst="roundRect">
            <a:avLst>
              <a:gd name="adj" fmla="val 431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图标底"/>
          <p:cNvSpPr/>
          <p:nvPr/>
        </p:nvSpPr>
        <p:spPr>
          <a:xfrm>
            <a:off x="1005840" y="2788920"/>
            <a:ext cx="685800" cy="6858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6" name="图标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7290" y="2960370"/>
            <a:ext cx="342900" cy="342900"/>
          </a:xfrm>
          <a:prstGeom prst="rect">
            <a:avLst/>
          </a:prstGeom>
        </p:spPr>
      </p:pic>
      <p:sp>
        <p:nvSpPr>
          <p:cNvPr id="7" name="框架名1"/>
          <p:cNvSpPr txBox="1"/>
          <p:nvPr/>
        </p:nvSpPr>
        <p:spPr>
          <a:xfrm>
            <a:off x="1005840" y="36118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一、调查对象</a:t>
            </a:r>
            <a:endParaRPr lang="en-US" sz="2000" dirty="0"/>
          </a:p>
        </p:txBody>
      </p:sp>
      <p:sp>
        <p:nvSpPr>
          <p:cNvPr id="8" name="框架问题1"/>
          <p:cNvSpPr txBox="1"/>
          <p:nvPr/>
        </p:nvSpPr>
        <p:spPr>
          <a:xfrm>
            <a:off x="1005840" y="4114800"/>
            <a:ext cx="2057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accent6"/>
                </a:solidFill>
              </a:rPr>
              <a:t>这份报告：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问的是 AI 用户，常被写成“美国人”</a:t>
            </a:r>
            <a:endParaRPr lang="en-US" sz="1300" dirty="0"/>
          </a:p>
        </p:txBody>
      </p:sp>
      <p:sp>
        <p:nvSpPr>
          <p:cNvPr id="9" name="框架卡2"/>
          <p:cNvSpPr/>
          <p:nvPr/>
        </p:nvSpPr>
        <p:spPr>
          <a:xfrm>
            <a:off x="3456432" y="2514600"/>
            <a:ext cx="2542032" cy="2743200"/>
          </a:xfrm>
          <a:prstGeom prst="roundRect">
            <a:avLst>
              <a:gd name="adj" fmla="val 431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图标底"/>
          <p:cNvSpPr/>
          <p:nvPr/>
        </p:nvSpPr>
        <p:spPr>
          <a:xfrm>
            <a:off x="3730752" y="2788920"/>
            <a:ext cx="685800" cy="6858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1" name="图标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2202" y="2960370"/>
            <a:ext cx="342900" cy="342900"/>
          </a:xfrm>
          <a:prstGeom prst="rect">
            <a:avLst/>
          </a:prstGeom>
        </p:spPr>
      </p:pic>
      <p:sp>
        <p:nvSpPr>
          <p:cNvPr id="12" name="框架名2"/>
          <p:cNvSpPr txBox="1"/>
          <p:nvPr/>
        </p:nvSpPr>
        <p:spPr>
          <a:xfrm>
            <a:off x="3730752" y="36118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二、研究总体</a:t>
            </a:r>
            <a:endParaRPr lang="en-US" sz="2000" dirty="0"/>
          </a:p>
        </p:txBody>
      </p:sp>
      <p:sp>
        <p:nvSpPr>
          <p:cNvPr id="13" name="框架问题2"/>
          <p:cNvSpPr txBox="1"/>
          <p:nvPr/>
        </p:nvSpPr>
        <p:spPr>
          <a:xfrm>
            <a:off x="3730752" y="4114800"/>
            <a:ext cx="2057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accent6"/>
                </a:solidFill>
              </a:rPr>
              <a:t>这份报告：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六国平均被当成美国数字</a:t>
            </a:r>
            <a:endParaRPr lang="en-US" sz="1300" dirty="0"/>
          </a:p>
        </p:txBody>
      </p:sp>
      <p:sp>
        <p:nvSpPr>
          <p:cNvPr id="14" name="框架卡3"/>
          <p:cNvSpPr/>
          <p:nvPr/>
        </p:nvSpPr>
        <p:spPr>
          <a:xfrm>
            <a:off x="6181344" y="2514600"/>
            <a:ext cx="2542032" cy="2743200"/>
          </a:xfrm>
          <a:prstGeom prst="roundRect">
            <a:avLst>
              <a:gd name="adj" fmla="val 431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图标底"/>
          <p:cNvSpPr/>
          <p:nvPr/>
        </p:nvSpPr>
        <p:spPr>
          <a:xfrm>
            <a:off x="6455664" y="2788920"/>
            <a:ext cx="685800" cy="6858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6" name="图标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7114" y="2960370"/>
            <a:ext cx="342900" cy="342900"/>
          </a:xfrm>
          <a:prstGeom prst="rect">
            <a:avLst/>
          </a:prstGeom>
        </p:spPr>
      </p:pic>
      <p:sp>
        <p:nvSpPr>
          <p:cNvPr id="17" name="框架名3"/>
          <p:cNvSpPr txBox="1"/>
          <p:nvPr/>
        </p:nvSpPr>
        <p:spPr>
          <a:xfrm>
            <a:off x="6455664" y="36118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三、调查时间</a:t>
            </a:r>
            <a:endParaRPr lang="en-US" sz="2000" dirty="0"/>
          </a:p>
        </p:txBody>
      </p:sp>
      <p:sp>
        <p:nvSpPr>
          <p:cNvPr id="18" name="框架问题3"/>
          <p:cNvSpPr txBox="1"/>
          <p:nvPr/>
        </p:nvSpPr>
        <p:spPr>
          <a:xfrm>
            <a:off x="6455664" y="4114800"/>
            <a:ext cx="2057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accent6"/>
                </a:solidFill>
              </a:rPr>
              <a:t>这份报告：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不同调查、不同时间的数字直接比</a:t>
            </a:r>
            <a:endParaRPr lang="en-US" sz="1300" dirty="0"/>
          </a:p>
        </p:txBody>
      </p:sp>
      <p:sp>
        <p:nvSpPr>
          <p:cNvPr id="19" name="框架卡4"/>
          <p:cNvSpPr/>
          <p:nvPr/>
        </p:nvSpPr>
        <p:spPr>
          <a:xfrm>
            <a:off x="8906256" y="2514600"/>
            <a:ext cx="2542032" cy="2743200"/>
          </a:xfrm>
          <a:prstGeom prst="roundRect">
            <a:avLst>
              <a:gd name="adj" fmla="val 431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图标底"/>
          <p:cNvSpPr/>
          <p:nvPr/>
        </p:nvSpPr>
        <p:spPr>
          <a:xfrm>
            <a:off x="9180576" y="2788920"/>
            <a:ext cx="685800" cy="6858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21" name="图标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2026" y="2960370"/>
            <a:ext cx="342900" cy="342900"/>
          </a:xfrm>
          <a:prstGeom prst="rect">
            <a:avLst/>
          </a:prstGeom>
        </p:spPr>
      </p:pic>
      <p:sp>
        <p:nvSpPr>
          <p:cNvPr id="22" name="框架名4"/>
          <p:cNvSpPr txBox="1"/>
          <p:nvPr/>
        </p:nvSpPr>
        <p:spPr>
          <a:xfrm>
            <a:off x="9180576" y="36118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四、研究方法</a:t>
            </a:r>
            <a:endParaRPr lang="en-US" sz="2000" dirty="0"/>
          </a:p>
        </p:txBody>
      </p:sp>
      <p:sp>
        <p:nvSpPr>
          <p:cNvPr id="23" name="框架问题4"/>
          <p:cNvSpPr txBox="1"/>
          <p:nvPr/>
        </p:nvSpPr>
        <p:spPr>
          <a:xfrm>
            <a:off x="9180576" y="4114800"/>
            <a:ext cx="2057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accent6"/>
                </a:solidFill>
              </a:rPr>
              <a:t>这份报告：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四种不同数据串成因果链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对象：4,003 人是 AI 用户</a:t>
            </a:r>
            <a:endParaRPr lang="en-US" sz="3000" dirty="0"/>
          </a:p>
        </p:txBody>
      </p:sp>
      <p:sp>
        <p:nvSpPr>
          <p:cNvPr id="3" name="角度1"/>
          <p:cNvSpPr/>
          <p:nvPr/>
        </p:nvSpPr>
        <p:spPr>
          <a:xfrm>
            <a:off x="8183880" y="566928"/>
            <a:ext cx="82296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角度文字1"/>
          <p:cNvSpPr txBox="1"/>
          <p:nvPr/>
        </p:nvSpPr>
        <p:spPr>
          <a:xfrm>
            <a:off x="8183880" y="56692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对象</a:t>
            </a:r>
            <a:endParaRPr lang="en-US" sz="1200" dirty="0"/>
          </a:p>
        </p:txBody>
      </p:sp>
      <p:sp>
        <p:nvSpPr>
          <p:cNvPr id="5" name="角度2"/>
          <p:cNvSpPr/>
          <p:nvPr/>
        </p:nvSpPr>
        <p:spPr>
          <a:xfrm>
            <a:off x="9061704" y="566928"/>
            <a:ext cx="822960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6" name="角度文字2"/>
          <p:cNvSpPr txBox="1"/>
          <p:nvPr/>
        </p:nvSpPr>
        <p:spPr>
          <a:xfrm>
            <a:off x="9061704" y="56692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总体</a:t>
            </a:r>
            <a:endParaRPr lang="en-US" sz="1200" dirty="0"/>
          </a:p>
        </p:txBody>
      </p:sp>
      <p:sp>
        <p:nvSpPr>
          <p:cNvPr id="7" name="角度3"/>
          <p:cNvSpPr/>
          <p:nvPr/>
        </p:nvSpPr>
        <p:spPr>
          <a:xfrm>
            <a:off x="9939528" y="566928"/>
            <a:ext cx="822960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角度文字3"/>
          <p:cNvSpPr txBox="1"/>
          <p:nvPr/>
        </p:nvSpPr>
        <p:spPr>
          <a:xfrm>
            <a:off x="9939528" y="56692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时间</a:t>
            </a:r>
            <a:endParaRPr lang="en-US" sz="1200" dirty="0"/>
          </a:p>
        </p:txBody>
      </p:sp>
      <p:sp>
        <p:nvSpPr>
          <p:cNvPr id="9" name="角度4"/>
          <p:cNvSpPr/>
          <p:nvPr/>
        </p:nvSpPr>
        <p:spPr>
          <a:xfrm>
            <a:off x="10817352" y="566928"/>
            <a:ext cx="822960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" name="角度文字4"/>
          <p:cNvSpPr txBox="1"/>
          <p:nvPr/>
        </p:nvSpPr>
        <p:spPr>
          <a:xfrm>
            <a:off x="10817352" y="56692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方法</a:t>
            </a:r>
            <a:endParaRPr lang="en-US" sz="1200" dirty="0"/>
          </a:p>
        </p:txBody>
      </p:sp>
      <p:sp>
        <p:nvSpPr>
          <p:cNvPr id="11" name="总体圈1"/>
          <p:cNvSpPr/>
          <p:nvPr/>
        </p:nvSpPr>
        <p:spPr>
          <a:xfrm>
            <a:off x="548640" y="1371600"/>
            <a:ext cx="4389120" cy="4389120"/>
          </a:xfrm>
          <a:prstGeom prst="ellipse">
            <a:avLst/>
          </a:prstGeom>
          <a:solidFill>
            <a:schemeClr val="bg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2" name="总体标签1"/>
          <p:cNvSpPr txBox="1"/>
          <p:nvPr/>
        </p:nvSpPr>
        <p:spPr>
          <a:xfrm>
            <a:off x="548640" y="148132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美国人口</a:t>
            </a:r>
            <a:endParaRPr lang="en-US" sz="1300" dirty="0"/>
          </a:p>
        </p:txBody>
      </p:sp>
      <p:sp>
        <p:nvSpPr>
          <p:cNvPr id="13" name="总体圈2"/>
          <p:cNvSpPr/>
          <p:nvPr/>
        </p:nvSpPr>
        <p:spPr>
          <a:xfrm>
            <a:off x="960120" y="2011680"/>
            <a:ext cx="3566160" cy="3566160"/>
          </a:xfrm>
          <a:prstGeom prst="ellipse">
            <a:avLst/>
          </a:prstGeom>
          <a:solidFill>
            <a:schemeClr val="accent6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4" name="总体标签2"/>
          <p:cNvSpPr txBox="1"/>
          <p:nvPr/>
        </p:nvSpPr>
        <p:spPr>
          <a:xfrm>
            <a:off x="960120" y="212140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互联网用户</a:t>
            </a:r>
            <a:endParaRPr lang="en-US" sz="1300" dirty="0"/>
          </a:p>
        </p:txBody>
      </p:sp>
      <p:sp>
        <p:nvSpPr>
          <p:cNvPr id="15" name="总体圈3"/>
          <p:cNvSpPr/>
          <p:nvPr/>
        </p:nvSpPr>
        <p:spPr>
          <a:xfrm>
            <a:off x="1371600" y="2651760"/>
            <a:ext cx="2743200" cy="2743200"/>
          </a:xfrm>
          <a:prstGeom prst="ellipse">
            <a:avLst/>
          </a:prstGeom>
          <a:solidFill>
            <a:srgbClr val="A99BEA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6" name="总体标签3"/>
          <p:cNvSpPr txBox="1"/>
          <p:nvPr/>
        </p:nvSpPr>
        <p:spPr>
          <a:xfrm>
            <a:off x="1371600" y="276148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AI 聊天机器人用户</a:t>
            </a:r>
            <a:endParaRPr lang="en-US" sz="1300" dirty="0"/>
          </a:p>
        </p:txBody>
      </p:sp>
      <p:sp>
        <p:nvSpPr>
          <p:cNvPr id="17" name="总体圈4"/>
          <p:cNvSpPr/>
          <p:nvPr/>
        </p:nvSpPr>
        <p:spPr>
          <a:xfrm>
            <a:off x="1828800" y="3291840"/>
            <a:ext cx="1828800" cy="182880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8" name="受访者标签"/>
          <p:cNvSpPr txBox="1"/>
          <p:nvPr/>
        </p:nvSpPr>
        <p:spPr>
          <a:xfrm>
            <a:off x="1828800" y="356616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本次受访者</a:t>
            </a:r>
            <a:endParaRPr lang="en-US" sz="1300" dirty="0"/>
          </a:p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4,003</a:t>
            </a:r>
            <a:endParaRPr lang="en-US" sz="1300" dirty="0"/>
          </a:p>
        </p:txBody>
      </p:sp>
      <p:sp>
        <p:nvSpPr>
          <p:cNvPr id="19" name="对象要点1"/>
          <p:cNvSpPr txBox="1"/>
          <p:nvPr/>
        </p:nvSpPr>
        <p:spPr>
          <a:xfrm>
            <a:off x="5486400" y="1417320"/>
            <a:ext cx="6126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</a:rPr>
              <a:t>报告的写法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调查对象是“互联网和 AI 聊天机器人用户”，正文却常写成 “Americans”“U.S. consumers”。</a:t>
            </a:r>
            <a:endParaRPr lang="en-US" sz="1600" dirty="0"/>
          </a:p>
        </p:txBody>
      </p:sp>
      <p:sp>
        <p:nvSpPr>
          <p:cNvPr id="20" name="对象要点2"/>
          <p:cNvSpPr txBox="1"/>
          <p:nvPr/>
        </p:nvSpPr>
        <p:spPr>
          <a:xfrm>
            <a:off x="5486400" y="2606040"/>
            <a:ext cx="6126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“Alpha 世代”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定义是 2010–2024 年出生，样本里只有 13–14 岁这两岁。</a:t>
            </a:r>
            <a:endParaRPr lang="en-US" sz="1600" dirty="0"/>
          </a:p>
        </p:txBody>
      </p:sp>
      <p:sp>
        <p:nvSpPr>
          <p:cNvPr id="21" name="对象要点3"/>
          <p:cNvSpPr txBox="1"/>
          <p:nvPr/>
        </p:nvSpPr>
        <p:spPr>
          <a:xfrm>
            <a:off x="5486400" y="3794760"/>
            <a:ext cx="6126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3"/>
                </a:solidFill>
              </a:rPr>
              <a:t>没有公开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样本来源、是否概率抽样、加权、回应率、各年龄组人数。</a:t>
            </a:r>
            <a:endParaRPr lang="en-US" sz="1600" dirty="0"/>
          </a:p>
        </p:txBody>
      </p:sp>
      <p:sp>
        <p:nvSpPr>
          <p:cNvPr id="22" name="Durex卡"/>
          <p:cNvSpPr/>
          <p:nvPr/>
        </p:nvSpPr>
        <p:spPr>
          <a:xfrm>
            <a:off x="5486400" y="5074920"/>
            <a:ext cx="612648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Durex联系"/>
          <p:cNvSpPr txBox="1"/>
          <p:nvPr/>
        </p:nvSpPr>
        <p:spPr>
          <a:xfrm>
            <a:off x="5715000" y="5074920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和课上 Durex 网络调查是同一个问题：网络样本能否代表总体？</a:t>
            </a:r>
            <a:endParaRPr lang="en-US" sz="1500" dirty="0"/>
          </a:p>
        </p:txBody>
      </p:sp>
      <p:sp>
        <p:nvSpPr>
          <p:cNvPr id="24" name="来源说明"/>
          <p:cNvSpPr txBox="1"/>
          <p:nvPr/>
        </p:nvSpPr>
        <p:spPr>
          <a:xfrm>
            <a:off x="548640" y="5943600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来源：报告第 2、5、6、20、23 页；Nielsen 新闻稿（“Gen Alpha findings are based on respondents ages 13 and 14”）。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总体：六国平均当成了美国数字</a:t>
            </a:r>
            <a:endParaRPr lang="en-US" sz="3000" dirty="0"/>
          </a:p>
        </p:txBody>
      </p:sp>
      <p:sp>
        <p:nvSpPr>
          <p:cNvPr id="3" name="角度1"/>
          <p:cNvSpPr/>
          <p:nvPr/>
        </p:nvSpPr>
        <p:spPr>
          <a:xfrm>
            <a:off x="8183880" y="566928"/>
            <a:ext cx="822960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" name="角度文字1"/>
          <p:cNvSpPr txBox="1"/>
          <p:nvPr/>
        </p:nvSpPr>
        <p:spPr>
          <a:xfrm>
            <a:off x="8183880" y="56692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对象</a:t>
            </a:r>
            <a:endParaRPr lang="en-US" sz="1200" dirty="0"/>
          </a:p>
        </p:txBody>
      </p:sp>
      <p:sp>
        <p:nvSpPr>
          <p:cNvPr id="5" name="角度2"/>
          <p:cNvSpPr/>
          <p:nvPr/>
        </p:nvSpPr>
        <p:spPr>
          <a:xfrm>
            <a:off x="9061704" y="566928"/>
            <a:ext cx="82296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角度文字2"/>
          <p:cNvSpPr txBox="1"/>
          <p:nvPr/>
        </p:nvSpPr>
        <p:spPr>
          <a:xfrm>
            <a:off x="9061704" y="56692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总体</a:t>
            </a:r>
            <a:endParaRPr lang="en-US" sz="1200" dirty="0"/>
          </a:p>
        </p:txBody>
      </p:sp>
      <p:sp>
        <p:nvSpPr>
          <p:cNvPr id="7" name="角度3"/>
          <p:cNvSpPr/>
          <p:nvPr/>
        </p:nvSpPr>
        <p:spPr>
          <a:xfrm>
            <a:off x="9939528" y="566928"/>
            <a:ext cx="822960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角度文字3"/>
          <p:cNvSpPr txBox="1"/>
          <p:nvPr/>
        </p:nvSpPr>
        <p:spPr>
          <a:xfrm>
            <a:off x="9939528" y="56692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时间</a:t>
            </a:r>
            <a:endParaRPr lang="en-US" sz="1200" dirty="0"/>
          </a:p>
        </p:txBody>
      </p:sp>
      <p:sp>
        <p:nvSpPr>
          <p:cNvPr id="9" name="角度4"/>
          <p:cNvSpPr/>
          <p:nvPr/>
        </p:nvSpPr>
        <p:spPr>
          <a:xfrm>
            <a:off x="10817352" y="566928"/>
            <a:ext cx="822960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" name="角度文字4"/>
          <p:cNvSpPr txBox="1"/>
          <p:nvPr/>
        </p:nvSpPr>
        <p:spPr>
          <a:xfrm>
            <a:off x="10817352" y="56692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方法</a:t>
            </a:r>
            <a:endParaRPr lang="en-US" sz="1200" dirty="0"/>
          </a:p>
        </p:txBody>
      </p:sp>
      <p:graphicFrame>
        <p:nvGraphicFramePr>
          <p:cNvPr id="11" name="分国家找节目时间图" descr=""/>
          <p:cNvGraphicFramePr/>
          <p:nvPr/>
        </p:nvGraphicFramePr>
        <p:xfrm>
          <a:off x="548640" y="1325880"/>
          <a:ext cx="512064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口径卡1"/>
          <p:cNvSpPr/>
          <p:nvPr/>
        </p:nvSpPr>
        <p:spPr>
          <a:xfrm>
            <a:off x="6035040" y="1371600"/>
            <a:ext cx="557784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口径数字1"/>
          <p:cNvSpPr txBox="1"/>
          <p:nvPr/>
        </p:nvSpPr>
        <p:spPr>
          <a:xfrm>
            <a:off x="6263640" y="1371600"/>
            <a:ext cx="1371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14 分钟</a:t>
            </a:r>
            <a:endParaRPr lang="en-US" sz="2200" dirty="0"/>
          </a:p>
        </p:txBody>
      </p:sp>
      <p:sp>
        <p:nvSpPr>
          <p:cNvPr id="14" name="口径说明1"/>
          <p:cNvSpPr txBox="1"/>
          <p:nvPr/>
        </p:nvSpPr>
        <p:spPr>
          <a:xfrm>
            <a:off x="7680960" y="1444752"/>
            <a:ext cx="3794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六国简单平均：美国自己 12 分钟，法国 26 分钟拉高了平均。报告却把它和美国尼尔森收视数据画在同一张图里。</a:t>
            </a:r>
            <a:endParaRPr lang="en-US" sz="1400" dirty="0"/>
          </a:p>
        </p:txBody>
      </p:sp>
      <p:sp>
        <p:nvSpPr>
          <p:cNvPr id="15" name="口径卡2"/>
          <p:cNvSpPr/>
          <p:nvPr/>
        </p:nvSpPr>
        <p:spPr>
          <a:xfrm>
            <a:off x="6035040" y="2880360"/>
            <a:ext cx="557784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口径数字2"/>
          <p:cNvSpPr txBox="1"/>
          <p:nvPr/>
        </p:nvSpPr>
        <p:spPr>
          <a:xfrm>
            <a:off x="6263640" y="2880360"/>
            <a:ext cx="1371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54%</a:t>
            </a:r>
            <a:endParaRPr lang="en-US" sz="2200" dirty="0"/>
          </a:p>
        </p:txBody>
      </p:sp>
      <p:sp>
        <p:nvSpPr>
          <p:cNvPr id="17" name="口径说明2"/>
          <p:cNvSpPr txBox="1"/>
          <p:nvPr/>
        </p:nvSpPr>
        <p:spPr>
          <a:xfrm>
            <a:off x="7680960" y="2953512"/>
            <a:ext cx="3794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“18–34 岁可能退订”与六国数据吻合；“50% 的美国观众会考虑取消”，原文只找到六国 49%。</a:t>
            </a:r>
            <a:endParaRPr lang="en-US" sz="1400" dirty="0"/>
          </a:p>
        </p:txBody>
      </p:sp>
      <p:sp>
        <p:nvSpPr>
          <p:cNvPr id="18" name="口径卡3"/>
          <p:cNvSpPr/>
          <p:nvPr/>
        </p:nvSpPr>
        <p:spPr>
          <a:xfrm>
            <a:off x="6035040" y="4389120"/>
            <a:ext cx="557784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口径数字3"/>
          <p:cNvSpPr txBox="1"/>
          <p:nvPr/>
        </p:nvSpPr>
        <p:spPr>
          <a:xfrm>
            <a:off x="6263640" y="4389120"/>
            <a:ext cx="1371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32%</a:t>
            </a:r>
            <a:endParaRPr lang="en-US" sz="2200" dirty="0"/>
          </a:p>
        </p:txBody>
      </p:sp>
      <p:sp>
        <p:nvSpPr>
          <p:cNvPr id="20" name="口径说明3"/>
          <p:cNvSpPr txBox="1"/>
          <p:nvPr/>
        </p:nvSpPr>
        <p:spPr>
          <a:xfrm>
            <a:off x="7680960" y="4462272"/>
            <a:ext cx="3794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与六国平均一致；第 12 页同一题写成“34% 的美国人”。</a:t>
            </a:r>
            <a:endParaRPr lang="en-US" sz="1400" dirty="0"/>
          </a:p>
        </p:txBody>
      </p:sp>
      <p:sp>
        <p:nvSpPr>
          <p:cNvPr id="21" name="来源说明"/>
          <p:cNvSpPr txBox="1"/>
          <p:nvPr/>
        </p:nvSpPr>
        <p:spPr>
          <a:xfrm>
            <a:off x="548640" y="5989320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来源：报告第 2、6、9、12 页；Gracenote 2025《State of Play》分国家、分年龄图表（每国 500 人）。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时间：24% 到 54% 不是“增长”</a:t>
            </a:r>
            <a:endParaRPr lang="en-US" sz="3000" dirty="0"/>
          </a:p>
        </p:txBody>
      </p:sp>
      <p:sp>
        <p:nvSpPr>
          <p:cNvPr id="3" name="角度1"/>
          <p:cNvSpPr/>
          <p:nvPr/>
        </p:nvSpPr>
        <p:spPr>
          <a:xfrm>
            <a:off x="8183880" y="566928"/>
            <a:ext cx="822960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" name="角度文字1"/>
          <p:cNvSpPr txBox="1"/>
          <p:nvPr/>
        </p:nvSpPr>
        <p:spPr>
          <a:xfrm>
            <a:off x="8183880" y="56692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对象</a:t>
            </a:r>
            <a:endParaRPr lang="en-US" sz="1200" dirty="0"/>
          </a:p>
        </p:txBody>
      </p:sp>
      <p:sp>
        <p:nvSpPr>
          <p:cNvPr id="5" name="角度2"/>
          <p:cNvSpPr/>
          <p:nvPr/>
        </p:nvSpPr>
        <p:spPr>
          <a:xfrm>
            <a:off x="9061704" y="566928"/>
            <a:ext cx="822960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6" name="角度文字2"/>
          <p:cNvSpPr txBox="1"/>
          <p:nvPr/>
        </p:nvSpPr>
        <p:spPr>
          <a:xfrm>
            <a:off x="9061704" y="56692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总体</a:t>
            </a:r>
            <a:endParaRPr lang="en-US" sz="1200" dirty="0"/>
          </a:p>
        </p:txBody>
      </p:sp>
      <p:sp>
        <p:nvSpPr>
          <p:cNvPr id="7" name="角度3"/>
          <p:cNvSpPr/>
          <p:nvPr/>
        </p:nvSpPr>
        <p:spPr>
          <a:xfrm>
            <a:off x="9939528" y="566928"/>
            <a:ext cx="82296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角度文字3"/>
          <p:cNvSpPr txBox="1"/>
          <p:nvPr/>
        </p:nvSpPr>
        <p:spPr>
          <a:xfrm>
            <a:off x="9939528" y="56692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时间</a:t>
            </a:r>
            <a:endParaRPr lang="en-US" sz="1200" dirty="0"/>
          </a:p>
        </p:txBody>
      </p:sp>
      <p:sp>
        <p:nvSpPr>
          <p:cNvPr id="9" name="角度4"/>
          <p:cNvSpPr/>
          <p:nvPr/>
        </p:nvSpPr>
        <p:spPr>
          <a:xfrm>
            <a:off x="10817352" y="566928"/>
            <a:ext cx="822960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" name="角度文字4"/>
          <p:cNvSpPr txBox="1"/>
          <p:nvPr/>
        </p:nvSpPr>
        <p:spPr>
          <a:xfrm>
            <a:off x="10817352" y="56692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方法</a:t>
            </a:r>
            <a:endParaRPr lang="en-US" sz="1200" dirty="0"/>
          </a:p>
        </p:txBody>
      </p:sp>
      <p:sp>
        <p:nvSpPr>
          <p:cNvPr id="11" name="报告原话"/>
          <p:cNvSpPr txBox="1"/>
          <p:nvPr/>
        </p:nvSpPr>
        <p:spPr>
          <a:xfrm>
            <a:off x="548640" y="128016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报告原话：Pew 2025 年秋发现 30% 的青少年每天用聊天机器人，“仅仅几个月后”Gracenote 调查显示超过一半，说明使用频率“在加速”。</a:t>
            </a:r>
            <a:endParaRPr lang="en-US" sz="1500" dirty="0"/>
          </a:p>
        </p:txBody>
      </p:sp>
      <p:sp>
        <p:nvSpPr>
          <p:cNvPr id="12" name="对比卡1"/>
          <p:cNvSpPr/>
          <p:nvPr/>
        </p:nvSpPr>
        <p:spPr>
          <a:xfrm>
            <a:off x="548640" y="2057400"/>
            <a:ext cx="5029200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对比机构1"/>
          <p:cNvSpPr txBox="1"/>
          <p:nvPr/>
        </p:nvSpPr>
        <p:spPr>
          <a:xfrm>
            <a:off x="822960" y="219456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Pew 研究中心</a:t>
            </a:r>
            <a:endParaRPr lang="en-US" sz="1600" dirty="0"/>
          </a:p>
        </p:txBody>
      </p:sp>
      <p:sp>
        <p:nvSpPr>
          <p:cNvPr id="14" name="对比数字1"/>
          <p:cNvSpPr txBox="1"/>
          <p:nvPr/>
        </p:nvSpPr>
        <p:spPr>
          <a:xfrm>
            <a:off x="822960" y="260604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24%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13–14 岁每天使用</a:t>
            </a:r>
            <a:endParaRPr lang="en-US" sz="5400" dirty="0"/>
          </a:p>
        </p:txBody>
      </p:sp>
      <p:sp>
        <p:nvSpPr>
          <p:cNvPr id="15" name="对比说明1"/>
          <p:cNvSpPr txBox="1"/>
          <p:nvPr/>
        </p:nvSpPr>
        <p:spPr>
          <a:xfrm>
            <a:off x="822960" y="356616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分母：全体 13–14 岁青少年，用不用 AI 都算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概率样本，加权；2025.9–10</a:t>
            </a:r>
            <a:endParaRPr lang="en-US" sz="1300" dirty="0"/>
          </a:p>
        </p:txBody>
      </p:sp>
      <p:sp>
        <p:nvSpPr>
          <p:cNvPr id="16" name="对比卡2"/>
          <p:cNvSpPr/>
          <p:nvPr/>
        </p:nvSpPr>
        <p:spPr>
          <a:xfrm>
            <a:off x="6611112" y="2057400"/>
            <a:ext cx="5029200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对比机构2"/>
          <p:cNvSpPr txBox="1"/>
          <p:nvPr/>
        </p:nvSpPr>
        <p:spPr>
          <a:xfrm>
            <a:off x="6885432" y="219456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Gracenote</a:t>
            </a:r>
            <a:endParaRPr lang="en-US" sz="1600" dirty="0"/>
          </a:p>
        </p:txBody>
      </p:sp>
      <p:sp>
        <p:nvSpPr>
          <p:cNvPr id="18" name="对比数字2"/>
          <p:cNvSpPr txBox="1"/>
          <p:nvPr/>
        </p:nvSpPr>
        <p:spPr>
          <a:xfrm>
            <a:off x="6885432" y="260604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13–14 岁每天使用</a:t>
            </a:r>
            <a:endParaRPr lang="en-US" sz="5400" dirty="0"/>
          </a:p>
        </p:txBody>
      </p:sp>
      <p:sp>
        <p:nvSpPr>
          <p:cNvPr id="19" name="对比说明2"/>
          <p:cNvSpPr txBox="1"/>
          <p:nvPr/>
        </p:nvSpPr>
        <p:spPr>
          <a:xfrm>
            <a:off x="6885432" y="356616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分母：13–14 岁的 AI 聊天机器人用户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线上样本，未公开加权；2026.1–2</a:t>
            </a:r>
            <a:endParaRPr lang="en-US" sz="1300" dirty="0"/>
          </a:p>
        </p:txBody>
      </p:sp>
      <p:sp>
        <p:nvSpPr>
          <p:cNvPr id="20" name="不等号"/>
          <p:cNvSpPr txBox="1"/>
          <p:nvPr/>
        </p:nvSpPr>
        <p:spPr>
          <a:xfrm>
            <a:off x="5577840" y="2057400"/>
            <a:ext cx="1033272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accent3"/>
                </a:solidFill>
              </a:rPr>
              <a:t>≠</a:t>
            </a:r>
            <a:endParaRPr lang="en-US" sz="4800" dirty="0"/>
          </a:p>
        </p:txBody>
      </p:sp>
      <p:sp>
        <p:nvSpPr>
          <p:cNvPr id="21" name="同分母条"/>
          <p:cNvSpPr/>
          <p:nvPr/>
        </p:nvSpPr>
        <p:spPr>
          <a:xfrm>
            <a:off x="548640" y="4709160"/>
            <a:ext cx="11064240" cy="109728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2" name="同分母结论"/>
          <p:cNvSpPr txBox="1"/>
          <p:nvPr/>
        </p:nvSpPr>
        <p:spPr>
          <a:xfrm>
            <a:off x="822960" y="4709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换成同一分母（只看使用者）：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Pew 44% 对 Gracenote 54%，只差约 10 个百分点。剩下的差距还可能来自年龄、方法、时间不同，不能说明“加速”。</a:t>
            </a:r>
            <a:endParaRPr lang="en-US" sz="1500" dirty="0"/>
          </a:p>
        </p:txBody>
      </p:sp>
      <p:sp>
        <p:nvSpPr>
          <p:cNvPr id="23" name="来源说明"/>
          <p:cNvSpPr txBox="1"/>
          <p:nvPr/>
        </p:nvSpPr>
        <p:spPr>
          <a:xfrm>
            <a:off x="548640" y="5943600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来源：报告第 14 页；Pew《Teens, Social Media and AI Chatbots 2025》数据表（全体每天 28%，13–14 岁 24%，使用者 44%）。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方法：四种数据串成一条因果链</a:t>
            </a:r>
            <a:endParaRPr lang="en-US" sz="3000" dirty="0"/>
          </a:p>
        </p:txBody>
      </p:sp>
      <p:sp>
        <p:nvSpPr>
          <p:cNvPr id="3" name="角度1"/>
          <p:cNvSpPr/>
          <p:nvPr/>
        </p:nvSpPr>
        <p:spPr>
          <a:xfrm>
            <a:off x="8183880" y="566928"/>
            <a:ext cx="822960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" name="角度文字1"/>
          <p:cNvSpPr txBox="1"/>
          <p:nvPr/>
        </p:nvSpPr>
        <p:spPr>
          <a:xfrm>
            <a:off x="8183880" y="56692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对象</a:t>
            </a:r>
            <a:endParaRPr lang="en-US" sz="1200" dirty="0"/>
          </a:p>
        </p:txBody>
      </p:sp>
      <p:sp>
        <p:nvSpPr>
          <p:cNvPr id="5" name="角度2"/>
          <p:cNvSpPr/>
          <p:nvPr/>
        </p:nvSpPr>
        <p:spPr>
          <a:xfrm>
            <a:off x="9061704" y="566928"/>
            <a:ext cx="822960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6" name="角度文字2"/>
          <p:cNvSpPr txBox="1"/>
          <p:nvPr/>
        </p:nvSpPr>
        <p:spPr>
          <a:xfrm>
            <a:off x="9061704" y="56692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总体</a:t>
            </a:r>
            <a:endParaRPr lang="en-US" sz="1200" dirty="0"/>
          </a:p>
        </p:txBody>
      </p:sp>
      <p:sp>
        <p:nvSpPr>
          <p:cNvPr id="7" name="角度3"/>
          <p:cNvSpPr/>
          <p:nvPr/>
        </p:nvSpPr>
        <p:spPr>
          <a:xfrm>
            <a:off x="9939528" y="566928"/>
            <a:ext cx="822960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角度文字3"/>
          <p:cNvSpPr txBox="1"/>
          <p:nvPr/>
        </p:nvSpPr>
        <p:spPr>
          <a:xfrm>
            <a:off x="9939528" y="56692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时间</a:t>
            </a:r>
            <a:endParaRPr lang="en-US" sz="1200" dirty="0"/>
          </a:p>
        </p:txBody>
      </p:sp>
      <p:sp>
        <p:nvSpPr>
          <p:cNvPr id="9" name="角度4"/>
          <p:cNvSpPr/>
          <p:nvPr/>
        </p:nvSpPr>
        <p:spPr>
          <a:xfrm>
            <a:off x="10817352" y="566928"/>
            <a:ext cx="82296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角度文字4"/>
          <p:cNvSpPr txBox="1"/>
          <p:nvPr/>
        </p:nvSpPr>
        <p:spPr>
          <a:xfrm>
            <a:off x="10817352" y="56692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方法</a:t>
            </a:r>
            <a:endParaRPr lang="en-US" sz="1200" dirty="0"/>
          </a:p>
        </p:txBody>
      </p:sp>
      <p:sp>
        <p:nvSpPr>
          <p:cNvPr id="11" name="数据卡1"/>
          <p:cNvSpPr/>
          <p:nvPr/>
        </p:nvSpPr>
        <p:spPr>
          <a:xfrm>
            <a:off x="548640" y="1371600"/>
            <a:ext cx="2514600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数据类型1"/>
          <p:cNvSpPr txBox="1"/>
          <p:nvPr/>
        </p:nvSpPr>
        <p:spPr>
          <a:xfrm>
            <a:off x="777240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意向 · 问卷</a:t>
            </a:r>
            <a:endParaRPr lang="en-US" sz="1400" dirty="0"/>
          </a:p>
        </p:txBody>
      </p:sp>
      <p:sp>
        <p:nvSpPr>
          <p:cNvPr id="13" name="数据数字1"/>
          <p:cNvSpPr txBox="1"/>
          <p:nvPr/>
        </p:nvSpPr>
        <p:spPr>
          <a:xfrm>
            <a:off x="777240" y="187452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54%</a:t>
            </a:r>
            <a:endParaRPr lang="en-US" sz="3200" dirty="0"/>
          </a:p>
        </p:txBody>
      </p:sp>
      <p:sp>
        <p:nvSpPr>
          <p:cNvPr id="14" name="数据说明1"/>
          <p:cNvSpPr txBox="1"/>
          <p:nvPr/>
        </p:nvSpPr>
        <p:spPr>
          <a:xfrm>
            <a:off x="777240" y="2560320"/>
            <a:ext cx="2148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18–34 岁“可能会退订”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3"/>
                </a:solidFill>
              </a:rPr>
              <a:t>六国口径</a:t>
            </a:r>
            <a:endParaRPr lang="en-US" sz="1400" dirty="0"/>
          </a:p>
        </p:txBody>
      </p:sp>
      <p:sp>
        <p:nvSpPr>
          <p:cNvPr id="15" name="箭头1"/>
          <p:cNvSpPr txBox="1"/>
          <p:nvPr/>
        </p:nvSpPr>
        <p:spPr>
          <a:xfrm>
            <a:off x="3063240" y="1371600"/>
            <a:ext cx="338328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16" name="数据卡2"/>
          <p:cNvSpPr/>
          <p:nvPr/>
        </p:nvSpPr>
        <p:spPr>
          <a:xfrm>
            <a:off x="3401568" y="1371600"/>
            <a:ext cx="2514600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数据类型2"/>
          <p:cNvSpPr txBox="1"/>
          <p:nvPr/>
        </p:nvSpPr>
        <p:spPr>
          <a:xfrm>
            <a:off x="3630168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行为 · 行业指标</a:t>
            </a:r>
            <a:endParaRPr lang="en-US" sz="1400" dirty="0"/>
          </a:p>
        </p:txBody>
      </p:sp>
      <p:sp>
        <p:nvSpPr>
          <p:cNvPr id="18" name="数据数字2"/>
          <p:cNvSpPr txBox="1"/>
          <p:nvPr/>
        </p:nvSpPr>
        <p:spPr>
          <a:xfrm>
            <a:off x="3630168" y="187452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5.5%</a:t>
            </a:r>
            <a:endParaRPr lang="en-US" sz="3200" dirty="0"/>
          </a:p>
        </p:txBody>
      </p:sp>
      <p:sp>
        <p:nvSpPr>
          <p:cNvPr id="19" name="数据说明2"/>
          <p:cNvSpPr txBox="1"/>
          <p:nvPr/>
        </p:nvSpPr>
        <p:spPr>
          <a:xfrm>
            <a:off x="3630168" y="2560320"/>
            <a:ext cx="2148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主要平台月流失率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3"/>
                </a:solidFill>
              </a:rPr>
              <a:t>定义未公开；另一机构测得 2019 年已是 4.1%</a:t>
            </a:r>
            <a:endParaRPr lang="en-US" sz="1400" dirty="0"/>
          </a:p>
        </p:txBody>
      </p:sp>
      <p:sp>
        <p:nvSpPr>
          <p:cNvPr id="20" name="箭头2"/>
          <p:cNvSpPr txBox="1"/>
          <p:nvPr/>
        </p:nvSpPr>
        <p:spPr>
          <a:xfrm>
            <a:off x="5916168" y="1371600"/>
            <a:ext cx="338328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21" name="数据卡3"/>
          <p:cNvSpPr/>
          <p:nvPr/>
        </p:nvSpPr>
        <p:spPr>
          <a:xfrm>
            <a:off x="6254496" y="1371600"/>
            <a:ext cx="2514600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数据类型3"/>
          <p:cNvSpPr txBox="1"/>
          <p:nvPr/>
        </p:nvSpPr>
        <p:spPr>
          <a:xfrm>
            <a:off x="6483096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预测 · 模型</a:t>
            </a:r>
            <a:endParaRPr lang="en-US" sz="1400" dirty="0"/>
          </a:p>
        </p:txBody>
      </p:sp>
      <p:sp>
        <p:nvSpPr>
          <p:cNvPr id="23" name="数据数字3"/>
          <p:cNvSpPr txBox="1"/>
          <p:nvPr/>
        </p:nvSpPr>
        <p:spPr>
          <a:xfrm>
            <a:off x="6483096" y="187452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3,185 亿美元</a:t>
            </a:r>
            <a:endParaRPr lang="en-US" sz="2200" dirty="0"/>
          </a:p>
        </p:txBody>
      </p:sp>
      <p:sp>
        <p:nvSpPr>
          <p:cNvPr id="24" name="数据说明3"/>
          <p:cNvSpPr txBox="1"/>
          <p:nvPr/>
        </p:nvSpPr>
        <p:spPr>
          <a:xfrm>
            <a:off x="6483096" y="2560320"/>
            <a:ext cx="2148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OTT + 付费电视 2029 年支出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3"/>
                </a:solidFill>
              </a:rPr>
              <a:t>PwC 的全球数字，不是美国</a:t>
            </a:r>
            <a:endParaRPr lang="en-US" sz="1400" dirty="0"/>
          </a:p>
        </p:txBody>
      </p:sp>
      <p:sp>
        <p:nvSpPr>
          <p:cNvPr id="25" name="箭头3"/>
          <p:cNvSpPr txBox="1"/>
          <p:nvPr/>
        </p:nvSpPr>
        <p:spPr>
          <a:xfrm>
            <a:off x="8769096" y="1371600"/>
            <a:ext cx="338328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26" name="数据卡4"/>
          <p:cNvSpPr/>
          <p:nvPr/>
        </p:nvSpPr>
        <p:spPr>
          <a:xfrm>
            <a:off x="9107424" y="1371600"/>
            <a:ext cx="2514600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数据类型4"/>
          <p:cNvSpPr txBox="1"/>
          <p:nvPr/>
        </p:nvSpPr>
        <p:spPr>
          <a:xfrm>
            <a:off x="9336024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测试 · 机器</a:t>
            </a:r>
            <a:endParaRPr lang="en-US" sz="1400" dirty="0"/>
          </a:p>
        </p:txBody>
      </p:sp>
      <p:sp>
        <p:nvSpPr>
          <p:cNvPr id="28" name="数据数字4"/>
          <p:cNvSpPr txBox="1"/>
          <p:nvPr/>
        </p:nvSpPr>
        <p:spPr>
          <a:xfrm>
            <a:off x="9336024" y="187452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5"/>
                </a:solidFill>
              </a:rPr>
              <a:t>约 2/3</a:t>
            </a:r>
            <a:endParaRPr lang="en-US" sz="3200" dirty="0"/>
          </a:p>
        </p:txBody>
      </p:sp>
      <p:sp>
        <p:nvSpPr>
          <p:cNvPr id="29" name="数据说明4"/>
          <p:cNvSpPr txBox="1"/>
          <p:nvPr/>
        </p:nvSpPr>
        <p:spPr>
          <a:xfrm>
            <a:off x="9336024" y="2560320"/>
            <a:ext cx="2148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聊天机器人找对播出平台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3"/>
                </a:solidFill>
              </a:rPr>
              <a:t>6 国合并：美英德约 80%，法意西不到 30%</a:t>
            </a:r>
            <a:endParaRPr lang="en-US" sz="1400" dirty="0"/>
          </a:p>
        </p:txBody>
      </p:sp>
      <p:sp>
        <p:nvSpPr>
          <p:cNvPr id="30" name="方法结论卡1"/>
          <p:cNvSpPr/>
          <p:nvPr/>
        </p:nvSpPr>
        <p:spPr>
          <a:xfrm>
            <a:off x="548640" y="4114800"/>
            <a:ext cx="544068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1" name="方法结论1"/>
          <p:cNvSpPr txBox="1"/>
          <p:nvPr/>
        </p:nvSpPr>
        <p:spPr>
          <a:xfrm>
            <a:off x="822960" y="4206240"/>
            <a:ext cx="49377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3"/>
                </a:solidFill>
              </a:rPr>
              <a:t>因果链没有被证明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没有追踪同一批人，也没有做实验，证明不了“找不到 → 退订”；“接入 MCP 信息就不会过时”也没有检验。</a:t>
            </a:r>
            <a:endParaRPr lang="en-US" sz="1600" dirty="0"/>
          </a:p>
        </p:txBody>
      </p:sp>
      <p:sp>
        <p:nvSpPr>
          <p:cNvPr id="32" name="方法结论卡2"/>
          <p:cNvSpPr/>
          <p:nvPr/>
        </p:nvSpPr>
        <p:spPr>
          <a:xfrm>
            <a:off x="6172200" y="4114800"/>
            <a:ext cx="544068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方法结论2"/>
          <p:cNvSpPr txBox="1"/>
          <p:nvPr/>
        </p:nvSpPr>
        <p:spPr>
          <a:xfrm>
            <a:off x="6446520" y="4206240"/>
            <a:ext cx="49377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3"/>
                </a:solidFill>
              </a:rPr>
              <a:t>有些引用被放大了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USC 的 38%：只是一个知识库、一个自动指标（与人工判断一致率 60.9%）。Deloitte 的 41%：分母是全体消费者，报告写成“订户”。</a:t>
            </a:r>
            <a:endParaRPr lang="en-US" sz="1600" dirty="0"/>
          </a:p>
        </p:txBody>
      </p:sp>
      <p:sp>
        <p:nvSpPr>
          <p:cNvPr id="34" name="来源说明"/>
          <p:cNvSpPr txBox="1"/>
          <p:nvPr/>
        </p:nvSpPr>
        <p:spPr>
          <a:xfrm>
            <a:off x="548640" y="5943600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来源：报告第 5、6、9、22 页；PwC、Veed（作者原文与 NAB 2026）、USC 论文（EMNLP 2021）、Deloitte 方法说明；Antenna 数据经 MediaPost 转述。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502920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我的评价</a:t>
            </a:r>
            <a:endParaRPr lang="en-US" sz="3200" dirty="0"/>
          </a:p>
        </p:txBody>
      </p:sp>
      <p:sp>
        <p:nvSpPr>
          <p:cNvPr id="3" name="优点卡"/>
          <p:cNvSpPr/>
          <p:nvPr/>
        </p:nvSpPr>
        <p:spPr>
          <a:xfrm>
            <a:off x="731520" y="1508760"/>
            <a:ext cx="3429000" cy="4206240"/>
          </a:xfrm>
          <a:prstGeom prst="roundRect">
            <a:avLst>
              <a:gd name="adj" fmla="val 32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优点标题"/>
          <p:cNvSpPr txBox="1"/>
          <p:nvPr/>
        </p:nvSpPr>
        <p:spPr>
          <a:xfrm>
            <a:off x="1005840" y="16916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做得好的</a:t>
            </a:r>
            <a:endParaRPr lang="en-US" sz="1800" dirty="0"/>
          </a:p>
        </p:txBody>
      </p:sp>
      <p:sp>
        <p:nvSpPr>
          <p:cNvPr id="5" name="图标底"/>
          <p:cNvSpPr/>
          <p:nvPr/>
        </p:nvSpPr>
        <p:spPr>
          <a:xfrm>
            <a:off x="1005840" y="233172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6" name="图标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" y="2446020"/>
            <a:ext cx="228600" cy="228600"/>
          </a:xfrm>
          <a:prstGeom prst="rect">
            <a:avLst/>
          </a:prstGeom>
        </p:spPr>
      </p:pic>
      <p:sp>
        <p:nvSpPr>
          <p:cNvPr id="7" name="优点1"/>
          <p:cNvSpPr txBox="1"/>
          <p:nvPr/>
        </p:nvSpPr>
        <p:spPr>
          <a:xfrm>
            <a:off x="1600200" y="22860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公开了样本量、时间、年龄和筛选条件</a:t>
            </a:r>
            <a:endParaRPr lang="en-US" sz="1400" dirty="0"/>
          </a:p>
        </p:txBody>
      </p:sp>
      <p:sp>
        <p:nvSpPr>
          <p:cNvPr id="8" name="图标底"/>
          <p:cNvSpPr/>
          <p:nvPr/>
        </p:nvSpPr>
        <p:spPr>
          <a:xfrm>
            <a:off x="1005840" y="342900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9" name="图标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" y="3543300"/>
            <a:ext cx="228600" cy="228600"/>
          </a:xfrm>
          <a:prstGeom prst="rect">
            <a:avLst/>
          </a:prstGeom>
        </p:spPr>
      </p:pic>
      <p:sp>
        <p:nvSpPr>
          <p:cNvPr id="10" name="优点2"/>
          <p:cNvSpPr txBox="1"/>
          <p:nvPr/>
        </p:nvSpPr>
        <p:spPr>
          <a:xfrm>
            <a:off x="1600200" y="338328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每张图都有读法说明和来源</a:t>
            </a:r>
            <a:endParaRPr lang="en-US" sz="1400" dirty="0"/>
          </a:p>
        </p:txBody>
      </p:sp>
      <p:sp>
        <p:nvSpPr>
          <p:cNvPr id="11" name="图标底"/>
          <p:cNvSpPr/>
          <p:nvPr/>
        </p:nvSpPr>
        <p:spPr>
          <a:xfrm>
            <a:off x="1005840" y="45262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2" name="图标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140" y="4640580"/>
            <a:ext cx="228600" cy="228600"/>
          </a:xfrm>
          <a:prstGeom prst="rect">
            <a:avLst/>
          </a:prstGeom>
        </p:spPr>
      </p:pic>
      <p:sp>
        <p:nvSpPr>
          <p:cNvPr id="13" name="优点3"/>
          <p:cNvSpPr txBox="1"/>
          <p:nvPr/>
        </p:nvSpPr>
        <p:spPr>
          <a:xfrm>
            <a:off x="1600200" y="448056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图中数字可复算：CTV 占 54%、授权剧多 81%，都对得上</a:t>
            </a:r>
            <a:endParaRPr lang="en-US" sz="1400" dirty="0"/>
          </a:p>
        </p:txBody>
      </p:sp>
      <p:sp>
        <p:nvSpPr>
          <p:cNvPr id="14" name="判断卡1"/>
          <p:cNvSpPr/>
          <p:nvPr/>
        </p:nvSpPr>
        <p:spPr>
          <a:xfrm>
            <a:off x="4389120" y="1508760"/>
            <a:ext cx="3566160" cy="2057400"/>
          </a:xfrm>
          <a:prstGeom prst="roundRect">
            <a:avLst>
              <a:gd name="adj" fmla="val 533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判断1"/>
          <p:cNvSpPr txBox="1"/>
          <p:nvPr/>
        </p:nvSpPr>
        <p:spPr>
          <a:xfrm>
            <a:off x="4663440" y="1645920"/>
            <a:ext cx="30632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可以当作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行业方向的信号：年轻人在用 AI 找内容，但并不信任它。</a:t>
            </a:r>
            <a:endParaRPr lang="en-US" sz="1800" dirty="0"/>
          </a:p>
        </p:txBody>
      </p:sp>
      <p:sp>
        <p:nvSpPr>
          <p:cNvPr id="16" name="判断卡2"/>
          <p:cNvSpPr/>
          <p:nvPr/>
        </p:nvSpPr>
        <p:spPr>
          <a:xfrm>
            <a:off x="4389120" y="3657600"/>
            <a:ext cx="3566160" cy="2057400"/>
          </a:xfrm>
          <a:prstGeom prst="roundRect">
            <a:avLst>
              <a:gd name="adj" fmla="val 5333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7" name="判断2"/>
          <p:cNvSpPr txBox="1"/>
          <p:nvPr/>
        </p:nvSpPr>
        <p:spPr>
          <a:xfrm>
            <a:off x="4663440" y="3794760"/>
            <a:ext cx="30632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不宜当作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对“美国人”的精确估计，或“找不到 → 退订”的因果证据。</a:t>
            </a:r>
            <a:endParaRPr lang="en-US" sz="1800" dirty="0"/>
          </a:p>
        </p:txBody>
      </p:sp>
      <p:sp>
        <p:nvSpPr>
          <p:cNvPr id="18" name="讨论卡"/>
          <p:cNvSpPr/>
          <p:nvPr/>
        </p:nvSpPr>
        <p:spPr>
          <a:xfrm>
            <a:off x="8183880" y="1508760"/>
            <a:ext cx="3291840" cy="4206240"/>
          </a:xfrm>
          <a:prstGeom prst="roundRect">
            <a:avLst>
              <a:gd name="adj" fmla="val 333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9" name="讨论问题"/>
          <p:cNvSpPr txBox="1"/>
          <p:nvPr/>
        </p:nvSpPr>
        <p:spPr>
          <a:xfrm>
            <a:off x="8458200" y="1691640"/>
            <a:ext cx="27889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6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留给大家的问题</a:t>
            </a:r>
            <a:endParaRPr lang="en-US" sz="1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如果要验证“找不到节目会导致退订”，你会怎么设计调查？</a:t>
            </a:r>
            <a:endParaRPr lang="en-US" sz="1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300" dirty="0">
                <a:solidFill>
                  <a:schemeClr val="accent5"/>
                </a:solidFill>
              </a:rPr>
              <a:t>提示：追踪同一批人，既问“会不会退订”，也记录后来是否真的退订。</a:t>
            </a:r>
            <a:endParaRPr lang="en-US" sz="1600" dirty="0"/>
          </a:p>
        </p:txBody>
      </p:sp>
      <p:sp>
        <p:nvSpPr>
          <p:cNvPr id="20" name="利益说明"/>
          <p:cNvSpPr txBox="1"/>
          <p:nvPr/>
        </p:nvSpPr>
        <p:spPr>
          <a:xfrm>
            <a:off x="731520" y="5806440"/>
            <a:ext cx="1074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提醒：报告主张“需要可信的行业数据”正是 Gracenote 的业务。这是细看方法的理由，但不能据此断定数据有误。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附录一：11 个来源方法公开程度</a:t>
            </a:r>
            <a:endParaRPr lang="en-US" sz="3000" dirty="0"/>
          </a:p>
        </p:txBody>
      </p:sp>
      <p:sp>
        <p:nvSpPr>
          <p:cNvPr id="3" name="来源卡1"/>
          <p:cNvSpPr/>
          <p:nvPr/>
        </p:nvSpPr>
        <p:spPr>
          <a:xfrm>
            <a:off x="548640" y="1325880"/>
            <a:ext cx="26517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状态点1"/>
          <p:cNvSpPr/>
          <p:nvPr/>
        </p:nvSpPr>
        <p:spPr>
          <a:xfrm>
            <a:off x="731520" y="1508760"/>
            <a:ext cx="182880" cy="1828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来源类型1"/>
          <p:cNvSpPr txBox="1"/>
          <p:nvPr/>
        </p:nvSpPr>
        <p:spPr>
          <a:xfrm>
            <a:off x="1005840" y="143560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问卷 ｜ </a:t>
            </a:r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关键信息未公开</a:t>
            </a:r>
            <a:endParaRPr lang="en-US" sz="1100" dirty="0"/>
          </a:p>
        </p:txBody>
      </p:sp>
      <p:sp>
        <p:nvSpPr>
          <p:cNvPr id="6" name="来源说明1"/>
          <p:cNvSpPr txBox="1"/>
          <p:nvPr/>
        </p:nvSpPr>
        <p:spPr>
          <a:xfrm>
            <a:off x="731520" y="17830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Gracenote 2026 AI 调查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线上 · 美国 AI 用户 · 4,003 人；样本来源、加权、回应率、各组人数未公开</a:t>
            </a:r>
            <a:endParaRPr lang="en-US" sz="1400" dirty="0"/>
          </a:p>
        </p:txBody>
      </p:sp>
      <p:sp>
        <p:nvSpPr>
          <p:cNvPr id="7" name="来源卡2"/>
          <p:cNvSpPr/>
          <p:nvPr/>
        </p:nvSpPr>
        <p:spPr>
          <a:xfrm>
            <a:off x="3360420" y="1325880"/>
            <a:ext cx="26517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状态点2"/>
          <p:cNvSpPr/>
          <p:nvPr/>
        </p:nvSpPr>
        <p:spPr>
          <a:xfrm>
            <a:off x="3543300" y="1508760"/>
            <a:ext cx="182880" cy="1828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来源类型2"/>
          <p:cNvSpPr txBox="1"/>
          <p:nvPr/>
        </p:nvSpPr>
        <p:spPr>
          <a:xfrm>
            <a:off x="3817620" y="143560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问卷 ｜ </a:t>
            </a:r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关键信息未公开</a:t>
            </a:r>
            <a:endParaRPr lang="en-US" sz="1100" dirty="0"/>
          </a:p>
        </p:txBody>
      </p:sp>
      <p:sp>
        <p:nvSpPr>
          <p:cNvPr id="10" name="来源说明2"/>
          <p:cNvSpPr txBox="1"/>
          <p:nvPr/>
        </p:nvSpPr>
        <p:spPr>
          <a:xfrm>
            <a:off x="3543300" y="17830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Gracenote 2025 流媒体调查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线上 · 6 国各 500 人；样本来源、加权、回应率未公开</a:t>
            </a:r>
            <a:endParaRPr lang="en-US" sz="1400" dirty="0"/>
          </a:p>
        </p:txBody>
      </p:sp>
      <p:sp>
        <p:nvSpPr>
          <p:cNvPr id="11" name="来源卡3"/>
          <p:cNvSpPr/>
          <p:nvPr/>
        </p:nvSpPr>
        <p:spPr>
          <a:xfrm>
            <a:off x="6172200" y="1325880"/>
            <a:ext cx="26517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状态点3"/>
          <p:cNvSpPr/>
          <p:nvPr/>
        </p:nvSpPr>
        <p:spPr>
          <a:xfrm>
            <a:off x="6355080" y="1508760"/>
            <a:ext cx="182880" cy="1828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来源类型3"/>
          <p:cNvSpPr txBox="1"/>
          <p:nvPr/>
        </p:nvSpPr>
        <p:spPr>
          <a:xfrm>
            <a:off x="6629400" y="143560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问卷 ｜ </a:t>
            </a:r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方法公开</a:t>
            </a:r>
            <a:endParaRPr lang="en-US" sz="1100" dirty="0"/>
          </a:p>
        </p:txBody>
      </p:sp>
      <p:sp>
        <p:nvSpPr>
          <p:cNvPr id="14" name="来源说明3"/>
          <p:cNvSpPr txBox="1"/>
          <p:nvPr/>
        </p:nvSpPr>
        <p:spPr>
          <a:xfrm>
            <a:off x="6355080" y="17830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Pew 青少年调查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概率样本库 · 1,458 人 · 加权 · 误差 ±3.3</a:t>
            </a:r>
            <a:endParaRPr lang="en-US" sz="1400" dirty="0"/>
          </a:p>
        </p:txBody>
      </p:sp>
      <p:sp>
        <p:nvSpPr>
          <p:cNvPr id="15" name="来源卡4"/>
          <p:cNvSpPr/>
          <p:nvPr/>
        </p:nvSpPr>
        <p:spPr>
          <a:xfrm>
            <a:off x="8983980" y="1325880"/>
            <a:ext cx="26517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状态点4"/>
          <p:cNvSpPr/>
          <p:nvPr/>
        </p:nvSpPr>
        <p:spPr>
          <a:xfrm>
            <a:off x="9166860" y="1508760"/>
            <a:ext cx="182880" cy="1828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来源类型4"/>
          <p:cNvSpPr txBox="1"/>
          <p:nvPr/>
        </p:nvSpPr>
        <p:spPr>
          <a:xfrm>
            <a:off x="9441180" y="143560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问卷 ｜ </a:t>
            </a:r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方法公开</a:t>
            </a:r>
            <a:endParaRPr lang="en-US" sz="1100" dirty="0"/>
          </a:p>
        </p:txBody>
      </p:sp>
      <p:sp>
        <p:nvSpPr>
          <p:cNvPr id="18" name="来源说明4"/>
          <p:cNvSpPr txBox="1"/>
          <p:nvPr/>
        </p:nvSpPr>
        <p:spPr>
          <a:xfrm>
            <a:off x="9166860" y="17830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Deloitte 数字媒体趋势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线上 · 美国 14 岁以上 3,595 人 · 按人口普查加权</a:t>
            </a:r>
            <a:endParaRPr lang="en-US" sz="1400" dirty="0"/>
          </a:p>
        </p:txBody>
      </p:sp>
      <p:sp>
        <p:nvSpPr>
          <p:cNvPr id="19" name="来源卡5"/>
          <p:cNvSpPr/>
          <p:nvPr/>
        </p:nvSpPr>
        <p:spPr>
          <a:xfrm>
            <a:off x="548640" y="2862072"/>
            <a:ext cx="26517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状态点5"/>
          <p:cNvSpPr/>
          <p:nvPr/>
        </p:nvSpPr>
        <p:spPr>
          <a:xfrm>
            <a:off x="731520" y="3044952"/>
            <a:ext cx="182880" cy="1828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1" name="来源类型5"/>
          <p:cNvSpPr txBox="1"/>
          <p:nvPr/>
        </p:nvSpPr>
        <p:spPr>
          <a:xfrm>
            <a:off x="1005840" y="29718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测量 ｜ </a:t>
            </a:r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方法公开</a:t>
            </a:r>
            <a:endParaRPr lang="en-US" sz="1100" dirty="0"/>
          </a:p>
        </p:txBody>
      </p:sp>
      <p:sp>
        <p:nvSpPr>
          <p:cNvPr id="22" name="来源说明5"/>
          <p:cNvSpPr txBox="1"/>
          <p:nvPr/>
        </p:nvSpPr>
        <p:spPr>
          <a:xfrm>
            <a:off x="731520" y="3319272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Nielsen NPOWER / Media Impact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约 4.2 万户人员测量仪 + 4,500 万户机顶盒与智能电视数据</a:t>
            </a:r>
            <a:endParaRPr lang="en-US" sz="1400" dirty="0"/>
          </a:p>
        </p:txBody>
      </p:sp>
      <p:sp>
        <p:nvSpPr>
          <p:cNvPr id="23" name="来源卡6"/>
          <p:cNvSpPr/>
          <p:nvPr/>
        </p:nvSpPr>
        <p:spPr>
          <a:xfrm>
            <a:off x="3360420" y="2862072"/>
            <a:ext cx="26517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状态点6"/>
          <p:cNvSpPr/>
          <p:nvPr/>
        </p:nvSpPr>
        <p:spPr>
          <a:xfrm>
            <a:off x="3543300" y="3044952"/>
            <a:ext cx="182880" cy="1828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来源类型6"/>
          <p:cNvSpPr txBox="1"/>
          <p:nvPr/>
        </p:nvSpPr>
        <p:spPr>
          <a:xfrm>
            <a:off x="3817620" y="29718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测量 ｜ </a:t>
            </a:r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方法公开</a:t>
            </a:r>
            <a:endParaRPr lang="en-US" sz="1100" dirty="0"/>
          </a:p>
        </p:txBody>
      </p:sp>
      <p:sp>
        <p:nvSpPr>
          <p:cNvPr id="26" name="来源说明6"/>
          <p:cNvSpPr txBox="1"/>
          <p:nvPr/>
        </p:nvSpPr>
        <p:spPr>
          <a:xfrm>
            <a:off x="3543300" y="3319272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Nielsen 流媒体收视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装流媒体测量仪的样本户，只测电视屏幕</a:t>
            </a:r>
            <a:endParaRPr lang="en-US" sz="1400" dirty="0"/>
          </a:p>
        </p:txBody>
      </p:sp>
      <p:sp>
        <p:nvSpPr>
          <p:cNvPr id="27" name="来源卡7"/>
          <p:cNvSpPr/>
          <p:nvPr/>
        </p:nvSpPr>
        <p:spPr>
          <a:xfrm>
            <a:off x="6172200" y="2862072"/>
            <a:ext cx="26517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状态点7"/>
          <p:cNvSpPr/>
          <p:nvPr/>
        </p:nvSpPr>
        <p:spPr>
          <a:xfrm>
            <a:off x="6355080" y="3044952"/>
            <a:ext cx="182880" cy="1828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9" name="来源类型7"/>
          <p:cNvSpPr txBox="1"/>
          <p:nvPr/>
        </p:nvSpPr>
        <p:spPr>
          <a:xfrm>
            <a:off x="6629400" y="29718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数据库 ｜ </a:t>
            </a:r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关键信息未公开</a:t>
            </a:r>
            <a:endParaRPr lang="en-US" sz="1100" dirty="0"/>
          </a:p>
        </p:txBody>
      </p:sp>
      <p:sp>
        <p:nvSpPr>
          <p:cNvPr id="30" name="来源说明7"/>
          <p:cNvSpPr txBox="1"/>
          <p:nvPr/>
        </p:nvSpPr>
        <p:spPr>
          <a:xfrm>
            <a:off x="6355080" y="3319272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Gracenote 节目数据库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公司自有元数据，非抽样；采集与核验流程未公开</a:t>
            </a:r>
            <a:endParaRPr lang="en-US" sz="1400" dirty="0"/>
          </a:p>
        </p:txBody>
      </p:sp>
      <p:sp>
        <p:nvSpPr>
          <p:cNvPr id="31" name="来源卡8"/>
          <p:cNvSpPr/>
          <p:nvPr/>
        </p:nvSpPr>
        <p:spPr>
          <a:xfrm>
            <a:off x="8983980" y="2862072"/>
            <a:ext cx="26517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状态点8"/>
          <p:cNvSpPr/>
          <p:nvPr/>
        </p:nvSpPr>
        <p:spPr>
          <a:xfrm>
            <a:off x="9166860" y="3044952"/>
            <a:ext cx="182880" cy="18288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3" name="来源类型8"/>
          <p:cNvSpPr txBox="1"/>
          <p:nvPr/>
        </p:nvSpPr>
        <p:spPr>
          <a:xfrm>
            <a:off x="9441180" y="29718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预测 ｜ </a:t>
            </a:r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部分公开</a:t>
            </a:r>
            <a:endParaRPr lang="en-US" sz="1100" dirty="0"/>
          </a:p>
        </p:txBody>
      </p:sp>
      <p:sp>
        <p:nvSpPr>
          <p:cNvPr id="34" name="来源说明8"/>
          <p:cNvSpPr txBox="1"/>
          <p:nvPr/>
        </p:nvSpPr>
        <p:spPr>
          <a:xfrm>
            <a:off x="9166860" y="3319272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PwC 娱乐与媒体展望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公开数据 + 行业访谈 + 建模；全球市场合计</a:t>
            </a:r>
            <a:endParaRPr lang="en-US" sz="1400" dirty="0"/>
          </a:p>
        </p:txBody>
      </p:sp>
      <p:sp>
        <p:nvSpPr>
          <p:cNvPr id="35" name="来源卡9"/>
          <p:cNvSpPr/>
          <p:nvPr/>
        </p:nvSpPr>
        <p:spPr>
          <a:xfrm>
            <a:off x="548640" y="4398264"/>
            <a:ext cx="26517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6" name="状态点9"/>
          <p:cNvSpPr/>
          <p:nvPr/>
        </p:nvSpPr>
        <p:spPr>
          <a:xfrm>
            <a:off x="731520" y="4581144"/>
            <a:ext cx="182880" cy="1828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7" name="来源类型9"/>
          <p:cNvSpPr txBox="1"/>
          <p:nvPr/>
        </p:nvSpPr>
        <p:spPr>
          <a:xfrm>
            <a:off x="1005840" y="450799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测试 ｜ </a:t>
            </a:r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关键信息未公开</a:t>
            </a:r>
            <a:endParaRPr lang="en-US" sz="1100" dirty="0"/>
          </a:p>
        </p:txBody>
      </p:sp>
      <p:sp>
        <p:nvSpPr>
          <p:cNvPr id="38" name="来源说明9"/>
          <p:cNvSpPr txBox="1"/>
          <p:nvPr/>
        </p:nvSpPr>
        <p:spPr>
          <a:xfrm>
            <a:off x="731520" y="4855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Veed 聊天机器人测试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6 国、只测独播剧、每题问 3 次；题量、模型版本、评分程序未公开</a:t>
            </a:r>
            <a:endParaRPr lang="en-US" sz="1400" dirty="0"/>
          </a:p>
        </p:txBody>
      </p:sp>
      <p:sp>
        <p:nvSpPr>
          <p:cNvPr id="39" name="来源卡10"/>
          <p:cNvSpPr/>
          <p:nvPr/>
        </p:nvSpPr>
        <p:spPr>
          <a:xfrm>
            <a:off x="3360420" y="4398264"/>
            <a:ext cx="26517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0" name="状态点10"/>
          <p:cNvSpPr/>
          <p:nvPr/>
        </p:nvSpPr>
        <p:spPr>
          <a:xfrm>
            <a:off x="3543300" y="4581144"/>
            <a:ext cx="182880" cy="1828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1" name="来源类型10"/>
          <p:cNvSpPr txBox="1"/>
          <p:nvPr/>
        </p:nvSpPr>
        <p:spPr>
          <a:xfrm>
            <a:off x="3817620" y="450799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论文 ｜ </a:t>
            </a:r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方法公开</a:t>
            </a:r>
            <a:endParaRPr lang="en-US" sz="1100" dirty="0"/>
          </a:p>
        </p:txBody>
      </p:sp>
      <p:sp>
        <p:nvSpPr>
          <p:cNvPr id="42" name="来源说明10"/>
          <p:cNvSpPr txBox="1"/>
          <p:nvPr/>
        </p:nvSpPr>
        <p:spPr>
          <a:xfrm>
            <a:off x="3543300" y="4855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USC 知识库偏差研究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同行评审论文；自动分类器判定 + 众包抽样人工验证</a:t>
            </a:r>
            <a:endParaRPr lang="en-US" sz="1400" dirty="0"/>
          </a:p>
        </p:txBody>
      </p:sp>
      <p:sp>
        <p:nvSpPr>
          <p:cNvPr id="43" name="来源卡11"/>
          <p:cNvSpPr/>
          <p:nvPr/>
        </p:nvSpPr>
        <p:spPr>
          <a:xfrm>
            <a:off x="6172200" y="4398264"/>
            <a:ext cx="26517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4" name="状态点11"/>
          <p:cNvSpPr/>
          <p:nvPr/>
        </p:nvSpPr>
        <p:spPr>
          <a:xfrm>
            <a:off x="6355080" y="4581144"/>
            <a:ext cx="182880" cy="1828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5" name="来源类型11"/>
          <p:cNvSpPr txBox="1"/>
          <p:nvPr/>
        </p:nvSpPr>
        <p:spPr>
          <a:xfrm>
            <a:off x="6629400" y="450799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行业 ｜ </a:t>
            </a:r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关键信息未公开</a:t>
            </a:r>
            <a:endParaRPr lang="en-US" sz="1100" dirty="0"/>
          </a:p>
        </p:txBody>
      </p:sp>
      <p:sp>
        <p:nvSpPr>
          <p:cNvPr id="46" name="来源说明11"/>
          <p:cNvSpPr txBox="1"/>
          <p:nvPr/>
        </p:nvSpPr>
        <p:spPr>
          <a:xfrm>
            <a:off x="6355080" y="4855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Fabric 流失率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Fabric 原页未见 5.5% 与 2%；流失率定义未公开</a:t>
            </a:r>
            <a:endParaRPr lang="en-US" sz="1400" dirty="0"/>
          </a:p>
        </p:txBody>
      </p:sp>
      <p:sp>
        <p:nvSpPr>
          <p:cNvPr id="47" name="来源小结卡"/>
          <p:cNvSpPr/>
          <p:nvPr/>
        </p:nvSpPr>
        <p:spPr>
          <a:xfrm>
            <a:off x="8983980" y="4398264"/>
            <a:ext cx="2651760" cy="13716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8" name="来源小结"/>
          <p:cNvSpPr txBox="1"/>
          <p:nvPr/>
        </p:nvSpPr>
        <p:spPr>
          <a:xfrm>
            <a:off x="9166860" y="4398264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Gracenote 自己的两份问卷，恰恰是方法最不透明的两项</a:t>
            </a:r>
            <a:endParaRPr lang="en-US" sz="1400" dirty="0"/>
          </a:p>
        </p:txBody>
      </p:sp>
      <p:sp>
        <p:nvSpPr>
          <p:cNvPr id="49" name="来源说明"/>
          <p:cNvSpPr txBox="1"/>
          <p:nvPr/>
        </p:nvSpPr>
        <p:spPr>
          <a:xfrm>
            <a:off x="548640" y="5943600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详见仓库《Gracenote报告_数据来源与采集方式核查.md》，每条结论标注了核实程度与原文链接。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附录二：引用与口径核对</a:t>
            </a:r>
            <a:endParaRPr lang="en-US" sz="3000" dirty="0"/>
          </a:p>
        </p:txBody>
      </p:sp>
      <p:graphicFrame>
        <p:nvGraphicFramePr>
          <p:cNvPr id="13" name="校准表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4922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报告的写法</a:t>
                      </a:r>
                      <a:endParaRPr lang="en-US" sz="13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原始来源 / 图表本身显示</a:t>
                      </a:r>
                      <a:endParaRPr lang="en-US" sz="13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Pew：30% 的青少年每天用聊天机器人</a:t>
                      </a:r>
                      <a:endParaRPr lang="en-US" sz="13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精确值 28%（13–14 岁 24%）；分母是全体青少年，使用者中为 44%</a:t>
                      </a:r>
                      <a:endParaRPr lang="en-US" sz="13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USC：两个 AI 数据库中“高达 38%”的常识数据有偏差</a:t>
                      </a:r>
                      <a:endParaRPr lang="en-US" sz="13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38.6% 只是 GenericsKB 一个库在 regard 指标下的比例，由自动分类器判定；另一个库为 3.4%–4.5%</a:t>
                      </a:r>
                      <a:endParaRPr lang="en-US" sz="13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Deloitte：41% 的“流媒体订户”认为不值这个价</a:t>
                      </a:r>
                      <a:endParaRPr lang="en-US" sz="13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原文分母是“全体消费者”（美国 14 岁以上 3,595 人，2024 年 10 月）</a:t>
                      </a:r>
                      <a:endParaRPr lang="en-US" sz="13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PwC：OTT 与付费电视支出 2029 年达 3,185 亿美元</a:t>
                      </a:r>
                      <a:endParaRPr lang="en-US" sz="13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全球数字（2024 年 2,913 亿，年增 1.8%），报告没写明</a:t>
                      </a:r>
                      <a:endParaRPr lang="en-US" sz="13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摘要：54% 的 18–34 岁“会取消订阅”</a:t>
                      </a:r>
                      <a:endParaRPr lang="en-US" sz="13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原题是“可能会取消”，而且是六国口径</a:t>
                      </a:r>
                      <a:endParaRPr lang="en-US" sz="13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核查图：61–79 岁 58% 会核查，83% “用搜索交叉核对”</a:t>
                      </a:r>
                      <a:endParaRPr lang="en-US" sz="13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83% 大于 58%，外圈分母只能是“会核查的人”，图注没写清</a:t>
                      </a:r>
                      <a:endParaRPr lang="en-US" sz="13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“26% 的美国人知道想看什么却找不到”</a:t>
                      </a:r>
                      <a:endParaRPr lang="en-US" sz="13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两轮核查都没找到出处</a:t>
                      </a:r>
                      <a:endParaRPr lang="en-US" sz="13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来源说明"/>
          <p:cNvSpPr txBox="1"/>
          <p:nvPr/>
        </p:nvSpPr>
        <p:spPr>
          <a:xfrm>
            <a:off x="548640" y="5943600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来源：报告第 2、5、6、14、18、22 页；Pew、USC、Deloitte、PwC 原文（第二轮外部核对）。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earch Glow">
  <a:themeElements>
    <a:clrScheme name="Search Glow">
      <a:dk1>
        <a:srgbClr val="1C1733"/>
      </a:dk1>
      <a:lt1>
        <a:srgbClr val="FFFFFF"/>
      </a:lt1>
      <a:dk2>
        <a:srgbClr val="2B1D6B"/>
      </a:dk2>
      <a:lt2>
        <a:srgbClr val="F3F1FA"/>
      </a:lt2>
      <a:accent1>
        <a:srgbClr val="5B3FD9"/>
      </a:accent1>
      <a:accent2>
        <a:srgbClr val="0F8B8D"/>
      </a:accent2>
      <a:accent3>
        <a:srgbClr val="D9480F"/>
      </a:accent3>
      <a:accent4>
        <a:srgbClr val="7CC242"/>
      </a:accent4>
      <a:accent5>
        <a:srgbClr val="6E6890"/>
      </a:accent5>
      <a:accent6>
        <a:srgbClr val="E4DFF8"/>
      </a:accent6>
      <a:hlink>
        <a:srgbClr val="5B3FD9"/>
      </a:hlink>
      <a:folHlink>
        <a:srgbClr val="6E6890"/>
      </a:folHlink>
    </a:clrScheme>
    <a:fontScheme name="Search Glow">
      <a:majorFont>
        <a:latin typeface="Microsoft YaHei"/>
        <a:ea typeface="Microsoft YaHei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Microsoft YaHei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54% 的 13–14 岁每天都用 AI？Gracenote 2026 报告解读</dc:title>
  <dc:subject>市场调研：方法与实践 课后作业随堂分享</dc:subject>
  <dc:creator>PptxGenJS</dc:creator>
  <cp:lastModifiedBy>PptxGenJS</cp:lastModifiedBy>
  <cp:revision>1</cp:revision>
  <dcterms:created xsi:type="dcterms:W3CDTF">2026-10-07T12:22:36Z</dcterms:created>
  <dcterms:modified xsi:type="dcterms:W3CDTF">2026-10-07T12:22:36Z</dcterms:modified>
</cp:coreProperties>
</file>