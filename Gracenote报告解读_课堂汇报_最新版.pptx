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开场" id="{c57240bd-87bc-b42f-1530-2fd278d68979}">
          <p14:sldIdLst>
            <p14:sldId id="256"/>
            <p14:sldId id="257"/>
          </p14:sldIdLst>
        </p14:section>
        <p14:section name="报告介绍" id="{3031d0bd-9588-9d69-8bbc-1666ffeef999}">
          <p14:sldIdLst>
            <p14:sldId id="258"/>
            <p14:sldId id="259"/>
            <p14:sldId id="260"/>
            <p14:sldId id="261"/>
          </p14:sldIdLst>
        </p14:section>
        <p14:section name="方法评价" id="{23b79ab7-c378-e253-55d9-4dc2f88ac75f}">
          <p14:sldIdLst>
            <p14:sldId id="262"/>
            <p14:sldId id="263"/>
            <p14:sldId id="264"/>
            <p14:sldId id="265"/>
            <p14:sldId id="266"/>
          </p14:sldIdLst>
        </p14:section>
        <p14:section name="总结" id="{3aea4509-7ce5-c5c6-26b6-db4931ecac86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 25 秒】（各位老师、同学好。）我是黄广润。今天评析 Gracenote 的报告《AI 时代的电视搜索与内容发现》，分四个部分：研究背景与问题、研究方法、研究结论、思考与评价。（先看这是一份什么报告。）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 20 秒】报告由尼尔森旗下的 Gracenote 在 2026 年 4 月发布。Gracenote 做电视和流媒体的节目数据，视频软件里的节目指南，背后常常就是这类数据。（再看它的研究背景。）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 35 秒】（第一部分。）流媒体平台增多，节目分散，Gracenote 记录了近 350 个点播片库、约 180 万个节目。报告提出三个问题：各年龄段使用 AI 的频率，找节目的难度与退订意向，以及对 AI 回答的信任。需要留意，报告建议 AI 接入行业数据，这正是 Gracenote 的业务。（再看研究方法。）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 30 秒】（第二部分。）数据来自两项线上问卷。调查一在 2026 年 1 至 2 月，对象是美国 13 至 79 岁的 AI 聊天机器人用户，4,003 人。调查二在 2025 年 7 至 8 月，对象是六国流媒体用户，每国 500 人。两项调查的抽样方式，报告都未说明。（下面看结论。）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 25 秒】（第三部分，研究结论共四项。）结论一：13 至 14 岁受访者中，54% 每日使用 AI，80% 称近 18 个月使用增加。结论二：75% 的受访者会核对 AI 的结果。报告解释为回答直接、可追问，但可能生成错误信息。（再看后两项。）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 25 秒】结论三：联网电视占美国电视时长的 54%，平均检索要 14 分钟，18 至 34 岁受访者中 54% 表示可能退订。结论四：AI 正确回答播出平台的比例约三分之二，所以报告认为需要接入行业数据。（下面逐项评价。）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 15 秒】（第四部分，思考与评价。）四项结论构成一条推论链。调查对象、范围、时间与方法的差异都会影响结果，下面逐项检验。（先看调查对象。）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 20 秒】受访者 4,003 人，均为 AI 聊天机器人用户，调查以使用 AI 为筛选条件，不含非用户。所以结果仅代表 AI 用户，不能推及全体美国人。（再看调查范围。）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 20 秒】图中橙框里的 14 分钟，被放在美国收视图表中。它其实是六国等权平均，法国的 26 分钟抬高了均值，美国实际是 12 分钟，容易被高估。（再看调查时间。）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 25 秒】报告以皮尤 2025 年秋的 30%，对比自己 2026 年初的 54%，称使用正在加速。但皮尤的分母是全体青少年，13 至 14 岁为 24%；本报告仅为 AI 用户。统一分母后仍差约 10 个百分点，还不能判断“加速”。（最后看研究方法。）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 20 秒】支撑“难找导致退订”的，是退订意向、退订率、预测与测试四类数据，并列使用。它们性质不一，无追踪、无对照，只能说明同时存在，不足以证明因果。（最后总结。）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 35 秒】报告有参考价值，皮尤、Veed 等独立来源也指向同样两个方向。但结论超出了样本所能支持的范围：前两项仅限 AI 用户，第三项只能说相关，第四项未经检验。改进方向：采用概率样本，含非 AI 用户；同一问卷问困难与退订，追踪同一批人；公开招募、配额、加权、回收率。（汇报到此结束，谢谢各位。）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325880"/>
            <a:ext cx="5394960" cy="1600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063240"/>
            <a:ext cx="539496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85800"/>
            <a:ext cx="1069848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封面图" descr="/home/user/ppt/build/assets/cover_her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0"/>
            <a:ext cx="5790895" cy="6858000"/>
          </a:xfrm>
          <a:prstGeom prst="rect">
            <a:avLst/>
          </a:prstGeom>
        </p:spPr>
      </p:pic>
      <p:sp>
        <p:nvSpPr>
          <p:cNvPr id="3" name="课程名"/>
          <p:cNvSpPr txBox="1"/>
          <p:nvPr/>
        </p:nvSpPr>
        <p:spPr>
          <a:xfrm>
            <a:off x="731520" y="8686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市场调研：方法与实践 · 课后作业</a:t>
            </a:r>
            <a:endParaRPr lang="en-US" sz="15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31520" y="1325880"/>
            <a:ext cx="5394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AI 时代的电视搜索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与内容发现</a:t>
            </a:r>
            <a:endParaRPr lang="en-US" sz="4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731520" y="306324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Gracenote（尼尔森旗下）2026 年研究报告评析</a:t>
            </a:r>
            <a:endParaRPr lang="en-US" sz="1800" dirty="0"/>
          </a:p>
        </p:txBody>
      </p:sp>
      <p:sp>
        <p:nvSpPr>
          <p:cNvPr id="6" name="汇报人"/>
          <p:cNvSpPr txBox="1"/>
          <p:nvPr/>
        </p:nvSpPr>
        <p:spPr>
          <a:xfrm>
            <a:off x="731520" y="59893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黄广润　524031910373</a:t>
            </a:r>
            <a:endParaRPr lang="en-US" sz="1500" dirty="0"/>
          </a:p>
        </p:txBody>
      </p:sp>
      <p:sp>
        <p:nvSpPr>
          <p:cNvPr id="7" name="封面分隔线"/>
          <p:cNvSpPr/>
          <p:nvPr/>
        </p:nvSpPr>
        <p:spPr>
          <a:xfrm>
            <a:off x="731520" y="4160520"/>
            <a:ext cx="5120640" cy="0"/>
          </a:xfrm>
          <a:prstGeom prst="line">
            <a:avLst/>
          </a:prstGeom>
          <a:noFill/>
          <a:ln w="9525">
            <a:solidFill>
              <a:srgbClr val="3A4766"/>
            </a:solidFill>
            <a:prstDash val="solid"/>
          </a:ln>
        </p:spPr>
      </p:sp>
      <p:sp>
        <p:nvSpPr>
          <p:cNvPr id="8" name="封面目录"/>
          <p:cNvSpPr txBox="1"/>
          <p:nvPr/>
        </p:nvSpPr>
        <p:spPr>
          <a:xfrm>
            <a:off x="731520" y="438912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01  研究背景与问题　　02  研究方法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03  研究结论　　　　　04  思考与评价</a:t>
            </a:r>
            <a:endParaRPr lang="en-US" sz="16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9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章节标记"/>
          <p:cNvSpPr txBox="1"/>
          <p:nvPr/>
        </p:nvSpPr>
        <p:spPr>
          <a:xfrm>
            <a:off x="54864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选题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选取对象：Gracenote 2026 年 4 月的报告</a:t>
            </a:r>
            <a:endParaRPr lang="en-US" sz="3000" dirty="0"/>
          </a:p>
        </p:txBody>
      </p:sp>
      <p:sp>
        <p:nvSpPr>
          <p:cNvPr id="4" name="分隔线"/>
          <p:cNvSpPr/>
          <p:nvPr/>
        </p:nvSpPr>
        <p:spPr>
          <a:xfrm>
            <a:off x="548640" y="1645920"/>
            <a:ext cx="6583680" cy="0"/>
          </a:xfrm>
          <a:prstGeom prst="line">
            <a:avLst/>
          </a:prstGeom>
          <a:noFill/>
          <a:ln w="9525">
            <a:solidFill>
              <a:srgbClr val="D5DAE1"/>
            </a:solidFill>
            <a:prstDash val="solid"/>
          </a:ln>
        </p:spPr>
      </p:sp>
      <p:sp>
        <p:nvSpPr>
          <p:cNvPr id="5" name="选题标签1"/>
          <p:cNvSpPr txBox="1"/>
          <p:nvPr/>
        </p:nvSpPr>
        <p:spPr>
          <a:xfrm>
            <a:off x="548640" y="1645920"/>
            <a:ext cx="914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报告</a:t>
            </a:r>
            <a:endParaRPr lang="en-US" sz="1500" dirty="0"/>
          </a:p>
        </p:txBody>
      </p:sp>
      <p:sp>
        <p:nvSpPr>
          <p:cNvPr id="6" name="选题内容1"/>
          <p:cNvSpPr txBox="1"/>
          <p:nvPr/>
        </p:nvSpPr>
        <p:spPr>
          <a:xfrm>
            <a:off x="1554480" y="1645920"/>
            <a:ext cx="55778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AI 时代的电视搜索与内容发现</a:t>
            </a:r>
            <a:endParaRPr lang="en-US" sz="22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TV Search and Discovery in the AI Era，2026 年 4 月</a:t>
            </a:r>
            <a:endParaRPr lang="en-US" sz="2200" dirty="0"/>
          </a:p>
        </p:txBody>
      </p:sp>
      <p:sp>
        <p:nvSpPr>
          <p:cNvPr id="7" name="分隔线"/>
          <p:cNvSpPr/>
          <p:nvPr/>
        </p:nvSpPr>
        <p:spPr>
          <a:xfrm>
            <a:off x="548640" y="2670048"/>
            <a:ext cx="6583680" cy="0"/>
          </a:xfrm>
          <a:prstGeom prst="line">
            <a:avLst/>
          </a:prstGeom>
          <a:noFill/>
          <a:ln w="9525">
            <a:solidFill>
              <a:srgbClr val="D5DAE1"/>
            </a:solidFill>
            <a:prstDash val="solid"/>
          </a:ln>
        </p:spPr>
      </p:sp>
      <p:sp>
        <p:nvSpPr>
          <p:cNvPr id="8" name="选题标签2"/>
          <p:cNvSpPr txBox="1"/>
          <p:nvPr/>
        </p:nvSpPr>
        <p:spPr>
          <a:xfrm>
            <a:off x="548640" y="2670048"/>
            <a:ext cx="914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机构</a:t>
            </a:r>
            <a:endParaRPr lang="en-US" sz="1500" dirty="0"/>
          </a:p>
        </p:txBody>
      </p:sp>
      <p:sp>
        <p:nvSpPr>
          <p:cNvPr id="9" name="选题内容2"/>
          <p:cNvSpPr txBox="1"/>
          <p:nvPr/>
        </p:nvSpPr>
        <p:spPr>
          <a:xfrm>
            <a:off x="1554480" y="2670048"/>
            <a:ext cx="55778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Gracenote，尼尔森旗下公司</a:t>
            </a:r>
            <a:endParaRPr lang="en-US" sz="2000" dirty="0"/>
          </a:p>
        </p:txBody>
      </p:sp>
      <p:sp>
        <p:nvSpPr>
          <p:cNvPr id="10" name="分隔线"/>
          <p:cNvSpPr/>
          <p:nvPr/>
        </p:nvSpPr>
        <p:spPr>
          <a:xfrm>
            <a:off x="548640" y="3694176"/>
            <a:ext cx="6583680" cy="0"/>
          </a:xfrm>
          <a:prstGeom prst="line">
            <a:avLst/>
          </a:prstGeom>
          <a:noFill/>
          <a:ln w="9525">
            <a:solidFill>
              <a:srgbClr val="D5DAE1"/>
            </a:solidFill>
            <a:prstDash val="solid"/>
          </a:ln>
        </p:spPr>
      </p:sp>
      <p:sp>
        <p:nvSpPr>
          <p:cNvPr id="11" name="选题标签3"/>
          <p:cNvSpPr txBox="1"/>
          <p:nvPr/>
        </p:nvSpPr>
        <p:spPr>
          <a:xfrm>
            <a:off x="548640" y="3694176"/>
            <a:ext cx="914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业务</a:t>
            </a:r>
            <a:endParaRPr lang="en-US" sz="1500" dirty="0"/>
          </a:p>
        </p:txBody>
      </p:sp>
      <p:sp>
        <p:nvSpPr>
          <p:cNvPr id="12" name="选题内容3"/>
          <p:cNvSpPr txBox="1"/>
          <p:nvPr/>
        </p:nvSpPr>
        <p:spPr>
          <a:xfrm>
            <a:off x="1554480" y="3694176"/>
            <a:ext cx="55778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电视与流媒体的节目数据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名称、简介、播出平台、节目表</a:t>
            </a:r>
            <a:endParaRPr lang="en-US" sz="2000" dirty="0"/>
          </a:p>
        </p:txBody>
      </p:sp>
      <p:sp>
        <p:nvSpPr>
          <p:cNvPr id="13" name="分隔线"/>
          <p:cNvSpPr/>
          <p:nvPr/>
        </p:nvSpPr>
        <p:spPr>
          <a:xfrm>
            <a:off x="548640" y="4718304"/>
            <a:ext cx="6583680" cy="0"/>
          </a:xfrm>
          <a:prstGeom prst="line">
            <a:avLst/>
          </a:prstGeom>
          <a:noFill/>
          <a:ln w="9525">
            <a:solidFill>
              <a:srgbClr val="D5DAE1"/>
            </a:solidFill>
            <a:prstDash val="solid"/>
          </a:ln>
        </p:spPr>
      </p:sp>
      <p:sp>
        <p:nvSpPr>
          <p:cNvPr id="14" name="选题标签4"/>
          <p:cNvSpPr txBox="1"/>
          <p:nvPr/>
        </p:nvSpPr>
        <p:spPr>
          <a:xfrm>
            <a:off x="548640" y="4718304"/>
            <a:ext cx="914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关联</a:t>
            </a:r>
            <a:endParaRPr lang="en-US" sz="1500" dirty="0"/>
          </a:p>
        </p:txBody>
      </p:sp>
      <p:sp>
        <p:nvSpPr>
          <p:cNvPr id="15" name="选题内容4"/>
          <p:cNvSpPr txBox="1"/>
          <p:nvPr/>
        </p:nvSpPr>
        <p:spPr>
          <a:xfrm>
            <a:off x="1554480" y="4718304"/>
            <a:ext cx="55778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视频软件里的节目指南，背后常常就是这类数据</a:t>
            </a:r>
            <a:endParaRPr lang="en-US" sz="2000" dirty="0"/>
          </a:p>
        </p:txBody>
      </p:sp>
      <p:sp>
        <p:nvSpPr>
          <p:cNvPr id="16" name="分隔线"/>
          <p:cNvSpPr/>
          <p:nvPr/>
        </p:nvSpPr>
        <p:spPr>
          <a:xfrm>
            <a:off x="548640" y="5742432"/>
            <a:ext cx="6583680" cy="0"/>
          </a:xfrm>
          <a:prstGeom prst="line">
            <a:avLst/>
          </a:prstGeom>
          <a:noFill/>
          <a:ln w="9525">
            <a:solidFill>
              <a:srgbClr val="D5DAE1"/>
            </a:solidFill>
            <a:prstDash val="solid"/>
          </a:ln>
        </p:spPr>
      </p:sp>
      <p:sp>
        <p:nvSpPr>
          <p:cNvPr id="17" name="报告封面阴影"/>
          <p:cNvSpPr/>
          <p:nvPr/>
        </p:nvSpPr>
        <p:spPr>
          <a:xfrm>
            <a:off x="7635240" y="2240280"/>
            <a:ext cx="3977640" cy="2414016"/>
          </a:xfrm>
          <a:prstGeom prst="rect">
            <a:avLst/>
          </a:prstGeom>
          <a:solidFill>
            <a:srgbClr val="FFFFFF"/>
          </a:solidFill>
          <a:ln w="6350">
            <a:solidFill>
              <a:srgbClr val="E3E7EC"/>
            </a:solidFill>
            <a:prstDash val="solid"/>
          </a:ln>
          <a:effectLst>
            <a:outerShdw sx="100000" sy="100000" kx="0" ky="0" algn="bl" rotWithShape="0" blurRad="177800" dist="50800" dir="5400000">
              <a:srgbClr val="1F2A44">
                <a:alpha val="18000"/>
              </a:srgbClr>
            </a:outerShdw>
          </a:effectLst>
        </p:spPr>
      </p:sp>
      <p:pic>
        <p:nvPicPr>
          <p:cNvPr id="18" name="报告封面" descr="/home/user/ppt/build/assets/report_cov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2240280"/>
            <a:ext cx="3977640" cy="2414016"/>
          </a:xfrm>
          <a:prstGeom prst="rect">
            <a:avLst/>
          </a:prstGeom>
        </p:spPr>
      </p:pic>
      <p:sp>
        <p:nvSpPr>
          <p:cNvPr id="19" name="封面图注"/>
          <p:cNvSpPr txBox="1"/>
          <p:nvPr/>
        </p:nvSpPr>
        <p:spPr>
          <a:xfrm>
            <a:off x="7635240" y="480060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报告封面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9" grpId="0" animBg="1"/>
      <p:bldP spid="11" grpId="0" animBg="1"/>
      <p:bldP spid="12" grpId="0" animBg="1"/>
      <p:bldP spid="14" grpId="0" animBg="1"/>
      <p:bldP spid="15" grpId="0" animBg="1"/>
      <p:bldP spid="17" grpId="0" animBg="1"/>
      <p:bldP spid="1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章节标记"/>
          <p:cNvSpPr txBox="1"/>
          <p:nvPr/>
        </p:nvSpPr>
        <p:spPr>
          <a:xfrm>
            <a:off x="54864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01  研究背景与问题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研究背景：节目分散，找节目更费劲</a:t>
            </a:r>
            <a:endParaRPr lang="en-US" sz="3000" dirty="0"/>
          </a:p>
        </p:txBody>
      </p:sp>
      <p:sp>
        <p:nvSpPr>
          <p:cNvPr id="4" name="背景"/>
          <p:cNvSpPr txBox="1"/>
          <p:nvPr/>
        </p:nvSpPr>
        <p:spPr>
          <a:xfrm>
            <a:off x="548640" y="15087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流媒体平台增多，节目分散；AI 聊天机器人成为新的找节目方式。</a:t>
            </a:r>
            <a:endParaRPr lang="en-US" sz="1800" dirty="0"/>
          </a:p>
        </p:txBody>
      </p:sp>
      <p:sp>
        <p:nvSpPr>
          <p:cNvPr id="5" name="背景卡1"/>
          <p:cNvSpPr/>
          <p:nvPr/>
        </p:nvSpPr>
        <p:spPr>
          <a:xfrm>
            <a:off x="548640" y="2103120"/>
            <a:ext cx="3566160" cy="109728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背景数字1"/>
          <p:cNvSpPr txBox="1"/>
          <p:nvPr/>
        </p:nvSpPr>
        <p:spPr>
          <a:xfrm>
            <a:off x="822960" y="21031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近 350 个</a:t>
            </a:r>
            <a:endParaRPr lang="en-US" sz="2400" dirty="0"/>
          </a:p>
        </p:txBody>
      </p:sp>
      <p:sp>
        <p:nvSpPr>
          <p:cNvPr id="7" name="背景说明1"/>
          <p:cNvSpPr txBox="1"/>
          <p:nvPr/>
        </p:nvSpPr>
        <p:spPr>
          <a:xfrm>
            <a:off x="2926080" y="21031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点播片库</a:t>
            </a:r>
            <a:endParaRPr lang="en-US" sz="1500" dirty="0"/>
          </a:p>
        </p:txBody>
      </p:sp>
      <p:sp>
        <p:nvSpPr>
          <p:cNvPr id="8" name="背景卡2"/>
          <p:cNvSpPr/>
          <p:nvPr/>
        </p:nvSpPr>
        <p:spPr>
          <a:xfrm>
            <a:off x="4297680" y="2103120"/>
            <a:ext cx="3566160" cy="109728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背景数字2"/>
          <p:cNvSpPr txBox="1"/>
          <p:nvPr/>
        </p:nvSpPr>
        <p:spPr>
          <a:xfrm>
            <a:off x="4572000" y="21031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约 180 万个</a:t>
            </a:r>
            <a:endParaRPr lang="en-US" sz="2400" dirty="0"/>
          </a:p>
        </p:txBody>
      </p:sp>
      <p:sp>
        <p:nvSpPr>
          <p:cNvPr id="10" name="背景说明2"/>
          <p:cNvSpPr txBox="1"/>
          <p:nvPr/>
        </p:nvSpPr>
        <p:spPr>
          <a:xfrm>
            <a:off x="6675120" y="21031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节目</a:t>
            </a:r>
            <a:endParaRPr lang="en-US" sz="1500" dirty="0"/>
          </a:p>
        </p:txBody>
      </p:sp>
      <p:sp>
        <p:nvSpPr>
          <p:cNvPr id="11" name="背景卡3"/>
          <p:cNvSpPr/>
          <p:nvPr/>
        </p:nvSpPr>
        <p:spPr>
          <a:xfrm>
            <a:off x="8046720" y="2103120"/>
            <a:ext cx="3566160" cy="109728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背景数字3"/>
          <p:cNvSpPr txBox="1"/>
          <p:nvPr/>
        </p:nvSpPr>
        <p:spPr>
          <a:xfrm>
            <a:off x="8321040" y="21031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近 2,100 个</a:t>
            </a:r>
            <a:endParaRPr lang="en-US" sz="2400" dirty="0"/>
          </a:p>
        </p:txBody>
      </p:sp>
      <p:sp>
        <p:nvSpPr>
          <p:cNvPr id="13" name="背景说明3"/>
          <p:cNvSpPr txBox="1"/>
          <p:nvPr/>
        </p:nvSpPr>
        <p:spPr>
          <a:xfrm>
            <a:off x="10424160" y="21031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免费频道</a:t>
            </a:r>
            <a:endParaRPr lang="en-US" sz="1500" dirty="0"/>
          </a:p>
        </p:txBody>
      </p:sp>
      <p:sp>
        <p:nvSpPr>
          <p:cNvPr id="14" name="背景注"/>
          <p:cNvSpPr txBox="1"/>
          <p:nvPr/>
        </p:nvSpPr>
        <p:spPr>
          <a:xfrm>
            <a:off x="548640" y="3246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截至 2026 年 2 月，Gracenote 记录的数量（点播指 SVOD，免费频道指 FAST）</a:t>
            </a:r>
            <a:endParaRPr lang="en-US" sz="1200" dirty="0"/>
          </a:p>
        </p:txBody>
      </p:sp>
      <p:sp>
        <p:nvSpPr>
          <p:cNvPr id="15" name="分隔线"/>
          <p:cNvSpPr/>
          <p:nvPr/>
        </p:nvSpPr>
        <p:spPr>
          <a:xfrm>
            <a:off x="548640" y="3657600"/>
            <a:ext cx="11064240" cy="0"/>
          </a:xfrm>
          <a:prstGeom prst="line">
            <a:avLst/>
          </a:prstGeom>
          <a:noFill/>
          <a:ln w="9525">
            <a:solidFill>
              <a:srgbClr val="D5DAE1"/>
            </a:solidFill>
            <a:prstDash val="solid"/>
          </a:ln>
        </p:spPr>
      </p:sp>
      <p:sp>
        <p:nvSpPr>
          <p:cNvPr id="16" name="问题编号1"/>
          <p:cNvSpPr txBox="1"/>
          <p:nvPr/>
        </p:nvSpPr>
        <p:spPr>
          <a:xfrm>
            <a:off x="548640" y="365760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问题一</a:t>
            </a:r>
            <a:endParaRPr lang="en-US" sz="1400" dirty="0"/>
          </a:p>
        </p:txBody>
      </p:sp>
      <p:sp>
        <p:nvSpPr>
          <p:cNvPr id="17" name="问题名1"/>
          <p:cNvSpPr txBox="1"/>
          <p:nvPr/>
        </p:nvSpPr>
        <p:spPr>
          <a:xfrm>
            <a:off x="1737360" y="365760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使用频率</a:t>
            </a:r>
            <a:endParaRPr lang="en-US" sz="2000" dirty="0"/>
          </a:p>
        </p:txBody>
      </p:sp>
      <p:sp>
        <p:nvSpPr>
          <p:cNvPr id="18" name="问题内容1"/>
          <p:cNvSpPr txBox="1"/>
          <p:nvPr/>
        </p:nvSpPr>
        <p:spPr>
          <a:xfrm>
            <a:off x="4114800" y="365760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各年龄段使用 AI 的频率</a:t>
            </a:r>
            <a:endParaRPr lang="en-US" sz="1800" dirty="0"/>
          </a:p>
        </p:txBody>
      </p:sp>
      <p:sp>
        <p:nvSpPr>
          <p:cNvPr id="19" name="分隔线"/>
          <p:cNvSpPr/>
          <p:nvPr/>
        </p:nvSpPr>
        <p:spPr>
          <a:xfrm>
            <a:off x="548640" y="4224528"/>
            <a:ext cx="11064240" cy="0"/>
          </a:xfrm>
          <a:prstGeom prst="line">
            <a:avLst/>
          </a:prstGeom>
          <a:noFill/>
          <a:ln w="9525">
            <a:solidFill>
              <a:srgbClr val="D5DAE1"/>
            </a:solidFill>
            <a:prstDash val="solid"/>
          </a:ln>
        </p:spPr>
      </p:sp>
      <p:sp>
        <p:nvSpPr>
          <p:cNvPr id="20" name="问题编号2"/>
          <p:cNvSpPr txBox="1"/>
          <p:nvPr/>
        </p:nvSpPr>
        <p:spPr>
          <a:xfrm>
            <a:off x="548640" y="4224528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问题二</a:t>
            </a:r>
            <a:endParaRPr lang="en-US" sz="1400" dirty="0"/>
          </a:p>
        </p:txBody>
      </p:sp>
      <p:sp>
        <p:nvSpPr>
          <p:cNvPr id="21" name="问题名2"/>
          <p:cNvSpPr txBox="1"/>
          <p:nvPr/>
        </p:nvSpPr>
        <p:spPr>
          <a:xfrm>
            <a:off x="1737360" y="422452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检索难度</a:t>
            </a:r>
            <a:endParaRPr lang="en-US" sz="2000" dirty="0"/>
          </a:p>
        </p:txBody>
      </p:sp>
      <p:sp>
        <p:nvSpPr>
          <p:cNvPr id="22" name="问题内容2"/>
          <p:cNvSpPr txBox="1"/>
          <p:nvPr/>
        </p:nvSpPr>
        <p:spPr>
          <a:xfrm>
            <a:off x="4114800" y="422452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找节目的难度与退订意向</a:t>
            </a:r>
            <a:endParaRPr lang="en-US" sz="1800" dirty="0"/>
          </a:p>
        </p:txBody>
      </p:sp>
      <p:sp>
        <p:nvSpPr>
          <p:cNvPr id="23" name="分隔线"/>
          <p:cNvSpPr/>
          <p:nvPr/>
        </p:nvSpPr>
        <p:spPr>
          <a:xfrm>
            <a:off x="548640" y="4791456"/>
            <a:ext cx="11064240" cy="0"/>
          </a:xfrm>
          <a:prstGeom prst="line">
            <a:avLst/>
          </a:prstGeom>
          <a:noFill/>
          <a:ln w="9525">
            <a:solidFill>
              <a:srgbClr val="D5DAE1"/>
            </a:solidFill>
            <a:prstDash val="solid"/>
          </a:ln>
        </p:spPr>
      </p:sp>
      <p:sp>
        <p:nvSpPr>
          <p:cNvPr id="24" name="问题编号3"/>
          <p:cNvSpPr txBox="1"/>
          <p:nvPr/>
        </p:nvSpPr>
        <p:spPr>
          <a:xfrm>
            <a:off x="548640" y="4791456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问题三</a:t>
            </a:r>
            <a:endParaRPr lang="en-US" sz="1400" dirty="0"/>
          </a:p>
        </p:txBody>
      </p:sp>
      <p:sp>
        <p:nvSpPr>
          <p:cNvPr id="25" name="问题名3"/>
          <p:cNvSpPr txBox="1"/>
          <p:nvPr/>
        </p:nvSpPr>
        <p:spPr>
          <a:xfrm>
            <a:off x="1737360" y="4791456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信任程度</a:t>
            </a:r>
            <a:endParaRPr lang="en-US" sz="2000" dirty="0"/>
          </a:p>
        </p:txBody>
      </p:sp>
      <p:sp>
        <p:nvSpPr>
          <p:cNvPr id="26" name="问题内容3"/>
          <p:cNvSpPr txBox="1"/>
          <p:nvPr/>
        </p:nvSpPr>
        <p:spPr>
          <a:xfrm>
            <a:off x="4114800" y="4791456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对 AI 回答的信任</a:t>
            </a:r>
            <a:endParaRPr lang="en-US" sz="1800" dirty="0"/>
          </a:p>
        </p:txBody>
      </p:sp>
      <p:sp>
        <p:nvSpPr>
          <p:cNvPr id="27" name="分隔线"/>
          <p:cNvSpPr/>
          <p:nvPr/>
        </p:nvSpPr>
        <p:spPr>
          <a:xfrm>
            <a:off x="548640" y="5358384"/>
            <a:ext cx="11064240" cy="0"/>
          </a:xfrm>
          <a:prstGeom prst="line">
            <a:avLst/>
          </a:prstGeom>
          <a:noFill/>
          <a:ln w="9525">
            <a:solidFill>
              <a:srgbClr val="D5DAE1"/>
            </a:solidFill>
            <a:prstDash val="solid"/>
          </a:ln>
        </p:spPr>
      </p:sp>
      <p:sp>
        <p:nvSpPr>
          <p:cNvPr id="28" name="建议说明"/>
          <p:cNvSpPr txBox="1"/>
          <p:nvPr/>
        </p:nvSpPr>
        <p:spPr>
          <a:xfrm>
            <a:off x="548640" y="54406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留意 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报告建议 AI 接入行业数据，而提供行业数据正是 Gracenote 的业务。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26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26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26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20" grpId="0" animBg="1"/>
      <p:bldP spid="21" grpId="0" animBg="1"/>
      <p:bldP spid="22" grpId="0" animBg="1"/>
      <p:bldP spid="24" grpId="0" animBg="1"/>
      <p:bldP spid="25" grpId="0" animBg="1"/>
      <p:bldP spid="26" grpId="0" animBg="1"/>
      <p:bldP spid="2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章节标记"/>
          <p:cNvSpPr txBox="1"/>
          <p:nvPr/>
        </p:nvSpPr>
        <p:spPr>
          <a:xfrm>
            <a:off x="54864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02  研究方法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研究方法：两项线上问卷</a:t>
            </a:r>
            <a:endParaRPr lang="en-US" sz="3000" dirty="0"/>
          </a:p>
        </p:txBody>
      </p:sp>
      <p:graphicFrame>
        <p:nvGraphicFramePr>
          <p:cNvPr id="5" name="研究设计表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617720"/>
                <a:gridCol w="461772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800" dirty="0"/>
                    </a:p>
                  </a:txBody>
                  <a:tcPr marL="177800" marR="1778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调查一：2026 年 AI 使用调查</a:t>
                      </a:r>
                      <a:endParaRPr lang="en-US" sz="1800" dirty="0"/>
                    </a:p>
                  </a:txBody>
                  <a:tcPr marL="177800" marR="1778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调查二：2025 年六国流媒体调查</a:t>
                      </a:r>
                      <a:endParaRPr lang="en-US" sz="1800" dirty="0"/>
                    </a:p>
                  </a:txBody>
                  <a:tcPr marL="177800" marR="1778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5"/>
                          </a:solidFill>
                        </a:rPr>
                        <a:t>调查对象</a:t>
                      </a:r>
                      <a:endParaRPr lang="en-US" sz="2000" dirty="0"/>
                    </a:p>
                  </a:txBody>
                  <a:tcPr marL="177800" marR="1778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美国 13–79 岁 AI 聊天机器人用户</a:t>
                      </a:r>
                      <a:endParaRPr lang="en-US" sz="2000" dirty="0"/>
                    </a:p>
                  </a:txBody>
                  <a:tcPr marL="177800" marR="1778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六国流媒体用户</a:t>
                      </a:r>
                      <a:endParaRPr lang="en-US" sz="2000" dirty="0"/>
                    </a:p>
                  </a:txBody>
                  <a:tcPr marL="177800" marR="1778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5"/>
                          </a:solidFill>
                        </a:rPr>
                        <a:t>调查时间</a:t>
                      </a:r>
                      <a:endParaRPr lang="en-US" sz="2000" dirty="0"/>
                    </a:p>
                  </a:txBody>
                  <a:tcPr marL="177800" marR="1778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2026 年 1–2 月</a:t>
                      </a:r>
                      <a:endParaRPr lang="en-US" sz="2000" dirty="0"/>
                    </a:p>
                  </a:txBody>
                  <a:tcPr marL="177800" marR="1778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2025 年 7–8 月</a:t>
                      </a:r>
                      <a:endParaRPr lang="en-US" sz="2000" dirty="0"/>
                    </a:p>
                  </a:txBody>
                  <a:tcPr marL="177800" marR="1778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5"/>
                          </a:solidFill>
                        </a:rPr>
                        <a:t>调查方式</a:t>
                      </a:r>
                      <a:endParaRPr lang="en-US" sz="2000" dirty="0"/>
                    </a:p>
                  </a:txBody>
                  <a:tcPr marL="177800" marR="1778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线上问卷</a:t>
                      </a:r>
                      <a:endParaRPr lang="en-US" sz="2000" dirty="0"/>
                    </a:p>
                  </a:txBody>
                  <a:tcPr marL="177800" marR="1778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线上问卷</a:t>
                      </a:r>
                      <a:endParaRPr lang="en-US" sz="2000" dirty="0"/>
                    </a:p>
                  </a:txBody>
                  <a:tcPr marL="177800" marR="1778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5"/>
                          </a:solidFill>
                        </a:rPr>
                        <a:t>抽样方式</a:t>
                      </a:r>
                      <a:endParaRPr lang="en-US" sz="2000" dirty="0"/>
                    </a:p>
                  </a:txBody>
                  <a:tcPr marL="177800" marR="1778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报告未说明</a:t>
                      </a:r>
                      <a:endParaRPr lang="en-US" sz="2000" dirty="0"/>
                    </a:p>
                  </a:txBody>
                  <a:tcPr marL="177800" marR="1778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报告未说明</a:t>
                      </a:r>
                      <a:endParaRPr lang="en-US" sz="2000" dirty="0"/>
                    </a:p>
                  </a:txBody>
                  <a:tcPr marL="177800" marR="1778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5"/>
                          </a:solidFill>
                        </a:rPr>
                        <a:t>样本量</a:t>
                      </a:r>
                      <a:endParaRPr lang="en-US" sz="2000" dirty="0"/>
                    </a:p>
                  </a:txBody>
                  <a:tcPr marL="177800" marR="1778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4,003 人</a:t>
                      </a:r>
                      <a:endParaRPr lang="en-US" sz="2000" dirty="0"/>
                    </a:p>
                  </a:txBody>
                  <a:tcPr marL="177800" marR="1778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3,000 人（每国 500）</a:t>
                      </a:r>
                      <a:endParaRPr lang="en-US" sz="2000" dirty="0"/>
                    </a:p>
                  </a:txBody>
                  <a:tcPr marL="177800" marR="1778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说明"/>
          <p:cNvSpPr txBox="1"/>
          <p:nvPr/>
        </p:nvSpPr>
        <p:spPr>
          <a:xfrm>
            <a:off x="548640" y="5623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注：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报告另引用尼尔森、皮尤、德勤、普华永道等 11 个外部来源。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章节标记"/>
          <p:cNvSpPr txBox="1"/>
          <p:nvPr/>
        </p:nvSpPr>
        <p:spPr>
          <a:xfrm>
            <a:off x="54864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03  研究结论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结论一、二：年轻人依赖 AI，但信任有限</a:t>
            </a:r>
            <a:endParaRPr lang="en-US" sz="3000" dirty="0"/>
          </a:p>
        </p:txBody>
      </p:sp>
      <p:sp>
        <p:nvSpPr>
          <p:cNvPr id="4" name="数据卡1"/>
          <p:cNvSpPr/>
          <p:nvPr/>
        </p:nvSpPr>
        <p:spPr>
          <a:xfrm>
            <a:off x="548640" y="1645920"/>
            <a:ext cx="5440680" cy="2011680"/>
          </a:xfrm>
          <a:prstGeom prst="roundRect">
            <a:avLst>
              <a:gd name="adj" fmla="val 2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数据1"/>
          <p:cNvSpPr txBox="1"/>
          <p:nvPr/>
        </p:nvSpPr>
        <p:spPr>
          <a:xfrm>
            <a:off x="914400" y="1645920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6000" dirty="0"/>
          </a:p>
        </p:txBody>
      </p:sp>
      <p:sp>
        <p:nvSpPr>
          <p:cNvPr id="6" name="数据说明1"/>
          <p:cNvSpPr txBox="1"/>
          <p:nvPr/>
        </p:nvSpPr>
        <p:spPr>
          <a:xfrm>
            <a:off x="3291840" y="1645920"/>
            <a:ext cx="2560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13–14 岁受访者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每日使用 AI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80% 称近 18 个月使用增加</a:t>
            </a:r>
            <a:endParaRPr lang="en-US" sz="2000" dirty="0"/>
          </a:p>
        </p:txBody>
      </p:sp>
      <p:sp>
        <p:nvSpPr>
          <p:cNvPr id="7" name="数据卡2"/>
          <p:cNvSpPr/>
          <p:nvPr/>
        </p:nvSpPr>
        <p:spPr>
          <a:xfrm>
            <a:off x="6172200" y="1645920"/>
            <a:ext cx="5440680" cy="2011680"/>
          </a:xfrm>
          <a:prstGeom prst="roundRect">
            <a:avLst>
              <a:gd name="adj" fmla="val 2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数据2"/>
          <p:cNvSpPr txBox="1"/>
          <p:nvPr/>
        </p:nvSpPr>
        <p:spPr>
          <a:xfrm>
            <a:off x="6537960" y="1645920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6000" dirty="0"/>
          </a:p>
        </p:txBody>
      </p:sp>
      <p:sp>
        <p:nvSpPr>
          <p:cNvPr id="9" name="数据说明2"/>
          <p:cNvSpPr txBox="1"/>
          <p:nvPr/>
        </p:nvSpPr>
        <p:spPr>
          <a:xfrm>
            <a:off x="8915400" y="1645920"/>
            <a:ext cx="2560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受访者表示会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核对 AI 的结果</a:t>
            </a:r>
            <a:endParaRPr lang="en-US" sz="2000" dirty="0"/>
          </a:p>
        </p:txBody>
      </p:sp>
      <p:sp>
        <p:nvSpPr>
          <p:cNvPr id="10" name="解释标题"/>
          <p:cNvSpPr txBox="1"/>
          <p:nvPr/>
        </p:nvSpPr>
        <p:spPr>
          <a:xfrm>
            <a:off x="548640" y="3977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报告的解释</a:t>
            </a:r>
            <a:endParaRPr lang="en-US" sz="1600" dirty="0"/>
          </a:p>
        </p:txBody>
      </p:sp>
      <p:sp>
        <p:nvSpPr>
          <p:cNvPr id="11" name="分隔线"/>
          <p:cNvSpPr/>
          <p:nvPr/>
        </p:nvSpPr>
        <p:spPr>
          <a:xfrm>
            <a:off x="548640" y="4434840"/>
            <a:ext cx="11064240" cy="0"/>
          </a:xfrm>
          <a:prstGeom prst="line">
            <a:avLst/>
          </a:prstGeom>
          <a:noFill/>
          <a:ln w="9525">
            <a:solidFill>
              <a:srgbClr val="D5DAE1"/>
            </a:solidFill>
            <a:prstDash val="solid"/>
          </a:ln>
        </p:spPr>
      </p:sp>
      <p:sp>
        <p:nvSpPr>
          <p:cNvPr id="12" name="原因1"/>
          <p:cNvSpPr txBox="1"/>
          <p:nvPr/>
        </p:nvSpPr>
        <p:spPr>
          <a:xfrm>
            <a:off x="548640" y="443484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回答直接、可追问</a:t>
            </a:r>
            <a:endParaRPr lang="en-US" sz="2000" dirty="0"/>
          </a:p>
        </p:txBody>
      </p:sp>
      <p:sp>
        <p:nvSpPr>
          <p:cNvPr id="13" name="箭头1"/>
          <p:cNvSpPr txBox="1"/>
          <p:nvPr/>
        </p:nvSpPr>
        <p:spPr>
          <a:xfrm>
            <a:off x="6583680" y="4434840"/>
            <a:ext cx="274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结果1"/>
          <p:cNvSpPr txBox="1"/>
          <p:nvPr/>
        </p:nvSpPr>
        <p:spPr>
          <a:xfrm>
            <a:off x="7040880" y="443484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使用增加</a:t>
            </a:r>
            <a:endParaRPr lang="en-US" sz="2000" dirty="0"/>
          </a:p>
        </p:txBody>
      </p:sp>
      <p:sp>
        <p:nvSpPr>
          <p:cNvPr id="15" name="分隔线"/>
          <p:cNvSpPr/>
          <p:nvPr/>
        </p:nvSpPr>
        <p:spPr>
          <a:xfrm>
            <a:off x="548640" y="5120640"/>
            <a:ext cx="11064240" cy="0"/>
          </a:xfrm>
          <a:prstGeom prst="line">
            <a:avLst/>
          </a:prstGeom>
          <a:noFill/>
          <a:ln w="9525">
            <a:solidFill>
              <a:srgbClr val="D5DAE1"/>
            </a:solidFill>
            <a:prstDash val="solid"/>
          </a:ln>
        </p:spPr>
      </p:sp>
      <p:sp>
        <p:nvSpPr>
          <p:cNvPr id="16" name="原因2"/>
          <p:cNvSpPr txBox="1"/>
          <p:nvPr/>
        </p:nvSpPr>
        <p:spPr>
          <a:xfrm>
            <a:off x="548640" y="512064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可能生成错误信息</a:t>
            </a:r>
            <a:endParaRPr lang="en-US" sz="2000" dirty="0"/>
          </a:p>
        </p:txBody>
      </p:sp>
      <p:sp>
        <p:nvSpPr>
          <p:cNvPr id="17" name="箭头2"/>
          <p:cNvSpPr txBox="1"/>
          <p:nvPr/>
        </p:nvSpPr>
        <p:spPr>
          <a:xfrm>
            <a:off x="6583680" y="5120640"/>
            <a:ext cx="274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→</a:t>
            </a:r>
            <a:endParaRPr lang="en-US" sz="2000" dirty="0"/>
          </a:p>
        </p:txBody>
      </p:sp>
      <p:sp>
        <p:nvSpPr>
          <p:cNvPr id="18" name="结果2"/>
          <p:cNvSpPr txBox="1"/>
          <p:nvPr/>
        </p:nvSpPr>
        <p:spPr>
          <a:xfrm>
            <a:off x="7040880" y="512064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需要核对</a:t>
            </a:r>
            <a:endParaRPr lang="en-US" sz="2000" dirty="0"/>
          </a:p>
        </p:txBody>
      </p:sp>
      <p:sp>
        <p:nvSpPr>
          <p:cNvPr id="19" name="分隔线"/>
          <p:cNvSpPr/>
          <p:nvPr/>
        </p:nvSpPr>
        <p:spPr>
          <a:xfrm>
            <a:off x="548640" y="5806440"/>
            <a:ext cx="11064240" cy="0"/>
          </a:xfrm>
          <a:prstGeom prst="line">
            <a:avLst/>
          </a:prstGeom>
          <a:noFill/>
          <a:ln w="9525">
            <a:solidFill>
              <a:srgbClr val="D5DAE1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章节标记"/>
          <p:cNvSpPr txBox="1"/>
          <p:nvPr/>
        </p:nvSpPr>
        <p:spPr>
          <a:xfrm>
            <a:off x="54864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03  研究结论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结论三、四：难找导致退订，需接入行业数据</a:t>
            </a:r>
            <a:endParaRPr lang="en-US" sz="3000" dirty="0"/>
          </a:p>
        </p:txBody>
      </p:sp>
      <p:sp>
        <p:nvSpPr>
          <p:cNvPr id="4" name="步骤卡1"/>
          <p:cNvSpPr/>
          <p:nvPr/>
        </p:nvSpPr>
        <p:spPr>
          <a:xfrm>
            <a:off x="548640" y="1691640"/>
            <a:ext cx="2560320" cy="3749040"/>
          </a:xfrm>
          <a:prstGeom prst="roundRect">
            <a:avLst>
              <a:gd name="adj" fmla="val 17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步骤名1"/>
          <p:cNvSpPr txBox="1"/>
          <p:nvPr/>
        </p:nvSpPr>
        <p:spPr>
          <a:xfrm>
            <a:off x="822960" y="1920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内容分散</a:t>
            </a:r>
            <a:endParaRPr lang="en-US" sz="2000" dirty="0"/>
          </a:p>
        </p:txBody>
      </p:sp>
      <p:sp>
        <p:nvSpPr>
          <p:cNvPr id="6" name="步骤数字1"/>
          <p:cNvSpPr txBox="1"/>
          <p:nvPr/>
        </p:nvSpPr>
        <p:spPr>
          <a:xfrm>
            <a:off x="822960" y="27432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4400" dirty="0"/>
          </a:p>
        </p:txBody>
      </p:sp>
      <p:sp>
        <p:nvSpPr>
          <p:cNvPr id="7" name="步骤说明1"/>
          <p:cNvSpPr txBox="1"/>
          <p:nvPr/>
        </p:nvSpPr>
        <p:spPr>
          <a:xfrm>
            <a:off x="822960" y="39319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联网电视占美国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电视时长</a:t>
            </a:r>
            <a:endParaRPr lang="en-US" sz="1600" dirty="0"/>
          </a:p>
        </p:txBody>
      </p:sp>
      <p:sp>
        <p:nvSpPr>
          <p:cNvPr id="8" name="链箭头1"/>
          <p:cNvSpPr txBox="1"/>
          <p:nvPr/>
        </p:nvSpPr>
        <p:spPr>
          <a:xfrm>
            <a:off x="3108960" y="1691640"/>
            <a:ext cx="2743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步骤卡2"/>
          <p:cNvSpPr/>
          <p:nvPr/>
        </p:nvSpPr>
        <p:spPr>
          <a:xfrm>
            <a:off x="3383280" y="1691640"/>
            <a:ext cx="2560320" cy="3749040"/>
          </a:xfrm>
          <a:prstGeom prst="roundRect">
            <a:avLst>
              <a:gd name="adj" fmla="val 17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步骤名2"/>
          <p:cNvSpPr txBox="1"/>
          <p:nvPr/>
        </p:nvSpPr>
        <p:spPr>
          <a:xfrm>
            <a:off x="3657600" y="1920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检索耗时</a:t>
            </a:r>
            <a:endParaRPr lang="en-US" sz="2000" dirty="0"/>
          </a:p>
        </p:txBody>
      </p:sp>
      <p:sp>
        <p:nvSpPr>
          <p:cNvPr id="11" name="步骤数字2"/>
          <p:cNvSpPr txBox="1"/>
          <p:nvPr/>
        </p:nvSpPr>
        <p:spPr>
          <a:xfrm>
            <a:off x="3657600" y="27432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分钟</a:t>
            </a:r>
            <a:endParaRPr lang="en-US" sz="3600" dirty="0"/>
          </a:p>
        </p:txBody>
      </p:sp>
      <p:sp>
        <p:nvSpPr>
          <p:cNvPr id="12" name="步骤说明2"/>
          <p:cNvSpPr txBox="1"/>
          <p:nvPr/>
        </p:nvSpPr>
        <p:spPr>
          <a:xfrm>
            <a:off x="3657600" y="39319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平均检索时长</a:t>
            </a:r>
            <a:endParaRPr lang="en-US" sz="1600" dirty="0"/>
          </a:p>
        </p:txBody>
      </p:sp>
      <p:sp>
        <p:nvSpPr>
          <p:cNvPr id="13" name="链箭头2"/>
          <p:cNvSpPr txBox="1"/>
          <p:nvPr/>
        </p:nvSpPr>
        <p:spPr>
          <a:xfrm>
            <a:off x="5943600" y="1691640"/>
            <a:ext cx="2743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步骤卡3"/>
          <p:cNvSpPr/>
          <p:nvPr/>
        </p:nvSpPr>
        <p:spPr>
          <a:xfrm>
            <a:off x="6217920" y="1691640"/>
            <a:ext cx="2560320" cy="3749040"/>
          </a:xfrm>
          <a:prstGeom prst="roundRect">
            <a:avLst>
              <a:gd name="adj" fmla="val 17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步骤名3"/>
          <p:cNvSpPr txBox="1"/>
          <p:nvPr/>
        </p:nvSpPr>
        <p:spPr>
          <a:xfrm>
            <a:off x="6492240" y="1920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退订意向</a:t>
            </a:r>
            <a:endParaRPr lang="en-US" sz="2000" dirty="0"/>
          </a:p>
        </p:txBody>
      </p:sp>
      <p:sp>
        <p:nvSpPr>
          <p:cNvPr id="16" name="步骤数字3"/>
          <p:cNvSpPr txBox="1"/>
          <p:nvPr/>
        </p:nvSpPr>
        <p:spPr>
          <a:xfrm>
            <a:off x="6492240" y="27432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4400" dirty="0"/>
          </a:p>
        </p:txBody>
      </p:sp>
      <p:sp>
        <p:nvSpPr>
          <p:cNvPr id="17" name="步骤说明3"/>
          <p:cNvSpPr txBox="1"/>
          <p:nvPr/>
        </p:nvSpPr>
        <p:spPr>
          <a:xfrm>
            <a:off x="6492240" y="39319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18–34 岁表示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可能退订</a:t>
            </a:r>
            <a:endParaRPr lang="en-US" sz="1600" dirty="0"/>
          </a:p>
        </p:txBody>
      </p:sp>
      <p:sp>
        <p:nvSpPr>
          <p:cNvPr id="18" name="链箭头3"/>
          <p:cNvSpPr txBox="1"/>
          <p:nvPr/>
        </p:nvSpPr>
        <p:spPr>
          <a:xfrm>
            <a:off x="8778240" y="1691640"/>
            <a:ext cx="2743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→</a:t>
            </a:r>
            <a:endParaRPr lang="en-US" sz="2000" dirty="0"/>
          </a:p>
        </p:txBody>
      </p:sp>
      <p:sp>
        <p:nvSpPr>
          <p:cNvPr id="19" name="步骤卡4"/>
          <p:cNvSpPr/>
          <p:nvPr/>
        </p:nvSpPr>
        <p:spPr>
          <a:xfrm>
            <a:off x="9052560" y="1691640"/>
            <a:ext cx="2560320" cy="3749040"/>
          </a:xfrm>
          <a:prstGeom prst="roundRect">
            <a:avLst>
              <a:gd name="adj" fmla="val 178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0" name="步骤名4"/>
          <p:cNvSpPr txBox="1"/>
          <p:nvPr/>
        </p:nvSpPr>
        <p:spPr>
          <a:xfrm>
            <a:off x="9326880" y="1920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接入行业数据</a:t>
            </a:r>
            <a:endParaRPr lang="en-US" sz="2000" dirty="0"/>
          </a:p>
        </p:txBody>
      </p:sp>
      <p:sp>
        <p:nvSpPr>
          <p:cNvPr id="21" name="步骤数字4"/>
          <p:cNvSpPr txBox="1"/>
          <p:nvPr/>
        </p:nvSpPr>
        <p:spPr>
          <a:xfrm>
            <a:off x="9326880" y="27432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约 2/3</a:t>
            </a:r>
            <a:endParaRPr lang="en-US" sz="3600" dirty="0"/>
          </a:p>
        </p:txBody>
      </p:sp>
      <p:sp>
        <p:nvSpPr>
          <p:cNvPr id="22" name="步骤说明4"/>
          <p:cNvSpPr txBox="1"/>
          <p:nvPr/>
        </p:nvSpPr>
        <p:spPr>
          <a:xfrm>
            <a:off x="9326880" y="39319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AI 正确回答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播出平台的比例</a:t>
            </a:r>
            <a:endParaRPr lang="en-US" sz="1600" dirty="0"/>
          </a:p>
        </p:txBody>
      </p:sp>
      <p:sp>
        <p:nvSpPr>
          <p:cNvPr id="23" name="来源说明"/>
          <p:cNvSpPr txBox="1"/>
          <p:nvPr/>
        </p:nvSpPr>
        <p:spPr>
          <a:xfrm>
            <a:off x="548640" y="603504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数据：尼尔森收视测量；调查二（六国）；Veed Analytics 测试（报告引用）。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  <p:bldP spid="12" grpId="0" animBg="1"/>
      <p:bldP spid="8" grpId="0" animBg="1"/>
      <p:bldP spid="14" grpId="0" animBg="1"/>
      <p:bldP spid="15" grpId="0" animBg="1"/>
      <p:bldP spid="16" grpId="0" animBg="1"/>
      <p:bldP spid="17" grpId="0" animBg="1"/>
      <p:bldP spid="13" grpId="0" animBg="1"/>
      <p:bldP spid="19" grpId="0" animBg="1"/>
      <p:bldP spid="20" grpId="0" animBg="1"/>
      <p:bldP spid="21" grpId="0" animBg="1"/>
      <p:bldP spid="22" grpId="0" animBg="1"/>
      <p:bldP spid="1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章节标记"/>
          <p:cNvSpPr txBox="1"/>
          <p:nvPr/>
        </p:nvSpPr>
        <p:spPr>
          <a:xfrm>
            <a:off x="54864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04  思考与评价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评价：逐项检验四个推论环节</a:t>
            </a:r>
            <a:endParaRPr lang="en-US" sz="3000" dirty="0"/>
          </a:p>
        </p:txBody>
      </p:sp>
      <p:sp>
        <p:nvSpPr>
          <p:cNvPr id="4" name="环节1"/>
          <p:cNvSpPr/>
          <p:nvPr/>
        </p:nvSpPr>
        <p:spPr>
          <a:xfrm>
            <a:off x="548640" y="1645920"/>
            <a:ext cx="2560320" cy="868680"/>
          </a:xfrm>
          <a:prstGeom prst="roundRect">
            <a:avLst>
              <a:gd name="adj" fmla="val 526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环节文字1"/>
          <p:cNvSpPr txBox="1"/>
          <p:nvPr/>
        </p:nvSpPr>
        <p:spPr>
          <a:xfrm>
            <a:off x="548640" y="164592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① 依赖 AI</a:t>
            </a:r>
            <a:endParaRPr lang="en-US" sz="1900" dirty="0"/>
          </a:p>
        </p:txBody>
      </p:sp>
      <p:sp>
        <p:nvSpPr>
          <p:cNvPr id="6" name="环节箭头1"/>
          <p:cNvSpPr txBox="1"/>
          <p:nvPr/>
        </p:nvSpPr>
        <p:spPr>
          <a:xfrm>
            <a:off x="3108960" y="1645920"/>
            <a:ext cx="274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→</a:t>
            </a:r>
            <a:endParaRPr lang="en-US" sz="2000" dirty="0"/>
          </a:p>
        </p:txBody>
      </p:sp>
      <p:sp>
        <p:nvSpPr>
          <p:cNvPr id="7" name="检验标签1"/>
          <p:cNvSpPr txBox="1"/>
          <p:nvPr/>
        </p:nvSpPr>
        <p:spPr>
          <a:xfrm>
            <a:off x="548640" y="27432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检验</a:t>
            </a:r>
            <a:endParaRPr lang="en-US" sz="1300" dirty="0"/>
          </a:p>
        </p:txBody>
      </p:sp>
      <p:sp>
        <p:nvSpPr>
          <p:cNvPr id="8" name="分隔线"/>
          <p:cNvSpPr/>
          <p:nvPr/>
        </p:nvSpPr>
        <p:spPr>
          <a:xfrm>
            <a:off x="548640" y="3108960"/>
            <a:ext cx="2560320" cy="0"/>
          </a:xfrm>
          <a:prstGeom prst="line">
            <a:avLst/>
          </a:prstGeom>
          <a:noFill/>
          <a:ln w="9525">
            <a:solidFill>
              <a:srgbClr val="D5DAE1"/>
            </a:solidFill>
            <a:prstDash val="solid"/>
          </a:ln>
        </p:spPr>
      </p:sp>
      <p:sp>
        <p:nvSpPr>
          <p:cNvPr id="9" name="检验文字1"/>
          <p:cNvSpPr txBox="1"/>
          <p:nvPr/>
        </p:nvSpPr>
        <p:spPr>
          <a:xfrm>
            <a:off x="548640" y="320040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调查对象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调查时间</a:t>
            </a:r>
            <a:endParaRPr lang="en-US" sz="2000" dirty="0"/>
          </a:p>
        </p:txBody>
      </p:sp>
      <p:sp>
        <p:nvSpPr>
          <p:cNvPr id="10" name="分隔线"/>
          <p:cNvSpPr/>
          <p:nvPr/>
        </p:nvSpPr>
        <p:spPr>
          <a:xfrm>
            <a:off x="548640" y="4480560"/>
            <a:ext cx="2560320" cy="0"/>
          </a:xfrm>
          <a:prstGeom prst="line">
            <a:avLst/>
          </a:prstGeom>
          <a:noFill/>
          <a:ln w="9525">
            <a:solidFill>
              <a:srgbClr val="D5DAE1"/>
            </a:solidFill>
            <a:prstDash val="solid"/>
          </a:ln>
        </p:spPr>
      </p:sp>
      <p:sp>
        <p:nvSpPr>
          <p:cNvPr id="11" name="环节2"/>
          <p:cNvSpPr/>
          <p:nvPr/>
        </p:nvSpPr>
        <p:spPr>
          <a:xfrm>
            <a:off x="3383280" y="1645920"/>
            <a:ext cx="2560320" cy="868680"/>
          </a:xfrm>
          <a:prstGeom prst="roundRect">
            <a:avLst>
              <a:gd name="adj" fmla="val 526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环节文字2"/>
          <p:cNvSpPr txBox="1"/>
          <p:nvPr/>
        </p:nvSpPr>
        <p:spPr>
          <a:xfrm>
            <a:off x="3383280" y="164592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② 信任有限</a:t>
            </a:r>
            <a:endParaRPr lang="en-US" sz="1900" dirty="0"/>
          </a:p>
        </p:txBody>
      </p:sp>
      <p:sp>
        <p:nvSpPr>
          <p:cNvPr id="13" name="环节箭头2"/>
          <p:cNvSpPr txBox="1"/>
          <p:nvPr/>
        </p:nvSpPr>
        <p:spPr>
          <a:xfrm>
            <a:off x="5943600" y="1645920"/>
            <a:ext cx="274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检验标签2"/>
          <p:cNvSpPr txBox="1"/>
          <p:nvPr/>
        </p:nvSpPr>
        <p:spPr>
          <a:xfrm>
            <a:off x="3383280" y="27432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检验</a:t>
            </a:r>
            <a:endParaRPr lang="en-US" sz="1300" dirty="0"/>
          </a:p>
        </p:txBody>
      </p:sp>
      <p:sp>
        <p:nvSpPr>
          <p:cNvPr id="15" name="分隔线"/>
          <p:cNvSpPr/>
          <p:nvPr/>
        </p:nvSpPr>
        <p:spPr>
          <a:xfrm>
            <a:off x="3383280" y="3108960"/>
            <a:ext cx="2560320" cy="0"/>
          </a:xfrm>
          <a:prstGeom prst="line">
            <a:avLst/>
          </a:prstGeom>
          <a:noFill/>
          <a:ln w="9525">
            <a:solidFill>
              <a:srgbClr val="D5DAE1"/>
            </a:solidFill>
            <a:prstDash val="solid"/>
          </a:ln>
        </p:spPr>
      </p:sp>
      <p:sp>
        <p:nvSpPr>
          <p:cNvPr id="16" name="检验文字2"/>
          <p:cNvSpPr txBox="1"/>
          <p:nvPr/>
        </p:nvSpPr>
        <p:spPr>
          <a:xfrm>
            <a:off x="3383280" y="320040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调查对象</a:t>
            </a:r>
            <a:endParaRPr lang="en-US" sz="2000" dirty="0"/>
          </a:p>
        </p:txBody>
      </p:sp>
      <p:sp>
        <p:nvSpPr>
          <p:cNvPr id="17" name="分隔线"/>
          <p:cNvSpPr/>
          <p:nvPr/>
        </p:nvSpPr>
        <p:spPr>
          <a:xfrm>
            <a:off x="3383280" y="4480560"/>
            <a:ext cx="2560320" cy="0"/>
          </a:xfrm>
          <a:prstGeom prst="line">
            <a:avLst/>
          </a:prstGeom>
          <a:noFill/>
          <a:ln w="9525">
            <a:solidFill>
              <a:srgbClr val="D5DAE1"/>
            </a:solidFill>
            <a:prstDash val="solid"/>
          </a:ln>
        </p:spPr>
      </p:sp>
      <p:sp>
        <p:nvSpPr>
          <p:cNvPr id="18" name="环节3"/>
          <p:cNvSpPr/>
          <p:nvPr/>
        </p:nvSpPr>
        <p:spPr>
          <a:xfrm>
            <a:off x="6217920" y="1645920"/>
            <a:ext cx="2560320" cy="868680"/>
          </a:xfrm>
          <a:prstGeom prst="roundRect">
            <a:avLst>
              <a:gd name="adj" fmla="val 526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9" name="环节文字3"/>
          <p:cNvSpPr txBox="1"/>
          <p:nvPr/>
        </p:nvSpPr>
        <p:spPr>
          <a:xfrm>
            <a:off x="6217920" y="164592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③ 难找导致退订</a:t>
            </a:r>
            <a:endParaRPr lang="en-US" sz="1900" dirty="0"/>
          </a:p>
        </p:txBody>
      </p:sp>
      <p:sp>
        <p:nvSpPr>
          <p:cNvPr id="20" name="环节箭头3"/>
          <p:cNvSpPr txBox="1"/>
          <p:nvPr/>
        </p:nvSpPr>
        <p:spPr>
          <a:xfrm>
            <a:off x="8778240" y="1645920"/>
            <a:ext cx="274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→</a:t>
            </a:r>
            <a:endParaRPr lang="en-US" sz="2000" dirty="0"/>
          </a:p>
        </p:txBody>
      </p:sp>
      <p:sp>
        <p:nvSpPr>
          <p:cNvPr id="21" name="检验标签3"/>
          <p:cNvSpPr txBox="1"/>
          <p:nvPr/>
        </p:nvSpPr>
        <p:spPr>
          <a:xfrm>
            <a:off x="6217920" y="27432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检验</a:t>
            </a:r>
            <a:endParaRPr lang="en-US" sz="1300" dirty="0"/>
          </a:p>
        </p:txBody>
      </p:sp>
      <p:sp>
        <p:nvSpPr>
          <p:cNvPr id="22" name="分隔线"/>
          <p:cNvSpPr/>
          <p:nvPr/>
        </p:nvSpPr>
        <p:spPr>
          <a:xfrm>
            <a:off x="6217920" y="3108960"/>
            <a:ext cx="2560320" cy="0"/>
          </a:xfrm>
          <a:prstGeom prst="line">
            <a:avLst/>
          </a:prstGeom>
          <a:noFill/>
          <a:ln w="9525">
            <a:solidFill>
              <a:srgbClr val="D5DAE1"/>
            </a:solidFill>
            <a:prstDash val="solid"/>
          </a:ln>
        </p:spPr>
      </p:sp>
      <p:sp>
        <p:nvSpPr>
          <p:cNvPr id="23" name="检验文字3"/>
          <p:cNvSpPr txBox="1"/>
          <p:nvPr/>
        </p:nvSpPr>
        <p:spPr>
          <a:xfrm>
            <a:off x="6217920" y="320040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调查范围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研究方法</a:t>
            </a:r>
            <a:endParaRPr lang="en-US" sz="2000" dirty="0"/>
          </a:p>
        </p:txBody>
      </p:sp>
      <p:sp>
        <p:nvSpPr>
          <p:cNvPr id="24" name="分隔线"/>
          <p:cNvSpPr/>
          <p:nvPr/>
        </p:nvSpPr>
        <p:spPr>
          <a:xfrm>
            <a:off x="6217920" y="4480560"/>
            <a:ext cx="2560320" cy="0"/>
          </a:xfrm>
          <a:prstGeom prst="line">
            <a:avLst/>
          </a:prstGeom>
          <a:noFill/>
          <a:ln w="9525">
            <a:solidFill>
              <a:srgbClr val="D5DAE1"/>
            </a:solidFill>
            <a:prstDash val="solid"/>
          </a:ln>
        </p:spPr>
      </p:sp>
      <p:sp>
        <p:nvSpPr>
          <p:cNvPr id="25" name="环节4"/>
          <p:cNvSpPr/>
          <p:nvPr/>
        </p:nvSpPr>
        <p:spPr>
          <a:xfrm>
            <a:off x="9052560" y="1645920"/>
            <a:ext cx="2560320" cy="868680"/>
          </a:xfrm>
          <a:prstGeom prst="roundRect">
            <a:avLst>
              <a:gd name="adj" fmla="val 526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6" name="环节文字4"/>
          <p:cNvSpPr txBox="1"/>
          <p:nvPr/>
        </p:nvSpPr>
        <p:spPr>
          <a:xfrm>
            <a:off x="9052560" y="164592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④ 接入行业数据</a:t>
            </a:r>
            <a:endParaRPr lang="en-US" sz="1900" dirty="0"/>
          </a:p>
        </p:txBody>
      </p:sp>
      <p:sp>
        <p:nvSpPr>
          <p:cNvPr id="27" name="检验标签4"/>
          <p:cNvSpPr txBox="1"/>
          <p:nvPr/>
        </p:nvSpPr>
        <p:spPr>
          <a:xfrm>
            <a:off x="9052560" y="27432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检验</a:t>
            </a:r>
            <a:endParaRPr lang="en-US" sz="1300" dirty="0"/>
          </a:p>
        </p:txBody>
      </p:sp>
      <p:sp>
        <p:nvSpPr>
          <p:cNvPr id="28" name="分隔线"/>
          <p:cNvSpPr/>
          <p:nvPr/>
        </p:nvSpPr>
        <p:spPr>
          <a:xfrm>
            <a:off x="9052560" y="3108960"/>
            <a:ext cx="2560320" cy="0"/>
          </a:xfrm>
          <a:prstGeom prst="line">
            <a:avLst/>
          </a:prstGeom>
          <a:noFill/>
          <a:ln w="9525">
            <a:solidFill>
              <a:srgbClr val="D5DAE1"/>
            </a:solidFill>
            <a:prstDash val="solid"/>
          </a:ln>
        </p:spPr>
      </p:sp>
      <p:sp>
        <p:nvSpPr>
          <p:cNvPr id="29" name="检验文字4"/>
          <p:cNvSpPr txBox="1"/>
          <p:nvPr/>
        </p:nvSpPr>
        <p:spPr>
          <a:xfrm>
            <a:off x="9052560" y="320040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研究方法</a:t>
            </a:r>
            <a:endParaRPr lang="en-US" sz="2000" dirty="0"/>
          </a:p>
        </p:txBody>
      </p:sp>
      <p:sp>
        <p:nvSpPr>
          <p:cNvPr id="30" name="分隔线"/>
          <p:cNvSpPr/>
          <p:nvPr/>
        </p:nvSpPr>
        <p:spPr>
          <a:xfrm>
            <a:off x="9052560" y="4480560"/>
            <a:ext cx="2560320" cy="0"/>
          </a:xfrm>
          <a:prstGeom prst="line">
            <a:avLst/>
          </a:prstGeom>
          <a:noFill/>
          <a:ln w="9525">
            <a:solidFill>
              <a:srgbClr val="D5DAE1"/>
            </a:solidFill>
            <a:prstDash val="solid"/>
          </a:ln>
        </p:spPr>
      </p:sp>
      <p:sp>
        <p:nvSpPr>
          <p:cNvPr id="31" name="评价说明"/>
          <p:cNvSpPr txBox="1"/>
          <p:nvPr/>
        </p:nvSpPr>
        <p:spPr>
          <a:xfrm>
            <a:off x="548640" y="50292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调查对象、范围、时间与方法的差异均会影响结果，以下逐项检验。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9" grpId="0" animBg="1"/>
      <p:bldP spid="11" grpId="0" animBg="1"/>
      <p:bldP spid="12" grpId="0" animBg="1"/>
      <p:bldP spid="6" grpId="0" animBg="1"/>
      <p:bldP spid="14" grpId="0" animBg="1"/>
      <p:bldP spid="16" grpId="0" animBg="1"/>
      <p:bldP spid="18" grpId="0" animBg="1"/>
      <p:bldP spid="19" grpId="0" animBg="1"/>
      <p:bldP spid="13" grpId="0" animBg="1"/>
      <p:bldP spid="21" grpId="0" animBg="1"/>
      <p:bldP spid="23" grpId="0" animBg="1"/>
      <p:bldP spid="25" grpId="0" animBg="1"/>
      <p:bldP spid="26" grpId="0" animBg="1"/>
      <p:bldP spid="20" grpId="0" animBg="1"/>
      <p:bldP spid="27" grpId="0" animBg="1"/>
      <p:bldP spid="29" grpId="0" animBg="1"/>
      <p:bldP spid="3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章节标记"/>
          <p:cNvSpPr txBox="1"/>
          <p:nvPr/>
        </p:nvSpPr>
        <p:spPr>
          <a:xfrm>
            <a:off x="54864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04  思考与评价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调查对象：样本仅为 AI 用户</a:t>
            </a:r>
            <a:endParaRPr lang="en-US" sz="3000" dirty="0"/>
          </a:p>
        </p:txBody>
      </p:sp>
      <p:sp>
        <p:nvSpPr>
          <p:cNvPr id="4" name="总体圈1"/>
          <p:cNvSpPr/>
          <p:nvPr/>
        </p:nvSpPr>
        <p:spPr>
          <a:xfrm>
            <a:off x="914400" y="1554480"/>
            <a:ext cx="4297680" cy="4297680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5" name="总体标签1"/>
          <p:cNvSpPr txBox="1"/>
          <p:nvPr/>
        </p:nvSpPr>
        <p:spPr>
          <a:xfrm>
            <a:off x="914400" y="166420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美国人口</a:t>
            </a:r>
            <a:endParaRPr lang="en-US" sz="1400" dirty="0"/>
          </a:p>
        </p:txBody>
      </p:sp>
      <p:sp>
        <p:nvSpPr>
          <p:cNvPr id="6" name="总体圈2"/>
          <p:cNvSpPr/>
          <p:nvPr/>
        </p:nvSpPr>
        <p:spPr>
          <a:xfrm>
            <a:off x="1325880" y="2194560"/>
            <a:ext cx="3474720" cy="3474720"/>
          </a:xfrm>
          <a:prstGeom prst="ellipse">
            <a:avLst/>
          </a:prstGeom>
          <a:solidFill>
            <a:schemeClr val="accent6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7" name="总体标签2"/>
          <p:cNvSpPr txBox="1"/>
          <p:nvPr/>
        </p:nvSpPr>
        <p:spPr>
          <a:xfrm>
            <a:off x="1325880" y="230428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互联网用户</a:t>
            </a:r>
            <a:endParaRPr lang="en-US" sz="1400" dirty="0"/>
          </a:p>
        </p:txBody>
      </p:sp>
      <p:sp>
        <p:nvSpPr>
          <p:cNvPr id="8" name="总体圈3"/>
          <p:cNvSpPr/>
          <p:nvPr/>
        </p:nvSpPr>
        <p:spPr>
          <a:xfrm>
            <a:off x="1737360" y="2834640"/>
            <a:ext cx="2651760" cy="2651760"/>
          </a:xfrm>
          <a:prstGeom prst="ellipse">
            <a:avLst/>
          </a:prstGeom>
          <a:solidFill>
            <a:srgbClr val="AFC3D6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9" name="总体标签3"/>
          <p:cNvSpPr txBox="1"/>
          <p:nvPr/>
        </p:nvSpPr>
        <p:spPr>
          <a:xfrm>
            <a:off x="1737360" y="294436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AI 聊天机器人用户</a:t>
            </a:r>
            <a:endParaRPr lang="en-US" sz="1400" dirty="0"/>
          </a:p>
        </p:txBody>
      </p:sp>
      <p:sp>
        <p:nvSpPr>
          <p:cNvPr id="10" name="总体圈4"/>
          <p:cNvSpPr/>
          <p:nvPr/>
        </p:nvSpPr>
        <p:spPr>
          <a:xfrm>
            <a:off x="2194560" y="3474720"/>
            <a:ext cx="1737360" cy="173736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1" name="样本标签"/>
          <p:cNvSpPr txBox="1"/>
          <p:nvPr/>
        </p:nvSpPr>
        <p:spPr>
          <a:xfrm>
            <a:off x="2194560" y="379476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样本</a:t>
            </a:r>
            <a:endParaRPr lang="en-US" sz="1400" dirty="0"/>
          </a:p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4,003</a:t>
            </a:r>
            <a:endParaRPr lang="en-US" sz="1400" dirty="0"/>
          </a:p>
        </p:txBody>
      </p:sp>
      <p:sp>
        <p:nvSpPr>
          <p:cNvPr id="12" name="分隔线"/>
          <p:cNvSpPr/>
          <p:nvPr/>
        </p:nvSpPr>
        <p:spPr>
          <a:xfrm>
            <a:off x="6400800" y="1645920"/>
            <a:ext cx="5212080" cy="0"/>
          </a:xfrm>
          <a:prstGeom prst="line">
            <a:avLst/>
          </a:prstGeom>
          <a:noFill/>
          <a:ln w="9525">
            <a:solidFill>
              <a:srgbClr val="D5DAE1"/>
            </a:solidFill>
            <a:prstDash val="solid"/>
          </a:ln>
        </p:spPr>
      </p:sp>
      <p:sp>
        <p:nvSpPr>
          <p:cNvPr id="13" name="事实标签"/>
          <p:cNvSpPr txBox="1"/>
          <p:nvPr/>
        </p:nvSpPr>
        <p:spPr>
          <a:xfrm>
            <a:off x="6400800" y="1783080"/>
            <a:ext cx="822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事实</a:t>
            </a:r>
            <a:endParaRPr lang="en-US" sz="1600" dirty="0"/>
          </a:p>
        </p:txBody>
      </p:sp>
      <p:sp>
        <p:nvSpPr>
          <p:cNvPr id="14" name="事实内容"/>
          <p:cNvSpPr txBox="1"/>
          <p:nvPr/>
        </p:nvSpPr>
        <p:spPr>
          <a:xfrm>
            <a:off x="7315200" y="178308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受访者 4,003 人，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均为 AI 聊天机器人用户</a:t>
            </a:r>
            <a:endParaRPr lang="en-US" sz="1800" dirty="0"/>
          </a:p>
        </p:txBody>
      </p:sp>
      <p:sp>
        <p:nvSpPr>
          <p:cNvPr id="15" name="分隔线"/>
          <p:cNvSpPr/>
          <p:nvPr/>
        </p:nvSpPr>
        <p:spPr>
          <a:xfrm>
            <a:off x="6400800" y="3017520"/>
            <a:ext cx="5212080" cy="0"/>
          </a:xfrm>
          <a:prstGeom prst="line">
            <a:avLst/>
          </a:prstGeom>
          <a:noFill/>
          <a:ln w="9525">
            <a:solidFill>
              <a:srgbClr val="D5DAE1"/>
            </a:solidFill>
            <a:prstDash val="solid"/>
          </a:ln>
        </p:spPr>
      </p:sp>
      <p:sp>
        <p:nvSpPr>
          <p:cNvPr id="16" name="原因标签"/>
          <p:cNvSpPr txBox="1"/>
          <p:nvPr/>
        </p:nvSpPr>
        <p:spPr>
          <a:xfrm>
            <a:off x="6400800" y="3154680"/>
            <a:ext cx="822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原因</a:t>
            </a:r>
            <a:endParaRPr lang="en-US" sz="1600" dirty="0"/>
          </a:p>
        </p:txBody>
      </p:sp>
      <p:sp>
        <p:nvSpPr>
          <p:cNvPr id="17" name="原因内容"/>
          <p:cNvSpPr txBox="1"/>
          <p:nvPr/>
        </p:nvSpPr>
        <p:spPr>
          <a:xfrm>
            <a:off x="7315200" y="315468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以使用 AI 为筛选条件，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不含非用户</a:t>
            </a:r>
            <a:endParaRPr lang="en-US" sz="1800" dirty="0"/>
          </a:p>
        </p:txBody>
      </p:sp>
      <p:sp>
        <p:nvSpPr>
          <p:cNvPr id="18" name="分隔线"/>
          <p:cNvSpPr/>
          <p:nvPr/>
        </p:nvSpPr>
        <p:spPr>
          <a:xfrm>
            <a:off x="6400800" y="4389120"/>
            <a:ext cx="5212080" cy="0"/>
          </a:xfrm>
          <a:prstGeom prst="line">
            <a:avLst/>
          </a:prstGeom>
          <a:noFill/>
          <a:ln w="9525">
            <a:solidFill>
              <a:srgbClr val="D5DAE1"/>
            </a:solidFill>
            <a:prstDash val="solid"/>
          </a:ln>
        </p:spPr>
      </p:sp>
      <p:sp>
        <p:nvSpPr>
          <p:cNvPr id="19" name="影响标签"/>
          <p:cNvSpPr txBox="1"/>
          <p:nvPr/>
        </p:nvSpPr>
        <p:spPr>
          <a:xfrm>
            <a:off x="6400800" y="4526280"/>
            <a:ext cx="822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影响</a:t>
            </a:r>
            <a:endParaRPr lang="en-US" sz="1600" dirty="0"/>
          </a:p>
        </p:txBody>
      </p:sp>
      <p:sp>
        <p:nvSpPr>
          <p:cNvPr id="20" name="影响内容"/>
          <p:cNvSpPr txBox="1"/>
          <p:nvPr/>
        </p:nvSpPr>
        <p:spPr>
          <a:xfrm>
            <a:off x="7315200" y="452628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结果仅代表 AI 用户，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不能推及全体美国人</a:t>
            </a:r>
            <a:endParaRPr lang="en-US" sz="1800" dirty="0"/>
          </a:p>
        </p:txBody>
      </p:sp>
      <p:sp>
        <p:nvSpPr>
          <p:cNvPr id="21" name="分隔线"/>
          <p:cNvSpPr/>
          <p:nvPr/>
        </p:nvSpPr>
        <p:spPr>
          <a:xfrm>
            <a:off x="6400800" y="5760720"/>
            <a:ext cx="5212080" cy="0"/>
          </a:xfrm>
          <a:prstGeom prst="line">
            <a:avLst/>
          </a:prstGeom>
          <a:noFill/>
          <a:ln w="9525">
            <a:solidFill>
              <a:srgbClr val="D5DAE1"/>
            </a:solidFill>
            <a:prstDash val="solid"/>
          </a:ln>
        </p:spPr>
      </p:sp>
      <p:sp>
        <p:nvSpPr>
          <p:cNvPr id="22" name="来源说明"/>
          <p:cNvSpPr txBox="1"/>
          <p:nvPr/>
        </p:nvSpPr>
        <p:spPr>
          <a:xfrm>
            <a:off x="548640" y="603504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来源：Gracenote 报告；尼尔森新闻稿。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  <p:bldP spid="10" grpId="0" animBg="1"/>
      <p:bldP spid="5" grpId="0" animBg="1"/>
      <p:bldP spid="7" grpId="0" animBg="1"/>
      <p:bldP spid="9" grpId="0" animBg="1"/>
      <p:bldP spid="11" grpId="0" animBg="1"/>
      <p:bldP spid="13" grpId="0" animBg="1"/>
      <p:bldP spid="14" grpId="0" animBg="1"/>
      <p:bldP spid="16" grpId="0" animBg="1"/>
      <p:bldP spid="17" grpId="0" animBg="1"/>
      <p:bldP spid="19" grpId="0" animBg="1"/>
      <p:bldP spid="2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章节标记"/>
          <p:cNvSpPr txBox="1"/>
          <p:nvPr/>
        </p:nvSpPr>
        <p:spPr>
          <a:xfrm>
            <a:off x="54864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04  思考与评价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调查范围：“14 分钟”为六国均值</a:t>
            </a:r>
            <a:endParaRPr lang="en-US" sz="3000" dirty="0"/>
          </a:p>
        </p:txBody>
      </p:sp>
      <p:sp>
        <p:nvSpPr>
          <p:cNvPr id="4" name="原图阴影"/>
          <p:cNvSpPr/>
          <p:nvPr/>
        </p:nvSpPr>
        <p:spPr>
          <a:xfrm>
            <a:off x="548640" y="1645920"/>
            <a:ext cx="5486400" cy="3191256"/>
          </a:xfrm>
          <a:prstGeom prst="rect">
            <a:avLst/>
          </a:prstGeom>
          <a:solidFill>
            <a:srgbClr val="FFFFFF"/>
          </a:solidFill>
          <a:ln w="6350">
            <a:solidFill>
              <a:srgbClr val="E3E7EC"/>
            </a:solidFill>
            <a:prstDash val="solid"/>
          </a:ln>
          <a:effectLst>
            <a:outerShdw sx="100000" sy="100000" kx="0" ky="0" algn="bl" rotWithShape="0" blurRad="177800" dist="50800" dir="5400000">
              <a:srgbClr val="1F2A44">
                <a:alpha val="18000"/>
              </a:srgbClr>
            </a:outerShdw>
          </a:effectLst>
        </p:spPr>
      </p:sp>
      <p:pic>
        <p:nvPicPr>
          <p:cNvPr id="5" name="原图" descr="/home/user/ppt/build/assets/daily_tv_usage_marke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5486400" cy="3191256"/>
          </a:xfrm>
          <a:prstGeom prst="rect">
            <a:avLst/>
          </a:prstGeom>
        </p:spPr>
      </p:pic>
      <p:sp>
        <p:nvSpPr>
          <p:cNvPr id="6" name="原图说明"/>
          <p:cNvSpPr txBox="1"/>
          <p:nvPr/>
        </p:nvSpPr>
        <p:spPr>
          <a:xfrm>
            <a:off x="548640" y="4937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报告原图：橙框为六国均值，与尼尔森美国收视数据并列</a:t>
            </a:r>
            <a:endParaRPr lang="en-US" sz="1300" dirty="0"/>
          </a:p>
        </p:txBody>
      </p:sp>
      <p:sp>
        <p:nvSpPr>
          <p:cNvPr id="7" name="对比条"/>
          <p:cNvSpPr txBox="1"/>
          <p:nvPr/>
        </p:nvSpPr>
        <p:spPr>
          <a:xfrm>
            <a:off x="548640" y="53035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美国 </a:t>
            </a:r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12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 分钟     法国 </a:t>
            </a:r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26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 分钟     六国均值 </a:t>
            </a:r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14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 分钟</a:t>
            </a:r>
            <a:endParaRPr lang="en-US" sz="1800" dirty="0"/>
          </a:p>
        </p:txBody>
      </p:sp>
      <p:sp>
        <p:nvSpPr>
          <p:cNvPr id="8" name="分隔线"/>
          <p:cNvSpPr/>
          <p:nvPr/>
        </p:nvSpPr>
        <p:spPr>
          <a:xfrm>
            <a:off x="6400800" y="1645920"/>
            <a:ext cx="5212080" cy="0"/>
          </a:xfrm>
          <a:prstGeom prst="line">
            <a:avLst/>
          </a:prstGeom>
          <a:noFill/>
          <a:ln w="9525">
            <a:solidFill>
              <a:srgbClr val="D5DAE1"/>
            </a:solidFill>
            <a:prstDash val="solid"/>
          </a:ln>
        </p:spPr>
      </p:sp>
      <p:sp>
        <p:nvSpPr>
          <p:cNvPr id="9" name="事实标签"/>
          <p:cNvSpPr txBox="1"/>
          <p:nvPr/>
        </p:nvSpPr>
        <p:spPr>
          <a:xfrm>
            <a:off x="6400800" y="1783080"/>
            <a:ext cx="822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事实</a:t>
            </a:r>
            <a:endParaRPr lang="en-US" sz="1600" dirty="0"/>
          </a:p>
        </p:txBody>
      </p:sp>
      <p:sp>
        <p:nvSpPr>
          <p:cNvPr id="10" name="事实内容"/>
          <p:cNvSpPr txBox="1"/>
          <p:nvPr/>
        </p:nvSpPr>
        <p:spPr>
          <a:xfrm>
            <a:off x="7315200" y="178308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六国均值被置于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美国收视图表中</a:t>
            </a:r>
            <a:endParaRPr lang="en-US" sz="1800" dirty="0"/>
          </a:p>
        </p:txBody>
      </p:sp>
      <p:sp>
        <p:nvSpPr>
          <p:cNvPr id="11" name="分隔线"/>
          <p:cNvSpPr/>
          <p:nvPr/>
        </p:nvSpPr>
        <p:spPr>
          <a:xfrm>
            <a:off x="6400800" y="3017520"/>
            <a:ext cx="5212080" cy="0"/>
          </a:xfrm>
          <a:prstGeom prst="line">
            <a:avLst/>
          </a:prstGeom>
          <a:noFill/>
          <a:ln w="9525">
            <a:solidFill>
              <a:srgbClr val="D5DAE1"/>
            </a:solidFill>
            <a:prstDash val="solid"/>
          </a:ln>
        </p:spPr>
      </p:sp>
      <p:sp>
        <p:nvSpPr>
          <p:cNvPr id="12" name="原因标签"/>
          <p:cNvSpPr txBox="1"/>
          <p:nvPr/>
        </p:nvSpPr>
        <p:spPr>
          <a:xfrm>
            <a:off x="6400800" y="3154680"/>
            <a:ext cx="822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原因</a:t>
            </a:r>
            <a:endParaRPr lang="en-US" sz="1600" dirty="0"/>
          </a:p>
        </p:txBody>
      </p:sp>
      <p:sp>
        <p:nvSpPr>
          <p:cNvPr id="13" name="原因内容"/>
          <p:cNvSpPr txBox="1"/>
          <p:nvPr/>
        </p:nvSpPr>
        <p:spPr>
          <a:xfrm>
            <a:off x="7315200" y="315468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六国等权平均，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法国 26 分钟抬高均值</a:t>
            </a:r>
            <a:endParaRPr lang="en-US" sz="1800" dirty="0"/>
          </a:p>
        </p:txBody>
      </p:sp>
      <p:sp>
        <p:nvSpPr>
          <p:cNvPr id="14" name="分隔线"/>
          <p:cNvSpPr/>
          <p:nvPr/>
        </p:nvSpPr>
        <p:spPr>
          <a:xfrm>
            <a:off x="6400800" y="4389120"/>
            <a:ext cx="5212080" cy="0"/>
          </a:xfrm>
          <a:prstGeom prst="line">
            <a:avLst/>
          </a:prstGeom>
          <a:noFill/>
          <a:ln w="9525">
            <a:solidFill>
              <a:srgbClr val="D5DAE1"/>
            </a:solidFill>
            <a:prstDash val="solid"/>
          </a:ln>
        </p:spPr>
      </p:sp>
      <p:sp>
        <p:nvSpPr>
          <p:cNvPr id="15" name="影响标签"/>
          <p:cNvSpPr txBox="1"/>
          <p:nvPr/>
        </p:nvSpPr>
        <p:spPr>
          <a:xfrm>
            <a:off x="6400800" y="4526280"/>
            <a:ext cx="822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影响</a:t>
            </a:r>
            <a:endParaRPr lang="en-US" sz="1600" dirty="0"/>
          </a:p>
        </p:txBody>
      </p:sp>
      <p:sp>
        <p:nvSpPr>
          <p:cNvPr id="16" name="影响内容"/>
          <p:cNvSpPr txBox="1"/>
          <p:nvPr/>
        </p:nvSpPr>
        <p:spPr>
          <a:xfrm>
            <a:off x="7315200" y="452628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美国实际为 12 分钟，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易被高估</a:t>
            </a:r>
            <a:endParaRPr lang="en-US" sz="1800" dirty="0"/>
          </a:p>
        </p:txBody>
      </p:sp>
      <p:sp>
        <p:nvSpPr>
          <p:cNvPr id="17" name="分隔线"/>
          <p:cNvSpPr/>
          <p:nvPr/>
        </p:nvSpPr>
        <p:spPr>
          <a:xfrm>
            <a:off x="6400800" y="5760720"/>
            <a:ext cx="5212080" cy="0"/>
          </a:xfrm>
          <a:prstGeom prst="line">
            <a:avLst/>
          </a:prstGeom>
          <a:noFill/>
          <a:ln w="9525">
            <a:solidFill>
              <a:srgbClr val="D5DAE1"/>
            </a:solidFill>
            <a:prstDash val="solid"/>
          </a:ln>
        </p:spPr>
      </p:sp>
      <p:sp>
        <p:nvSpPr>
          <p:cNvPr id="18" name="来源说明"/>
          <p:cNvSpPr txBox="1"/>
          <p:nvPr/>
        </p:nvSpPr>
        <p:spPr>
          <a:xfrm>
            <a:off x="548640" y="603504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来源：Gracenote 2025 年报告《State of Play》分国家数据（每国 500 人）。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9" grpId="0" animBg="1"/>
      <p:bldP spid="10" grpId="0" animBg="1"/>
      <p:bldP spid="12" grpId="0" animBg="1"/>
      <p:bldP spid="13" grpId="0" animBg="1"/>
      <p:bldP spid="15" grpId="0" animBg="1"/>
      <p:bldP spid="1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章节标记"/>
          <p:cNvSpPr txBox="1"/>
          <p:nvPr/>
        </p:nvSpPr>
        <p:spPr>
          <a:xfrm>
            <a:off x="54864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04  思考与评价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调查时间：比较基准不一致</a:t>
            </a:r>
            <a:endParaRPr lang="en-US" sz="3000" dirty="0"/>
          </a:p>
        </p:txBody>
      </p:sp>
      <p:sp>
        <p:nvSpPr>
          <p:cNvPr id="4" name="对比卡1"/>
          <p:cNvSpPr/>
          <p:nvPr/>
        </p:nvSpPr>
        <p:spPr>
          <a:xfrm>
            <a:off x="548640" y="1645920"/>
            <a:ext cx="5486400" cy="1920240"/>
          </a:xfrm>
          <a:prstGeom prst="roundRect">
            <a:avLst>
              <a:gd name="adj" fmla="val 23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对比机构1"/>
          <p:cNvSpPr txBox="1"/>
          <p:nvPr/>
        </p:nvSpPr>
        <p:spPr>
          <a:xfrm>
            <a:off x="86868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皮尤研究中心 · 2025 年秋</a:t>
            </a:r>
            <a:endParaRPr lang="en-US" sz="1600" dirty="0"/>
          </a:p>
        </p:txBody>
      </p:sp>
      <p:sp>
        <p:nvSpPr>
          <p:cNvPr id="6" name="对比数字1"/>
          <p:cNvSpPr txBox="1"/>
          <p:nvPr/>
        </p:nvSpPr>
        <p:spPr>
          <a:xfrm>
            <a:off x="868680" y="224028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5600" dirty="0"/>
          </a:p>
        </p:txBody>
      </p:sp>
      <p:sp>
        <p:nvSpPr>
          <p:cNvPr id="7" name="对比分母1"/>
          <p:cNvSpPr txBox="1"/>
          <p:nvPr/>
        </p:nvSpPr>
        <p:spPr>
          <a:xfrm>
            <a:off x="3108960" y="2240280"/>
            <a:ext cx="274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分母</a:t>
            </a:r>
            <a:endParaRPr lang="en-US" sz="14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全体 13–14 岁青少年</a:t>
            </a:r>
            <a:endParaRPr lang="en-US" sz="1400" dirty="0"/>
          </a:p>
        </p:txBody>
      </p:sp>
      <p:sp>
        <p:nvSpPr>
          <p:cNvPr id="8" name="对比卡2"/>
          <p:cNvSpPr/>
          <p:nvPr/>
        </p:nvSpPr>
        <p:spPr>
          <a:xfrm>
            <a:off x="548640" y="3794760"/>
            <a:ext cx="5486400" cy="1920240"/>
          </a:xfrm>
          <a:prstGeom prst="roundRect">
            <a:avLst>
              <a:gd name="adj" fmla="val 23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对比机构2"/>
          <p:cNvSpPr txBox="1"/>
          <p:nvPr/>
        </p:nvSpPr>
        <p:spPr>
          <a:xfrm>
            <a:off x="868680" y="3977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本报告 · 2026 年初</a:t>
            </a:r>
            <a:endParaRPr lang="en-US" sz="1600" dirty="0"/>
          </a:p>
        </p:txBody>
      </p:sp>
      <p:sp>
        <p:nvSpPr>
          <p:cNvPr id="10" name="对比数字2"/>
          <p:cNvSpPr txBox="1"/>
          <p:nvPr/>
        </p:nvSpPr>
        <p:spPr>
          <a:xfrm>
            <a:off x="868680" y="438912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5600" dirty="0"/>
          </a:p>
        </p:txBody>
      </p:sp>
      <p:sp>
        <p:nvSpPr>
          <p:cNvPr id="11" name="对比分母2"/>
          <p:cNvSpPr txBox="1"/>
          <p:nvPr/>
        </p:nvSpPr>
        <p:spPr>
          <a:xfrm>
            <a:off x="3108960" y="4389120"/>
            <a:ext cx="274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分母</a:t>
            </a:r>
            <a:endParaRPr lang="en-US" sz="14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13–14 岁 AI 用户</a:t>
            </a:r>
            <a:endParaRPr lang="en-US" sz="1400" dirty="0"/>
          </a:p>
        </p:txBody>
      </p:sp>
      <p:sp>
        <p:nvSpPr>
          <p:cNvPr id="12" name="分隔线"/>
          <p:cNvSpPr/>
          <p:nvPr/>
        </p:nvSpPr>
        <p:spPr>
          <a:xfrm>
            <a:off x="6400800" y="1645920"/>
            <a:ext cx="5212080" cy="0"/>
          </a:xfrm>
          <a:prstGeom prst="line">
            <a:avLst/>
          </a:prstGeom>
          <a:noFill/>
          <a:ln w="9525">
            <a:solidFill>
              <a:srgbClr val="D5DAE1"/>
            </a:solidFill>
            <a:prstDash val="solid"/>
          </a:ln>
        </p:spPr>
      </p:sp>
      <p:sp>
        <p:nvSpPr>
          <p:cNvPr id="13" name="事实标签"/>
          <p:cNvSpPr txBox="1"/>
          <p:nvPr/>
        </p:nvSpPr>
        <p:spPr>
          <a:xfrm>
            <a:off x="6400800" y="1783080"/>
            <a:ext cx="822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事实</a:t>
            </a:r>
            <a:endParaRPr lang="en-US" sz="1600" dirty="0"/>
          </a:p>
        </p:txBody>
      </p:sp>
      <p:sp>
        <p:nvSpPr>
          <p:cNvPr id="14" name="事实内容"/>
          <p:cNvSpPr txBox="1"/>
          <p:nvPr/>
        </p:nvSpPr>
        <p:spPr>
          <a:xfrm>
            <a:off x="7315200" y="178308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以皮尤 30% 对比本报告 54%，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称使用正在加速</a:t>
            </a:r>
            <a:endParaRPr lang="en-US" sz="1800" dirty="0"/>
          </a:p>
        </p:txBody>
      </p:sp>
      <p:sp>
        <p:nvSpPr>
          <p:cNvPr id="15" name="分隔线"/>
          <p:cNvSpPr/>
          <p:nvPr/>
        </p:nvSpPr>
        <p:spPr>
          <a:xfrm>
            <a:off x="6400800" y="3017520"/>
            <a:ext cx="5212080" cy="0"/>
          </a:xfrm>
          <a:prstGeom prst="line">
            <a:avLst/>
          </a:prstGeom>
          <a:noFill/>
          <a:ln w="9525">
            <a:solidFill>
              <a:srgbClr val="D5DAE1"/>
            </a:solidFill>
            <a:prstDash val="solid"/>
          </a:ln>
        </p:spPr>
      </p:sp>
      <p:sp>
        <p:nvSpPr>
          <p:cNvPr id="16" name="原因标签"/>
          <p:cNvSpPr txBox="1"/>
          <p:nvPr/>
        </p:nvSpPr>
        <p:spPr>
          <a:xfrm>
            <a:off x="6400800" y="3154680"/>
            <a:ext cx="822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原因</a:t>
            </a:r>
            <a:endParaRPr lang="en-US" sz="1600" dirty="0"/>
          </a:p>
        </p:txBody>
      </p:sp>
      <p:sp>
        <p:nvSpPr>
          <p:cNvPr id="17" name="原因内容"/>
          <p:cNvSpPr txBox="1"/>
          <p:nvPr/>
        </p:nvSpPr>
        <p:spPr>
          <a:xfrm>
            <a:off x="7315200" y="315468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皮尤为全体青少年，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本报告仅为 AI 用户</a:t>
            </a:r>
            <a:endParaRPr lang="en-US" sz="1800" dirty="0"/>
          </a:p>
        </p:txBody>
      </p:sp>
      <p:sp>
        <p:nvSpPr>
          <p:cNvPr id="18" name="分隔线"/>
          <p:cNvSpPr/>
          <p:nvPr/>
        </p:nvSpPr>
        <p:spPr>
          <a:xfrm>
            <a:off x="6400800" y="4389120"/>
            <a:ext cx="5212080" cy="0"/>
          </a:xfrm>
          <a:prstGeom prst="line">
            <a:avLst/>
          </a:prstGeom>
          <a:noFill/>
          <a:ln w="9525">
            <a:solidFill>
              <a:srgbClr val="D5DAE1"/>
            </a:solidFill>
            <a:prstDash val="solid"/>
          </a:ln>
        </p:spPr>
      </p:sp>
      <p:sp>
        <p:nvSpPr>
          <p:cNvPr id="19" name="影响标签"/>
          <p:cNvSpPr txBox="1"/>
          <p:nvPr/>
        </p:nvSpPr>
        <p:spPr>
          <a:xfrm>
            <a:off x="6400800" y="4526280"/>
            <a:ext cx="822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影响</a:t>
            </a:r>
            <a:endParaRPr lang="en-US" sz="1600" dirty="0"/>
          </a:p>
        </p:txBody>
      </p:sp>
      <p:sp>
        <p:nvSpPr>
          <p:cNvPr id="20" name="影响内容"/>
          <p:cNvSpPr txBox="1"/>
          <p:nvPr/>
        </p:nvSpPr>
        <p:spPr>
          <a:xfrm>
            <a:off x="7315200" y="452628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统一分母后仍差约 10 个百分点，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还不能判断“加速”</a:t>
            </a:r>
            <a:endParaRPr lang="en-US" sz="1800" dirty="0"/>
          </a:p>
        </p:txBody>
      </p:sp>
      <p:sp>
        <p:nvSpPr>
          <p:cNvPr id="21" name="分隔线"/>
          <p:cNvSpPr/>
          <p:nvPr/>
        </p:nvSpPr>
        <p:spPr>
          <a:xfrm>
            <a:off x="6400800" y="5760720"/>
            <a:ext cx="5212080" cy="0"/>
          </a:xfrm>
          <a:prstGeom prst="line">
            <a:avLst/>
          </a:prstGeom>
          <a:noFill/>
          <a:ln w="9525">
            <a:solidFill>
              <a:srgbClr val="D5DAE1"/>
            </a:solidFill>
            <a:prstDash val="solid"/>
          </a:ln>
        </p:spPr>
      </p:sp>
      <p:sp>
        <p:nvSpPr>
          <p:cNvPr id="22" name="来源说明"/>
          <p:cNvSpPr txBox="1"/>
          <p:nvPr/>
        </p:nvSpPr>
        <p:spPr>
          <a:xfrm>
            <a:off x="548640" y="603504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来源：皮尤《Teens, Social Media and AI Chatbots 2025》数据表（使用者中每日使用 44%）。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  <p:bldP spid="19" grpId="0" animBg="1"/>
      <p:bldP spid="2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章节标记"/>
          <p:cNvSpPr txBox="1"/>
          <p:nvPr/>
        </p:nvSpPr>
        <p:spPr>
          <a:xfrm>
            <a:off x="54864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04  思考与评价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研究方法：因果关系未经检验</a:t>
            </a:r>
            <a:endParaRPr lang="en-US" sz="3000" dirty="0"/>
          </a:p>
        </p:txBody>
      </p:sp>
      <p:sp>
        <p:nvSpPr>
          <p:cNvPr id="4" name="数据类型卡1"/>
          <p:cNvSpPr/>
          <p:nvPr/>
        </p:nvSpPr>
        <p:spPr>
          <a:xfrm>
            <a:off x="548640" y="1645920"/>
            <a:ext cx="2651760" cy="1920240"/>
          </a:xfrm>
          <a:prstGeom prst="roundRect">
            <a:avLst>
              <a:gd name="adj" fmla="val 23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数据类型1"/>
          <p:cNvSpPr txBox="1"/>
          <p:nvPr/>
        </p:nvSpPr>
        <p:spPr>
          <a:xfrm>
            <a:off x="822960" y="1874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意向 · 问卷</a:t>
            </a:r>
            <a:endParaRPr lang="en-US" sz="1600" dirty="0"/>
          </a:p>
        </p:txBody>
      </p:sp>
      <p:sp>
        <p:nvSpPr>
          <p:cNvPr id="6" name="数据类型数字1"/>
          <p:cNvSpPr txBox="1"/>
          <p:nvPr/>
        </p:nvSpPr>
        <p:spPr>
          <a:xfrm>
            <a:off x="822960" y="233172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3800" dirty="0"/>
          </a:p>
        </p:txBody>
      </p:sp>
      <p:sp>
        <p:nvSpPr>
          <p:cNvPr id="7" name="数据类型卡2"/>
          <p:cNvSpPr/>
          <p:nvPr/>
        </p:nvSpPr>
        <p:spPr>
          <a:xfrm>
            <a:off x="3383280" y="1645920"/>
            <a:ext cx="2651760" cy="1920240"/>
          </a:xfrm>
          <a:prstGeom prst="roundRect">
            <a:avLst>
              <a:gd name="adj" fmla="val 23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数据类型2"/>
          <p:cNvSpPr txBox="1"/>
          <p:nvPr/>
        </p:nvSpPr>
        <p:spPr>
          <a:xfrm>
            <a:off x="3657600" y="1874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行为 · 退订率</a:t>
            </a:r>
            <a:endParaRPr lang="en-US" sz="1600" dirty="0"/>
          </a:p>
        </p:txBody>
      </p:sp>
      <p:sp>
        <p:nvSpPr>
          <p:cNvPr id="9" name="数据类型数字2"/>
          <p:cNvSpPr txBox="1"/>
          <p:nvPr/>
        </p:nvSpPr>
        <p:spPr>
          <a:xfrm>
            <a:off x="3657600" y="233172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5.5%</a:t>
            </a:r>
            <a:endParaRPr lang="en-US" sz="3800" dirty="0"/>
          </a:p>
        </p:txBody>
      </p:sp>
      <p:sp>
        <p:nvSpPr>
          <p:cNvPr id="10" name="数据类型卡3"/>
          <p:cNvSpPr/>
          <p:nvPr/>
        </p:nvSpPr>
        <p:spPr>
          <a:xfrm>
            <a:off x="548640" y="3749040"/>
            <a:ext cx="2651760" cy="1920240"/>
          </a:xfrm>
          <a:prstGeom prst="roundRect">
            <a:avLst>
              <a:gd name="adj" fmla="val 23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数据类型3"/>
          <p:cNvSpPr txBox="1"/>
          <p:nvPr/>
        </p:nvSpPr>
        <p:spPr>
          <a:xfrm>
            <a:off x="822960" y="3977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预测 · 普华永道</a:t>
            </a:r>
            <a:endParaRPr lang="en-US" sz="1600" dirty="0"/>
          </a:p>
        </p:txBody>
      </p:sp>
      <p:sp>
        <p:nvSpPr>
          <p:cNvPr id="12" name="数据类型数字3"/>
          <p:cNvSpPr txBox="1"/>
          <p:nvPr/>
        </p:nvSpPr>
        <p:spPr>
          <a:xfrm>
            <a:off x="822960" y="443484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3,185 亿美元</a:t>
            </a:r>
            <a:endParaRPr lang="en-US" sz="2600" dirty="0"/>
          </a:p>
        </p:txBody>
      </p:sp>
      <p:sp>
        <p:nvSpPr>
          <p:cNvPr id="13" name="数据类型卡4"/>
          <p:cNvSpPr/>
          <p:nvPr/>
        </p:nvSpPr>
        <p:spPr>
          <a:xfrm>
            <a:off x="3383280" y="3749040"/>
            <a:ext cx="2651760" cy="1920240"/>
          </a:xfrm>
          <a:prstGeom prst="roundRect">
            <a:avLst>
              <a:gd name="adj" fmla="val 23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数据类型4"/>
          <p:cNvSpPr txBox="1"/>
          <p:nvPr/>
        </p:nvSpPr>
        <p:spPr>
          <a:xfrm>
            <a:off x="3657600" y="3977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测试 · AI 答题</a:t>
            </a:r>
            <a:endParaRPr lang="en-US" sz="1600" dirty="0"/>
          </a:p>
        </p:txBody>
      </p:sp>
      <p:sp>
        <p:nvSpPr>
          <p:cNvPr id="15" name="数据类型数字4"/>
          <p:cNvSpPr txBox="1"/>
          <p:nvPr/>
        </p:nvSpPr>
        <p:spPr>
          <a:xfrm>
            <a:off x="3657600" y="443484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约 2/3</a:t>
            </a:r>
            <a:endParaRPr lang="en-US" sz="3800" dirty="0"/>
          </a:p>
        </p:txBody>
      </p:sp>
      <p:sp>
        <p:nvSpPr>
          <p:cNvPr id="16" name="分隔线"/>
          <p:cNvSpPr/>
          <p:nvPr/>
        </p:nvSpPr>
        <p:spPr>
          <a:xfrm>
            <a:off x="6400800" y="1645920"/>
            <a:ext cx="5212080" cy="0"/>
          </a:xfrm>
          <a:prstGeom prst="line">
            <a:avLst/>
          </a:prstGeom>
          <a:noFill/>
          <a:ln w="9525">
            <a:solidFill>
              <a:srgbClr val="D5DAE1"/>
            </a:solidFill>
            <a:prstDash val="solid"/>
          </a:ln>
        </p:spPr>
      </p:sp>
      <p:sp>
        <p:nvSpPr>
          <p:cNvPr id="17" name="事实标签"/>
          <p:cNvSpPr txBox="1"/>
          <p:nvPr/>
        </p:nvSpPr>
        <p:spPr>
          <a:xfrm>
            <a:off x="6400800" y="1783080"/>
            <a:ext cx="822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事实</a:t>
            </a:r>
            <a:endParaRPr lang="en-US" sz="1600" dirty="0"/>
          </a:p>
        </p:txBody>
      </p:sp>
      <p:sp>
        <p:nvSpPr>
          <p:cNvPr id="18" name="事实内容"/>
          <p:cNvSpPr txBox="1"/>
          <p:nvPr/>
        </p:nvSpPr>
        <p:spPr>
          <a:xfrm>
            <a:off x="7315200" y="178308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退订意向、退订率、预测与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测试数据并列使用</a:t>
            </a:r>
            <a:endParaRPr lang="en-US" sz="1800" dirty="0"/>
          </a:p>
        </p:txBody>
      </p:sp>
      <p:sp>
        <p:nvSpPr>
          <p:cNvPr id="19" name="分隔线"/>
          <p:cNvSpPr/>
          <p:nvPr/>
        </p:nvSpPr>
        <p:spPr>
          <a:xfrm>
            <a:off x="6400800" y="3017520"/>
            <a:ext cx="5212080" cy="0"/>
          </a:xfrm>
          <a:prstGeom prst="line">
            <a:avLst/>
          </a:prstGeom>
          <a:noFill/>
          <a:ln w="9525">
            <a:solidFill>
              <a:srgbClr val="D5DAE1"/>
            </a:solidFill>
            <a:prstDash val="solid"/>
          </a:ln>
        </p:spPr>
      </p:sp>
      <p:sp>
        <p:nvSpPr>
          <p:cNvPr id="20" name="原因标签"/>
          <p:cNvSpPr txBox="1"/>
          <p:nvPr/>
        </p:nvSpPr>
        <p:spPr>
          <a:xfrm>
            <a:off x="6400800" y="3154680"/>
            <a:ext cx="822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原因</a:t>
            </a:r>
            <a:endParaRPr lang="en-US" sz="1600" dirty="0"/>
          </a:p>
        </p:txBody>
      </p:sp>
      <p:sp>
        <p:nvSpPr>
          <p:cNvPr id="21" name="原因内容"/>
          <p:cNvSpPr txBox="1"/>
          <p:nvPr/>
        </p:nvSpPr>
        <p:spPr>
          <a:xfrm>
            <a:off x="7315200" y="315468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数据性质不一，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无追踪、无对照</a:t>
            </a:r>
            <a:endParaRPr lang="en-US" sz="1800" dirty="0"/>
          </a:p>
        </p:txBody>
      </p:sp>
      <p:sp>
        <p:nvSpPr>
          <p:cNvPr id="22" name="分隔线"/>
          <p:cNvSpPr/>
          <p:nvPr/>
        </p:nvSpPr>
        <p:spPr>
          <a:xfrm>
            <a:off x="6400800" y="4389120"/>
            <a:ext cx="5212080" cy="0"/>
          </a:xfrm>
          <a:prstGeom prst="line">
            <a:avLst/>
          </a:prstGeom>
          <a:noFill/>
          <a:ln w="9525">
            <a:solidFill>
              <a:srgbClr val="D5DAE1"/>
            </a:solidFill>
            <a:prstDash val="solid"/>
          </a:ln>
        </p:spPr>
      </p:sp>
      <p:sp>
        <p:nvSpPr>
          <p:cNvPr id="23" name="影响标签"/>
          <p:cNvSpPr txBox="1"/>
          <p:nvPr/>
        </p:nvSpPr>
        <p:spPr>
          <a:xfrm>
            <a:off x="6400800" y="4526280"/>
            <a:ext cx="822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影响</a:t>
            </a:r>
            <a:endParaRPr lang="en-US" sz="1600" dirty="0"/>
          </a:p>
        </p:txBody>
      </p:sp>
      <p:sp>
        <p:nvSpPr>
          <p:cNvPr id="24" name="影响内容"/>
          <p:cNvSpPr txBox="1"/>
          <p:nvPr/>
        </p:nvSpPr>
        <p:spPr>
          <a:xfrm>
            <a:off x="7315200" y="452628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只能说明同时存在，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不足以证明因果</a:t>
            </a:r>
            <a:endParaRPr lang="en-US" sz="1800" dirty="0"/>
          </a:p>
        </p:txBody>
      </p:sp>
      <p:sp>
        <p:nvSpPr>
          <p:cNvPr id="25" name="分隔线"/>
          <p:cNvSpPr/>
          <p:nvPr/>
        </p:nvSpPr>
        <p:spPr>
          <a:xfrm>
            <a:off x="6400800" y="5760720"/>
            <a:ext cx="5212080" cy="0"/>
          </a:xfrm>
          <a:prstGeom prst="line">
            <a:avLst/>
          </a:prstGeom>
          <a:noFill/>
          <a:ln w="9525">
            <a:solidFill>
              <a:srgbClr val="D5DAE1"/>
            </a:solidFill>
            <a:prstDash val="solid"/>
          </a:ln>
        </p:spPr>
      </p:sp>
      <p:sp>
        <p:nvSpPr>
          <p:cNvPr id="26" name="来源说明"/>
          <p:cNvSpPr txBox="1"/>
          <p:nvPr/>
        </p:nvSpPr>
        <p:spPr>
          <a:xfrm>
            <a:off x="548640" y="603504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来源：Gracenote 报告；普华永道、Veed Analytics 原文；Fabric 数据经 Broadband TV News 转述。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0" grpId="0" animBg="1"/>
      <p:bldP spid="13" grpId="0" animBg="1"/>
      <p:bldP spid="5" grpId="0" animBg="1"/>
      <p:bldP spid="8" grpId="0" animBg="1"/>
      <p:bldP spid="11" grpId="0" animBg="1"/>
      <p:bldP spid="14" grpId="0" animBg="1"/>
      <p:bldP spid="6" grpId="0" animBg="1"/>
      <p:bldP spid="9" grpId="0" animBg="1"/>
      <p:bldP spid="12" grpId="0" animBg="1"/>
      <p:bldP spid="15" grpId="0" animBg="1"/>
      <p:bldP spid="17" grpId="0" animBg="1"/>
      <p:bldP spid="18" grpId="0" animBg="1"/>
      <p:bldP spid="20" grpId="0" animBg="1"/>
      <p:bldP spid="21" grpId="0" animBg="1"/>
      <p:bldP spid="23" grpId="0" animBg="1"/>
      <p:bldP spid="2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章节标记"/>
          <p:cNvSpPr txBox="1"/>
          <p:nvPr/>
        </p:nvSpPr>
        <p:spPr>
          <a:xfrm>
            <a:off x="73152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05  总结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68580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有参考价值，但结论超出样本所能支持的范围</a:t>
            </a:r>
            <a:endParaRPr lang="en-US" sz="3000" dirty="0"/>
          </a:p>
        </p:txBody>
      </p:sp>
      <p:sp>
        <p:nvSpPr>
          <p:cNvPr id="4" name="结论分隔线"/>
          <p:cNvSpPr/>
          <p:nvPr/>
        </p:nvSpPr>
        <p:spPr>
          <a:xfrm>
            <a:off x="731520" y="1600200"/>
            <a:ext cx="6675120" cy="0"/>
          </a:xfrm>
          <a:prstGeom prst="line">
            <a:avLst/>
          </a:prstGeom>
          <a:noFill/>
          <a:ln w="9525">
            <a:solidFill>
              <a:srgbClr val="3A4766"/>
            </a:solidFill>
            <a:prstDash val="solid"/>
          </a:ln>
        </p:spPr>
      </p:sp>
      <p:sp>
        <p:nvSpPr>
          <p:cNvPr id="5" name="判断环节1"/>
          <p:cNvSpPr txBox="1"/>
          <p:nvPr/>
        </p:nvSpPr>
        <p:spPr>
          <a:xfrm>
            <a:off x="731520" y="16002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① 年轻人依赖 AI</a:t>
            </a:r>
            <a:endParaRPr lang="en-US" sz="2000" dirty="0"/>
          </a:p>
        </p:txBody>
      </p:sp>
      <p:sp>
        <p:nvSpPr>
          <p:cNvPr id="6" name="判断标签1"/>
          <p:cNvSpPr/>
          <p:nvPr/>
        </p:nvSpPr>
        <p:spPr>
          <a:xfrm>
            <a:off x="5577840" y="1792224"/>
            <a:ext cx="1828800" cy="429768"/>
          </a:xfrm>
          <a:prstGeom prst="roundRect">
            <a:avLst>
              <a:gd name="adj" fmla="val 1063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判断标签文字1"/>
          <p:cNvSpPr txBox="1"/>
          <p:nvPr/>
        </p:nvSpPr>
        <p:spPr>
          <a:xfrm>
            <a:off x="5577840" y="1792224"/>
            <a:ext cx="1828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仅限 AI 用户</a:t>
            </a:r>
            <a:endParaRPr lang="en-US" sz="1500" dirty="0"/>
          </a:p>
        </p:txBody>
      </p:sp>
      <p:sp>
        <p:nvSpPr>
          <p:cNvPr id="8" name="结论分隔线"/>
          <p:cNvSpPr/>
          <p:nvPr/>
        </p:nvSpPr>
        <p:spPr>
          <a:xfrm>
            <a:off x="731520" y="2423160"/>
            <a:ext cx="6675120" cy="0"/>
          </a:xfrm>
          <a:prstGeom prst="line">
            <a:avLst/>
          </a:prstGeom>
          <a:noFill/>
          <a:ln w="9525">
            <a:solidFill>
              <a:srgbClr val="3A4766"/>
            </a:solidFill>
            <a:prstDash val="solid"/>
          </a:ln>
        </p:spPr>
      </p:sp>
      <p:sp>
        <p:nvSpPr>
          <p:cNvPr id="9" name="判断环节2"/>
          <p:cNvSpPr txBox="1"/>
          <p:nvPr/>
        </p:nvSpPr>
        <p:spPr>
          <a:xfrm>
            <a:off x="731520" y="242316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② 信任有限</a:t>
            </a:r>
            <a:endParaRPr lang="en-US" sz="2000" dirty="0"/>
          </a:p>
        </p:txBody>
      </p:sp>
      <p:sp>
        <p:nvSpPr>
          <p:cNvPr id="10" name="判断标签2"/>
          <p:cNvSpPr/>
          <p:nvPr/>
        </p:nvSpPr>
        <p:spPr>
          <a:xfrm>
            <a:off x="5577840" y="2615184"/>
            <a:ext cx="1828800" cy="429768"/>
          </a:xfrm>
          <a:prstGeom prst="roundRect">
            <a:avLst>
              <a:gd name="adj" fmla="val 1063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判断标签文字2"/>
          <p:cNvSpPr txBox="1"/>
          <p:nvPr/>
        </p:nvSpPr>
        <p:spPr>
          <a:xfrm>
            <a:off x="5577840" y="2615184"/>
            <a:ext cx="1828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仅限 AI 用户</a:t>
            </a:r>
            <a:endParaRPr lang="en-US" sz="1500" dirty="0"/>
          </a:p>
        </p:txBody>
      </p:sp>
      <p:sp>
        <p:nvSpPr>
          <p:cNvPr id="12" name="结论分隔线"/>
          <p:cNvSpPr/>
          <p:nvPr/>
        </p:nvSpPr>
        <p:spPr>
          <a:xfrm>
            <a:off x="731520" y="3246120"/>
            <a:ext cx="6675120" cy="0"/>
          </a:xfrm>
          <a:prstGeom prst="line">
            <a:avLst/>
          </a:prstGeom>
          <a:noFill/>
          <a:ln w="9525">
            <a:solidFill>
              <a:srgbClr val="3A4766"/>
            </a:solidFill>
            <a:prstDash val="solid"/>
          </a:ln>
        </p:spPr>
      </p:sp>
      <p:sp>
        <p:nvSpPr>
          <p:cNvPr id="13" name="判断环节3"/>
          <p:cNvSpPr txBox="1"/>
          <p:nvPr/>
        </p:nvSpPr>
        <p:spPr>
          <a:xfrm>
            <a:off x="731520" y="32461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③ 难找导致退订</a:t>
            </a:r>
            <a:endParaRPr lang="en-US" sz="2000" dirty="0"/>
          </a:p>
        </p:txBody>
      </p:sp>
      <p:sp>
        <p:nvSpPr>
          <p:cNvPr id="14" name="判断标签3"/>
          <p:cNvSpPr/>
          <p:nvPr/>
        </p:nvSpPr>
        <p:spPr>
          <a:xfrm>
            <a:off x="5577840" y="3438144"/>
            <a:ext cx="1828800" cy="429768"/>
          </a:xfrm>
          <a:prstGeom prst="roundRect">
            <a:avLst>
              <a:gd name="adj" fmla="val 10638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判断标签文字3"/>
          <p:cNvSpPr txBox="1"/>
          <p:nvPr/>
        </p:nvSpPr>
        <p:spPr>
          <a:xfrm>
            <a:off x="5577840" y="3438144"/>
            <a:ext cx="1828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只能说相关</a:t>
            </a:r>
            <a:endParaRPr lang="en-US" sz="1500" dirty="0"/>
          </a:p>
        </p:txBody>
      </p:sp>
      <p:sp>
        <p:nvSpPr>
          <p:cNvPr id="16" name="结论分隔线"/>
          <p:cNvSpPr/>
          <p:nvPr/>
        </p:nvSpPr>
        <p:spPr>
          <a:xfrm>
            <a:off x="731520" y="4069080"/>
            <a:ext cx="6675120" cy="0"/>
          </a:xfrm>
          <a:prstGeom prst="line">
            <a:avLst/>
          </a:prstGeom>
          <a:noFill/>
          <a:ln w="9525">
            <a:solidFill>
              <a:srgbClr val="3A4766"/>
            </a:solidFill>
            <a:prstDash val="solid"/>
          </a:ln>
        </p:spPr>
      </p:sp>
      <p:sp>
        <p:nvSpPr>
          <p:cNvPr id="17" name="判断环节4"/>
          <p:cNvSpPr txBox="1"/>
          <p:nvPr/>
        </p:nvSpPr>
        <p:spPr>
          <a:xfrm>
            <a:off x="731520" y="40690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④ 接入行业数据</a:t>
            </a:r>
            <a:endParaRPr lang="en-US" sz="2000" dirty="0"/>
          </a:p>
        </p:txBody>
      </p:sp>
      <p:sp>
        <p:nvSpPr>
          <p:cNvPr id="18" name="判断标签4"/>
          <p:cNvSpPr/>
          <p:nvPr/>
        </p:nvSpPr>
        <p:spPr>
          <a:xfrm>
            <a:off x="5577840" y="4261104"/>
            <a:ext cx="1828800" cy="429768"/>
          </a:xfrm>
          <a:prstGeom prst="roundRect">
            <a:avLst>
              <a:gd name="adj" fmla="val 10638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判断标签文字4"/>
          <p:cNvSpPr txBox="1"/>
          <p:nvPr/>
        </p:nvSpPr>
        <p:spPr>
          <a:xfrm>
            <a:off x="5577840" y="4261104"/>
            <a:ext cx="1828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未经检验</a:t>
            </a:r>
            <a:endParaRPr lang="en-US" sz="1500" dirty="0"/>
          </a:p>
        </p:txBody>
      </p:sp>
      <p:sp>
        <p:nvSpPr>
          <p:cNvPr id="20" name="结论分隔线"/>
          <p:cNvSpPr/>
          <p:nvPr/>
        </p:nvSpPr>
        <p:spPr>
          <a:xfrm>
            <a:off x="731520" y="4892040"/>
            <a:ext cx="6675120" cy="0"/>
          </a:xfrm>
          <a:prstGeom prst="line">
            <a:avLst/>
          </a:prstGeom>
          <a:noFill/>
          <a:ln w="9525">
            <a:solidFill>
              <a:srgbClr val="3A4766"/>
            </a:solidFill>
            <a:prstDash val="solid"/>
          </a:ln>
        </p:spPr>
      </p:sp>
      <p:sp>
        <p:nvSpPr>
          <p:cNvPr id="21" name="参考价值"/>
          <p:cNvSpPr txBox="1"/>
          <p:nvPr/>
        </p:nvSpPr>
        <p:spPr>
          <a:xfrm>
            <a:off x="731520" y="4983480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皮尤、Veed 等独立来源也指向同样两个方向：年轻人更多用 AI 找内容，AI 回答“在哪看”不够可靠。</a:t>
            </a:r>
            <a:endParaRPr lang="en-US" sz="1600" dirty="0"/>
          </a:p>
        </p:txBody>
      </p:sp>
      <p:sp>
        <p:nvSpPr>
          <p:cNvPr id="22" name="改进卡"/>
          <p:cNvSpPr/>
          <p:nvPr/>
        </p:nvSpPr>
        <p:spPr>
          <a:xfrm>
            <a:off x="7726680" y="1600200"/>
            <a:ext cx="3749040" cy="4114800"/>
          </a:xfrm>
          <a:prstGeom prst="roundRect">
            <a:avLst>
              <a:gd name="adj" fmla="val 122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3" name="改进内容"/>
          <p:cNvSpPr txBox="1"/>
          <p:nvPr/>
        </p:nvSpPr>
        <p:spPr>
          <a:xfrm>
            <a:off x="8001000" y="1783080"/>
            <a:ext cx="32918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500" b="1" dirty="0">
                <a:solidFill>
                  <a:schemeClr val="accent3"/>
                </a:solidFill>
              </a:rPr>
              <a:t>改进方向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采用概率样本，含非 AI 用户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同一问卷问困难与退订，追踪同一批人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公开招募、配额、加权、回收率</a:t>
            </a:r>
            <a:endParaRPr lang="en-US" sz="1500" dirty="0"/>
          </a:p>
        </p:txBody>
      </p:sp>
      <p:sp>
        <p:nvSpPr>
          <p:cNvPr id="24" name="局限"/>
          <p:cNvSpPr txBox="1"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局限：评价依据公开资料；个别来源只有媒体转述，如 Fabric 的流失率。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1" grpId="0" animBg="1"/>
      <p:bldP spid="22" grpId="0" animBg="1"/>
      <p:bldP spid="23" grpId="0" animBg="1"/>
      <p:bldP spid="24" grpId="0" animBg="1"/>
    </p:bldLst>
  </p:timing>
</p:sld>
</file>

<file path=ppt/theme/theme1.xml><?xml version="1.0" encoding="utf-8"?>
<a:theme xmlns:a="http://schemas.openxmlformats.org/drawingml/2006/main" name="Navy Brief">
  <a:themeElements>
    <a:clrScheme name="Navy Brief">
      <a:dk1>
        <a:srgbClr val="1F2937"/>
      </a:dk1>
      <a:lt1>
        <a:srgbClr val="FFFFFF"/>
      </a:lt1>
      <a:dk2>
        <a:srgbClr val="1F2A44"/>
      </a:dk2>
      <a:lt2>
        <a:srgbClr val="F4F5F7"/>
      </a:lt2>
      <a:accent1>
        <a:srgbClr val="2F6690"/>
      </a:accent1>
      <a:accent2>
        <a:srgbClr val="3A7D44"/>
      </a:accent2>
      <a:accent3>
        <a:srgbClr val="D9542B"/>
      </a:accent3>
      <a:accent4>
        <a:srgbClr val="F2A65A"/>
      </a:accent4>
      <a:accent5>
        <a:srgbClr val="6B7280"/>
      </a:accent5>
      <a:accent6>
        <a:srgbClr val="DCE3EC"/>
      </a:accent6>
      <a:hlink>
        <a:srgbClr val="2F6690"/>
      </a:hlink>
      <a:folHlink>
        <a:srgbClr val="6B7280"/>
      </a:folHlink>
    </a:clrScheme>
    <a:fontScheme name="Navy Brief">
      <a:majorFont>
        <a:latin typeface="Microsoft YaHei"/>
        <a:ea typeface="Microsoft YaHei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Microsoft YaHei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时代的电视搜索与内容发现：Gracenote 2026 报告评析</dc:title>
  <dc:subject>市场调研：方法与实践 课后作业</dc:subject>
  <dc:creator>PptxGenJS</dc:creator>
  <cp:lastModifiedBy>PptxGenJS</cp:lastModifiedBy>
  <cp:revision>1</cp:revision>
  <dcterms:created xsi:type="dcterms:W3CDTF">2026-10-11T11:05:33Z</dcterms:created>
  <dcterms:modified xsi:type="dcterms:W3CDTF">2026-10-11T11:05:33Z</dcterms:modified>
</cp:coreProperties>
</file>