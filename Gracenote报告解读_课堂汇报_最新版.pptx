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4ea7df78-6e95-74b5-85a7-39fe2c7cf716}">
          <p14:sldIdLst>
            <p14:sldId id="256"/>
            <p14:sldId id="257"/>
          </p14:sldIdLst>
        </p14:section>
        <p14:section name="报告介绍" id="{26e2a4e5-ca59-542b-a8d9-ad394156ceb9}">
          <p14:sldIdLst>
            <p14:sldId id="258"/>
            <p14:sldId id="259"/>
            <p14:sldId id="260"/>
            <p14:sldId id="261"/>
          </p14:sldIdLst>
        </p14:section>
        <p14:section name="方法评价" id="{89d23e3d-100c-f25f-edd6-677ee9e36a87}">
          <p14:sldIdLst>
            <p14:sldId id="262"/>
            <p14:sldId id="263"/>
            <p14:sldId id="264"/>
            <p14:sldId id="265"/>
          </p14:sldIdLst>
        </p14:section>
        <p14:section name="总结" id="{d3484730-9183-532c-40f0-6c8b5ac6991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秒】（各位老师、同学好。）我是黄广润。今天评析 Gracenote 的报告《AI 时代的电视搜索与内容发现》，分四个部分。（先看这是一份什么报告。）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秒】报告由尼尔森旗下的 Gracenote 在 2026 年 4 月发布。Gracenote 做电视和流媒体的节目数据，视频软件里的节目指南，背后常常就是这类数据。（再看它的研究背景。）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秒】（第一部分。）流媒体平台增多，节目分散，Gracenote 记录了近 350 个点播片库、约 180 万个节目。报告提出三个问题：各年龄段使用 AI 的频率，找节目的难度与退订意向，以及对 AI 回答的信任。需要留意，报告建议 AI 接入行业数据，这正是 Gracenote 的业务。（再看研究方法。）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秒】（第二部分。）数据来自两项线上问卷。调查一在 2026 年 1 至 2 月，对象是美国 13 至 79 岁的 AI 聊天机器人用户，4,003 人。调查二在 2025 年 7 至 8 月，对象是六国流媒体用户，每国 500 人。两项调查的抽样方式，报告都未说明。（下面看结论。）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秒】（第三部分，研究结论共四项，先看前两项。）结论一：13 至 14 岁受访者中，54% 每日使用 AI，80% 称近 18 个月使用增加。结论二：75% 的受访者表示会核对 AI 的结果。报告对数据的解释是：AI 回答直接、可追问，所以使用增加；但是 AI 可能生成错误信息，所以需要核对。（再看后两项。）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秒】结论三是内容难找，可能导致退订：联网电视占美国电视时长的 54%，平均检索时长 14 分钟，18 至 34 岁受访者中 54% 表示可能退订。结论四是 AI 应接入行业数据，依据是 AI 正确回答播出平台的比例约为三分之二。（下面进入评价，从调查对象、范围、时间和方法四个方面逐项检验。）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45 秒】受访者 4,003 人，均为 AI 聊天机器人用户，调查以使用 AI 为筛选条件，不含非用户。所以结果仅代表 AI 用户，报告却写作“美国消费者”，例如“52% 的美国消费者认为 AI 可能成为最喜欢的娱乐信息来源”。（这会造成误导：不用 AI 的人很少把 AI 当作信息来源，排除他们，比例自然偏高。把 52% 当成全美国的比例，就会高估 AI 的普及程度，平台和广告商据此判断需求，也会偏高。）（再看调查范围。）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秒】图中橙框里的 14 分钟，被放在美国收视图表中。它其实是六国等权平均，法国的 26 分钟抬高了均值，美国实际是 12 分钟，容易被高估。（再看调查时间。）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40 秒】（先解释这两张卡。）上面是皮尤研究中心 2025 年秋的概率样本调查，13 至 14 岁每天使用 AI 的比例是 24%，分母是这个年龄段的全体青少年。下面是本报告，54% 的分母只是 13 至 14 岁的 AI 用户。报告拿皮尤的 30% 对比 54%，称使用正在加速；统一分母后仍差约 10 个百分点，还不能判断“加速”。（最后看研究方法。）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秒】支撑“难找导致退订”的有四类数据：54% 是可能退订的意向，5.5% 是行业月流失率，3,185 亿美元是普华永道对 2029 年全球市场的预测，约三分之二是 AI 答题的正确率。它们并列使用，性质不一，无追踪、无对照，只能说明同时存在，不足以证明因果。（最后总结。）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秒】报告有参考价值，皮尤、Veed 等独立来源也指向同样两个方向。但结论超出了样本所能支持的范围：前两项仅限 AI 用户，第三项只能说相关。改进方向：采用概率样本，含非 AI 用户；同一问卷问困难与退订，追踪同一批人；公开招募、配额、加权、回收率。（汇报到此结束，谢谢各位。）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3.amazonaws.com/media.mediapost.com/uploads/GRACENOTE-2026-AI-report.pdf" TargetMode="External"/><Relationship Id="rId3" Type="http://schemas.openxmlformats.org/officeDocument/2006/relationships/hyperlink" Target="https://gracenote.com/newsroom/gen-alpha-leads-shift-to-ai-powered-entertainment-search-discovery-and-recommendations/" TargetMode="External"/><Relationship Id="rId1" Type="http://schemas.openxmlformats.org/officeDocument/2006/relationships/image" Target="../media/image-2-1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3.amazonaws.com/media.mediapost.com/uploads/gracenote-2025-state-of-play.pdf" TargetMode="Externa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ewresearch.org/internet/2025/12/09/teens-social-media-and-ai-chatbots-2025/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汇报人"/>
          <p:cNvSpPr txBox="1"/>
          <p:nvPr/>
        </p:nvSpPr>
        <p:spPr>
          <a:xfrm>
            <a:off x="731520" y="5989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黄广润　524031910373</a:t>
            </a:r>
            <a:endParaRPr lang="en-US" sz="1500" dirty="0"/>
          </a:p>
        </p:txBody>
      </p:sp>
      <p:sp>
        <p:nvSpPr>
          <p:cNvPr id="7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8" name="封面目录"/>
          <p:cNvSpPr txBox="1"/>
          <p:nvPr/>
        </p:nvSpPr>
        <p:spPr>
          <a:xfrm>
            <a:off x="731520" y="43891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01  研究背景与问题　　02  研究方法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03  研究结论　　　　　04  思考与评价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选题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选取对象：Gracenote 2026 年 4 月的报告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选题标签1"/>
          <p:cNvSpPr txBox="1"/>
          <p:nvPr/>
        </p:nvSpPr>
        <p:spPr>
          <a:xfrm>
            <a:off x="548640" y="1645920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报告</a:t>
            </a:r>
            <a:endParaRPr lang="en-US" sz="1500" dirty="0"/>
          </a:p>
        </p:txBody>
      </p:sp>
      <p:sp>
        <p:nvSpPr>
          <p:cNvPr id="6" name="选题内容1"/>
          <p:cNvSpPr txBox="1"/>
          <p:nvPr/>
        </p:nvSpPr>
        <p:spPr>
          <a:xfrm>
            <a:off x="1554480" y="164592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时代的电视搜索与内容发现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TV Search and Discovery in the AI Era，2026 年 4 月</a:t>
            </a:r>
            <a:endParaRPr lang="en-US" sz="2200" dirty="0"/>
          </a:p>
        </p:txBody>
      </p:sp>
      <p:sp>
        <p:nvSpPr>
          <p:cNvPr id="7" name="分隔线"/>
          <p:cNvSpPr/>
          <p:nvPr/>
        </p:nvSpPr>
        <p:spPr>
          <a:xfrm>
            <a:off x="548640" y="2670048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选题标签2"/>
          <p:cNvSpPr txBox="1"/>
          <p:nvPr/>
        </p:nvSpPr>
        <p:spPr>
          <a:xfrm>
            <a:off x="548640" y="2670048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机构</a:t>
            </a:r>
            <a:endParaRPr lang="en-US" sz="1500" dirty="0"/>
          </a:p>
        </p:txBody>
      </p:sp>
      <p:sp>
        <p:nvSpPr>
          <p:cNvPr id="9" name="选题内容2"/>
          <p:cNvSpPr txBox="1"/>
          <p:nvPr/>
        </p:nvSpPr>
        <p:spPr>
          <a:xfrm>
            <a:off x="1554480" y="2670048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Gracenote，尼尔森旗下公司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694176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选题标签3"/>
          <p:cNvSpPr txBox="1"/>
          <p:nvPr/>
        </p:nvSpPr>
        <p:spPr>
          <a:xfrm>
            <a:off x="548640" y="3694176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业务</a:t>
            </a:r>
            <a:endParaRPr lang="en-US" sz="1500" dirty="0"/>
          </a:p>
        </p:txBody>
      </p:sp>
      <p:sp>
        <p:nvSpPr>
          <p:cNvPr id="12" name="选题内容3"/>
          <p:cNvSpPr txBox="1"/>
          <p:nvPr/>
        </p:nvSpPr>
        <p:spPr>
          <a:xfrm>
            <a:off x="1554480" y="3694176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电视与流媒体的节目数据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名称、简介、播出平台、节目表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718304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选题标签4"/>
          <p:cNvSpPr txBox="1"/>
          <p:nvPr/>
        </p:nvSpPr>
        <p:spPr>
          <a:xfrm>
            <a:off x="548640" y="4718304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关联</a:t>
            </a:r>
            <a:endParaRPr lang="en-US" sz="1500" dirty="0"/>
          </a:p>
        </p:txBody>
      </p:sp>
      <p:sp>
        <p:nvSpPr>
          <p:cNvPr id="15" name="选题内容4"/>
          <p:cNvSpPr txBox="1"/>
          <p:nvPr/>
        </p:nvSpPr>
        <p:spPr>
          <a:xfrm>
            <a:off x="1554480" y="4718304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视频软件里的节目指南，背后常常就是这类数据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5742432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报告封面阴影"/>
          <p:cNvSpPr/>
          <p:nvPr/>
        </p:nvSpPr>
        <p:spPr>
          <a:xfrm>
            <a:off x="7635240" y="224028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18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240280"/>
            <a:ext cx="3977640" cy="2414016"/>
          </a:xfrm>
          <a:prstGeom prst="rect">
            <a:avLst/>
          </a:prstGeom>
        </p:spPr>
      </p:pic>
      <p:sp>
        <p:nvSpPr>
          <p:cNvPr id="19" name="封面图注"/>
          <p:cNvSpPr txBox="1"/>
          <p:nvPr/>
        </p:nvSpPr>
        <p:spPr>
          <a:xfrm>
            <a:off x="7635240" y="4800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</a:t>
            </a:r>
            <a:endParaRPr lang="en-US" sz="1300" dirty="0"/>
          </a:p>
        </p:txBody>
      </p:sp>
      <p:sp>
        <p:nvSpPr>
          <p:cNvPr id="20" name="报告出处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出处：Gracenote（Nielsen），TV Search and Discovery in the AI Era，2026 年 4 月。　</a:t>
            </a:r>
            <a:pPr indent="0" marL="0">
              <a:buNone/>
            </a:pPr>
            <a:r>
              <a:rPr lang="en-US" sz="1100" u="sng" dirty="0">
                <a:solidFill>
                  <a:schemeClr val="accent1"/>
                </a:solidFill>
                <a:hlinkClick r:id="rId2" invalidUrl="" action="" tgtFrame="" tooltip="https://s3.amazonaws.com/media.mediapost.com/uploads/GRACENOTE-2026-AI-report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报告原文（PDF）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　｜　</a:t>
            </a:r>
            <a:pPr indent="0" marL="0">
              <a:buNone/>
            </a:pPr>
            <a:r>
              <a:rPr lang="en-US" sz="1100" u="sng" dirty="0">
                <a:solidFill>
                  <a:schemeClr val="accent1"/>
                </a:solidFill>
                <a:hlinkClick r:id="rId3" invalidUrl="" action="" tgtFrame="" tooltip="https://gracenote.com/newsroom/gen-alpha-leads-shift-to-ai-powered-entertainment-search-discovery-and-recommendations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Gracenote 发布页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研究背景：节目分散，找节目更费劲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流媒体平台增多，节目分散；AI 聊天机器人成为新的找节目方式。</a:t>
            </a:r>
            <a:endParaRPr lang="en-US" sz="1800" dirty="0"/>
          </a:p>
        </p:txBody>
      </p:sp>
      <p:sp>
        <p:nvSpPr>
          <p:cNvPr id="5" name="背景卡1"/>
          <p:cNvSpPr/>
          <p:nvPr/>
        </p:nvSpPr>
        <p:spPr>
          <a:xfrm>
            <a:off x="54864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背景数字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350 个</a:t>
            </a:r>
            <a:endParaRPr lang="en-US" sz="2400" dirty="0"/>
          </a:p>
        </p:txBody>
      </p:sp>
      <p:sp>
        <p:nvSpPr>
          <p:cNvPr id="7" name="背景说明1"/>
          <p:cNvSpPr txBox="1"/>
          <p:nvPr/>
        </p:nvSpPr>
        <p:spPr>
          <a:xfrm>
            <a:off x="292608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点播片库</a:t>
            </a:r>
            <a:endParaRPr lang="en-US" sz="1500" dirty="0"/>
          </a:p>
        </p:txBody>
      </p:sp>
      <p:sp>
        <p:nvSpPr>
          <p:cNvPr id="8" name="背景卡2"/>
          <p:cNvSpPr/>
          <p:nvPr/>
        </p:nvSpPr>
        <p:spPr>
          <a:xfrm>
            <a:off x="429768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背景数字2"/>
          <p:cNvSpPr txBox="1"/>
          <p:nvPr/>
        </p:nvSpPr>
        <p:spPr>
          <a:xfrm>
            <a:off x="457200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180 万个</a:t>
            </a:r>
            <a:endParaRPr lang="en-US" sz="2400" dirty="0"/>
          </a:p>
        </p:txBody>
      </p:sp>
      <p:sp>
        <p:nvSpPr>
          <p:cNvPr id="10" name="背景说明2"/>
          <p:cNvSpPr txBox="1"/>
          <p:nvPr/>
        </p:nvSpPr>
        <p:spPr>
          <a:xfrm>
            <a:off x="667512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</a:t>
            </a:r>
            <a:endParaRPr lang="en-US" sz="1500" dirty="0"/>
          </a:p>
        </p:txBody>
      </p:sp>
      <p:sp>
        <p:nvSpPr>
          <p:cNvPr id="11" name="背景卡3"/>
          <p:cNvSpPr/>
          <p:nvPr/>
        </p:nvSpPr>
        <p:spPr>
          <a:xfrm>
            <a:off x="804672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背景数字3"/>
          <p:cNvSpPr txBox="1"/>
          <p:nvPr/>
        </p:nvSpPr>
        <p:spPr>
          <a:xfrm>
            <a:off x="832104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2,100 个</a:t>
            </a:r>
            <a:endParaRPr lang="en-US" sz="2400" dirty="0"/>
          </a:p>
        </p:txBody>
      </p:sp>
      <p:sp>
        <p:nvSpPr>
          <p:cNvPr id="13" name="背景说明3"/>
          <p:cNvSpPr txBox="1"/>
          <p:nvPr/>
        </p:nvSpPr>
        <p:spPr>
          <a:xfrm>
            <a:off x="1042416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免费频道</a:t>
            </a:r>
            <a:endParaRPr lang="en-US" sz="1500" dirty="0"/>
          </a:p>
        </p:txBody>
      </p:sp>
      <p:sp>
        <p:nvSpPr>
          <p:cNvPr id="14" name="背景注"/>
          <p:cNvSpPr txBox="1"/>
          <p:nvPr/>
        </p:nvSpPr>
        <p:spPr>
          <a:xfrm>
            <a:off x="54864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截至 2026 年 2 月，Gracenote 记录的数量（点播指 SVOD，免费频道指 FAST）</a:t>
            </a:r>
            <a:endParaRPr lang="en-US" sz="1200" dirty="0"/>
          </a:p>
        </p:txBody>
      </p:sp>
      <p:sp>
        <p:nvSpPr>
          <p:cNvPr id="15" name="分隔线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问题编号1"/>
          <p:cNvSpPr txBox="1"/>
          <p:nvPr/>
        </p:nvSpPr>
        <p:spPr>
          <a:xfrm>
            <a:off x="5486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17" name="问题名1"/>
          <p:cNvSpPr txBox="1"/>
          <p:nvPr/>
        </p:nvSpPr>
        <p:spPr>
          <a:xfrm>
            <a:off x="1737360" y="3657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使用频率</a:t>
            </a:r>
            <a:endParaRPr lang="en-US" sz="20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4114800" y="36576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各年龄段使用 AI 的频率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548640" y="4224528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问题编号2"/>
          <p:cNvSpPr txBox="1"/>
          <p:nvPr/>
        </p:nvSpPr>
        <p:spPr>
          <a:xfrm>
            <a:off x="548640" y="42245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21" name="问题名2"/>
          <p:cNvSpPr txBox="1"/>
          <p:nvPr/>
        </p:nvSpPr>
        <p:spPr>
          <a:xfrm>
            <a:off x="1737360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检索难度</a:t>
            </a:r>
            <a:endParaRPr lang="en-US" sz="2000" dirty="0"/>
          </a:p>
        </p:txBody>
      </p:sp>
      <p:sp>
        <p:nvSpPr>
          <p:cNvPr id="22" name="问题内容2"/>
          <p:cNvSpPr txBox="1"/>
          <p:nvPr/>
        </p:nvSpPr>
        <p:spPr>
          <a:xfrm>
            <a:off x="4114800" y="422452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找节目的难度与退订意向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548640" y="4791456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问题编号3"/>
          <p:cNvSpPr txBox="1"/>
          <p:nvPr/>
        </p:nvSpPr>
        <p:spPr>
          <a:xfrm>
            <a:off x="548640" y="47914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25" name="问题名3"/>
          <p:cNvSpPr txBox="1"/>
          <p:nvPr/>
        </p:nvSpPr>
        <p:spPr>
          <a:xfrm>
            <a:off x="1737360" y="47914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信任程度</a:t>
            </a:r>
            <a:endParaRPr lang="en-US" sz="2000" dirty="0"/>
          </a:p>
        </p:txBody>
      </p:sp>
      <p:sp>
        <p:nvSpPr>
          <p:cNvPr id="26" name="问题内容3"/>
          <p:cNvSpPr txBox="1"/>
          <p:nvPr/>
        </p:nvSpPr>
        <p:spPr>
          <a:xfrm>
            <a:off x="4114800" y="479145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回答的信任</a:t>
            </a:r>
            <a:endParaRPr lang="en-US" sz="1800" dirty="0"/>
          </a:p>
        </p:txBody>
      </p:sp>
      <p:sp>
        <p:nvSpPr>
          <p:cNvPr id="27" name="分隔线"/>
          <p:cNvSpPr/>
          <p:nvPr/>
        </p:nvSpPr>
        <p:spPr>
          <a:xfrm>
            <a:off x="548640" y="5358384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8" name="建议说明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留意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报告建议 AI 接入行业数据，而提供行业数据正是 Gracenote 的业务。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报告另引用尼尔森、皮尤、德勤、普华永道等 11 个外部来源。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结论一、二：年轻人依赖 AI，但信任有限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 AI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80% 称近 18 个月使用增加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受访者表示会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的结果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报告对数据的解释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AI 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但是 AI 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结论三、四：难找可能导致退订，AI 应接入行业数据</a:t>
            </a:r>
            <a:endParaRPr lang="en-US" sz="3000" dirty="0"/>
          </a:p>
        </p:txBody>
      </p:sp>
      <p:sp>
        <p:nvSpPr>
          <p:cNvPr id="4" name="结论三标题"/>
          <p:cNvSpPr txBox="1"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结论三　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内容难找，可能导致退订</a:t>
            </a:r>
            <a:endParaRPr lang="en-US" sz="1800" dirty="0"/>
          </a:p>
        </p:txBody>
      </p:sp>
      <p:sp>
        <p:nvSpPr>
          <p:cNvPr id="5" name="结论四标题"/>
          <p:cNvSpPr txBox="1"/>
          <p:nvPr/>
        </p:nvSpPr>
        <p:spPr>
          <a:xfrm>
            <a:off x="90525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结论四</a:t>
            </a:r>
            <a:endParaRPr lang="en-US" sz="1800" dirty="0"/>
          </a:p>
        </p:txBody>
      </p:sp>
      <p:sp>
        <p:nvSpPr>
          <p:cNvPr id="6" name="步骤卡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步骤名1"/>
          <p:cNvSpPr txBox="1"/>
          <p:nvPr/>
        </p:nvSpPr>
        <p:spPr>
          <a:xfrm>
            <a:off x="7772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8" name="步骤数字1"/>
          <p:cNvSpPr txBox="1"/>
          <p:nvPr/>
        </p:nvSpPr>
        <p:spPr>
          <a:xfrm>
            <a:off x="8229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9" name="步骤说明1"/>
          <p:cNvSpPr txBox="1"/>
          <p:nvPr/>
        </p:nvSpPr>
        <p:spPr>
          <a:xfrm>
            <a:off x="8229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10" name="步骤卡2"/>
          <p:cNvSpPr/>
          <p:nvPr/>
        </p:nvSpPr>
        <p:spPr>
          <a:xfrm>
            <a:off x="32918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名2"/>
          <p:cNvSpPr txBox="1"/>
          <p:nvPr/>
        </p:nvSpPr>
        <p:spPr>
          <a:xfrm>
            <a:off x="3520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2" name="步骤数字2"/>
          <p:cNvSpPr txBox="1"/>
          <p:nvPr/>
        </p:nvSpPr>
        <p:spPr>
          <a:xfrm>
            <a:off x="35661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3" name="步骤说明2"/>
          <p:cNvSpPr txBox="1"/>
          <p:nvPr/>
        </p:nvSpPr>
        <p:spPr>
          <a:xfrm>
            <a:off x="35661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4" name="步骤卡3"/>
          <p:cNvSpPr/>
          <p:nvPr/>
        </p:nvSpPr>
        <p:spPr>
          <a:xfrm>
            <a:off x="60350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2636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3093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3093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步骤卡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步骤名4"/>
          <p:cNvSpPr txBox="1"/>
          <p:nvPr/>
        </p:nvSpPr>
        <p:spPr>
          <a:xfrm>
            <a:off x="928116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AI 应接入行业数据</a:t>
            </a:r>
            <a:endParaRPr lang="en-US" sz="1700" dirty="0"/>
          </a:p>
        </p:txBody>
      </p:sp>
      <p:sp>
        <p:nvSpPr>
          <p:cNvPr id="20" name="步骤数字4"/>
          <p:cNvSpPr txBox="1"/>
          <p:nvPr/>
        </p:nvSpPr>
        <p:spPr>
          <a:xfrm>
            <a:off x="932688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1" name="步骤说明4"/>
          <p:cNvSpPr txBox="1"/>
          <p:nvPr/>
        </p:nvSpPr>
        <p:spPr>
          <a:xfrm>
            <a:off x="932688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依据：AI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2" name="分组线"/>
          <p:cNvSpPr/>
          <p:nvPr/>
        </p:nvSpPr>
        <p:spPr>
          <a:xfrm>
            <a:off x="8823960" y="1600200"/>
            <a:ext cx="0" cy="384048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报告却写作“美国消费者”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误导示例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例：“52% 的美国消费者认为 AI 可能成为最喜欢的娱乐信息来源”——分母实为 AI 用户，易被读成全美国的比例。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　</a:t>
            </a:r>
            <a:pPr indent="0" marL="0">
              <a:buNone/>
            </a:pPr>
            <a:r>
              <a:rPr lang="en-US" sz="1100" u="sng" dirty="0">
                <a:solidFill>
                  <a:schemeClr val="accent1"/>
                </a:solidFill>
                <a:hlinkClick r:id="rId2" invalidUrl="" action="" tgtFrame="" tooltip="https://s3.amazonaws.com/media.mediapost.com/uploads/gracenote-2025-state-of-play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原文（PDF）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概率样本，1,458 名美国 13–17 岁青少年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3774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2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377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319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线上问卷，4,003 名美国 AI 用户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526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2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5262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统一分母后仍差约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还不能判断“加速”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　</a:t>
            </a:r>
            <a:pPr indent="0" marL="0">
              <a:buNone/>
            </a:pPr>
            <a:r>
              <a:rPr lang="en-US" sz="1100" u="sng" dirty="0">
                <a:solidFill>
                  <a:schemeClr val="accent1"/>
                </a:solidFill>
                <a:hlinkClick r:id="rId1" invalidUrl="" action="" tgtFrame="" tooltip="https://www.pewresearch.org/internet/2025/12/09/teens-social-media-and-ai-chatbots-2025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原文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说明1"/>
          <p:cNvSpPr txBox="1"/>
          <p:nvPr/>
        </p:nvSpPr>
        <p:spPr>
          <a:xfrm>
            <a:off x="8229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岁称可能退订</a:t>
            </a:r>
            <a:endParaRPr lang="en-US" sz="1300" dirty="0"/>
          </a:p>
        </p:txBody>
      </p:sp>
      <p:sp>
        <p:nvSpPr>
          <p:cNvPr id="7" name="数据类型数字1"/>
          <p:cNvSpPr txBox="1"/>
          <p:nvPr/>
        </p:nvSpPr>
        <p:spPr>
          <a:xfrm>
            <a:off x="82296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8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10" name="数据类型说明2"/>
          <p:cNvSpPr txBox="1"/>
          <p:nvPr/>
        </p:nvSpPr>
        <p:spPr>
          <a:xfrm>
            <a:off x="365760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行业月流失率（转述）</a:t>
            </a:r>
            <a:endParaRPr lang="en-US" sz="1300" dirty="0"/>
          </a:p>
        </p:txBody>
      </p:sp>
      <p:sp>
        <p:nvSpPr>
          <p:cNvPr id="11" name="数据类型数字2"/>
          <p:cNvSpPr txBox="1"/>
          <p:nvPr/>
        </p:nvSpPr>
        <p:spPr>
          <a:xfrm>
            <a:off x="365760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600" dirty="0"/>
          </a:p>
        </p:txBody>
      </p:sp>
      <p:sp>
        <p:nvSpPr>
          <p:cNvPr id="12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4" name="数据类型说明3"/>
          <p:cNvSpPr txBox="1"/>
          <p:nvPr/>
        </p:nvSpPr>
        <p:spPr>
          <a:xfrm>
            <a:off x="82296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2029 年全球市场支出</a:t>
            </a:r>
            <a:endParaRPr lang="en-US" sz="1300" dirty="0"/>
          </a:p>
        </p:txBody>
      </p:sp>
      <p:sp>
        <p:nvSpPr>
          <p:cNvPr id="15" name="数据类型数字3"/>
          <p:cNvSpPr txBox="1"/>
          <p:nvPr/>
        </p:nvSpPr>
        <p:spPr>
          <a:xfrm>
            <a:off x="82296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6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8" name="数据类型说明4"/>
          <p:cNvSpPr txBox="1"/>
          <p:nvPr/>
        </p:nvSpPr>
        <p:spPr>
          <a:xfrm>
            <a:off x="365760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正确回答播出平台</a:t>
            </a:r>
            <a:endParaRPr lang="en-US" sz="1300" dirty="0"/>
          </a:p>
        </p:txBody>
      </p:sp>
      <p:sp>
        <p:nvSpPr>
          <p:cNvPr id="19" name="数据类型数字4"/>
          <p:cNvSpPr txBox="1"/>
          <p:nvPr/>
        </p:nvSpPr>
        <p:spPr>
          <a:xfrm>
            <a:off x="365760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0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1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22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5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无追踪、无对照</a:t>
            </a:r>
            <a:endParaRPr lang="en-US" sz="1800" dirty="0"/>
          </a:p>
        </p:txBody>
      </p:sp>
      <p:sp>
        <p:nvSpPr>
          <p:cNvPr id="26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7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8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只能说明同时存在，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不足以证明因果</a:t>
            </a:r>
            <a:endParaRPr lang="en-US" sz="1800" dirty="0"/>
          </a:p>
        </p:txBody>
      </p:sp>
      <p:sp>
        <p:nvSpPr>
          <p:cNvPr id="29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0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2" grpId="0" animBg="1"/>
      <p:bldP spid="16" grpId="0" animBg="1"/>
      <p:bldP spid="5" grpId="0" animBg="1"/>
      <p:bldP spid="9" grpId="0" animBg="1"/>
      <p:bldP spid="13" grpId="0" animBg="1"/>
      <p:bldP spid="17" grpId="0" animBg="1"/>
      <p:bldP spid="7" grpId="0" animBg="1"/>
      <p:bldP spid="11" grpId="0" animBg="1"/>
      <p:bldP spid="15" grpId="0" animBg="1"/>
      <p:bldP spid="19" grpId="0" animBg="1"/>
      <p:bldP spid="6" grpId="0" animBg="1"/>
      <p:bldP spid="10" grpId="0" animBg="1"/>
      <p:bldP spid="14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有参考价值，但结论超出样本所能支持的范围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6002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600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年轻人依赖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577840" y="192938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577840" y="192938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974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97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信任有限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577840" y="302666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577840" y="302666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794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7947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577840" y="412394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577840" y="412394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只能说相关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8920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参考价值"/>
          <p:cNvSpPr txBox="1"/>
          <p:nvPr/>
        </p:nvSpPr>
        <p:spPr>
          <a:xfrm>
            <a:off x="731520" y="4983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皮尤、Veed 等独立来源也指向同样两个方向：年轻人更多用 AI 找内容，AI 回答“在哪看”不够可靠。</a:t>
            </a:r>
            <a:endParaRPr lang="en-US" sz="1600" dirty="0"/>
          </a:p>
        </p:txBody>
      </p:sp>
      <p:sp>
        <p:nvSpPr>
          <p:cNvPr id="18" name="改进卡"/>
          <p:cNvSpPr/>
          <p:nvPr/>
        </p:nvSpPr>
        <p:spPr>
          <a:xfrm>
            <a:off x="7726680" y="1600200"/>
            <a:ext cx="3749040" cy="4114800"/>
          </a:xfrm>
          <a:prstGeom prst="roundRect">
            <a:avLst>
              <a:gd name="adj" fmla="val 122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改进内容"/>
          <p:cNvSpPr txBox="1"/>
          <p:nvPr/>
        </p:nvSpPr>
        <p:spPr>
          <a:xfrm>
            <a:off x="8001000" y="178308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改进方向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采用概率样本，含非 AI 用户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同一问卷问困难与退订，追踪同一批人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公开招募、配额、加权、回收率</a:t>
            </a:r>
            <a:endParaRPr lang="en-US" sz="1500" dirty="0"/>
          </a:p>
        </p:txBody>
      </p:sp>
      <p:sp>
        <p:nvSpPr>
          <p:cNvPr id="20" name="局限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局限：评价依据公开资料；个别来源只有媒体转述，如 Fabric 的流失率。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2026-10-12T10:00:26Z</dcterms:created>
  <dcterms:modified xsi:type="dcterms:W3CDTF">2026-10-12T10:00:26Z</dcterms:modified>
</cp:coreProperties>
</file>